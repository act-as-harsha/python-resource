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71" r:id="rId5"/>
    <p:sldId id="300" r:id="rId6"/>
    <p:sldId id="318" r:id="rId7"/>
    <p:sldId id="258" r:id="rId8"/>
    <p:sldId id="309" r:id="rId9"/>
    <p:sldId id="317" r:id="rId10"/>
    <p:sldId id="314" r:id="rId11"/>
    <p:sldId id="308" r:id="rId12"/>
    <p:sldId id="310" r:id="rId13"/>
    <p:sldId id="311" r:id="rId14"/>
    <p:sldId id="312" r:id="rId15"/>
    <p:sldId id="313" r:id="rId16"/>
    <p:sldId id="319" r:id="rId17"/>
    <p:sldId id="320" r:id="rId18"/>
    <p:sldId id="321" r:id="rId19"/>
    <p:sldId id="322" r:id="rId20"/>
    <p:sldId id="323" r:id="rId21"/>
    <p:sldId id="287" r:id="rId22"/>
    <p:sldId id="315" r:id="rId23"/>
    <p:sldId id="316" r:id="rId24"/>
    <p:sldId id="324" r:id="rId25"/>
    <p:sldId id="32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FF9900"/>
    <a:srgbClr val="E84845"/>
    <a:srgbClr val="FAD2D2"/>
    <a:srgbClr val="F89E4C"/>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83" d="100"/>
          <a:sy n="83" d="100"/>
        </p:scale>
        <p:origin x="629"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n.wikipedia.org/wiki/Cut_(graph_theory)"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greenteapress.com/wp/thinkpython/"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hyperlink" Target="https://www.geeksforgeeks.org/python-data-structures/" TargetMode="External"/><Relationship Id="rId5" Type="http://schemas.openxmlformats.org/officeDocument/2006/relationships/hyperlink" Target="https://www.w3schools.com/dsa/dsa_intro.php" TargetMode="External"/><Relationship Id="rId4" Type="http://schemas.openxmlformats.org/officeDocument/2006/relationships/hyperlink" Target="https://docs.python.org/3/tutorial/datastructures.html"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36576"/>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36698"/>
            <a:ext cx="6027459" cy="6623931"/>
          </a:xfrm>
          <a:prstGeom prst="rect">
            <a:avLst/>
          </a:prstGeom>
          <a:noFill/>
          <a:ln>
            <a:noFill/>
          </a:ln>
        </p:spPr>
      </p:pic>
      <p:sp>
        <p:nvSpPr>
          <p:cNvPr id="476" name="Google Shape;476;p16"/>
          <p:cNvSpPr txBox="1"/>
          <p:nvPr/>
        </p:nvSpPr>
        <p:spPr>
          <a:xfrm>
            <a:off x="5658455" y="1941413"/>
            <a:ext cx="5640916" cy="341627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err="1">
                <a:ln/>
                <a:solidFill>
                  <a:srgbClr val="C00000"/>
                </a:solidFill>
                <a:cs typeface="Poppins" panose="00000500000000000000" pitchFamily="2" charset="0"/>
                <a:sym typeface="BioRhyme ExtraBold"/>
              </a:rPr>
              <a:t>DaTA</a:t>
            </a:r>
            <a:r>
              <a:rPr lang="en-US" sz="3200" b="1" cap="all" dirty="0">
                <a:ln/>
                <a:solidFill>
                  <a:srgbClr val="C00000"/>
                </a:solidFill>
                <a:cs typeface="Poppins" panose="00000500000000000000" pitchFamily="2" charset="0"/>
                <a:sym typeface="BioRhyme ExtraBold"/>
              </a:rPr>
              <a:t> </a:t>
            </a:r>
            <a:r>
              <a:rPr lang="en-US" sz="3200" b="1" cap="all" dirty="0" smtClean="0">
                <a:ln/>
                <a:solidFill>
                  <a:srgbClr val="C00000"/>
                </a:solidFill>
                <a:cs typeface="Poppins" panose="00000500000000000000" pitchFamily="2" charset="0"/>
                <a:sym typeface="BioRhyme ExtraBold"/>
              </a:rPr>
              <a:t>STRUCTUREs Through python</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24sc1204</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IN" sz="4000" b="1" dirty="0">
                <a:solidFill>
                  <a:srgbClr val="A81E24"/>
                </a:solidFill>
                <a:ea typeface="Calibri" panose="020F0502020204030204" pitchFamily="34" charset="0"/>
                <a:cs typeface="Times New Roman" panose="02020603050405020304" pitchFamily="18" charset="0"/>
              </a:rPr>
              <a:t>Prim’s Minimum Spanning Tree (MST)</a:t>
            </a: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545857" y="5409344"/>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38</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684469"/>
            <a:ext cx="10731286" cy="46166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a:t>
            </a:r>
            <a:r>
              <a:rPr lang="en-US" sz="1600" dirty="0">
                <a:latin typeface="Poppins"/>
                <a:cs typeface="Poppins"/>
              </a:rPr>
              <a:t>concept of Prim’s minimum Spanning Tree.</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  Minimum Spanning tree and its type.</a:t>
            </a:r>
          </a:p>
          <a:p>
            <a:pPr marL="342900" indent="-342900">
              <a:buAutoNum type="arabicPeriod"/>
            </a:pPr>
            <a:r>
              <a:rPr lang="en-US" sz="1600" b="0" i="0" dirty="0">
                <a:effectLst/>
                <a:latin typeface="Arial" panose="020B0604020202020204" pitchFamily="34" charset="0"/>
              </a:rPr>
              <a:t>Describe :- Prim’s </a:t>
            </a:r>
            <a:r>
              <a:rPr lang="en-US" sz="1600" dirty="0">
                <a:latin typeface="Arial" panose="020B0604020202020204" pitchFamily="34" charset="0"/>
              </a:rPr>
              <a:t>Algorithm and calculating MST using Prim’s algorithm.</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 </a:t>
            </a:r>
            <a:r>
              <a:rPr lang="en-US" sz="1600" dirty="0">
                <a:latin typeface="Arial" panose="020B0604020202020204" pitchFamily="34" charset="0"/>
              </a:rPr>
              <a:t>Minimum Spanning tree and its types</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 Prim’s Algorithm</a:t>
            </a:r>
          </a:p>
          <a:p>
            <a:pPr marL="342900" indent="-342900">
              <a:buAutoNum type="arabicPeriod"/>
            </a:pPr>
            <a:r>
              <a:rPr lang="en-US" sz="1600" dirty="0">
                <a:latin typeface="Arial" panose="020B0604020202020204" pitchFamily="34" charset="0"/>
              </a:rPr>
              <a:t>Summarize:- How to calculate MST with Prim’s Algorithm.</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6800"/>
            <a:ext cx="10515600" cy="5110163"/>
          </a:xfrm>
        </p:spPr>
        <p:txBody>
          <a:bodyPr/>
          <a:lstStyle/>
          <a:p>
            <a:pPr marL="0" indent="0">
              <a:buNone/>
            </a:pPr>
            <a:r>
              <a:rPr lang="en-IN" sz="4000" b="1" dirty="0">
                <a:solidFill>
                  <a:srgbClr val="7030A0"/>
                </a:solidFill>
                <a:latin typeface="Times New Roman" panose="02020603050405020304" pitchFamily="18" charset="0"/>
                <a:cs typeface="Times New Roman" panose="02020603050405020304" pitchFamily="18" charset="0"/>
              </a:rPr>
              <a:t>                    Minimum spanning tree</a:t>
            </a:r>
          </a:p>
          <a:p>
            <a:pPr algn="just"/>
            <a:r>
              <a:rPr lang="en-US" dirty="0">
                <a:solidFill>
                  <a:srgbClr val="292929"/>
                </a:solidFill>
                <a:latin typeface="Times New Roman" panose="02020603050405020304" pitchFamily="18" charset="0"/>
                <a:cs typeface="Times New Roman" panose="02020603050405020304" pitchFamily="18" charset="0"/>
              </a:rPr>
              <a:t>A minimum spanning tree (MST) is a spanning tree that has a weight that is equal to or less than all of the other spanning trees in a weighted, connected, undirected graph. </a:t>
            </a:r>
            <a:endParaRPr lang="en-IN" dirty="0">
              <a:solidFill>
                <a:srgbClr val="292929"/>
              </a:solidFill>
              <a:latin typeface="Times New Roman" panose="02020603050405020304" pitchFamily="18"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xmlns="" id="{9EB8A4A0-26E8-41C7-BE65-3B55B361B40D}"/>
              </a:ext>
            </a:extLst>
          </p:cNvPr>
          <p:cNvSpPr>
            <a:spLocks noGrp="1"/>
          </p:cNvSpPr>
          <p:nvPr>
            <p:ph type="title"/>
          </p:nvPr>
        </p:nvSpPr>
        <p:spPr>
          <a:xfrm>
            <a:off x="3777343" y="136525"/>
            <a:ext cx="4234544" cy="46355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2" name="Picture 1" descr="minimum spanning tree example">
            <a:extLst>
              <a:ext uri="{FF2B5EF4-FFF2-40B4-BE49-F238E27FC236}">
                <a16:creationId xmlns:a16="http://schemas.microsoft.com/office/drawing/2014/main" xmlns="" id="{26C9BA3A-00E6-E307-E799-B755BC7042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5486" y="3311525"/>
            <a:ext cx="7086599" cy="2991304"/>
          </a:xfrm>
          <a:prstGeom prst="rect">
            <a:avLst/>
          </a:prstGeom>
          <a:noFill/>
          <a:ln>
            <a:noFill/>
          </a:ln>
        </p:spPr>
      </p:pic>
    </p:spTree>
    <p:extLst>
      <p:ext uri="{BB962C8B-B14F-4D97-AF65-F5344CB8AC3E}">
        <p14:creationId xmlns:p14="http://schemas.microsoft.com/office/powerpoint/2010/main" val="1840170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xmlns="" id="{3EA880B8-1EF8-2E8D-0395-35004582DAC4}"/>
              </a:ext>
            </a:extLst>
          </p:cNvPr>
          <p:cNvSpPr txBox="1">
            <a:spLocks/>
          </p:cNvSpPr>
          <p:nvPr/>
        </p:nvSpPr>
        <p:spPr bwMode="auto">
          <a:xfrm>
            <a:off x="503853" y="946344"/>
            <a:ext cx="11363682" cy="54653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lvl1pPr marL="0" indent="0" algn="ctr" rtl="0" eaLnBrk="0" fontAlgn="base" hangingPunct="0">
              <a:spcBef>
                <a:spcPct val="20000"/>
              </a:spcBef>
              <a:spcAft>
                <a:spcPct val="0"/>
              </a:spcAft>
              <a:buFont typeface="Arial" charset="0"/>
              <a:buNone/>
              <a:defRPr sz="3200" kern="1200">
                <a:solidFill>
                  <a:schemeClr val="tx1">
                    <a:lumMod val="65000"/>
                    <a:lumOff val="3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spcBef>
                <a:spcPts val="600"/>
              </a:spcBef>
              <a:spcAft>
                <a:spcPts val="600"/>
              </a:spcAft>
            </a:pPr>
            <a:r>
              <a:rPr lang="en-US" b="1" dirty="0">
                <a:solidFill>
                  <a:srgbClr val="0070C0"/>
                </a:solidFill>
                <a:latin typeface="Times New Roman" panose="02020603050405020304" pitchFamily="18" charset="0"/>
                <a:cs typeface="Times New Roman" panose="02020603050405020304" pitchFamily="18" charset="0"/>
              </a:rPr>
              <a:t>Algorithm</a:t>
            </a:r>
          </a:p>
          <a:p>
            <a:pPr algn="l">
              <a:lnSpc>
                <a:spcPct val="150000"/>
              </a:lnSpc>
              <a:spcBef>
                <a:spcPts val="600"/>
              </a:spcBef>
              <a:spcAft>
                <a:spcPts val="600"/>
              </a:spcAft>
            </a:pP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1) Create a set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that keeps track of vertices already included in MST.</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2) Assign a key value to all vertices in the input graph. Initialize all key values as INFINITE. Assign key value as 0 for the first vertex so that it is picked first.</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 While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doesn’t include all vertices</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----Pick a vertex u which is not there in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and has minimum key value.</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----Include u to </a:t>
            </a:r>
            <a:r>
              <a:rPr lang="en-IN" sz="24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mstSet</a:t>
            </a: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b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----Update key value of all adjacent vertices of u. To update the key values, iterate through all adjacent vertices. For every adjacent vertex v, if weight of edge u-v is less than the previous key value of v, update the key value as weight of u-v</a:t>
            </a:r>
          </a:p>
          <a:p>
            <a:pPr algn="just">
              <a:spcBef>
                <a:spcPts val="600"/>
              </a:spcBef>
              <a:spcAft>
                <a:spcPts val="600"/>
              </a:spcAft>
            </a:pPr>
            <a:endParaRPr lang="en-US" b="1" dirty="0">
              <a:solidFill>
                <a:srgbClr val="0070C0"/>
              </a:solidFill>
              <a:latin typeface="euclid_circular_a"/>
            </a:endParaRPr>
          </a:p>
        </p:txBody>
      </p:sp>
      <p:sp>
        <p:nvSpPr>
          <p:cNvPr id="7"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Content Placeholder 2">
            <a:extLst>
              <a:ext uri="{FF2B5EF4-FFF2-40B4-BE49-F238E27FC236}">
                <a16:creationId xmlns:a16="http://schemas.microsoft.com/office/drawing/2014/main" xmlns="" id="{1D6218A7-F2B6-E188-8209-146D0FC9A3FA}"/>
              </a:ext>
            </a:extLst>
          </p:cNvPr>
          <p:cNvSpPr>
            <a:spLocks noGrp="1"/>
          </p:cNvSpPr>
          <p:nvPr>
            <p:ph idx="1"/>
          </p:nvPr>
        </p:nvSpPr>
        <p:spPr>
          <a:xfrm>
            <a:off x="612058" y="600076"/>
            <a:ext cx="11579942" cy="3688895"/>
          </a:xfrm>
        </p:spPr>
        <p:txBody>
          <a:bodyPr>
            <a:norm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The idea of using key values is to pick the minimum weight edge from </a:t>
            </a:r>
            <a:r>
              <a:rPr lang="en-US" altLang="en-US" sz="2400" dirty="0">
                <a:latin typeface="Times New Roman" panose="02020603050405020304" pitchFamily="18" charset="0"/>
                <a:ea typeface="Calibri" panose="020F0502020204030204" pitchFamily="34" charset="0"/>
                <a:cs typeface="Times New Roman" panose="02020603050405020304" pitchFamily="18" charset="0"/>
                <a:hlinkClick r:id="rId3"/>
              </a:rPr>
              <a:t>cut</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 </a:t>
            </a:r>
          </a:p>
          <a:p>
            <a:pPr eaLnBrk="0" fontAlgn="base" hangingPunct="0">
              <a:lnSpc>
                <a:spcPct val="150000"/>
              </a:lnSpc>
              <a:spcBef>
                <a:spcPct val="0"/>
              </a:spcBef>
              <a:spcAft>
                <a:spcPct val="0"/>
              </a:spcAft>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The key values are used only for vertices which are not yet included in MST, the key value for these vertices indicate the minimum weight edges connecting them to the set of vertices included in MST.</a:t>
            </a:r>
          </a:p>
          <a:p>
            <a:pPr marL="0" lvl="0" indent="0" eaLnBrk="0" fontAlgn="base" hangingPunct="0">
              <a:lnSpc>
                <a:spcPct val="150000"/>
              </a:lnSpc>
              <a:spcBef>
                <a:spcPct val="0"/>
              </a:spcBef>
              <a:spcAft>
                <a:spcPct val="0"/>
              </a:spcAft>
              <a:buNone/>
            </a:pPr>
            <a:endParaRPr lang="en-US" altLang="en-US" dirty="0">
              <a:cs typeface="Times New Roman" panose="02020603050405020304" pitchFamily="18" charset="0"/>
            </a:endParaRPr>
          </a:p>
        </p:txBody>
      </p:sp>
      <p:sp>
        <p:nvSpPr>
          <p:cNvPr id="8"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Tree>
    <p:extLst>
      <p:ext uri="{BB962C8B-B14F-4D97-AF65-F5344CB8AC3E}">
        <p14:creationId xmlns:p14="http://schemas.microsoft.com/office/powerpoint/2010/main" val="30839855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Rectangle 5"/>
          <p:cNvSpPr/>
          <p:nvPr/>
        </p:nvSpPr>
        <p:spPr>
          <a:xfrm>
            <a:off x="849086" y="1513091"/>
            <a:ext cx="10885714" cy="4457952"/>
          </a:xfrm>
          <a:prstGeom prst="rect">
            <a:avLst/>
          </a:prstGeom>
        </p:spPr>
        <p:txBody>
          <a:bodyPr wrap="square">
            <a:spAutoFit/>
          </a:bodyPr>
          <a:lstStyle/>
          <a:p>
            <a:pPr>
              <a:lnSpc>
                <a:spcPct val="150000"/>
              </a:lnSpc>
              <a:buFont typeface="+mj-lt"/>
              <a:buAutoNum type="arabicPeriod"/>
            </a:pPr>
            <a:r>
              <a:rPr lang="en-IN" sz="2400" dirty="0">
                <a:solidFill>
                  <a:srgbClr val="292929"/>
                </a:solidFill>
                <a:latin typeface="Times New Roman" panose="02020603050405020304" pitchFamily="18" charset="0"/>
                <a:cs typeface="Times New Roman" panose="02020603050405020304" pitchFamily="18" charset="0"/>
              </a:rPr>
              <a:t>Prim’s algorithm</a:t>
            </a:r>
          </a:p>
          <a:p>
            <a:pPr>
              <a:lnSpc>
                <a:spcPct val="150000"/>
              </a:lnSpc>
              <a:buFont typeface="+mj-lt"/>
              <a:buAutoNum type="arabicPeriod"/>
            </a:pPr>
            <a:r>
              <a:rPr lang="en-IN" sz="2400" dirty="0" err="1">
                <a:solidFill>
                  <a:srgbClr val="292929"/>
                </a:solidFill>
                <a:latin typeface="Times New Roman" panose="02020603050405020304" pitchFamily="18" charset="0"/>
                <a:cs typeface="Times New Roman" panose="02020603050405020304" pitchFamily="18" charset="0"/>
              </a:rPr>
              <a:t>Kruskal’s</a:t>
            </a:r>
            <a:r>
              <a:rPr lang="en-IN" sz="2400" dirty="0">
                <a:solidFill>
                  <a:srgbClr val="292929"/>
                </a:solidFill>
                <a:latin typeface="Times New Roman" panose="02020603050405020304" pitchFamily="18" charset="0"/>
                <a:cs typeface="Times New Roman" panose="02020603050405020304" pitchFamily="18" charset="0"/>
              </a:rPr>
              <a:t> algorithm</a:t>
            </a:r>
          </a:p>
          <a:p>
            <a:pPr>
              <a:lnSpc>
                <a:spcPct val="150000"/>
              </a:lnSpc>
            </a:pPr>
            <a:r>
              <a:rPr lang="en-IN" sz="2400" b="1" dirty="0">
                <a:solidFill>
                  <a:srgbClr val="7030A0"/>
                </a:solidFill>
                <a:latin typeface="Times New Roman" panose="02020603050405020304" pitchFamily="18" charset="0"/>
                <a:cs typeface="Times New Roman" panose="02020603050405020304" pitchFamily="18" charset="0"/>
              </a:rPr>
              <a:t>Applications</a:t>
            </a:r>
          </a:p>
          <a:p>
            <a:pPr marL="285750" indent="-285750">
              <a:lnSpc>
                <a:spcPct val="150000"/>
              </a:lnSpc>
              <a:buFont typeface="Arial" panose="020B0604020202020204" pitchFamily="34" charset="0"/>
              <a:buChar char="•"/>
            </a:pPr>
            <a:r>
              <a:rPr lang="en-IN" sz="2400" dirty="0">
                <a:solidFill>
                  <a:srgbClr val="292929"/>
                </a:solidFill>
                <a:latin typeface="Times New Roman" panose="02020603050405020304" pitchFamily="18" charset="0"/>
                <a:cs typeface="Times New Roman" panose="02020603050405020304" pitchFamily="18" charset="0"/>
              </a:rPr>
              <a:t>Used to construct trees for broadcasting in computer networks.</a:t>
            </a:r>
          </a:p>
          <a:p>
            <a:pPr marL="285750" indent="-285750">
              <a:lnSpc>
                <a:spcPct val="150000"/>
              </a:lnSpc>
              <a:buFont typeface="Arial" panose="020B0604020202020204" pitchFamily="34" charset="0"/>
              <a:buChar char="•"/>
            </a:pPr>
            <a:r>
              <a:rPr lang="en-IN" sz="2400" dirty="0">
                <a:solidFill>
                  <a:srgbClr val="292929"/>
                </a:solidFill>
                <a:latin typeface="Times New Roman" panose="02020603050405020304" pitchFamily="18" charset="0"/>
                <a:cs typeface="Times New Roman" panose="02020603050405020304" pitchFamily="18" charset="0"/>
              </a:rPr>
              <a:t>Used in graph-based cluster analysis.</a:t>
            </a:r>
          </a:p>
          <a:p>
            <a:pPr marL="285750" indent="-285750">
              <a:lnSpc>
                <a:spcPct val="150000"/>
              </a:lnSpc>
              <a:buFont typeface="Arial" panose="020B0604020202020204" pitchFamily="34" charset="0"/>
              <a:buChar char="•"/>
            </a:pPr>
            <a:r>
              <a:rPr lang="en-IN" sz="2400" dirty="0">
                <a:solidFill>
                  <a:srgbClr val="292929"/>
                </a:solidFill>
                <a:latin typeface="Times New Roman" panose="02020603050405020304" pitchFamily="18" charset="0"/>
                <a:cs typeface="Times New Roman" panose="02020603050405020304" pitchFamily="18" charset="0"/>
              </a:rPr>
              <a:t>Used in image segmentation.</a:t>
            </a:r>
          </a:p>
          <a:p>
            <a:pPr marL="285750" indent="-285750">
              <a:lnSpc>
                <a:spcPct val="150000"/>
              </a:lnSpc>
              <a:buFont typeface="Arial" panose="020B0604020202020204" pitchFamily="34" charset="0"/>
              <a:buChar char="•"/>
            </a:pPr>
            <a:r>
              <a:rPr lang="en-IN" sz="2400" dirty="0">
                <a:solidFill>
                  <a:srgbClr val="292929"/>
                </a:solidFill>
                <a:latin typeface="Times New Roman" panose="02020603050405020304" pitchFamily="18" charset="0"/>
                <a:cs typeface="Times New Roman" panose="02020603050405020304" pitchFamily="18" charset="0"/>
              </a:rPr>
              <a:t>Used in regionalisation of socio-geographic areas, where regions are grouped into contiguous regions</a:t>
            </a:r>
            <a:r>
              <a:rPr lang="en-IN" dirty="0">
                <a:solidFill>
                  <a:srgbClr val="292929"/>
                </a:solidFill>
                <a:cs typeface="Times New Roman" panose="02020603050405020304" pitchFamily="18" charset="0"/>
              </a:rPr>
              <a:t>.</a:t>
            </a:r>
          </a:p>
        </p:txBody>
      </p:sp>
      <p:sp>
        <p:nvSpPr>
          <p:cNvPr id="7"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Tree>
    <p:extLst>
      <p:ext uri="{BB962C8B-B14F-4D97-AF65-F5344CB8AC3E}">
        <p14:creationId xmlns:p14="http://schemas.microsoft.com/office/powerpoint/2010/main" val="385463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26029"/>
            <a:ext cx="10515600" cy="4750934"/>
          </a:xfrm>
        </p:spPr>
        <p:txBody>
          <a:bodyPr/>
          <a:lstStyle/>
          <a:p>
            <a:r>
              <a:rPr lang="en-US" altLang="en-US" dirty="0">
                <a:ea typeface="Calibri" panose="020F0502020204030204" pitchFamily="34" charset="0"/>
                <a:cs typeface="Times New Roman" panose="02020603050405020304" pitchFamily="18" charset="0"/>
              </a:rPr>
              <a:t>Let us understand with the following example:</a:t>
            </a:r>
            <a:br>
              <a:rPr lang="en-US" altLang="en-US" dirty="0">
                <a:ea typeface="Calibri" panose="020F0502020204030204" pitchFamily="34" charset="0"/>
                <a:cs typeface="Times New Roman" panose="02020603050405020304" pitchFamily="18" charset="0"/>
              </a:rPr>
            </a:br>
            <a:endParaRPr lang="en-US" altLang="en-US" dirty="0">
              <a:cs typeface="Times New Roman" panose="02020603050405020304" pitchFamily="18" charset="0"/>
            </a:endParaRPr>
          </a:p>
          <a:p>
            <a:pPr marL="0" indent="0">
              <a:buNone/>
            </a:pPr>
            <a:endParaRPr lang="en-US" dirty="0"/>
          </a:p>
        </p:txBody>
      </p:sp>
      <p:sp>
        <p:nvSpPr>
          <p:cNvPr id="4"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386943" cy="36421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a:t>
            </a:r>
            <a:endParaRPr lang="en-US" sz="2400" dirty="0"/>
          </a:p>
        </p:txBody>
      </p:sp>
      <p:pic>
        <p:nvPicPr>
          <p:cNvPr id="6"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9" name="Picture 8">
            <a:extLst>
              <a:ext uri="{FF2B5EF4-FFF2-40B4-BE49-F238E27FC236}">
                <a16:creationId xmlns:a16="http://schemas.microsoft.com/office/drawing/2014/main" xmlns="" id="{D443FAC0-3924-1268-888F-67C48F8B1079}"/>
              </a:ext>
            </a:extLst>
          </p:cNvPr>
          <p:cNvPicPr>
            <a:picLocks noChangeAspect="1"/>
          </p:cNvPicPr>
          <p:nvPr/>
        </p:nvPicPr>
        <p:blipFill>
          <a:blip r:embed="rId3"/>
          <a:stretch>
            <a:fillRect/>
          </a:stretch>
        </p:blipFill>
        <p:spPr>
          <a:xfrm>
            <a:off x="2275114" y="2035629"/>
            <a:ext cx="6564086" cy="4016828"/>
          </a:xfrm>
          <a:prstGeom prst="rect">
            <a:avLst/>
          </a:prstGeom>
        </p:spPr>
      </p:pic>
    </p:spTree>
    <p:extLst>
      <p:ext uri="{BB962C8B-B14F-4D97-AF65-F5344CB8AC3E}">
        <p14:creationId xmlns:p14="http://schemas.microsoft.com/office/powerpoint/2010/main" val="388824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8" name="Content Placeholder 2">
            <a:extLst>
              <a:ext uri="{FF2B5EF4-FFF2-40B4-BE49-F238E27FC236}">
                <a16:creationId xmlns:a16="http://schemas.microsoft.com/office/drawing/2014/main" xmlns="" id="{E854E9EA-D940-7F80-A971-127BA5E04726}"/>
              </a:ext>
            </a:extLst>
          </p:cNvPr>
          <p:cNvSpPr>
            <a:spLocks noGrp="1"/>
          </p:cNvSpPr>
          <p:nvPr>
            <p:ph idx="1"/>
          </p:nvPr>
        </p:nvSpPr>
        <p:spPr>
          <a:xfrm>
            <a:off x="366603" y="966721"/>
            <a:ext cx="11183139" cy="2908592"/>
          </a:xfrm>
        </p:spPr>
        <p:txBody>
          <a:bodyPr>
            <a:normAutofit/>
          </a:bodyPr>
          <a:lstStyle/>
          <a:p>
            <a:pPr marL="0" indent="0" algn="l">
              <a:buNone/>
            </a:pPr>
            <a:r>
              <a:rPr lang="en-US" sz="2400" b="1" u="sng" dirty="0">
                <a:solidFill>
                  <a:srgbClr val="273239"/>
                </a:solidFill>
                <a:effectLst/>
                <a:latin typeface="Times New Roman" panose="02020603050405020304" pitchFamily="18" charset="0"/>
                <a:cs typeface="Times New Roman" panose="02020603050405020304" pitchFamily="18" charset="0"/>
              </a:rPr>
              <a:t>Step 1:</a:t>
            </a:r>
            <a:r>
              <a:rPr lang="en-US" sz="2400" b="0" dirty="0">
                <a:solidFill>
                  <a:srgbClr val="273239"/>
                </a:solidFill>
                <a:effectLst/>
                <a:latin typeface="Times New Roman" panose="02020603050405020304" pitchFamily="18" charset="0"/>
                <a:cs typeface="Times New Roman" panose="02020603050405020304" pitchFamily="18" charset="0"/>
              </a:rPr>
              <a:t> Firstly, we select an arbitrary vertex that acts as the starting vertex of the</a:t>
            </a: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Minimum Spanning Tree. Here we have selected vertex </a:t>
            </a:r>
            <a:r>
              <a:rPr lang="en-US" sz="2400" b="1" dirty="0">
                <a:solidFill>
                  <a:srgbClr val="273239"/>
                </a:solidFill>
                <a:effectLst/>
                <a:latin typeface="Times New Roman" panose="02020603050405020304" pitchFamily="18" charset="0"/>
                <a:cs typeface="Times New Roman" panose="02020603050405020304" pitchFamily="18" charset="0"/>
              </a:rPr>
              <a:t>0</a:t>
            </a:r>
            <a:r>
              <a:rPr lang="en-US" sz="2400" b="0" dirty="0">
                <a:solidFill>
                  <a:srgbClr val="273239"/>
                </a:solidFill>
                <a:effectLst/>
                <a:latin typeface="Times New Roman" panose="02020603050405020304" pitchFamily="18" charset="0"/>
                <a:cs typeface="Times New Roman" panose="02020603050405020304" pitchFamily="18" charset="0"/>
              </a:rPr>
              <a:t> as the starting vertex.</a:t>
            </a:r>
          </a:p>
          <a:p>
            <a:pPr marL="0" indent="0" algn="l">
              <a:buNone/>
            </a:pPr>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10"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2" name="Picture 1">
            <a:extLst>
              <a:ext uri="{FF2B5EF4-FFF2-40B4-BE49-F238E27FC236}">
                <a16:creationId xmlns:a16="http://schemas.microsoft.com/office/drawing/2014/main" xmlns="" id="{37123BA4-4665-A853-AA44-6A062D01189C}"/>
              </a:ext>
            </a:extLst>
          </p:cNvPr>
          <p:cNvPicPr>
            <a:picLocks noChangeAspect="1"/>
          </p:cNvPicPr>
          <p:nvPr/>
        </p:nvPicPr>
        <p:blipFill>
          <a:blip r:embed="rId3"/>
          <a:stretch>
            <a:fillRect/>
          </a:stretch>
        </p:blipFill>
        <p:spPr>
          <a:xfrm>
            <a:off x="1990725" y="1970313"/>
            <a:ext cx="7734300" cy="4169229"/>
          </a:xfrm>
          <a:prstGeom prst="rect">
            <a:avLst/>
          </a:prstGeom>
        </p:spPr>
      </p:pic>
    </p:spTree>
    <p:extLst>
      <p:ext uri="{BB962C8B-B14F-4D97-AF65-F5344CB8AC3E}">
        <p14:creationId xmlns:p14="http://schemas.microsoft.com/office/powerpoint/2010/main" val="20733555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Content Placeholder 2">
            <a:extLst>
              <a:ext uri="{FF2B5EF4-FFF2-40B4-BE49-F238E27FC236}">
                <a16:creationId xmlns:a16="http://schemas.microsoft.com/office/drawing/2014/main" xmlns="" id="{7F4170B7-C4EE-236D-BC1A-647DD62BA472}"/>
              </a:ext>
            </a:extLst>
          </p:cNvPr>
          <p:cNvSpPr>
            <a:spLocks noGrp="1"/>
          </p:cNvSpPr>
          <p:nvPr>
            <p:ph idx="1"/>
          </p:nvPr>
        </p:nvSpPr>
        <p:spPr>
          <a:xfrm>
            <a:off x="424543" y="925286"/>
            <a:ext cx="11342914" cy="3581400"/>
          </a:xfrm>
        </p:spPr>
        <p:txBody>
          <a:bodyPr>
            <a:normAutofit/>
          </a:bodyPr>
          <a:lstStyle/>
          <a:p>
            <a:pPr algn="l" rtl="0" fontAlgn="base"/>
            <a:r>
              <a:rPr lang="en-US" b="1" u="sng" dirty="0">
                <a:solidFill>
                  <a:srgbClr val="273239"/>
                </a:solidFill>
                <a:effectLst/>
                <a:latin typeface="Times New Roman" panose="02020603050405020304" pitchFamily="18" charset="0"/>
                <a:cs typeface="Times New Roman" panose="02020603050405020304" pitchFamily="18" charset="0"/>
              </a:rPr>
              <a:t>Step 2:</a:t>
            </a:r>
            <a:r>
              <a:rPr lang="en-US" b="0" dirty="0">
                <a:solidFill>
                  <a:srgbClr val="273239"/>
                </a:solidFill>
                <a:effectLst/>
                <a:latin typeface="Times New Roman" panose="02020603050405020304" pitchFamily="18" charset="0"/>
                <a:cs typeface="Times New Roman" panose="02020603050405020304" pitchFamily="18" charset="0"/>
              </a:rPr>
              <a:t> All the edges connecting the incomplete MST and other vertices are</a:t>
            </a:r>
          </a:p>
          <a:p>
            <a:pPr algn="l" rtl="0" fontAlgn="base"/>
            <a:r>
              <a:rPr lang="en-US" b="0" dirty="0">
                <a:solidFill>
                  <a:srgbClr val="273239"/>
                </a:solidFill>
                <a:effectLst/>
                <a:latin typeface="Times New Roman" panose="02020603050405020304" pitchFamily="18" charset="0"/>
                <a:cs typeface="Times New Roman" panose="02020603050405020304" pitchFamily="18" charset="0"/>
              </a:rPr>
              <a:t> the edges {0, 1} and {0, 7}. Between these two the edge with minimum</a:t>
            </a:r>
          </a:p>
          <a:p>
            <a:pPr algn="l" rtl="0" fontAlgn="base"/>
            <a:r>
              <a:rPr lang="en-US" b="0" dirty="0">
                <a:solidFill>
                  <a:srgbClr val="273239"/>
                </a:solidFill>
                <a:effectLst/>
                <a:latin typeface="Times New Roman" panose="02020603050405020304" pitchFamily="18" charset="0"/>
                <a:cs typeface="Times New Roman" panose="02020603050405020304" pitchFamily="18" charset="0"/>
              </a:rPr>
              <a:t> weight is {0, 1}. So include the edge and vertex 1 in the MST.</a:t>
            </a:r>
          </a:p>
          <a:p>
            <a:pPr marL="0" indent="0">
              <a:buNone/>
            </a:pPr>
            <a:r>
              <a:rPr lang="en-US" sz="2400" dirty="0"/>
              <a:t/>
            </a:r>
            <a:br>
              <a:rPr lang="en-US" sz="2400" dirty="0"/>
            </a:b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3" name="Picture 2">
            <a:extLst>
              <a:ext uri="{FF2B5EF4-FFF2-40B4-BE49-F238E27FC236}">
                <a16:creationId xmlns:a16="http://schemas.microsoft.com/office/drawing/2014/main" xmlns="" id="{BA804CF2-3A82-9E13-C025-19412D96999F}"/>
              </a:ext>
            </a:extLst>
          </p:cNvPr>
          <p:cNvPicPr>
            <a:picLocks noChangeAspect="1"/>
          </p:cNvPicPr>
          <p:nvPr/>
        </p:nvPicPr>
        <p:blipFill>
          <a:blip r:embed="rId3"/>
          <a:stretch>
            <a:fillRect/>
          </a:stretch>
        </p:blipFill>
        <p:spPr>
          <a:xfrm>
            <a:off x="2466975" y="2351313"/>
            <a:ext cx="7258050" cy="4158343"/>
          </a:xfrm>
          <a:prstGeom prst="rect">
            <a:avLst/>
          </a:prstGeom>
        </p:spPr>
      </p:pic>
    </p:spTree>
    <p:extLst>
      <p:ext uri="{BB962C8B-B14F-4D97-AF65-F5344CB8AC3E}">
        <p14:creationId xmlns:p14="http://schemas.microsoft.com/office/powerpoint/2010/main" val="3214164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Content Placeholder 2">
            <a:extLst>
              <a:ext uri="{FF2B5EF4-FFF2-40B4-BE49-F238E27FC236}">
                <a16:creationId xmlns:a16="http://schemas.microsoft.com/office/drawing/2014/main" xmlns="" id="{812E8B80-E414-D54A-362D-841E7304614D}"/>
              </a:ext>
            </a:extLst>
          </p:cNvPr>
          <p:cNvSpPr>
            <a:spLocks noGrp="1"/>
          </p:cNvSpPr>
          <p:nvPr>
            <p:ph idx="1"/>
          </p:nvPr>
        </p:nvSpPr>
        <p:spPr>
          <a:xfrm>
            <a:off x="489858" y="698090"/>
            <a:ext cx="10885713" cy="3525568"/>
          </a:xfrm>
        </p:spPr>
        <p:txBody>
          <a:bodyPr>
            <a:normAutofit/>
          </a:bodyPr>
          <a:lstStyle/>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a:t>
            </a:r>
            <a:r>
              <a:rPr lang="en-US" sz="2400" b="1" u="sng" dirty="0">
                <a:solidFill>
                  <a:srgbClr val="273239"/>
                </a:solidFill>
                <a:effectLst/>
                <a:latin typeface="Times New Roman" panose="02020603050405020304" pitchFamily="18" charset="0"/>
                <a:cs typeface="Times New Roman" panose="02020603050405020304" pitchFamily="18" charset="0"/>
              </a:rPr>
              <a:t>Step 3:</a:t>
            </a:r>
            <a:r>
              <a:rPr lang="en-US" sz="2400" b="0" dirty="0">
                <a:solidFill>
                  <a:srgbClr val="273239"/>
                </a:solidFill>
                <a:effectLst/>
                <a:latin typeface="Times New Roman" panose="02020603050405020304" pitchFamily="18" charset="0"/>
                <a:cs typeface="Times New Roman" panose="02020603050405020304" pitchFamily="18" charset="0"/>
              </a:rPr>
              <a:t> The edges connecting the incomplete MST to other vertices are {0, 7}, {1, 7}</a:t>
            </a: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and {1, 2}. Among these edges the minimum weight is 8 which is of the edges {0, 7}</a:t>
            </a: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and {1, 2}. Let us here include the edge {0, 7} and the vertex 7 in the MST. [We could</a:t>
            </a:r>
          </a:p>
          <a:p>
            <a:pPr marL="0" indent="0" algn="l">
              <a:buNone/>
            </a:pPr>
            <a:r>
              <a:rPr lang="en-US" sz="2400" b="0" dirty="0">
                <a:solidFill>
                  <a:srgbClr val="273239"/>
                </a:solidFill>
                <a:effectLst/>
                <a:latin typeface="Times New Roman" panose="02020603050405020304" pitchFamily="18" charset="0"/>
                <a:cs typeface="Times New Roman" panose="02020603050405020304" pitchFamily="18" charset="0"/>
              </a:rPr>
              <a:t> have also included edge {1, 2} and vertex 2 in the MST]. </a:t>
            </a:r>
          </a:p>
          <a:p>
            <a:pPr marL="0" indent="0" algn="l">
              <a:buNone/>
            </a:pPr>
            <a:endParaRPr lang="en-US" sz="2400" b="0" dirty="0">
              <a:solidFill>
                <a:srgbClr val="000000"/>
              </a:solidFill>
              <a:effectLst/>
              <a:latin typeface="Times New Roman" panose="02020603050405020304" pitchFamily="18" charset="0"/>
              <a:cs typeface="Times New Roman" panose="02020603050405020304" pitchFamily="18" charset="0"/>
            </a:endParaRPr>
          </a:p>
        </p:txBody>
      </p:sp>
      <p:sp>
        <p:nvSpPr>
          <p:cNvPr id="8"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3" name="Picture 2">
            <a:extLst>
              <a:ext uri="{FF2B5EF4-FFF2-40B4-BE49-F238E27FC236}">
                <a16:creationId xmlns:a16="http://schemas.microsoft.com/office/drawing/2014/main" xmlns="" id="{A796E8EB-CB73-AED2-BD23-552080E06C0D}"/>
              </a:ext>
            </a:extLst>
          </p:cNvPr>
          <p:cNvPicPr>
            <a:picLocks noChangeAspect="1"/>
          </p:cNvPicPr>
          <p:nvPr/>
        </p:nvPicPr>
        <p:blipFill>
          <a:blip r:embed="rId3"/>
          <a:stretch>
            <a:fillRect/>
          </a:stretch>
        </p:blipFill>
        <p:spPr>
          <a:xfrm>
            <a:off x="1694089" y="2634341"/>
            <a:ext cx="7722054" cy="3766459"/>
          </a:xfrm>
          <a:prstGeom prst="rect">
            <a:avLst/>
          </a:prstGeom>
        </p:spPr>
      </p:pic>
    </p:spTree>
    <p:extLst>
      <p:ext uri="{BB962C8B-B14F-4D97-AF65-F5344CB8AC3E}">
        <p14:creationId xmlns:p14="http://schemas.microsoft.com/office/powerpoint/2010/main" val="16227952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0076"/>
            <a:ext cx="11821886" cy="2643867"/>
          </a:xfrm>
        </p:spPr>
        <p:txBody>
          <a:bodyPr/>
          <a:lstStyle/>
          <a:p>
            <a:pPr marL="0" indent="0" eaLnBrk="0" fontAlgn="base" hangingPunct="0">
              <a:lnSpc>
                <a:spcPct val="150000"/>
              </a:lnSpc>
              <a:spcBef>
                <a:spcPct val="0"/>
              </a:spcBef>
              <a:spcAft>
                <a:spcPct val="0"/>
              </a:spcAft>
              <a:buNone/>
            </a:pPr>
            <a:r>
              <a:rPr lang="en-US" sz="2400" b="1" u="sng" dirty="0">
                <a:solidFill>
                  <a:srgbClr val="273239"/>
                </a:solidFill>
                <a:effectLst/>
                <a:latin typeface="Times New Roman" panose="02020603050405020304" pitchFamily="18" charset="0"/>
                <a:cs typeface="Times New Roman" panose="02020603050405020304" pitchFamily="18" charset="0"/>
              </a:rPr>
              <a:t>Step 4:</a:t>
            </a:r>
            <a:r>
              <a:rPr lang="en-US" sz="2400" b="0" dirty="0">
                <a:solidFill>
                  <a:srgbClr val="273239"/>
                </a:solidFill>
                <a:effectLst/>
                <a:latin typeface="Times New Roman" panose="02020603050405020304" pitchFamily="18" charset="0"/>
                <a:cs typeface="Times New Roman" panose="02020603050405020304" pitchFamily="18" charset="0"/>
              </a:rPr>
              <a:t> The edges that connect the incomplete MST with the fringe vertices are {1, 2}, {7, 6} and {7, 8}. Add the edge {7, 6} and the vertex 6 in the MST as it has the least weight (i.e., 1).</a:t>
            </a:r>
            <a:endParaRPr lang="en-US" sz="2400" b="0" dirty="0">
              <a:solidFill>
                <a:srgbClr val="000000"/>
              </a:solidFill>
              <a:effectLst/>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dirty="0">
              <a:ea typeface="Calibri" panose="020F0502020204030204" pitchFamily="34"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dirty="0">
              <a:ea typeface="Calibri" panose="020F0502020204030204" pitchFamily="34" charset="0"/>
              <a:cs typeface="Times New Roman" panose="02020603050405020304" pitchFamily="18" charset="0"/>
            </a:endParaRPr>
          </a:p>
        </p:txBody>
      </p:sp>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2" name="Picture 1">
            <a:extLst>
              <a:ext uri="{FF2B5EF4-FFF2-40B4-BE49-F238E27FC236}">
                <a16:creationId xmlns:a16="http://schemas.microsoft.com/office/drawing/2014/main" xmlns="" id="{8DD7A9E4-F6B7-A441-AA91-A32A19A2132B}"/>
              </a:ext>
            </a:extLst>
          </p:cNvPr>
          <p:cNvPicPr>
            <a:picLocks noChangeAspect="1"/>
          </p:cNvPicPr>
          <p:nvPr/>
        </p:nvPicPr>
        <p:blipFill>
          <a:blip r:embed="rId3"/>
          <a:stretch>
            <a:fillRect/>
          </a:stretch>
        </p:blipFill>
        <p:spPr>
          <a:xfrm>
            <a:off x="2466975" y="2460171"/>
            <a:ext cx="7258050" cy="3439886"/>
          </a:xfrm>
          <a:prstGeom prst="rect">
            <a:avLst/>
          </a:prstGeom>
        </p:spPr>
      </p:pic>
    </p:spTree>
    <p:extLst>
      <p:ext uri="{BB962C8B-B14F-4D97-AF65-F5344CB8AC3E}">
        <p14:creationId xmlns:p14="http://schemas.microsoft.com/office/powerpoint/2010/main" val="108643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Subtitle 4">
            <a:extLst>
              <a:ext uri="{FF2B5EF4-FFF2-40B4-BE49-F238E27FC236}">
                <a16:creationId xmlns:a16="http://schemas.microsoft.com/office/drawing/2014/main" xmlns="" id="{A6C4FE64-4C57-4288-9816-44C400377A51}"/>
              </a:ext>
            </a:extLst>
          </p:cNvPr>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5:</a:t>
            </a:r>
            <a:r>
              <a:rPr lang="en-US" sz="2400" b="0" dirty="0">
                <a:solidFill>
                  <a:srgbClr val="273239"/>
                </a:solidFill>
                <a:effectLst/>
                <a:latin typeface="Times New Roman" panose="02020603050405020304" pitchFamily="18" charset="0"/>
                <a:cs typeface="Times New Roman" panose="02020603050405020304" pitchFamily="18" charset="0"/>
              </a:rPr>
              <a:t> The connecting edges now are {7, 8}, {1, 2}, {6, 8} and {6, 5}. Include</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edge {6, 5} and vertex 5 in the MST as the edge has the minimum weight (i.e., 2)</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among them</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2" name="Picture 1">
            <a:extLst>
              <a:ext uri="{FF2B5EF4-FFF2-40B4-BE49-F238E27FC236}">
                <a16:creationId xmlns:a16="http://schemas.microsoft.com/office/drawing/2014/main" xmlns="" id="{B952E9C1-B92F-D5C8-943E-AE1C251A42C6}"/>
              </a:ext>
            </a:extLst>
          </p:cNvPr>
          <p:cNvPicPr>
            <a:picLocks noChangeAspect="1"/>
          </p:cNvPicPr>
          <p:nvPr/>
        </p:nvPicPr>
        <p:blipFill>
          <a:blip r:embed="rId3"/>
          <a:stretch>
            <a:fillRect/>
          </a:stretch>
        </p:blipFill>
        <p:spPr>
          <a:xfrm>
            <a:off x="2466975" y="1817913"/>
            <a:ext cx="7258050" cy="3940630"/>
          </a:xfrm>
          <a:prstGeom prst="rect">
            <a:avLst/>
          </a:prstGeom>
        </p:spPr>
      </p:pic>
    </p:spTree>
    <p:extLst>
      <p:ext uri="{BB962C8B-B14F-4D97-AF65-F5344CB8AC3E}">
        <p14:creationId xmlns:p14="http://schemas.microsoft.com/office/powerpoint/2010/main" val="72169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Subtitle 4">
            <a:extLst>
              <a:ext uri="{FF2B5EF4-FFF2-40B4-BE49-F238E27FC236}">
                <a16:creationId xmlns:a16="http://schemas.microsoft.com/office/drawing/2014/main" xmlns="" id="{A6C4FE64-4C57-4288-9816-44C400377A51}"/>
              </a:ext>
            </a:extLst>
          </p:cNvPr>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6:</a:t>
            </a:r>
            <a:r>
              <a:rPr lang="en-US" sz="2400" b="0" dirty="0">
                <a:solidFill>
                  <a:srgbClr val="273239"/>
                </a:solidFill>
                <a:effectLst/>
                <a:latin typeface="Times New Roman" panose="02020603050405020304" pitchFamily="18" charset="0"/>
                <a:cs typeface="Times New Roman" panose="02020603050405020304" pitchFamily="18" charset="0"/>
              </a:rPr>
              <a:t> Among the current connecting edges, the edge {5, 2} has the minimum</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weight. So include that edge and the vertex 2 in the MST.</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3" name="Picture 2">
            <a:extLst>
              <a:ext uri="{FF2B5EF4-FFF2-40B4-BE49-F238E27FC236}">
                <a16:creationId xmlns:a16="http://schemas.microsoft.com/office/drawing/2014/main" xmlns="" id="{C0AE56E7-1EAD-7F48-1522-117888CC2642}"/>
              </a:ext>
            </a:extLst>
          </p:cNvPr>
          <p:cNvPicPr>
            <a:picLocks noChangeAspect="1"/>
          </p:cNvPicPr>
          <p:nvPr/>
        </p:nvPicPr>
        <p:blipFill>
          <a:blip r:embed="rId3"/>
          <a:stretch>
            <a:fillRect/>
          </a:stretch>
        </p:blipFill>
        <p:spPr>
          <a:xfrm>
            <a:off x="2466975" y="1861457"/>
            <a:ext cx="7258050" cy="3886200"/>
          </a:xfrm>
          <a:prstGeom prst="rect">
            <a:avLst/>
          </a:prstGeom>
        </p:spPr>
      </p:pic>
    </p:spTree>
    <p:extLst>
      <p:ext uri="{BB962C8B-B14F-4D97-AF65-F5344CB8AC3E}">
        <p14:creationId xmlns:p14="http://schemas.microsoft.com/office/powerpoint/2010/main" val="369995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Subtitle 4">
            <a:extLst>
              <a:ext uri="{FF2B5EF4-FFF2-40B4-BE49-F238E27FC236}">
                <a16:creationId xmlns:a16="http://schemas.microsoft.com/office/drawing/2014/main" xmlns="" id="{A6C4FE64-4C57-4288-9816-44C400377A51}"/>
              </a:ext>
            </a:extLst>
          </p:cNvPr>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7:</a:t>
            </a:r>
            <a:r>
              <a:rPr lang="en-US" sz="2400" b="0" dirty="0">
                <a:solidFill>
                  <a:srgbClr val="273239"/>
                </a:solidFill>
                <a:effectLst/>
                <a:latin typeface="Times New Roman" panose="02020603050405020304" pitchFamily="18" charset="0"/>
                <a:cs typeface="Times New Roman" panose="02020603050405020304" pitchFamily="18" charset="0"/>
              </a:rPr>
              <a:t> The connecting edges between the incomplete MST and the other edges are</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{2, 8}, {2, 3}, {5, 3} and {5, 4}. The edge with minimum weight is edge {2, 8}</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which has weight 2. So include this edge and the vertex 8 in the MST.</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2" name="Picture 1">
            <a:extLst>
              <a:ext uri="{FF2B5EF4-FFF2-40B4-BE49-F238E27FC236}">
                <a16:creationId xmlns:a16="http://schemas.microsoft.com/office/drawing/2014/main" xmlns="" id="{B952E9C1-B92F-D5C8-943E-AE1C251A42C6}"/>
              </a:ext>
            </a:extLst>
          </p:cNvPr>
          <p:cNvPicPr>
            <a:picLocks noChangeAspect="1"/>
          </p:cNvPicPr>
          <p:nvPr/>
        </p:nvPicPr>
        <p:blipFill>
          <a:blip r:embed="rId3"/>
          <a:stretch>
            <a:fillRect/>
          </a:stretch>
        </p:blipFill>
        <p:spPr>
          <a:xfrm>
            <a:off x="1905000" y="2220685"/>
            <a:ext cx="7820025" cy="3878490"/>
          </a:xfrm>
          <a:prstGeom prst="rect">
            <a:avLst/>
          </a:prstGeom>
        </p:spPr>
      </p:pic>
    </p:spTree>
    <p:extLst>
      <p:ext uri="{BB962C8B-B14F-4D97-AF65-F5344CB8AC3E}">
        <p14:creationId xmlns:p14="http://schemas.microsoft.com/office/powerpoint/2010/main" val="2949828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Subtitle 4">
            <a:extLst>
              <a:ext uri="{FF2B5EF4-FFF2-40B4-BE49-F238E27FC236}">
                <a16:creationId xmlns:a16="http://schemas.microsoft.com/office/drawing/2014/main" xmlns="" id="{A6C4FE64-4C57-4288-9816-44C400377A51}"/>
              </a:ext>
            </a:extLst>
          </p:cNvPr>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8:</a:t>
            </a:r>
            <a:r>
              <a:rPr lang="en-US" sz="2400" b="0" dirty="0">
                <a:solidFill>
                  <a:srgbClr val="273239"/>
                </a:solidFill>
                <a:effectLst/>
                <a:latin typeface="Times New Roman" panose="02020603050405020304" pitchFamily="18" charset="0"/>
                <a:cs typeface="Times New Roman" panose="02020603050405020304" pitchFamily="18" charset="0"/>
              </a:rPr>
              <a:t> See here that the edges {7, 8} and {2, 3} both have same weight which are</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minimum. But 7 is already part of MST. So we will consider the edge {2, 3} and</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include that edge and vertex 3 in the MST.</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3" name="Picture 2">
            <a:extLst>
              <a:ext uri="{FF2B5EF4-FFF2-40B4-BE49-F238E27FC236}">
                <a16:creationId xmlns:a16="http://schemas.microsoft.com/office/drawing/2014/main" xmlns="" id="{C1443A93-5FD3-2938-8452-E1D985CD90FE}"/>
              </a:ext>
            </a:extLst>
          </p:cNvPr>
          <p:cNvPicPr>
            <a:picLocks noChangeAspect="1"/>
          </p:cNvPicPr>
          <p:nvPr/>
        </p:nvPicPr>
        <p:blipFill>
          <a:blip r:embed="rId3"/>
          <a:stretch>
            <a:fillRect/>
          </a:stretch>
        </p:blipFill>
        <p:spPr>
          <a:xfrm>
            <a:off x="1990724" y="2546350"/>
            <a:ext cx="7523389" cy="3702050"/>
          </a:xfrm>
          <a:prstGeom prst="rect">
            <a:avLst/>
          </a:prstGeom>
        </p:spPr>
      </p:pic>
    </p:spTree>
    <p:extLst>
      <p:ext uri="{BB962C8B-B14F-4D97-AF65-F5344CB8AC3E}">
        <p14:creationId xmlns:p14="http://schemas.microsoft.com/office/powerpoint/2010/main" val="213086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Subtitle 4">
            <a:extLst>
              <a:ext uri="{FF2B5EF4-FFF2-40B4-BE49-F238E27FC236}">
                <a16:creationId xmlns:a16="http://schemas.microsoft.com/office/drawing/2014/main" xmlns="" id="{A6C4FE64-4C57-4288-9816-44C400377A51}"/>
              </a:ext>
            </a:extLst>
          </p:cNvPr>
          <p:cNvSpPr>
            <a:spLocks noGrp="1"/>
          </p:cNvSpPr>
          <p:nvPr>
            <p:ph idx="1"/>
          </p:nvPr>
        </p:nvSpPr>
        <p:spPr>
          <a:xfrm>
            <a:off x="163513" y="758825"/>
            <a:ext cx="10515600" cy="4351338"/>
          </a:xfrm>
        </p:spPr>
        <p:txBody>
          <a:bodyPr wrap="square" anchor="t">
            <a:noAutofit/>
          </a:bodyPr>
          <a:lstStyle/>
          <a:p>
            <a:pPr marL="0" indent="0" algn="just">
              <a:buNone/>
            </a:pPr>
            <a:r>
              <a:rPr lang="en-US" sz="2400" b="1" u="sng" dirty="0">
                <a:solidFill>
                  <a:srgbClr val="273239"/>
                </a:solidFill>
                <a:effectLst/>
                <a:latin typeface="Times New Roman" panose="02020603050405020304" pitchFamily="18" charset="0"/>
                <a:cs typeface="Times New Roman" panose="02020603050405020304" pitchFamily="18" charset="0"/>
              </a:rPr>
              <a:t>Step 9:</a:t>
            </a:r>
            <a:r>
              <a:rPr lang="en-US" sz="2400" b="0" dirty="0">
                <a:solidFill>
                  <a:srgbClr val="273239"/>
                </a:solidFill>
                <a:effectLst/>
                <a:latin typeface="Times New Roman" panose="02020603050405020304" pitchFamily="18" charset="0"/>
                <a:cs typeface="Times New Roman" panose="02020603050405020304" pitchFamily="18" charset="0"/>
              </a:rPr>
              <a:t> Only  the vertex 4 remains to be included. The minimum weighted edge from the incomplete MST to 4 is {3, 4}.</a:t>
            </a: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2" name="Picture 1">
            <a:extLst>
              <a:ext uri="{FF2B5EF4-FFF2-40B4-BE49-F238E27FC236}">
                <a16:creationId xmlns:a16="http://schemas.microsoft.com/office/drawing/2014/main" xmlns="" id="{5BF1D71C-CD93-F4F7-7198-F4436936A2D9}"/>
              </a:ext>
            </a:extLst>
          </p:cNvPr>
          <p:cNvPicPr>
            <a:picLocks noChangeAspect="1"/>
          </p:cNvPicPr>
          <p:nvPr/>
        </p:nvPicPr>
        <p:blipFill>
          <a:blip r:embed="rId3"/>
          <a:stretch>
            <a:fillRect/>
          </a:stretch>
        </p:blipFill>
        <p:spPr>
          <a:xfrm>
            <a:off x="947057" y="1545772"/>
            <a:ext cx="8777968" cy="3080658"/>
          </a:xfrm>
          <a:prstGeom prst="rect">
            <a:avLst/>
          </a:prstGeom>
        </p:spPr>
      </p:pic>
    </p:spTree>
    <p:extLst>
      <p:ext uri="{BB962C8B-B14F-4D97-AF65-F5344CB8AC3E}">
        <p14:creationId xmlns:p14="http://schemas.microsoft.com/office/powerpoint/2010/main" val="213443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Subtitle 4">
            <a:extLst>
              <a:ext uri="{FF2B5EF4-FFF2-40B4-BE49-F238E27FC236}">
                <a16:creationId xmlns:a16="http://schemas.microsoft.com/office/drawing/2014/main" xmlns="" id="{A6C4FE64-4C57-4288-9816-44C400377A51}"/>
              </a:ext>
            </a:extLst>
          </p:cNvPr>
          <p:cNvSpPr>
            <a:spLocks noGrp="1"/>
          </p:cNvSpPr>
          <p:nvPr>
            <p:ph idx="1"/>
          </p:nvPr>
        </p:nvSpPr>
        <p:spPr>
          <a:xfrm>
            <a:off x="163513" y="758825"/>
            <a:ext cx="10515600" cy="4351338"/>
          </a:xfrm>
        </p:spPr>
        <p:txBody>
          <a:bodyPr wrap="square" anchor="t">
            <a:noAutofit/>
          </a:bodyPr>
          <a:lstStyle/>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The final structure of the MST is as follows and the weight of the edges of the MST</a:t>
            </a:r>
          </a:p>
          <a:p>
            <a:pPr marL="0" indent="0" algn="just">
              <a:buNone/>
            </a:pPr>
            <a:r>
              <a:rPr lang="en-US" sz="2400" b="0" dirty="0">
                <a:solidFill>
                  <a:srgbClr val="273239"/>
                </a:solidFill>
                <a:effectLst/>
                <a:latin typeface="Times New Roman" panose="02020603050405020304" pitchFamily="18" charset="0"/>
                <a:cs typeface="Times New Roman" panose="02020603050405020304" pitchFamily="18" charset="0"/>
              </a:rPr>
              <a:t> is (4 + 8 + 1 + 2 + 4 + 2 + 7 + 9) = </a:t>
            </a:r>
            <a:r>
              <a:rPr lang="en-US" sz="2400" b="1" dirty="0">
                <a:solidFill>
                  <a:srgbClr val="273239"/>
                </a:solidFill>
                <a:effectLst/>
                <a:latin typeface="Times New Roman" panose="02020603050405020304" pitchFamily="18" charset="0"/>
                <a:cs typeface="Times New Roman" panose="02020603050405020304" pitchFamily="18" charset="0"/>
              </a:rPr>
              <a:t>37</a:t>
            </a:r>
            <a:r>
              <a:rPr lang="en-US" sz="2400" b="0" dirty="0">
                <a:solidFill>
                  <a:srgbClr val="273239"/>
                </a:solidFill>
                <a:effectLst/>
                <a:latin typeface="Times New Roman" panose="02020603050405020304" pitchFamily="18" charset="0"/>
                <a:cs typeface="Times New Roman" panose="02020603050405020304" pitchFamily="18" charset="0"/>
              </a:rPr>
              <a:t>.</a:t>
            </a:r>
          </a:p>
          <a:p>
            <a:pPr marL="0" indent="0" algn="just">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
        <p:nvSpPr>
          <p:cNvPr id="10" name="Rectangle 9"/>
          <p:cNvSpPr/>
          <p:nvPr/>
        </p:nvSpPr>
        <p:spPr>
          <a:xfrm>
            <a:off x="6624031" y="2383973"/>
            <a:ext cx="5920635" cy="838948"/>
          </a:xfrm>
          <a:prstGeom prst="rect">
            <a:avLst/>
          </a:prstGeom>
        </p:spPr>
        <p:txBody>
          <a:bodyPr wrap="square">
            <a:spAutoFit/>
          </a:bodyPr>
          <a:lstStyle/>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a:p>
            <a:pPr algn="just">
              <a:lnSpc>
                <a:spcPct val="115000"/>
              </a:lnSpc>
              <a:spcAft>
                <a:spcPts val="1000"/>
              </a:spcAft>
            </a:pPr>
            <a:endParaRPr lang="en-IN" b="1" dirty="0">
              <a:ea typeface="Calibri" panose="020F0502020204030204" pitchFamily="34" charset="0"/>
              <a:cs typeface="Times New Roman" panose="02020603050405020304" pitchFamily="18" charset="0"/>
            </a:endParaRPr>
          </a:p>
        </p:txBody>
      </p:sp>
      <p:sp>
        <p:nvSpPr>
          <p:cNvPr id="11" name="Rounded Rectangle 17">
            <a:extLst>
              <a:ext uri="{FF2B5EF4-FFF2-40B4-BE49-F238E27FC236}">
                <a16:creationId xmlns:a16="http://schemas.microsoft.com/office/drawing/2014/main" xmlns="" id="{0F2E30D4-6F86-49D1-9276-85CE0E9B3E3E}"/>
              </a:ext>
            </a:extLst>
          </p:cNvPr>
          <p:cNvSpPr>
            <a:spLocks noGrp="1"/>
          </p:cNvSpPr>
          <p:nvPr>
            <p:ph type="title"/>
          </p:nvPr>
        </p:nvSpPr>
        <p:spPr>
          <a:xfrm>
            <a:off x="3788228" y="117929"/>
            <a:ext cx="4974772" cy="3719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B0F0"/>
                </a:solidFill>
                <a:latin typeface="Times New Roman" pitchFamily="18" charset="0"/>
                <a:cs typeface="Times New Roman" pitchFamily="18" charset="0"/>
              </a:rPr>
              <a:t>Prim’s Algorithm (Example </a:t>
            </a:r>
            <a:r>
              <a:rPr lang="en-US" sz="2400" b="1" dirty="0" err="1">
                <a:solidFill>
                  <a:srgbClr val="00B0F0"/>
                </a:solidFill>
                <a:latin typeface="Times New Roman" pitchFamily="18" charset="0"/>
                <a:cs typeface="Times New Roman" pitchFamily="18" charset="0"/>
              </a:rPr>
              <a:t>conti</a:t>
            </a:r>
            <a:r>
              <a:rPr lang="en-US" sz="2400" b="1" dirty="0">
                <a:solidFill>
                  <a:srgbClr val="00B0F0"/>
                </a:solidFill>
                <a:latin typeface="Times New Roman" pitchFamily="18" charset="0"/>
                <a:cs typeface="Times New Roman" pitchFamily="18" charset="0"/>
              </a:rPr>
              <a:t>..)</a:t>
            </a:r>
            <a:endParaRPr lang="en-US" sz="2400" dirty="0"/>
          </a:p>
        </p:txBody>
      </p:sp>
      <p:pic>
        <p:nvPicPr>
          <p:cNvPr id="3" name="Picture 2">
            <a:extLst>
              <a:ext uri="{FF2B5EF4-FFF2-40B4-BE49-F238E27FC236}">
                <a16:creationId xmlns:a16="http://schemas.microsoft.com/office/drawing/2014/main" xmlns="" id="{81F72F93-D2E3-0344-FD41-7166F8695448}"/>
              </a:ext>
            </a:extLst>
          </p:cNvPr>
          <p:cNvPicPr>
            <a:picLocks noChangeAspect="1"/>
          </p:cNvPicPr>
          <p:nvPr/>
        </p:nvPicPr>
        <p:blipFill>
          <a:blip r:embed="rId3"/>
          <a:stretch>
            <a:fillRect/>
          </a:stretch>
        </p:blipFill>
        <p:spPr>
          <a:xfrm>
            <a:off x="1990725" y="1894113"/>
            <a:ext cx="7734300" cy="3639911"/>
          </a:xfrm>
          <a:prstGeom prst="rect">
            <a:avLst/>
          </a:prstGeom>
        </p:spPr>
      </p:pic>
    </p:spTree>
    <p:extLst>
      <p:ext uri="{BB962C8B-B14F-4D97-AF65-F5344CB8AC3E}">
        <p14:creationId xmlns:p14="http://schemas.microsoft.com/office/powerpoint/2010/main" val="185141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extBox 2">
            <a:extLst>
              <a:ext uri="{FF2B5EF4-FFF2-40B4-BE49-F238E27FC236}">
                <a16:creationId xmlns:a16="http://schemas.microsoft.com/office/drawing/2014/main" xmlns="" id="{988A85DA-0D63-1BAB-6E7E-76D039A64A8E}"/>
              </a:ext>
            </a:extLst>
          </p:cNvPr>
          <p:cNvSpPr txBox="1"/>
          <p:nvPr/>
        </p:nvSpPr>
        <p:spPr>
          <a:xfrm>
            <a:off x="1083212" y="1641987"/>
            <a:ext cx="10086536" cy="2241960"/>
          </a:xfrm>
          <a:prstGeom prst="rect">
            <a:avLst/>
          </a:prstGeom>
          <a:noFill/>
        </p:spPr>
        <p:txBody>
          <a:bodyPr wrap="square">
            <a:spAutoFit/>
          </a:bodyPr>
          <a:lstStyle/>
          <a:p>
            <a:pPr marL="571500" indent="-5715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Prim's technique works on the simple principle that </a:t>
            </a:r>
            <a:r>
              <a:rPr lang="en-US" sz="2400" b="1" dirty="0">
                <a:latin typeface="Times New Roman" panose="02020603050405020304" pitchFamily="18" charset="0"/>
                <a:cs typeface="Times New Roman" panose="02020603050405020304" pitchFamily="18" charset="0"/>
              </a:rPr>
              <a:t>all vertices in a spanning tree must be connected</a:t>
            </a:r>
            <a:r>
              <a:rPr lang="en-US" sz="2400" dirty="0">
                <a:latin typeface="Times New Roman" panose="02020603050405020304" pitchFamily="18" charset="0"/>
                <a:cs typeface="Times New Roman" panose="02020603050405020304" pitchFamily="18" charset="0"/>
              </a:rPr>
              <a:t>. To build a Spanning Tree, the two distinct subsets of vertices should be joined and they must be connected in such a way that summation of all edge weights is minimum.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KL Deemed to be University Logo"/>
          <p:cNvPicPr>
            <a:picLocks noChangeAspect="1" noChangeArrowheads="1"/>
          </p:cNvPicPr>
          <p:nvPr/>
        </p:nvPicPr>
        <p:blipFill>
          <a:blip r:embed="rId2"/>
          <a:srcRect/>
          <a:stretch>
            <a:fillRect/>
          </a:stretch>
        </p:blipFill>
        <p:spPr bwMode="auto">
          <a:xfrm>
            <a:off x="0" y="65087"/>
            <a:ext cx="1990725" cy="600076"/>
          </a:xfrm>
          <a:prstGeom prst="rect">
            <a:avLst/>
          </a:prstGeom>
          <a:noFill/>
        </p:spPr>
      </p:pic>
      <p:sp>
        <p:nvSpPr>
          <p:cNvPr id="5" name="Title 4">
            <a:extLst>
              <a:ext uri="{FF2B5EF4-FFF2-40B4-BE49-F238E27FC236}">
                <a16:creationId xmlns:a16="http://schemas.microsoft.com/office/drawing/2014/main" xmlns="" id="{ED7FD29D-BBDE-078E-D487-E57247CDB50D}"/>
              </a:ext>
            </a:extLst>
          </p:cNvPr>
          <p:cNvSpPr>
            <a:spLocks noGrp="1"/>
          </p:cNvSpPr>
          <p:nvPr>
            <p:ph type="title"/>
          </p:nvPr>
        </p:nvSpPr>
        <p:spPr>
          <a:xfrm>
            <a:off x="3331029" y="170317"/>
            <a:ext cx="4669971" cy="49484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dirty="0"/>
              <a:t>SELF-ASSESSMENT QUESTIONS</a:t>
            </a:r>
          </a:p>
        </p:txBody>
      </p:sp>
      <p:sp>
        <p:nvSpPr>
          <p:cNvPr id="6" name="Google Shape;502;p17">
            <a:extLst>
              <a:ext uri="{FF2B5EF4-FFF2-40B4-BE49-F238E27FC236}">
                <a16:creationId xmlns:a16="http://schemas.microsoft.com/office/drawing/2014/main" xmlns="" id="{AE3D0AA7-0A5F-7BD6-7BC7-1D38F326B8B4}"/>
              </a:ext>
            </a:extLst>
          </p:cNvPr>
          <p:cNvSpPr>
            <a:spLocks noGrp="1"/>
          </p:cNvSpPr>
          <p:nvPr>
            <p:ph idx="1"/>
          </p:nvPr>
        </p:nvSpPr>
        <p:spPr>
          <a:xfrm>
            <a:off x="838200" y="1109935"/>
            <a:ext cx="10515600" cy="41683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spcBef>
                <a:spcPts val="0"/>
              </a:spcBef>
              <a:buFont typeface="+mj-lt"/>
              <a:buAutoNum type="arabicPeriod"/>
            </a:pPr>
            <a:r>
              <a:rPr lang="en-US" sz="1600" dirty="0"/>
              <a:t>Prim’s algorithm is a ______</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7" name="Rounded Rectangle 6">
            <a:extLst>
              <a:ext uri="{FF2B5EF4-FFF2-40B4-BE49-F238E27FC236}">
                <a16:creationId xmlns:a16="http://schemas.microsoft.com/office/drawing/2014/main" xmlns="" id="{5D8B791C-9B35-CF16-C192-D202E0DB9A60}"/>
              </a:ext>
            </a:extLst>
          </p:cNvPr>
          <p:cNvSpPr/>
          <p:nvPr/>
        </p:nvSpPr>
        <p:spPr>
          <a:xfrm>
            <a:off x="995362" y="1787641"/>
            <a:ext cx="352220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50000"/>
              </a:lnSpc>
              <a:buAutoNum type="alphaLcParenBoth"/>
            </a:pPr>
            <a:r>
              <a:rPr lang="en-US" sz="1600" dirty="0"/>
              <a:t>Divide and conquer algorithm</a:t>
            </a:r>
            <a:endParaRPr lang="en-US" sz="1600" dirty="0">
              <a:latin typeface="Arial" panose="020B0604020202020204" pitchFamily="34" charset="0"/>
            </a:endParaRPr>
          </a:p>
          <a:p>
            <a:pPr marL="342900" indent="-342900">
              <a:lnSpc>
                <a:spcPct val="150000"/>
              </a:lnSpc>
              <a:buAutoNum type="alphaLcParenBoth"/>
            </a:pPr>
            <a:r>
              <a:rPr lang="en-US" sz="1600" dirty="0"/>
              <a:t>Greedy algorithm</a:t>
            </a:r>
            <a:endParaRPr lang="en-US" sz="1600" dirty="0">
              <a:latin typeface="Arial" panose="020B0604020202020204" pitchFamily="34" charset="0"/>
            </a:endParaRPr>
          </a:p>
          <a:p>
            <a:pPr marL="342900" indent="-342900">
              <a:lnSpc>
                <a:spcPct val="150000"/>
              </a:lnSpc>
              <a:buAutoNum type="alphaLcParenBoth"/>
            </a:pPr>
            <a:r>
              <a:rPr lang="en-US" sz="1600" dirty="0"/>
              <a:t>Dynamic Programming</a:t>
            </a:r>
            <a:endParaRPr lang="en-US" sz="1600" dirty="0">
              <a:latin typeface="Arial" panose="020B0604020202020204" pitchFamily="34" charset="0"/>
            </a:endParaRPr>
          </a:p>
          <a:p>
            <a:pPr marL="342900" indent="-342900">
              <a:lnSpc>
                <a:spcPct val="150000"/>
              </a:lnSpc>
              <a:buAutoNum type="alphaLcParenBoth"/>
            </a:pPr>
            <a:r>
              <a:rPr lang="en-US" sz="1600" dirty="0"/>
              <a:t>Approximation algorithm</a:t>
            </a:r>
          </a:p>
        </p:txBody>
      </p:sp>
      <p:sp>
        <p:nvSpPr>
          <p:cNvPr id="8" name="Google Shape;502;p17">
            <a:extLst>
              <a:ext uri="{FF2B5EF4-FFF2-40B4-BE49-F238E27FC236}">
                <a16:creationId xmlns:a16="http://schemas.microsoft.com/office/drawing/2014/main" xmlns="" id="{AE3D0AA7-0A5F-7BD6-7BC7-1D38F326B8B4}"/>
              </a:ext>
            </a:extLst>
          </p:cNvPr>
          <p:cNvSpPr txBox="1">
            <a:spLocks/>
          </p:cNvSpPr>
          <p:nvPr/>
        </p:nvSpPr>
        <p:spPr>
          <a:xfrm>
            <a:off x="838200" y="3694343"/>
            <a:ext cx="10515600" cy="416832"/>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defPPr>
              <a:defRPr lang="en-US"/>
            </a:defPPr>
            <a:lvl1pPr marL="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743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200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657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spcBef>
                <a:spcPts val="0"/>
              </a:spcBef>
              <a:buNone/>
            </a:pPr>
            <a:r>
              <a:rPr lang="en-US" sz="1600" dirty="0">
                <a:solidFill>
                  <a:schemeClr val="bg1"/>
                </a:solidFill>
                <a:latin typeface="Poppins" panose="00000500000000000000" pitchFamily="2" charset="0"/>
                <a:ea typeface="Calibri"/>
                <a:cs typeface="Poppins" panose="00000500000000000000" pitchFamily="2" charset="0"/>
                <a:sym typeface="Calibri"/>
              </a:rPr>
              <a:t>2. </a:t>
            </a:r>
            <a:r>
              <a:rPr lang="en-US" sz="1600" dirty="0"/>
              <a:t>Prim’s algorithm can be efficiently implemented using _____ for graphs with greater density.</a:t>
            </a:r>
            <a:endParaRPr lang="en-US"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9" name="Rounded Rectangle 8">
            <a:extLst>
              <a:ext uri="{FF2B5EF4-FFF2-40B4-BE49-F238E27FC236}">
                <a16:creationId xmlns:a16="http://schemas.microsoft.com/office/drawing/2014/main" xmlns="" id="{5D8B791C-9B35-CF16-C192-D202E0DB9A60}"/>
              </a:ext>
            </a:extLst>
          </p:cNvPr>
          <p:cNvSpPr/>
          <p:nvPr/>
        </p:nvSpPr>
        <p:spPr>
          <a:xfrm>
            <a:off x="995361" y="4489316"/>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50000"/>
              </a:lnSpc>
              <a:buAutoNum type="alphaLcParenBoth"/>
            </a:pPr>
            <a:r>
              <a:rPr lang="en-US" sz="1600" dirty="0"/>
              <a:t>d-</a:t>
            </a:r>
            <a:r>
              <a:rPr lang="en-US" sz="1600" dirty="0" err="1"/>
              <a:t>ary</a:t>
            </a:r>
            <a:r>
              <a:rPr lang="en-US" sz="1600" dirty="0"/>
              <a:t> heap</a:t>
            </a:r>
            <a:endParaRPr lang="en-US" sz="1600" dirty="0">
              <a:latin typeface="Arial" panose="020B0604020202020204" pitchFamily="34" charset="0"/>
            </a:endParaRPr>
          </a:p>
          <a:p>
            <a:pPr marL="342900" indent="-342900">
              <a:lnSpc>
                <a:spcPct val="150000"/>
              </a:lnSpc>
              <a:buAutoNum type="alphaLcParenBoth"/>
            </a:pPr>
            <a:r>
              <a:rPr lang="en-US" sz="1600" dirty="0"/>
              <a:t>linear search</a:t>
            </a:r>
            <a:endParaRPr lang="en-US" sz="1600" dirty="0">
              <a:latin typeface="Arial" panose="020B0604020202020204" pitchFamily="34" charset="0"/>
            </a:endParaRPr>
          </a:p>
          <a:p>
            <a:pPr marL="342900" indent="-342900">
              <a:lnSpc>
                <a:spcPct val="150000"/>
              </a:lnSpc>
              <a:buAutoNum type="alphaLcParenBoth"/>
            </a:pPr>
            <a:r>
              <a:rPr lang="en-US" sz="1600" dirty="0" err="1"/>
              <a:t>fibonacci</a:t>
            </a:r>
            <a:r>
              <a:rPr lang="en-US" sz="1600" dirty="0"/>
              <a:t> heap</a:t>
            </a:r>
            <a:endParaRPr lang="en-US" sz="1600" dirty="0">
              <a:latin typeface="Arial" panose="020B0604020202020204" pitchFamily="34" charset="0"/>
            </a:endParaRPr>
          </a:p>
          <a:p>
            <a:pPr marL="342900" indent="-342900">
              <a:lnSpc>
                <a:spcPct val="150000"/>
              </a:lnSpc>
              <a:buAutoNum type="alphaLcParenBoth"/>
            </a:pPr>
            <a:r>
              <a:rPr lang="en-US" sz="1600" dirty="0"/>
              <a:t>binary search</a:t>
            </a:r>
          </a:p>
        </p:txBody>
      </p:sp>
    </p:spTree>
    <p:extLst>
      <p:ext uri="{BB962C8B-B14F-4D97-AF65-F5344CB8AC3E}">
        <p14:creationId xmlns:p14="http://schemas.microsoft.com/office/powerpoint/2010/main" val="3272082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0229" y="665163"/>
            <a:ext cx="10515600" cy="5718175"/>
          </a:xfrm>
        </p:spPr>
        <p:txBody>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1. Describe the minimum cost of a Spanning tree using Prim’s Algorithm? </a:t>
            </a:r>
          </a:p>
          <a:p>
            <a:pPr marL="0" indent="0">
              <a:lnSpc>
                <a:spcPct val="150000"/>
              </a:lnSpc>
              <a:buNone/>
            </a:pPr>
            <a:r>
              <a:rPr lang="en-US" sz="2400" dirty="0">
                <a:latin typeface="Times New Roman" panose="02020603050405020304" pitchFamily="18" charset="0"/>
                <a:cs typeface="Times New Roman" panose="02020603050405020304" pitchFamily="18" charset="0"/>
              </a:rPr>
              <a:t>2. List out the steps involved in Prim’s Algorithm?</a:t>
            </a:r>
          </a:p>
          <a:p>
            <a:pPr marL="0" indent="0">
              <a:lnSpc>
                <a:spcPct val="150000"/>
              </a:lnSpc>
              <a:buNone/>
            </a:pPr>
            <a:r>
              <a:rPr lang="en-US" sz="2400" dirty="0">
                <a:latin typeface="Times New Roman" panose="02020603050405020304" pitchFamily="18" charset="0"/>
                <a:cs typeface="Times New Roman" panose="02020603050405020304" pitchFamily="18" charset="0"/>
              </a:rPr>
              <a:t>3. Analyze the implementation details of minimum spanning tree using Prim’s Algorithm?</a:t>
            </a:r>
          </a:p>
          <a:p>
            <a:pPr marL="0" indent="0">
              <a:lnSpc>
                <a:spcPct val="150000"/>
              </a:lnSpc>
              <a:buNone/>
            </a:pPr>
            <a:r>
              <a:rPr lang="en-US" sz="2400" dirty="0">
                <a:latin typeface="Times New Roman" panose="02020603050405020304" pitchFamily="18" charset="0"/>
                <a:cs typeface="Times New Roman" panose="02020603050405020304" pitchFamily="18" charset="0"/>
              </a:rPr>
              <a:t>4. Summarize the concept of Prim’s Minimum Spanning Tree?</a:t>
            </a:r>
          </a:p>
          <a:p>
            <a:pPr marL="0" indent="0">
              <a:buNone/>
            </a:pPr>
            <a:endParaRPr lang="en-US" dirty="0"/>
          </a:p>
        </p:txBody>
      </p:sp>
      <p:pic>
        <p:nvPicPr>
          <p:cNvPr id="4" name="Picture 3" descr="KL Deemed to be University Logo"/>
          <p:cNvPicPr>
            <a:picLocks noChangeAspect="1" noChangeArrowheads="1"/>
          </p:cNvPicPr>
          <p:nvPr/>
        </p:nvPicPr>
        <p:blipFill>
          <a:blip r:embed="rId2"/>
          <a:srcRect/>
          <a:stretch>
            <a:fillRect/>
          </a:stretch>
        </p:blipFill>
        <p:spPr bwMode="auto">
          <a:xfrm>
            <a:off x="0" y="65087"/>
            <a:ext cx="1990725" cy="600076"/>
          </a:xfrm>
          <a:prstGeom prst="rect">
            <a:avLst/>
          </a:prstGeom>
          <a:noFill/>
        </p:spPr>
      </p:pic>
      <p:sp>
        <p:nvSpPr>
          <p:cNvPr id="5" name="Rounded Rectangle 17">
            <a:extLst>
              <a:ext uri="{FF2B5EF4-FFF2-40B4-BE49-F238E27FC236}">
                <a16:creationId xmlns:a16="http://schemas.microsoft.com/office/drawing/2014/main" xmlns="" id="{045E056E-10BD-0B9E-4ACE-A3F54C31FD9F}"/>
              </a:ext>
            </a:extLst>
          </p:cNvPr>
          <p:cNvSpPr>
            <a:spLocks noGrp="1"/>
          </p:cNvSpPr>
          <p:nvPr>
            <p:ph type="title"/>
          </p:nvPr>
        </p:nvSpPr>
        <p:spPr>
          <a:xfrm>
            <a:off x="2994025" y="127000"/>
            <a:ext cx="5507038" cy="5381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Tree>
    <p:extLst>
      <p:ext uri="{BB962C8B-B14F-4D97-AF65-F5344CB8AC3E}">
        <p14:creationId xmlns:p14="http://schemas.microsoft.com/office/powerpoint/2010/main" val="420396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108718" y="158864"/>
            <a:ext cx="8882743" cy="59667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REFERENCES FOR FURTHER LEARNING OF THE SESSION</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2">
            <a:extLst>
              <a:ext uri="{FF2B5EF4-FFF2-40B4-BE49-F238E27FC236}">
                <a16:creationId xmlns:a16="http://schemas.microsoft.com/office/drawing/2014/main" xmlns="" id="{E5B5C571-3A43-FAC0-56FA-D5E56691C93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xmlns="" id="{D819F75A-1162-9E61-F7FB-619431DF3CFC}"/>
              </a:ext>
            </a:extLst>
          </p:cNvPr>
          <p:cNvSpPr>
            <a:spLocks noChangeArrowheads="1"/>
          </p:cNvSpPr>
          <p:nvPr/>
        </p:nvSpPr>
        <p:spPr bwMode="auto">
          <a:xfrm>
            <a:off x="1647825" y="690563"/>
            <a:ext cx="49213" cy="14287"/>
          </a:xfrm>
          <a:prstGeom prst="rect">
            <a:avLst/>
          </a:prstGeom>
          <a:solidFill>
            <a:srgbClr val="000000"/>
          </a:solidFill>
          <a:ln>
            <a:noFill/>
          </a:ln>
          <a:extLst>
            <a:ext uri="{91240B29-F687-4F45-9708-019B960494DF}">
              <a14:hiddenLine xmlns:a14="http://schemas.microsoft.com/office/drawing/2010/main" w="9525">
                <a:solidFill>
                  <a:srgbClr val="3465A4"/>
                </a:solidFill>
                <a:round/>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 name="Rectangle 3">
            <a:extLst>
              <a:ext uri="{FF2B5EF4-FFF2-40B4-BE49-F238E27FC236}">
                <a16:creationId xmlns:a16="http://schemas.microsoft.com/office/drawing/2014/main" xmlns="" id="{E0B71DF7-1C35-1050-36BE-FF0850A2915E}"/>
              </a:ext>
            </a:extLst>
          </p:cNvPr>
          <p:cNvSpPr>
            <a:spLocks noChangeArrowheads="1"/>
          </p:cNvSpPr>
          <p:nvPr/>
        </p:nvSpPr>
        <p:spPr bwMode="auto">
          <a:xfrm>
            <a:off x="499165" y="682982"/>
            <a:ext cx="11193670" cy="569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69752" tIns="103155" rIns="91440" bIns="45720" numCol="1" anchor="ctr" anchorCtr="0" compatLnSpc="1">
            <a:prstTxWarp prst="textNoShape">
              <a:avLst/>
            </a:prstTxWarp>
            <a:spAutoFit/>
          </a:bodyPr>
          <a:lstStyle>
            <a:lvl1pPr eaLnBrk="0" fontAlgn="base" hangingPunct="0">
              <a:spcBef>
                <a:spcPct val="0"/>
              </a:spcBef>
              <a:spcAft>
                <a:spcPct val="0"/>
              </a:spcAft>
              <a:tabLst>
                <a:tab pos="927100" algn="l"/>
              </a:tabLst>
              <a:defRPr>
                <a:solidFill>
                  <a:schemeClr val="tx1"/>
                </a:solidFill>
                <a:latin typeface="Arial" panose="020B0604020202020204" pitchFamily="34" charset="0"/>
              </a:defRPr>
            </a:lvl1pPr>
            <a:lvl2pPr eaLnBrk="0" fontAlgn="base" hangingPunct="0">
              <a:spcBef>
                <a:spcPct val="0"/>
              </a:spcBef>
              <a:spcAft>
                <a:spcPct val="0"/>
              </a:spcAft>
              <a:tabLst>
                <a:tab pos="927100" algn="l"/>
              </a:tabLst>
              <a:defRPr>
                <a:solidFill>
                  <a:schemeClr val="tx1"/>
                </a:solidFill>
                <a:latin typeface="Arial" panose="020B0604020202020204" pitchFamily="34" charset="0"/>
              </a:defRPr>
            </a:lvl2pPr>
            <a:lvl3pPr eaLnBrk="0" fontAlgn="base" hangingPunct="0">
              <a:spcBef>
                <a:spcPct val="0"/>
              </a:spcBef>
              <a:spcAft>
                <a:spcPct val="0"/>
              </a:spcAft>
              <a:tabLst>
                <a:tab pos="927100" algn="l"/>
              </a:tabLst>
              <a:defRPr>
                <a:solidFill>
                  <a:schemeClr val="tx1"/>
                </a:solidFill>
                <a:latin typeface="Arial" panose="020B0604020202020204" pitchFamily="34" charset="0"/>
              </a:defRPr>
            </a:lvl3pPr>
            <a:lvl4pPr eaLnBrk="0" fontAlgn="base" hangingPunct="0">
              <a:spcBef>
                <a:spcPct val="0"/>
              </a:spcBef>
              <a:spcAft>
                <a:spcPct val="0"/>
              </a:spcAft>
              <a:tabLst>
                <a:tab pos="927100" algn="l"/>
              </a:tabLst>
              <a:defRPr>
                <a:solidFill>
                  <a:schemeClr val="tx1"/>
                </a:solidFill>
                <a:latin typeface="Arial" panose="020B0604020202020204" pitchFamily="34" charset="0"/>
              </a:defRPr>
            </a:lvl4pPr>
            <a:lvl5pPr eaLnBrk="0" fontAlgn="base" hangingPunct="0">
              <a:spcBef>
                <a:spcPct val="0"/>
              </a:spcBef>
              <a:spcAft>
                <a:spcPct val="0"/>
              </a:spcAft>
              <a:tabLst>
                <a:tab pos="927100" algn="l"/>
              </a:tabLst>
              <a:defRPr>
                <a:solidFill>
                  <a:schemeClr val="tx1"/>
                </a:solidFill>
                <a:latin typeface="Arial" panose="020B0604020202020204" pitchFamily="34" charset="0"/>
              </a:defRPr>
            </a:lvl5pPr>
            <a:lvl6pPr eaLnBrk="0" fontAlgn="base" hangingPunct="0">
              <a:spcBef>
                <a:spcPct val="0"/>
              </a:spcBef>
              <a:spcAft>
                <a:spcPct val="0"/>
              </a:spcAft>
              <a:tabLst>
                <a:tab pos="927100" algn="l"/>
              </a:tabLst>
              <a:defRPr>
                <a:solidFill>
                  <a:schemeClr val="tx1"/>
                </a:solidFill>
                <a:latin typeface="Arial" panose="020B0604020202020204" pitchFamily="34" charset="0"/>
              </a:defRPr>
            </a:lvl6pPr>
            <a:lvl7pPr eaLnBrk="0" fontAlgn="base" hangingPunct="0">
              <a:spcBef>
                <a:spcPct val="0"/>
              </a:spcBef>
              <a:spcAft>
                <a:spcPct val="0"/>
              </a:spcAft>
              <a:tabLst>
                <a:tab pos="927100" algn="l"/>
              </a:tabLst>
              <a:defRPr>
                <a:solidFill>
                  <a:schemeClr val="tx1"/>
                </a:solidFill>
                <a:latin typeface="Arial" panose="020B0604020202020204" pitchFamily="34" charset="0"/>
              </a:defRPr>
            </a:lvl7pPr>
            <a:lvl8pPr eaLnBrk="0" fontAlgn="base" hangingPunct="0">
              <a:spcBef>
                <a:spcPct val="0"/>
              </a:spcBef>
              <a:spcAft>
                <a:spcPct val="0"/>
              </a:spcAft>
              <a:tabLst>
                <a:tab pos="927100" algn="l"/>
              </a:tabLst>
              <a:defRPr>
                <a:solidFill>
                  <a:schemeClr val="tx1"/>
                </a:solidFill>
                <a:latin typeface="Arial" panose="020B0604020202020204" pitchFamily="34" charset="0"/>
              </a:defRPr>
            </a:lvl8pPr>
            <a:lvl9pPr eaLnBrk="0" fontAlgn="base" hangingPunct="0">
              <a:spcBef>
                <a:spcPct val="0"/>
              </a:spcBef>
              <a:spcAft>
                <a:spcPct val="0"/>
              </a:spcAft>
              <a:tabLst>
                <a:tab pos="9271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lang="en-US" altLang="en-US" b="1" dirty="0">
                <a:ea typeface="Times New Roman" panose="02020603050405020304" pitchFamily="18" charset="0"/>
              </a:rPr>
              <a:t>T</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EXTBOOKS:</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Mark </a:t>
            </a:r>
            <a:r>
              <a:rPr lang="en-US" dirty="0"/>
              <a:t>Allen Weiss, Data Structures and Algorithm Analysis in C, 2010, Second Edition, Pearson Education.</a:t>
            </a:r>
          </a:p>
          <a:p>
            <a:pPr lvl="0"/>
            <a:r>
              <a:rPr lang="en-US" dirty="0" smtClean="0"/>
              <a:t>2. Allen </a:t>
            </a:r>
            <a:r>
              <a:rPr lang="en-US" dirty="0"/>
              <a:t>B. Downey, ”Think Python: How to Think Like a Computer Scientist’’, 2nd edition, Updated for Python 3, Shroff/O’Reilly Publishers, 2016 (</a:t>
            </a:r>
            <a:r>
              <a:rPr lang="en-US" u="sng" dirty="0">
                <a:hlinkClick r:id="rId3"/>
              </a:rPr>
              <a:t>http://greenteapress.com/wp/thinkpython/</a:t>
            </a:r>
            <a:r>
              <a:rPr lang="en-US" dirty="0"/>
              <a:t>)</a:t>
            </a:r>
          </a:p>
          <a:p>
            <a:r>
              <a:rPr lang="en-US" dirty="0" smtClean="0"/>
              <a:t>3. Data </a:t>
            </a:r>
            <a:r>
              <a:rPr lang="en-US" dirty="0"/>
              <a:t>Structures and algorithms using python, 2011,Rance D, </a:t>
            </a:r>
            <a:r>
              <a:rPr lang="en-US" dirty="0" err="1"/>
              <a:t>Necaise</a:t>
            </a:r>
            <a:r>
              <a:rPr lang="en-US" dirty="0"/>
              <a:t>, </a:t>
            </a:r>
            <a:r>
              <a:rPr lang="en-US" dirty="0" err="1"/>
              <a:t>himilton</a:t>
            </a:r>
            <a:r>
              <a:rPr lang="en-US" dirty="0"/>
              <a:t> </a:t>
            </a:r>
            <a:r>
              <a:rPr lang="en-US" dirty="0" smtClean="0"/>
              <a:t>printing</a:t>
            </a:r>
          </a:p>
          <a:p>
            <a:r>
              <a:rPr kumimoji="0" lang="en-US" altLang="en-US"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REFERENCE </a:t>
            </a: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BOOKS</a:t>
            </a:r>
            <a:r>
              <a:rPr kumimoji="0" lang="en-US" altLang="en-US"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lvl="0"/>
            <a:r>
              <a:rPr lang="en-US" dirty="0" smtClean="0"/>
              <a:t>1. Data </a:t>
            </a:r>
            <a:r>
              <a:rPr lang="en-US" dirty="0"/>
              <a:t>Structures and Algorithm Analysis in PYTHON, 2010, Mark Allen Weiss, Second Edition, Pearson Education.</a:t>
            </a:r>
          </a:p>
          <a:p>
            <a:pPr lvl="0"/>
            <a:r>
              <a:rPr lang="en-US" dirty="0" smtClean="0"/>
              <a:t>2. Data </a:t>
            </a:r>
            <a:r>
              <a:rPr lang="en-US" dirty="0"/>
              <a:t>Structures and Algorithms, </a:t>
            </a:r>
            <a:r>
              <a:rPr lang="en-US" dirty="0" err="1"/>
              <a:t>A.V.Aho</a:t>
            </a:r>
            <a:r>
              <a:rPr lang="en-US" dirty="0"/>
              <a:t>, </a:t>
            </a:r>
            <a:r>
              <a:rPr lang="en-US" dirty="0" err="1"/>
              <a:t>J.E.Hopcroft</a:t>
            </a:r>
            <a:r>
              <a:rPr lang="en-US" dirty="0"/>
              <a:t>, and </a:t>
            </a:r>
            <a:r>
              <a:rPr lang="en-US" dirty="0" err="1"/>
              <a:t>J.D.Ullman</a:t>
            </a:r>
            <a:r>
              <a:rPr lang="en-US" dirty="0"/>
              <a:t>, Pearson Education, First Edition Reprint2003.</a:t>
            </a:r>
          </a:p>
          <a:p>
            <a:pPr lvl="0"/>
            <a:r>
              <a:rPr lang="en-US" dirty="0" smtClean="0"/>
              <a:t>3. Advanced </a:t>
            </a:r>
            <a:r>
              <a:rPr lang="en-US" dirty="0"/>
              <a:t>Guide to Python 3 Programming, John Hunt, 4</a:t>
            </a:r>
            <a:r>
              <a:rPr lang="en-US" baseline="30000" dirty="0"/>
              <a:t>th</a:t>
            </a:r>
            <a:r>
              <a:rPr lang="en-US" dirty="0"/>
              <a:t> Edition, Springer Nature Switzerland AG 2019.</a:t>
            </a:r>
          </a:p>
          <a:p>
            <a:r>
              <a:rPr lang="en-US" dirty="0" smtClean="0"/>
              <a:t>4. Python </a:t>
            </a:r>
            <a:r>
              <a:rPr lang="en-US" dirty="0"/>
              <a:t>Basics: A Practice Introduction to Python 3, David Amos, Dan Bader, Joanna </a:t>
            </a:r>
            <a:r>
              <a:rPr lang="en-US" dirty="0" err="1"/>
              <a:t>Jablonski</a:t>
            </a:r>
            <a:r>
              <a:rPr lang="en-US" dirty="0"/>
              <a:t>, Fletcher </a:t>
            </a:r>
            <a:r>
              <a:rPr lang="en-US" dirty="0" err="1"/>
              <a:t>Heisler</a:t>
            </a:r>
            <a:r>
              <a:rPr lang="en-US" dirty="0"/>
              <a:t>, 4</a:t>
            </a:r>
            <a:r>
              <a:rPr lang="en-US" baseline="30000" dirty="0"/>
              <a:t>th</a:t>
            </a:r>
            <a:r>
              <a:rPr lang="en-US" dirty="0"/>
              <a:t> edition, Real Python.</a:t>
            </a:r>
            <a:r>
              <a:rPr kumimoji="0" lang="en-US" alt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a:t>
            </a:r>
            <a:endParaRPr kumimoji="0" lang="en-US" altLang="en-US"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tab pos="927100" algn="l"/>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927100" algn="l"/>
              </a:tabLst>
            </a:pP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WEB REFERNCES/MOOCS:</a:t>
            </a:r>
          </a:p>
          <a:p>
            <a:pPr lvl="0"/>
            <a:r>
              <a:rPr lang="en-US" u="sng" dirty="0" smtClean="0">
                <a:hlinkClick r:id="rId4"/>
              </a:rPr>
              <a:t>1. https</a:t>
            </a:r>
            <a:r>
              <a:rPr lang="en-US" u="sng" dirty="0">
                <a:hlinkClick r:id="rId4"/>
              </a:rPr>
              <a:t>://docs.python.org/3/tutorial/datastructures.html</a:t>
            </a:r>
            <a:endParaRPr lang="en-US" dirty="0"/>
          </a:p>
          <a:p>
            <a:pPr lvl="0"/>
            <a:r>
              <a:rPr lang="en-US" u="sng" dirty="0" smtClean="0">
                <a:hlinkClick r:id="rId5"/>
              </a:rPr>
              <a:t>2. https</a:t>
            </a:r>
            <a:r>
              <a:rPr lang="en-US" u="sng" dirty="0">
                <a:hlinkClick r:id="rId5"/>
              </a:rPr>
              <a:t>://www.w3schools.com/dsa/dsa_intro.php</a:t>
            </a:r>
            <a:endParaRPr lang="en-US" dirty="0"/>
          </a:p>
          <a:p>
            <a:r>
              <a:rPr lang="en-US" u="sng" dirty="0" smtClean="0">
                <a:hlinkClick r:id="rId6"/>
              </a:rPr>
              <a:t>3. https</a:t>
            </a:r>
            <a:r>
              <a:rPr lang="en-US" u="sng" dirty="0">
                <a:hlinkClick r:id="rId6"/>
              </a:rPr>
              <a:t>://www.geeksforgeeks.org/python-data-structures/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26774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40509" cy="351059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smtClean="0">
                <a:latin typeface="Poppins" pitchFamily="2" charset="77"/>
                <a:cs typeface="Poppins" pitchFamily="2" charset="77"/>
              </a:rPr>
              <a:t>Sructures</a:t>
            </a:r>
            <a:r>
              <a:rPr lang="en-US" sz="3600" b="1" dirty="0" smtClean="0">
                <a:latin typeface="Poppins" pitchFamily="2" charset="77"/>
                <a:cs typeface="Poppins" pitchFamily="2" charset="77"/>
              </a:rPr>
              <a:t> through Python</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extLst>
      <p:ext uri="{BB962C8B-B14F-4D97-AF65-F5344CB8AC3E}">
        <p14:creationId xmlns:p14="http://schemas.microsoft.com/office/powerpoint/2010/main" val="263865775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d43ee83c-3e71-4748-8ebc-8eaadf793425"/>
    <ds:schemaRef ds:uri="http://schemas.microsoft.com/office/2006/documentManagement/types"/>
    <ds:schemaRef ds:uri="http://www.w3.org/XML/1998/namespace"/>
    <ds:schemaRef ds:uri="http://purl.org/dc/dcmitype/"/>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0125a647-8023-46ae-ae6e-85cf36d841bd"/>
  </ds:schemaRefs>
</ds:datastoreItem>
</file>

<file path=docProps/app.xml><?xml version="1.0" encoding="utf-8"?>
<Properties xmlns="http://schemas.openxmlformats.org/officeDocument/2006/extended-properties" xmlns:vt="http://schemas.openxmlformats.org/officeDocument/2006/docPropsVTypes">
  <Template>Office Theme</Template>
  <TotalTime>435</TotalTime>
  <Words>663</Words>
  <Application>Microsoft Office PowerPoint</Application>
  <PresentationFormat>Widescreen</PresentationFormat>
  <Paragraphs>155</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BioRhyme ExtraBold</vt:lpstr>
      <vt:lpstr>Calibri</vt:lpstr>
      <vt:lpstr>Calibri Light</vt:lpstr>
      <vt:lpstr>euclid_circular_a</vt:lpstr>
      <vt:lpstr>Poppins</vt:lpstr>
      <vt:lpstr>Times New Roman</vt:lpstr>
      <vt:lpstr>1_Office Theme</vt:lpstr>
      <vt:lpstr>PowerPoint Presentation</vt:lpstr>
      <vt:lpstr>PowerPoint Presentation</vt:lpstr>
      <vt:lpstr>SESSION INTRODUCTION </vt:lpstr>
      <vt:lpstr>PowerPoint Presentation</vt:lpstr>
      <vt:lpstr>PowerPoint Presentation</vt:lpstr>
      <vt:lpstr>PowerPoint Presentation</vt:lpstr>
      <vt:lpstr>Prim’s Algorithm (Example)</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Prim’s Algorithm (Example conti..)</vt:lpstr>
      <vt:lpstr>PowerPoint Presentation</vt:lpstr>
      <vt:lpstr>SELF-ASSESSMENT QUESTIONS</vt:lpstr>
      <vt:lpstr>TERMINAL QUESTIONS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97</cp:revision>
  <dcterms:created xsi:type="dcterms:W3CDTF">2020-02-08T09:57:44Z</dcterms:created>
  <dcterms:modified xsi:type="dcterms:W3CDTF">2024-12-13T16:37:02Z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