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71" r:id="rId2"/>
    <p:sldId id="300" r:id="rId3"/>
    <p:sldId id="258" r:id="rId4"/>
    <p:sldId id="288" r:id="rId5"/>
    <p:sldId id="290" r:id="rId6"/>
    <p:sldId id="299" r:id="rId7"/>
    <p:sldId id="285" r:id="rId8"/>
    <p:sldId id="315" r:id="rId9"/>
    <p:sldId id="317" r:id="rId10"/>
    <p:sldId id="316" r:id="rId11"/>
    <p:sldId id="318" r:id="rId12"/>
    <p:sldId id="319" r:id="rId13"/>
    <p:sldId id="320" r:id="rId14"/>
    <p:sldId id="321" r:id="rId15"/>
    <p:sldId id="287" r:id="rId16"/>
    <p:sldId id="301" r:id="rId17"/>
    <p:sldId id="302" r:id="rId18"/>
    <p:sldId id="322" r:id="rId19"/>
    <p:sldId id="30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689"/>
  </p:normalViewPr>
  <p:slideViewPr>
    <p:cSldViewPr snapToGrid="0">
      <p:cViewPr varScale="1">
        <p:scale>
          <a:sx n="83" d="100"/>
          <a:sy n="83" d="100"/>
        </p:scale>
        <p:origin x="629" y="53"/>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t>‹#›</a:t>
            </a:fld>
            <a:endParaRPr lang="en-US"/>
          </a:p>
        </p:txBody>
      </p:sp>
    </p:spTree>
    <p:extLst>
      <p:ext uri="{BB962C8B-B14F-4D97-AF65-F5344CB8AC3E}">
        <p14:creationId xmlns:p14="http://schemas.microsoft.com/office/powerpoint/2010/main" val="2680798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9529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3</a:t>
            </a:fld>
            <a:endParaRPr lang="en-US"/>
          </a:p>
        </p:txBody>
      </p:sp>
    </p:spTree>
    <p:extLst>
      <p:ext uri="{BB962C8B-B14F-4D97-AF65-F5344CB8AC3E}">
        <p14:creationId xmlns:p14="http://schemas.microsoft.com/office/powerpoint/2010/main" val="2066423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3">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4">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simplilearn.com/tutorials/data-structure-tutorial/minimum-spanning-tree-algorithm-in-data-structure"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0.xml"/><Relationship Id="rId1" Type="http://schemas.openxmlformats.org/officeDocument/2006/relationships/vmlDrawing" Target="../drawings/vmlDrawing1.vml"/><Relationship Id="rId5" Type="http://schemas.openxmlformats.org/officeDocument/2006/relationships/image" Target="../media/image15.wmf"/><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3" Type="http://schemas.openxmlformats.org/officeDocument/2006/relationships/hyperlink" Target="http://greenteapress.com/wp/thinkpython/"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hyperlink" Target="https://www.geeksforgeeks.org/python-data-structures/" TargetMode="External"/><Relationship Id="rId5" Type="http://schemas.openxmlformats.org/officeDocument/2006/relationships/hyperlink" Target="https://www.w3schools.com/dsa/dsa_intro.php" TargetMode="External"/><Relationship Id="rId4" Type="http://schemas.openxmlformats.org/officeDocument/2006/relationships/hyperlink" Target="https://docs.python.org/3/tutorial/datastructures.html"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416279"/>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IN" altLang="en-US" sz="3200" b="1" cap="all" dirty="0" smtClean="0">
                <a:solidFill>
                  <a:srgbClr val="C00000"/>
                </a:solidFill>
                <a:cs typeface="Poppins" panose="00000500000000000000" pitchFamily="2" charset="0"/>
                <a:sym typeface="BioRhyme ExtraBold"/>
              </a:rPr>
              <a:t>Data </a:t>
            </a:r>
            <a:r>
              <a:rPr lang="en-IN" altLang="en-US" sz="3200" b="1" cap="all" dirty="0" err="1" smtClean="0">
                <a:solidFill>
                  <a:srgbClr val="C00000"/>
                </a:solidFill>
                <a:cs typeface="Poppins" panose="00000500000000000000" pitchFamily="2" charset="0"/>
                <a:sym typeface="BioRhyme ExtraBold"/>
              </a:rPr>
              <a:t>STRuctures</a:t>
            </a:r>
            <a:r>
              <a:rPr lang="en-IN" altLang="en-US" sz="3200" b="1" cap="all" dirty="0" smtClean="0">
                <a:solidFill>
                  <a:srgbClr val="C00000"/>
                </a:solidFill>
                <a:cs typeface="Poppins" panose="00000500000000000000" pitchFamily="2" charset="0"/>
                <a:sym typeface="BioRhyme ExtraBold"/>
              </a:rPr>
              <a:t> through </a:t>
            </a:r>
          </a:p>
          <a:p>
            <a:pPr marR="0" lvl="0" indent="0" algn="ctr">
              <a:spcBef>
                <a:spcPts val="0"/>
              </a:spcBef>
              <a:spcAft>
                <a:spcPts val="0"/>
              </a:spcAft>
              <a:buNone/>
            </a:pPr>
            <a:r>
              <a:rPr lang="en-IN" altLang="en-US" sz="3200" b="1" cap="all" dirty="0" smtClean="0">
                <a:solidFill>
                  <a:srgbClr val="C00000"/>
                </a:solidFill>
                <a:cs typeface="Poppins" panose="00000500000000000000" pitchFamily="2" charset="0"/>
                <a:sym typeface="BioRhyme ExtraBold"/>
              </a:rPr>
              <a:t>python</a:t>
            </a:r>
            <a:endParaRPr lang="en-IN" alt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IN" altLang="en-US" sz="3200" b="1" cap="all" dirty="0" smtClean="0">
                <a:solidFill>
                  <a:srgbClr val="C00000"/>
                </a:solidFill>
                <a:cs typeface="Poppins" panose="00000500000000000000" pitchFamily="2" charset="0"/>
                <a:sym typeface="BioRhyme ExtraBold"/>
              </a:rPr>
              <a:t>24SC1204</a:t>
            </a:r>
            <a:endParaRPr 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IN" altLang="en-US" sz="4000" b="1" dirty="0">
                <a:solidFill>
                  <a:srgbClr val="C00000"/>
                </a:solidFill>
                <a:cs typeface="Poppins" panose="00000500000000000000" pitchFamily="2" charset="0"/>
              </a:rPr>
              <a:t>Minimum Spanning Tree - </a:t>
            </a:r>
            <a:r>
              <a:rPr lang="en-IN" altLang="en-US" sz="4000" b="1" dirty="0" err="1">
                <a:solidFill>
                  <a:srgbClr val="C00000"/>
                </a:solidFill>
                <a:cs typeface="Poppins" panose="00000500000000000000" pitchFamily="2" charset="0"/>
              </a:rPr>
              <a:t>Kruskal’s</a:t>
            </a:r>
            <a:r>
              <a:rPr lang="en-IN" altLang="en-US" sz="4000" b="1" dirty="0">
                <a:solidFill>
                  <a:srgbClr val="C00000"/>
                </a:solidFill>
                <a:cs typeface="Poppins" panose="00000500000000000000" pitchFamily="2" charset="0"/>
              </a:rPr>
              <a:t> Algorithm</a:t>
            </a:r>
            <a:endParaRPr lang="en-IN" altLang="en-US" sz="4000" b="1" dirty="0">
              <a:solidFill>
                <a:srgbClr val="C00000"/>
              </a:solidFill>
              <a:effectLst/>
              <a:cs typeface="Poppins" panose="00000500000000000000" pitchFamily="2" charset="0"/>
            </a:endParaRPr>
          </a:p>
        </p:txBody>
      </p:sp>
      <p:sp>
        <p:nvSpPr>
          <p:cNvPr id="19" name="Rectangle: Rounded Corners 18"/>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5485"/>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IN" altLang="en-US" sz="4000" dirty="0">
                <a:solidFill>
                  <a:srgbClr val="C00000"/>
                </a:solidFill>
                <a:cs typeface="Poppins" pitchFamily="2" charset="77"/>
              </a:rPr>
              <a:t>BES</a:t>
            </a:r>
            <a:r>
              <a:rPr lang="en-US" sz="4000" dirty="0">
                <a:solidFill>
                  <a:srgbClr val="C00000"/>
                </a:solidFill>
                <a:cs typeface="Poppins" pitchFamily="2" charset="77"/>
              </a:rPr>
              <a:t>-</a:t>
            </a:r>
            <a:r>
              <a:rPr lang="en-IN" altLang="en-US" sz="4000" dirty="0">
                <a:solidFill>
                  <a:srgbClr val="C00000"/>
                </a:solidFill>
                <a:cs typeface="Poppins" pitchFamily="2" charset="77"/>
              </a:rPr>
              <a:t>1</a:t>
            </a:r>
          </a:p>
        </p:txBody>
      </p:sp>
      <p:sp>
        <p:nvSpPr>
          <p:cNvPr id="8" name="Google Shape;502;p17"/>
          <p:cNvSpPr/>
          <p:nvPr/>
        </p:nvSpPr>
        <p:spPr>
          <a:xfrm>
            <a:off x="7604880" y="5786284"/>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 </a:t>
            </a:r>
            <a:r>
              <a:rPr lang="en-IN" altLang="en-US" sz="2400" dirty="0">
                <a:solidFill>
                  <a:schemeClr val="lt1"/>
                </a:solidFill>
                <a:ea typeface="Calibri" panose="020F0502020204030204"/>
                <a:cs typeface="Poppins" panose="00000500000000000000" pitchFamily="2" charset="0"/>
                <a:sym typeface="Calibri" panose="020F0502020204030204"/>
              </a:rPr>
              <a:t>39</a:t>
            </a: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p:cNvSpPr txBox="1"/>
          <p:nvPr/>
        </p:nvSpPr>
        <p:spPr>
          <a:xfrm>
            <a:off x="914400" y="684469"/>
            <a:ext cx="10731286" cy="46037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Times New Roman" panose="02020603050405020304" charset="0"/>
                <a:cs typeface="Times New Roman" panose="02020603050405020304" charset="0"/>
              </a:rPr>
              <a:t>To familiarize students with the basic concept of</a:t>
            </a:r>
            <a:r>
              <a:rPr lang="en-IN" altLang="en-US" sz="1600" b="0" i="0" dirty="0">
                <a:effectLst/>
                <a:latin typeface="Times New Roman" panose="02020603050405020304" charset="0"/>
                <a:cs typeface="Times New Roman" panose="02020603050405020304" charset="0"/>
              </a:rPr>
              <a:t> Kruskal’s Algorithm</a:t>
            </a:r>
          </a:p>
        </p:txBody>
      </p:sp>
      <p:sp>
        <p:nvSpPr>
          <p:cNvPr id="7" name="Rounded Rectangle 17"/>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p:cNvSpPr txBox="1"/>
          <p:nvPr/>
        </p:nvSpPr>
        <p:spPr>
          <a:xfrm>
            <a:off x="1752600" y="2438605"/>
            <a:ext cx="8791575" cy="107632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Times New Roman" panose="02020603050405020304" charset="0"/>
                <a:cs typeface="Times New Roman" panose="02020603050405020304" charset="0"/>
              </a:rPr>
              <a:t>This</a:t>
            </a:r>
            <a:r>
              <a:rPr lang="en-US" sz="1600" b="0" i="0" dirty="0">
                <a:effectLst/>
                <a:latin typeface="Times New Roman" panose="02020603050405020304" charset="0"/>
                <a:cs typeface="Times New Roman" panose="02020603050405020304" charset="0"/>
              </a:rPr>
              <a:t> </a:t>
            </a:r>
            <a:r>
              <a:rPr lang="en-US" sz="1600" dirty="0">
                <a:latin typeface="Times New Roman" panose="02020603050405020304" charset="0"/>
                <a:cs typeface="Times New Roman" panose="02020603050405020304" charset="0"/>
              </a:rPr>
              <a:t>Session</a:t>
            </a:r>
            <a:r>
              <a:rPr lang="en-US" sz="1600" b="0" i="0" dirty="0">
                <a:effectLst/>
                <a:latin typeface="Times New Roman" panose="02020603050405020304" charset="0"/>
                <a:cs typeface="Times New Roman" panose="02020603050405020304" charset="0"/>
              </a:rPr>
              <a:t> is designed to:</a:t>
            </a:r>
          </a:p>
          <a:p>
            <a:pPr marL="342900" indent="-342900">
              <a:buAutoNum type="arabicPeriod"/>
            </a:pPr>
            <a:r>
              <a:rPr lang="en-US" sz="1600" b="0" i="0" dirty="0">
                <a:effectLst/>
                <a:latin typeface="Times New Roman" panose="02020603050405020304" charset="0"/>
                <a:cs typeface="Times New Roman" panose="02020603050405020304" charset="0"/>
              </a:rPr>
              <a:t>Demonstrate</a:t>
            </a:r>
            <a:r>
              <a:rPr lang="en-IN" altLang="en-US" sz="1600" b="0" i="0" dirty="0">
                <a:effectLst/>
                <a:latin typeface="Times New Roman" panose="02020603050405020304" charset="0"/>
                <a:cs typeface="Times New Roman" panose="02020603050405020304" charset="0"/>
              </a:rPr>
              <a:t> Kruskal’s Algorithm</a:t>
            </a:r>
            <a:endParaRPr lang="en-US" sz="1600" b="0" i="0" dirty="0">
              <a:effectLst/>
              <a:latin typeface="Times New Roman" panose="02020603050405020304" charset="0"/>
              <a:cs typeface="Times New Roman" panose="02020603050405020304" charset="0"/>
            </a:endParaRPr>
          </a:p>
          <a:p>
            <a:pPr marL="342900" indent="-342900">
              <a:buAutoNum type="arabicPeriod"/>
            </a:pPr>
            <a:r>
              <a:rPr lang="en-US" sz="1600" b="0" i="0" dirty="0">
                <a:effectLst/>
                <a:latin typeface="Times New Roman" panose="02020603050405020304" charset="0"/>
                <a:cs typeface="Times New Roman" panose="02020603050405020304" charset="0"/>
              </a:rPr>
              <a:t>Describe</a:t>
            </a:r>
            <a:r>
              <a:rPr lang="en-IN" altLang="en-US" sz="1600" b="0" i="0" dirty="0">
                <a:effectLst/>
                <a:latin typeface="Times New Roman" panose="02020603050405020304" charset="0"/>
                <a:cs typeface="Times New Roman" panose="02020603050405020304" charset="0"/>
              </a:rPr>
              <a:t> </a:t>
            </a:r>
            <a:r>
              <a:rPr lang="en-IN" altLang="en-US" sz="1600" dirty="0">
                <a:effectLst/>
                <a:latin typeface="Times New Roman" panose="02020603050405020304" charset="0"/>
                <a:cs typeface="Times New Roman" panose="02020603050405020304" charset="0"/>
                <a:sym typeface="+mn-ea"/>
              </a:rPr>
              <a:t>Minimum Spanning Tree</a:t>
            </a:r>
            <a:endParaRPr lang="en-US" sz="1600" dirty="0">
              <a:latin typeface="Times New Roman" panose="02020603050405020304" charset="0"/>
              <a:cs typeface="Times New Roman" panose="02020603050405020304" charset="0"/>
            </a:endParaRPr>
          </a:p>
        </p:txBody>
      </p:sp>
      <p:pic>
        <p:nvPicPr>
          <p:cNvPr id="11" name="Graphic 10" descr="Bullseye outline"/>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914400" y="4765771"/>
            <a:ext cx="914400" cy="914400"/>
          </a:xfrm>
          <a:prstGeom prst="rect">
            <a:avLst/>
          </a:prstGeom>
        </p:spPr>
      </p:pic>
      <p:sp>
        <p:nvSpPr>
          <p:cNvPr id="37" name="TextBox 36"/>
          <p:cNvSpPr txBox="1"/>
          <p:nvPr/>
        </p:nvSpPr>
        <p:spPr>
          <a:xfrm>
            <a:off x="1752600" y="4772230"/>
            <a:ext cx="8791575" cy="107632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Times New Roman" panose="02020603050405020304" charset="0"/>
                <a:cs typeface="Times New Roman" panose="02020603050405020304" charset="0"/>
              </a:rPr>
              <a:t>At the end of this </a:t>
            </a:r>
            <a:r>
              <a:rPr lang="en-US" sz="1600" dirty="0">
                <a:latin typeface="Times New Roman" panose="02020603050405020304" charset="0"/>
                <a:cs typeface="Times New Roman" panose="02020603050405020304" charset="0"/>
              </a:rPr>
              <a:t>session</a:t>
            </a:r>
            <a:r>
              <a:rPr lang="en-US" sz="1600" b="0" i="0" dirty="0">
                <a:effectLst/>
                <a:latin typeface="Times New Roman" panose="02020603050405020304" charset="0"/>
                <a:cs typeface="Times New Roman" panose="02020603050405020304" charset="0"/>
              </a:rPr>
              <a:t>, you should be able to:</a:t>
            </a:r>
          </a:p>
          <a:p>
            <a:pPr marL="342900" indent="-342900">
              <a:buAutoNum type="arabicPeriod"/>
            </a:pPr>
            <a:r>
              <a:rPr lang="en-US" sz="1600" b="0" i="0" dirty="0">
                <a:effectLst/>
                <a:latin typeface="Times New Roman" panose="02020603050405020304" charset="0"/>
                <a:cs typeface="Times New Roman" panose="02020603050405020304" charset="0"/>
              </a:rPr>
              <a:t>Define</a:t>
            </a:r>
            <a:r>
              <a:rPr lang="en-IN" altLang="en-US" sz="1600" b="0" i="0" dirty="0">
                <a:effectLst/>
                <a:latin typeface="Times New Roman" panose="02020603050405020304" charset="0"/>
                <a:cs typeface="Times New Roman" panose="02020603050405020304" charset="0"/>
              </a:rPr>
              <a:t> </a:t>
            </a:r>
            <a:r>
              <a:rPr lang="en-IN" altLang="en-US" sz="1600" dirty="0">
                <a:effectLst/>
                <a:latin typeface="Times New Roman" panose="02020603050405020304" charset="0"/>
                <a:cs typeface="Times New Roman" panose="02020603050405020304" charset="0"/>
                <a:sym typeface="+mn-ea"/>
              </a:rPr>
              <a:t>Minimum Spanning Tree</a:t>
            </a:r>
            <a:endParaRPr lang="en-US" sz="1600" b="0" i="0" dirty="0">
              <a:effectLst/>
              <a:latin typeface="Times New Roman" panose="02020603050405020304" charset="0"/>
              <a:cs typeface="Times New Roman" panose="02020603050405020304" charset="0"/>
            </a:endParaRPr>
          </a:p>
          <a:p>
            <a:pPr marL="342900" indent="-342900">
              <a:buAutoNum type="arabicPeriod"/>
            </a:pPr>
            <a:r>
              <a:rPr lang="en-US" sz="1600" dirty="0">
                <a:latin typeface="Times New Roman" panose="02020603050405020304" charset="0"/>
                <a:cs typeface="Times New Roman" panose="02020603050405020304" charset="0"/>
              </a:rPr>
              <a:t>Summarize</a:t>
            </a:r>
            <a:r>
              <a:rPr lang="en-IN" altLang="en-US" sz="1600" dirty="0">
                <a:latin typeface="Times New Roman" panose="02020603050405020304" charset="0"/>
                <a:cs typeface="Times New Roman" panose="02020603050405020304" charset="0"/>
              </a:rPr>
              <a:t> Kruskal’s Algorithm</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ldLvl="0" animBg="1"/>
      <p:bldP spid="7" grpId="0" animBg="1"/>
      <p:bldP spid="9" grpId="0" bldLvl="0" animBg="1"/>
      <p:bldP spid="29" grpId="0" animBg="1"/>
      <p:bldP spid="37"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Subtitle 2"/>
          <p:cNvSpPr>
            <a:spLocks noGrp="1"/>
          </p:cNvSpPr>
          <p:nvPr>
            <p:ph type="subTitle" idx="1"/>
          </p:nvPr>
        </p:nvSpPr>
        <p:spPr>
          <a:xfrm>
            <a:off x="826770" y="1403985"/>
            <a:ext cx="9340850" cy="4210685"/>
          </a:xfrm>
        </p:spPr>
        <p:txBody>
          <a:bodyPr rtlCol="0">
            <a:normAutofit lnSpcReduction="10000"/>
          </a:bodyPr>
          <a:lstStyle/>
          <a:p>
            <a:pPr marL="342900" indent="-342900" algn="just" fontAlgn="auto">
              <a:spcAft>
                <a:spcPts val="0"/>
              </a:spcAft>
              <a:buFont typeface="Arial" panose="020B0604020202020204" pitchFamily="34" charset="0"/>
              <a:buChar char="•"/>
              <a:defRPr/>
            </a:pPr>
            <a:r>
              <a:rPr lang="en-US" sz="2400" b="0" i="0" dirty="0">
                <a:solidFill>
                  <a:srgbClr val="51565E"/>
                </a:solidFill>
                <a:effectLst/>
                <a:latin typeface="Times New Roman" panose="02020603050405020304" pitchFamily="18" charset="0"/>
                <a:cs typeface="Times New Roman" panose="02020603050405020304" pitchFamily="18" charset="0"/>
              </a:rPr>
              <a:t>A </a:t>
            </a:r>
            <a:r>
              <a:rPr lang="en-US" sz="2400" b="0" i="0" u="none" strike="noStrike" dirty="0">
                <a:solidFill>
                  <a:srgbClr val="1179EF"/>
                </a:solidFill>
                <a:effectLst/>
                <a:latin typeface="Times New Roman" panose="02020603050405020304" pitchFamily="18" charset="0"/>
                <a:cs typeface="Times New Roman" panose="02020603050405020304" pitchFamily="18" charset="0"/>
                <a:hlinkClick r:id="rId4" tooltip="minimum spanning tree (MST)"/>
              </a:rPr>
              <a:t>minimum spanning tree (MST)</a:t>
            </a:r>
            <a:r>
              <a:rPr lang="en-US" sz="2400" b="0" i="0" dirty="0">
                <a:solidFill>
                  <a:srgbClr val="51565E"/>
                </a:solidFill>
                <a:effectLst/>
                <a:latin typeface="Times New Roman" panose="02020603050405020304" pitchFamily="18" charset="0"/>
                <a:cs typeface="Times New Roman" panose="02020603050405020304" pitchFamily="18" charset="0"/>
              </a:rPr>
              <a:t> is a subset of the edges of a connected, edge-weighted graph that connects all the vertices together without any cycles and with the minimum possible total edge weight. It is a way of finding the most economical way to connect a set of vertices.</a:t>
            </a:r>
          </a:p>
          <a:p>
            <a:pPr marL="342900" indent="-342900" fontAlgn="auto">
              <a:spcAft>
                <a:spcPts val="0"/>
              </a:spcAft>
              <a:buFont typeface="Arial" panose="020B0604020202020204" pitchFamily="34" charset="0"/>
              <a:buChar char="•"/>
              <a:defRPr/>
            </a:pPr>
            <a:r>
              <a:rPr lang="en-US" sz="2400" b="0" i="0" dirty="0">
                <a:solidFill>
                  <a:srgbClr val="51565E"/>
                </a:solidFill>
                <a:effectLst/>
                <a:latin typeface="Times New Roman" panose="02020603050405020304" pitchFamily="18" charset="0"/>
                <a:cs typeface="Times New Roman" panose="02020603050405020304" pitchFamily="18" charset="0"/>
              </a:rPr>
              <a:t> A minimum spanning tree is not necessarily unique. All the weights of the edges in the MST must be distinct. If all the weights of the edges in the graph are the same, then any spanning tree of the graph is an MST. </a:t>
            </a:r>
          </a:p>
          <a:p>
            <a:pPr marL="342900" indent="-342900" fontAlgn="auto">
              <a:spcAft>
                <a:spcPts val="0"/>
              </a:spcAft>
              <a:buFont typeface="Arial" panose="020B0604020202020204" pitchFamily="34" charset="0"/>
              <a:buChar char="•"/>
              <a:defRPr/>
            </a:pPr>
            <a:r>
              <a:rPr lang="en-US" sz="2400" b="0" i="0" dirty="0">
                <a:solidFill>
                  <a:srgbClr val="51565E"/>
                </a:solidFill>
                <a:effectLst/>
                <a:latin typeface="Times New Roman" panose="02020603050405020304" pitchFamily="18" charset="0"/>
                <a:cs typeface="Times New Roman" panose="02020603050405020304" pitchFamily="18" charset="0"/>
              </a:rPr>
              <a:t>The edges of the minimum spanning tree can be found using the greedy algorithm or the more sophisticated Kruskal or Prim's algorithm.</a:t>
            </a:r>
            <a:r>
              <a:rPr lang="en-US" sz="2400" dirty="0">
                <a:solidFill>
                  <a:srgbClr val="4D5156"/>
                </a:solidFill>
                <a:latin typeface="Times New Roman" panose="02020603050405020304" pitchFamily="18" charset="0"/>
                <a:cs typeface="Times New Roman" panose="02020603050405020304" pitchFamily="18" charset="0"/>
              </a:rPr>
              <a:t>. </a:t>
            </a:r>
          </a:p>
          <a:p>
            <a:pPr algn="l" fontAlgn="auto">
              <a:spcAft>
                <a:spcPts val="0"/>
              </a:spcAft>
              <a:buFont typeface="Arial" panose="020B0604020202020204" pitchFamily="34" charset="0"/>
              <a:defRPr/>
            </a:pPr>
            <a:endParaRPr lang="en-US" sz="2400" dirty="0">
              <a:solidFill>
                <a:srgbClr val="4D5156"/>
              </a:solidFill>
              <a:latin typeface="Times New Roman" panose="02020603050405020304" charset="0"/>
              <a:cs typeface="Times New Roman" panose="02020603050405020304" charset="0"/>
            </a:endParaRPr>
          </a:p>
          <a:p>
            <a:pPr marL="342900" indent="-342900" algn="l" fontAlgn="auto">
              <a:spcAft>
                <a:spcPts val="0"/>
              </a:spcAft>
              <a:buFont typeface="Arial" panose="020B0604020202020204" pitchFamily="34" charset="0"/>
              <a:buChar char="•"/>
              <a:defRPr/>
            </a:pPr>
            <a:r>
              <a:rPr lang="en-US" sz="2400" dirty="0">
                <a:solidFill>
                  <a:srgbClr val="4D5156"/>
                </a:solidFill>
                <a:latin typeface="Times New Roman" panose="02020603050405020304" charset="0"/>
                <a:cs typeface="Times New Roman" panose="02020603050405020304" charset="0"/>
              </a:rPr>
              <a:t>It is a spanning tree whose sum of edge weights is as small as possible.</a:t>
            </a:r>
          </a:p>
          <a:p>
            <a:pPr algn="l" fontAlgn="auto">
              <a:spcAft>
                <a:spcPts val="0"/>
              </a:spcAft>
              <a:defRPr/>
            </a:pPr>
            <a:endParaRPr lang="en-IN" sz="24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4154984"/>
          </a:xfrm>
          <a:prstGeom prst="rect">
            <a:avLst/>
          </a:prstGeom>
          <a:noFill/>
        </p:spPr>
        <p:txBody>
          <a:bodyPr wrap="square" rtlCol="0">
            <a:spAutoFit/>
          </a:bodyPr>
          <a:lstStyle/>
          <a:p>
            <a:pPr algn="l" fontAlgn="base">
              <a:buFont typeface="Arial" panose="020B0604020202020204" pitchFamily="34" charset="0"/>
              <a:buChar char="•"/>
            </a:pPr>
            <a:r>
              <a:rPr lang="en-US" sz="2400" dirty="0">
                <a:latin typeface="Times New Roman" panose="02020603050405020304" charset="0"/>
                <a:cs typeface="Times New Roman" panose="02020603050405020304" charset="0"/>
                <a:sym typeface="+mn-ea"/>
              </a:rPr>
              <a:t>Kruskal’s Algorithm is a famous greedy algorithm.</a:t>
            </a:r>
          </a:p>
          <a:p>
            <a:pPr algn="l" fontAlgn="base"/>
            <a:endParaRPr lang="en-US" sz="2400" dirty="0">
              <a:latin typeface="Times New Roman" panose="02020603050405020304" charset="0"/>
              <a:cs typeface="Times New Roman" panose="02020603050405020304" charset="0"/>
            </a:endParaRPr>
          </a:p>
          <a:p>
            <a:pPr algn="l" fontAlgn="base">
              <a:buFont typeface="Arial" panose="020B0604020202020204" pitchFamily="34" charset="0"/>
              <a:buChar char="•"/>
            </a:pPr>
            <a:r>
              <a:rPr lang="en-US" sz="2400" dirty="0">
                <a:latin typeface="Times New Roman" panose="02020603050405020304" charset="0"/>
                <a:cs typeface="Times New Roman" panose="02020603050405020304" charset="0"/>
                <a:sym typeface="+mn-ea"/>
              </a:rPr>
              <a:t>It is used for finding the Minimum Spanning Tree (MST) of a given graph.</a:t>
            </a:r>
          </a:p>
          <a:p>
            <a:pPr algn="l" fontAlgn="base">
              <a:buFont typeface="Arial" panose="020B0604020202020204" pitchFamily="34" charset="0"/>
              <a:buChar char="•"/>
            </a:pPr>
            <a:endParaRPr lang="en-US" sz="2400" dirty="0">
              <a:latin typeface="Times New Roman" panose="02020603050405020304" charset="0"/>
              <a:cs typeface="Times New Roman" panose="02020603050405020304" charset="0"/>
            </a:endParaRPr>
          </a:p>
          <a:p>
            <a:pPr algn="l" fontAlgn="base">
              <a:buFont typeface="Arial" panose="020B0604020202020204" pitchFamily="34" charset="0"/>
              <a:buChar char="•"/>
            </a:pPr>
            <a:r>
              <a:rPr lang="en-US" sz="2400" dirty="0">
                <a:latin typeface="Times New Roman" panose="02020603050405020304" charset="0"/>
                <a:cs typeface="Times New Roman" panose="02020603050405020304" charset="0"/>
                <a:sym typeface="+mn-ea"/>
              </a:rPr>
              <a:t>To apply Kruskal’s algorithm, the given graph must be weighted, connected and undirected.</a:t>
            </a:r>
          </a:p>
          <a:p>
            <a:pPr algn="l" fontAlgn="base">
              <a:buFont typeface="Arial" panose="020B0604020202020204" pitchFamily="34" charset="0"/>
              <a:buChar char="•"/>
            </a:pPr>
            <a:endParaRPr lang="en-IN" altLang="en-US" sz="2400" dirty="0">
              <a:latin typeface="Times New Roman" panose="02020603050405020304" charset="0"/>
              <a:cs typeface="Times New Roman" panose="02020603050405020304" charset="0"/>
            </a:endParaRPr>
          </a:p>
          <a:p>
            <a:r>
              <a:rPr lang="en-IN" altLang="en-US" sz="2400" dirty="0">
                <a:latin typeface="Times New Roman" panose="02020603050405020304" charset="0"/>
                <a:cs typeface="Times New Roman" panose="02020603050405020304" charset="0"/>
                <a:sym typeface="+mn-ea"/>
              </a:rPr>
              <a:t>Kruskal’s Algorithm builds the spanning tree by adding edges one by one into a growing spanning tree. </a:t>
            </a:r>
            <a:endParaRPr lang="en-IN" altLang="en-US" sz="2400" dirty="0">
              <a:latin typeface="Times New Roman" panose="02020603050405020304" charset="0"/>
              <a:cs typeface="Times New Roman" panose="02020603050405020304" charset="0"/>
            </a:endParaRPr>
          </a:p>
          <a:p>
            <a:r>
              <a:rPr lang="en-IN" altLang="en-US" sz="2400" dirty="0">
                <a:latin typeface="Times New Roman" panose="02020603050405020304" charset="0"/>
                <a:cs typeface="Times New Roman" panose="02020603050405020304" charset="0"/>
                <a:sym typeface="+mn-ea"/>
              </a:rPr>
              <a:t>In each iteration it finds an edge which has least weight and adds it to the growing spanning tree. </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Content Placeholder 2"/>
          <p:cNvSpPr>
            <a:spLocks noGrp="1"/>
          </p:cNvSpPr>
          <p:nvPr>
            <p:ph idx="1"/>
          </p:nvPr>
        </p:nvSpPr>
        <p:spPr/>
        <p:txBody>
          <a:bodyPr rtlCol="0">
            <a:normAutofit/>
          </a:bodyPr>
          <a:lstStyle/>
          <a:p>
            <a:pPr marL="0" indent="0" fontAlgn="auto">
              <a:lnSpc>
                <a:spcPct val="114000"/>
              </a:lnSpc>
              <a:spcBef>
                <a:spcPts val="500"/>
              </a:spcBef>
              <a:spcAft>
                <a:spcPts val="500"/>
              </a:spcAft>
              <a:buFont typeface="Symbol" panose="05050102010706020507" pitchFamily="18" charset="2"/>
              <a:buNone/>
              <a:defRPr/>
            </a:pPr>
            <a:r>
              <a:rPr lang="en-IN" sz="2400" dirty="0">
                <a:effectLst/>
                <a:latin typeface="Times New Roman" panose="02020603050405020304" charset="0"/>
                <a:ea typeface="Calibri" panose="020F0502020204030204" charset="0"/>
                <a:cs typeface="Times New Roman" panose="02020603050405020304" charset="0"/>
                <a:sym typeface="+mn-ea"/>
              </a:rPr>
              <a:t>1. Sort all the edges in non-decreasing order of their weight.</a:t>
            </a:r>
          </a:p>
          <a:p>
            <a:pPr marL="0" indent="0" fontAlgn="auto">
              <a:lnSpc>
                <a:spcPct val="114000"/>
              </a:lnSpc>
              <a:spcBef>
                <a:spcPts val="500"/>
              </a:spcBef>
              <a:spcAft>
                <a:spcPts val="500"/>
              </a:spcAft>
              <a:buFont typeface="Symbol" panose="05050102010706020507" pitchFamily="18" charset="2"/>
              <a:buNone/>
              <a:defRPr/>
            </a:pPr>
            <a:r>
              <a:rPr lang="en-IN" sz="2400" dirty="0">
                <a:effectLst/>
                <a:latin typeface="Times New Roman" panose="02020603050405020304" charset="0"/>
                <a:ea typeface="Calibri" panose="020F0502020204030204" charset="0"/>
                <a:cs typeface="Times New Roman" panose="02020603050405020304" charset="0"/>
                <a:sym typeface="+mn-ea"/>
              </a:rPr>
              <a:t/>
            </a:r>
            <a:br>
              <a:rPr lang="en-IN" sz="2400" dirty="0">
                <a:effectLst/>
                <a:latin typeface="Times New Roman" panose="02020603050405020304" charset="0"/>
                <a:ea typeface="Calibri" panose="020F0502020204030204" charset="0"/>
                <a:cs typeface="Times New Roman" panose="02020603050405020304" charset="0"/>
                <a:sym typeface="+mn-ea"/>
              </a:rPr>
            </a:br>
            <a:r>
              <a:rPr lang="en-IN" sz="2400" dirty="0">
                <a:effectLst/>
                <a:latin typeface="Times New Roman" panose="02020603050405020304" charset="0"/>
                <a:ea typeface="Calibri" panose="020F0502020204030204" charset="0"/>
                <a:cs typeface="Times New Roman" panose="02020603050405020304" charset="0"/>
                <a:sym typeface="+mn-ea"/>
              </a:rPr>
              <a:t>2. Pick the smallest edge. Check if it forms a cycle with the spanning tree formed so far. If cycle is not formed, include this edge. Else, discard it.</a:t>
            </a:r>
          </a:p>
          <a:p>
            <a:pPr marL="0" indent="0" fontAlgn="auto">
              <a:lnSpc>
                <a:spcPct val="114000"/>
              </a:lnSpc>
              <a:spcBef>
                <a:spcPts val="500"/>
              </a:spcBef>
              <a:spcAft>
                <a:spcPts val="500"/>
              </a:spcAft>
              <a:buFont typeface="Symbol" panose="05050102010706020507" pitchFamily="18" charset="2"/>
              <a:buNone/>
              <a:defRPr/>
            </a:pPr>
            <a:r>
              <a:rPr lang="en-IN" sz="2400" dirty="0">
                <a:effectLst/>
                <a:latin typeface="Times New Roman" panose="02020603050405020304" charset="0"/>
                <a:ea typeface="Calibri" panose="020F0502020204030204" charset="0"/>
                <a:cs typeface="Times New Roman" panose="02020603050405020304" charset="0"/>
                <a:sym typeface="+mn-ea"/>
              </a:rPr>
              <a:t/>
            </a:r>
            <a:br>
              <a:rPr lang="en-IN" sz="2400" dirty="0">
                <a:effectLst/>
                <a:latin typeface="Times New Roman" panose="02020603050405020304" charset="0"/>
                <a:ea typeface="Calibri" panose="020F0502020204030204" charset="0"/>
                <a:cs typeface="Times New Roman" panose="02020603050405020304" charset="0"/>
                <a:sym typeface="+mn-ea"/>
              </a:rPr>
            </a:br>
            <a:r>
              <a:rPr lang="en-IN" sz="2400" dirty="0">
                <a:effectLst/>
                <a:latin typeface="Times New Roman" panose="02020603050405020304" charset="0"/>
                <a:ea typeface="Calibri" panose="020F0502020204030204" charset="0"/>
                <a:cs typeface="Times New Roman" panose="02020603050405020304" charset="0"/>
                <a:sym typeface="+mn-ea"/>
              </a:rPr>
              <a:t>3. Repeat step#2 until there are (V-1) edges in the spanning tree.</a:t>
            </a:r>
            <a:endParaRPr lang="en-IN" sz="2400" dirty="0">
              <a:effectLst/>
              <a:latin typeface="Times New Roman" panose="02020603050405020304" charset="0"/>
              <a:ea typeface="Calibri" panose="020F0502020204030204" charset="0"/>
              <a:cs typeface="Times New Roman" panose="02020603050405020304" charset="0"/>
            </a:endParaRPr>
          </a:p>
          <a:p>
            <a:pPr marL="342900" indent="-342900" fontAlgn="auto">
              <a:lnSpc>
                <a:spcPct val="124000"/>
              </a:lnSpc>
              <a:spcBef>
                <a:spcPts val="500"/>
              </a:spcBef>
              <a:spcAft>
                <a:spcPts val="500"/>
              </a:spcAft>
              <a:buFont typeface="Symbol" panose="05050102010706020507" pitchFamily="18" charset="2"/>
              <a:buChar char=""/>
              <a:defRPr/>
            </a:pPr>
            <a:endParaRPr lang="en-US" sz="2400" dirty="0">
              <a:latin typeface="Times New Roman" panose="02020603050405020304" charset="0"/>
              <a:cs typeface="Times New Roman" panose="02020603050405020304" charset="0"/>
            </a:endParaRPr>
          </a:p>
          <a:p>
            <a:pPr fontAlgn="auto">
              <a:spcAft>
                <a:spcPts val="0"/>
              </a:spcAft>
              <a:defRPr/>
            </a:pPr>
            <a:endParaRPr lang="en-IN" sz="24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083212" y="1252025"/>
            <a:ext cx="10086536" cy="1198880"/>
          </a:xfrm>
          <a:prstGeom prst="rect">
            <a:avLst/>
          </a:prstGeom>
          <a:noFill/>
        </p:spPr>
        <p:txBody>
          <a:bodyPr wrap="square" rtlCol="0">
            <a:spAutoFit/>
          </a:bodyPr>
          <a:lstStyle/>
          <a:p>
            <a:r>
              <a:rPr lang="en-US" sz="2400" dirty="0">
                <a:latin typeface="Times New Roman" panose="02020603050405020304" charset="0"/>
                <a:cs typeface="Times New Roman" panose="02020603050405020304" charset="0"/>
              </a:rPr>
              <a:t>Network design</a:t>
            </a:r>
          </a:p>
          <a:p>
            <a:endParaRPr lang="en-US" sz="2400" dirty="0">
              <a:latin typeface="Times New Roman" panose="02020603050405020304" charset="0"/>
              <a:cs typeface="Times New Roman" panose="02020603050405020304" charset="0"/>
            </a:endParaRPr>
          </a:p>
          <a:p>
            <a:r>
              <a:rPr lang="en-IN" altLang="en-US" sz="2400" dirty="0">
                <a:latin typeface="Times New Roman" panose="02020603050405020304" charset="0"/>
                <a:cs typeface="Times New Roman" panose="02020603050405020304" charset="0"/>
              </a:rPr>
              <a:t>T</a:t>
            </a:r>
            <a:r>
              <a:rPr lang="en-US" sz="2400" dirty="0">
                <a:latin typeface="Times New Roman" panose="02020603050405020304" charset="0"/>
                <a:cs typeface="Times New Roman" panose="02020603050405020304" charset="0"/>
              </a:rPr>
              <a:t>raveling salesperson problem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Text Box 2"/>
          <p:cNvSpPr txBox="1"/>
          <p:nvPr/>
        </p:nvSpPr>
        <p:spPr>
          <a:xfrm>
            <a:off x="1527175" y="1151890"/>
            <a:ext cx="7785735" cy="1322070"/>
          </a:xfrm>
          <a:prstGeom prst="rect">
            <a:avLst/>
          </a:prstGeom>
          <a:noFill/>
        </p:spPr>
        <p:txBody>
          <a:bodyPr wrap="square" rtlCol="0" anchor="t">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lang="en-US" altLang="en-US" sz="2000" dirty="0">
                <a:ln>
                  <a:noFill/>
                </a:ln>
                <a:effectLst/>
                <a:ea typeface="Calibri" panose="020F0502020204030204" charset="0"/>
                <a:cs typeface="Times New Roman" panose="02020603050405020304" charset="0"/>
                <a:sym typeface="+mn-ea"/>
              </a:rPr>
              <a:t>The algorithm is a Greedy Algorithm. </a:t>
            </a:r>
            <a:endParaRPr kumimoji="0" lang="en-US" altLang="en-US" sz="2000" b="0" i="0" u="none" strike="noStrike" cap="none" normalizeH="0" baseline="0" dirty="0">
              <a:ln>
                <a:noFill/>
              </a:ln>
              <a:solidFill>
                <a:schemeClr val="tx1"/>
              </a:solidFill>
              <a:effectLst/>
              <a:ea typeface="Calibri" panose="020F0502020204030204" charset="0"/>
              <a:cs typeface="Times New Roman" panose="0202060305040502030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lang="en-US" altLang="en-US" sz="2000" dirty="0">
                <a:ln>
                  <a:noFill/>
                </a:ln>
                <a:effectLst/>
                <a:ea typeface="Calibri" panose="020F0502020204030204" charset="0"/>
                <a:cs typeface="Times New Roman" panose="02020603050405020304" charset="0"/>
                <a:sym typeface="+mn-ea"/>
              </a:rPr>
              <a:t>The Greedy Choice is to pick the smallest weight edge that does not cause a cycle in the MST constructed so far. </a:t>
            </a:r>
            <a:endParaRPr kumimoji="0" lang="en-US" altLang="en-US" sz="2000" b="0" i="0" u="none" strike="noStrike" cap="none" normalizeH="0" baseline="0" dirty="0">
              <a:ln>
                <a:noFill/>
              </a:ln>
              <a:solidFill>
                <a:schemeClr val="tx1"/>
              </a:solidFill>
              <a:effectLst/>
              <a:ea typeface="Calibri" panose="020F0502020204030204" charset="0"/>
              <a:cs typeface="Times New Roman" panose="0202060305040502030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pPr>
            <a:r>
              <a:rPr lang="en-US" altLang="en-US" sz="2000" dirty="0">
                <a:ln>
                  <a:noFill/>
                </a:ln>
                <a:effectLst/>
                <a:ea typeface="Calibri" panose="020F0502020204030204" charset="0"/>
                <a:cs typeface="Times New Roman" panose="02020603050405020304" charset="0"/>
                <a:sym typeface="+mn-ea"/>
              </a:rPr>
              <a:t>Consider the below input graph.</a:t>
            </a:r>
            <a:endParaRPr lang="en-US" sz="2000"/>
          </a:p>
        </p:txBody>
      </p:sp>
      <p:pic>
        <p:nvPicPr>
          <p:cNvPr id="5126" name="Picture 6"/>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303682" y="2473848"/>
            <a:ext cx="3980960" cy="2332189"/>
          </a:xfrm>
          <a:prstGeom prst="rect">
            <a:avLst/>
          </a:prstGeom>
          <a:noFill/>
          <a:extLst>
            <a:ext uri="{909E8E84-426E-40DD-AFC4-6F175D3DCCD1}">
              <a14:hiddenFill xmlns:a14="http://schemas.microsoft.com/office/drawing/2010/main">
                <a:solidFill>
                  <a:srgbClr val="FFFFFF"/>
                </a:solidFill>
              </a14:hiddenFill>
            </a:ext>
          </a:extLst>
        </p:spPr>
      </p:pic>
      <p:sp>
        <p:nvSpPr>
          <p:cNvPr id="5" name="Text Box 4"/>
          <p:cNvSpPr txBox="1"/>
          <p:nvPr/>
        </p:nvSpPr>
        <p:spPr>
          <a:xfrm>
            <a:off x="699135" y="4920615"/>
            <a:ext cx="10798175" cy="706755"/>
          </a:xfrm>
          <a:prstGeom prst="rect">
            <a:avLst/>
          </a:prstGeom>
          <a:noFill/>
        </p:spPr>
        <p:txBody>
          <a:bodyPr wrap="square" rtlCol="0" anchor="t">
            <a:spAutoFit/>
          </a:bodyPr>
          <a:lstStyle/>
          <a:p>
            <a:pPr marL="342900" indent="-342900">
              <a:buFont typeface="Wingdings" panose="05000000000000000000" pitchFamily="2" charset="2"/>
              <a:buChar char="v"/>
            </a:pPr>
            <a:r>
              <a:rPr lang="en-IN" sz="2000" dirty="0">
                <a:effectLst/>
                <a:ea typeface="Calibri" panose="020F0502020204030204" charset="0"/>
                <a:cs typeface="Times New Roman" panose="02020603050405020304" charset="0"/>
                <a:sym typeface="+mn-ea"/>
              </a:rPr>
              <a:t>The graph contains 9 vertices and 14 edges. So, the minimum spanning tree formed will have (9 – 1) = 8 edges.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524000" y="214313"/>
            <a:ext cx="2768600" cy="1628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lvl1pPr>
              <a:defRPr>
                <a:solidFill>
                  <a:schemeClr val="tx1"/>
                </a:solidFill>
                <a:latin typeface="Calibri" panose="020F0502020204030204" charset="0"/>
              </a:defRPr>
            </a:lvl1pPr>
            <a:lvl2pPr>
              <a:defRPr>
                <a:solidFill>
                  <a:schemeClr val="tx1"/>
                </a:solidFill>
                <a:latin typeface="Calibri" panose="020F0502020204030204" charset="0"/>
              </a:defRPr>
            </a:lvl2pPr>
            <a:lvl3pPr>
              <a:defRPr>
                <a:solidFill>
                  <a:schemeClr val="tx1"/>
                </a:solidFill>
                <a:latin typeface="Calibri" panose="020F0502020204030204" charset="0"/>
              </a:defRPr>
            </a:lvl3pPr>
            <a:lvl4pPr>
              <a:defRPr>
                <a:solidFill>
                  <a:schemeClr val="tx1"/>
                </a:solidFill>
                <a:latin typeface="Calibri" panose="020F0502020204030204" charset="0"/>
              </a:defRPr>
            </a:lvl4pPr>
            <a:lvl5pPr>
              <a:defRPr>
                <a:solidFill>
                  <a:schemeClr val="tx1"/>
                </a:solidFill>
                <a:latin typeface="Calibri" panose="020F0502020204030204" charset="0"/>
              </a:defRPr>
            </a:lvl5pPr>
            <a:lvl6pPr fontAlgn="base">
              <a:spcBef>
                <a:spcPct val="0"/>
              </a:spcBef>
              <a:spcAft>
                <a:spcPct val="0"/>
              </a:spcAft>
              <a:defRPr>
                <a:solidFill>
                  <a:schemeClr val="tx1"/>
                </a:solidFill>
                <a:latin typeface="Calibri" panose="020F0502020204030204" charset="0"/>
              </a:defRPr>
            </a:lvl6pPr>
            <a:lvl7pPr fontAlgn="base">
              <a:spcBef>
                <a:spcPct val="0"/>
              </a:spcBef>
              <a:spcAft>
                <a:spcPct val="0"/>
              </a:spcAft>
              <a:defRPr>
                <a:solidFill>
                  <a:schemeClr val="tx1"/>
                </a:solidFill>
                <a:latin typeface="Calibri" panose="020F0502020204030204" charset="0"/>
              </a:defRPr>
            </a:lvl7pPr>
            <a:lvl8pPr fontAlgn="base">
              <a:spcBef>
                <a:spcPct val="0"/>
              </a:spcBef>
              <a:spcAft>
                <a:spcPct val="0"/>
              </a:spcAft>
              <a:defRPr>
                <a:solidFill>
                  <a:schemeClr val="tx1"/>
                </a:solidFill>
                <a:latin typeface="Calibri" panose="020F0502020204030204" charset="0"/>
              </a:defRPr>
            </a:lvl8pPr>
            <a:lvl9pPr fontAlgn="base">
              <a:spcBef>
                <a:spcPct val="0"/>
              </a:spcBef>
              <a:spcAft>
                <a:spcPct val="0"/>
              </a:spcAft>
              <a:defRPr>
                <a:solidFill>
                  <a:schemeClr val="tx1"/>
                </a:solidFill>
                <a:latin typeface="Calibri" panose="020F0502020204030204" charset="0"/>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IN" altLang="en-US" sz="675" b="1" i="0" u="none" strike="noStrike" cap="none" normalizeH="0" baseline="0" dirty="0">
              <a:ln>
                <a:noFill/>
              </a:ln>
              <a:solidFill>
                <a:srgbClr val="303030"/>
              </a:solidFill>
              <a:effectLst/>
              <a:latin typeface="roboto condensed"/>
            </a:endParaRPr>
          </a:p>
          <a:p>
            <a:pPr marL="0" marR="0" lvl="0" indent="0" algn="l" defTabSz="914400" rtl="0" eaLnBrk="0" fontAlgn="base" latinLnBrk="0" hangingPunct="0">
              <a:lnSpc>
                <a:spcPct val="100000"/>
              </a:lnSpc>
              <a:spcBef>
                <a:spcPct val="0"/>
              </a:spcBef>
              <a:spcAft>
                <a:spcPct val="0"/>
              </a:spcAft>
              <a:buClrTx/>
              <a:buSzTx/>
              <a:buFontTx/>
              <a:buNone/>
            </a:pPr>
            <a:r>
              <a:rPr kumimoji="0" lang="en-IN" altLang="en-US" sz="825" b="0" i="0" u="none" strike="noStrike" cap="none" normalizeH="0" baseline="0" dirty="0">
                <a:ln>
                  <a:noFill/>
                </a:ln>
                <a:solidFill>
                  <a:srgbClr val="303030"/>
                </a:solidFill>
                <a:effectLst/>
                <a:latin typeface="Calibri" panose="020F0502020204030204" charset="0"/>
              </a:rPr>
              <a:t> </a:t>
            </a:r>
            <a:endParaRPr kumimoji="0" lang="en-IN" altLang="en-US" sz="600" b="0" i="0" u="none" strike="noStrike" cap="none" normalizeH="0" baseline="0" dirty="0">
              <a:ln>
                <a:noFill/>
              </a:ln>
              <a:solidFill>
                <a:schemeClr val="tx1"/>
              </a:solidFill>
              <a:effectLst/>
              <a:latin typeface="Calibri" panose="020F050202020403020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IN" altLang="en-US" sz="825" b="0" i="0" u="none" strike="noStrike" cap="none" normalizeH="0" baseline="0" dirty="0">
                <a:ln>
                  <a:noFill/>
                </a:ln>
                <a:solidFill>
                  <a:srgbClr val="303030"/>
                </a:solidFill>
                <a:effectLst/>
                <a:latin typeface="Arimo"/>
              </a:rPr>
              <a:t>  </a:t>
            </a:r>
            <a:r>
              <a:rPr kumimoji="0" lang="en-IN" altLang="en-US" sz="9075" b="0" i="0" u="none" strike="noStrike" cap="none" normalizeH="0" baseline="0" dirty="0">
                <a:ln>
                  <a:noFill/>
                </a:ln>
                <a:solidFill>
                  <a:srgbClr val="303030"/>
                </a:solidFill>
                <a:effectLst/>
                <a:latin typeface="Calibri" panose="020F0502020204030204" charset="0"/>
              </a:rPr>
              <a:t>          </a:t>
            </a:r>
            <a:endParaRPr kumimoji="0" lang="en-IN" altLang="en-US" sz="1350" b="0" i="0" u="none" strike="noStrike" cap="none" normalizeH="0" baseline="0" dirty="0">
              <a:ln>
                <a:noFill/>
              </a:ln>
              <a:solidFill>
                <a:schemeClr val="tx1"/>
              </a:solidFill>
              <a:effectLst/>
              <a:latin typeface="Calibri" panose="020F0502020204030204" charset="0"/>
            </a:endParaRPr>
          </a:p>
        </p:txBody>
      </p:sp>
      <p:sp>
        <p:nvSpPr>
          <p:cNvPr id="8" name="TextBox 6"/>
          <p:cNvSpPr txBox="1"/>
          <p:nvPr/>
        </p:nvSpPr>
        <p:spPr>
          <a:xfrm>
            <a:off x="1841500" y="996950"/>
            <a:ext cx="1761490" cy="4859655"/>
          </a:xfrm>
          <a:prstGeom prst="rect">
            <a:avLst/>
          </a:prstGeom>
          <a:noFill/>
        </p:spPr>
        <p:txBody>
          <a:bodyPr wrap="square">
            <a:spAutoFit/>
          </a:bodyPr>
          <a:lstStyle/>
          <a:p>
            <a:pPr algn="ctr">
              <a:lnSpc>
                <a:spcPct val="115000"/>
              </a:lnSpc>
              <a:spcAft>
                <a:spcPts val="1000"/>
              </a:spcAft>
            </a:pPr>
            <a:r>
              <a:rPr lang="en-IN" sz="1600" b="1" dirty="0">
                <a:effectLst/>
                <a:latin typeface="Cambria" panose="02040503050406030204" pitchFamily="18" charset="0"/>
                <a:ea typeface="Calibri" panose="020F0502020204030204" charset="0"/>
                <a:cs typeface="Times New Roman" panose="02020603050405020304" charset="0"/>
              </a:rPr>
              <a:t>After sorting:</a:t>
            </a:r>
            <a:endParaRPr lang="en-IN" sz="1600" b="1" dirty="0">
              <a:effectLst/>
              <a:latin typeface="Calibri" panose="020F0502020204030204" charset="0"/>
              <a:ea typeface="Calibri" panose="020F0502020204030204" charset="0"/>
              <a:cs typeface="Times New Roman" panose="02020603050405020304" charset="0"/>
            </a:endParaRPr>
          </a:p>
          <a:p>
            <a:pPr algn="ctr">
              <a:lnSpc>
                <a:spcPct val="115000"/>
              </a:lnSpc>
              <a:spcAft>
                <a:spcPts val="1000"/>
              </a:spcAft>
            </a:pPr>
            <a:r>
              <a:rPr lang="en-IN" sz="1400" b="1" dirty="0">
                <a:effectLst/>
                <a:latin typeface="Cambria" panose="02040503050406030204" pitchFamily="18" charset="0"/>
                <a:ea typeface="Calibri" panose="020F0502020204030204" charset="0"/>
                <a:cs typeface="Times New Roman" panose="02020603050405020304" charset="0"/>
              </a:rPr>
              <a:t>Weight   </a:t>
            </a:r>
            <a:r>
              <a:rPr lang="en-IN" sz="1400" b="1" dirty="0" err="1">
                <a:effectLst/>
                <a:latin typeface="Cambria" panose="02040503050406030204" pitchFamily="18" charset="0"/>
                <a:ea typeface="Calibri" panose="020F0502020204030204" charset="0"/>
                <a:cs typeface="Times New Roman" panose="02020603050405020304" charset="0"/>
              </a:rPr>
              <a:t>Src</a:t>
            </a:r>
            <a:r>
              <a:rPr lang="en-IN" sz="1400" b="1" dirty="0">
                <a:effectLst/>
                <a:latin typeface="Cambria" panose="02040503050406030204" pitchFamily="18" charset="0"/>
                <a:ea typeface="Calibri" panose="020F0502020204030204" charset="0"/>
                <a:cs typeface="Times New Roman" panose="02020603050405020304" charset="0"/>
              </a:rPr>
              <a:t>    </a:t>
            </a:r>
            <a:r>
              <a:rPr lang="en-IN" sz="1400" b="1" dirty="0" err="1">
                <a:effectLst/>
                <a:latin typeface="Cambria" panose="02040503050406030204" pitchFamily="18" charset="0"/>
                <a:ea typeface="Calibri" panose="020F0502020204030204" charset="0"/>
                <a:cs typeface="Times New Roman" panose="02020603050405020304" charset="0"/>
              </a:rPr>
              <a:t>Dest</a:t>
            </a:r>
            <a:endParaRPr lang="en-IN" sz="1400" b="1" dirty="0">
              <a:effectLst/>
              <a:latin typeface="Calibri" panose="020F0502020204030204" charset="0"/>
              <a:ea typeface="Calibri" panose="020F0502020204030204" charset="0"/>
              <a:cs typeface="Times New Roman" panose="02020603050405020304" charset="0"/>
            </a:endParaRPr>
          </a:p>
          <a:p>
            <a:pPr algn="ctr">
              <a:lnSpc>
                <a:spcPct val="115000"/>
              </a:lnSpc>
              <a:spcAft>
                <a:spcPts val="1000"/>
              </a:spcAft>
            </a:pPr>
            <a:r>
              <a:rPr lang="en-IN" sz="1600" b="1" dirty="0">
                <a:effectLst/>
                <a:latin typeface="Cambria" panose="02040503050406030204" pitchFamily="18" charset="0"/>
                <a:ea typeface="Calibri" panose="020F0502020204030204" charset="0"/>
                <a:cs typeface="Times New Roman" panose="02020603050405020304" charset="0"/>
              </a:rPr>
              <a:t>10        6   1</a:t>
            </a:r>
            <a:endParaRPr lang="en-IN" sz="1600" b="1" dirty="0">
              <a:effectLst/>
              <a:latin typeface="Calibri" panose="020F0502020204030204" charset="0"/>
              <a:ea typeface="Calibri" panose="020F0502020204030204" charset="0"/>
              <a:cs typeface="Times New Roman" panose="02020603050405020304" charset="0"/>
            </a:endParaRPr>
          </a:p>
          <a:p>
            <a:pPr algn="ctr">
              <a:lnSpc>
                <a:spcPct val="115000"/>
              </a:lnSpc>
              <a:spcAft>
                <a:spcPts val="1000"/>
              </a:spcAft>
            </a:pPr>
            <a:r>
              <a:rPr lang="en-IN" sz="1600" b="1" dirty="0">
                <a:effectLst/>
                <a:latin typeface="Cambria" panose="02040503050406030204" pitchFamily="18" charset="0"/>
                <a:ea typeface="Calibri" panose="020F0502020204030204" charset="0"/>
                <a:cs typeface="Times New Roman" panose="02020603050405020304" charset="0"/>
              </a:rPr>
              <a:t>12         4      3</a:t>
            </a:r>
            <a:endParaRPr lang="en-IN" sz="1600" b="1" dirty="0">
              <a:effectLst/>
              <a:latin typeface="Calibri" panose="020F0502020204030204" charset="0"/>
              <a:ea typeface="Calibri" panose="020F0502020204030204" charset="0"/>
              <a:cs typeface="Times New Roman" panose="02020603050405020304" charset="0"/>
            </a:endParaRPr>
          </a:p>
          <a:p>
            <a:pPr algn="ctr">
              <a:lnSpc>
                <a:spcPct val="115000"/>
              </a:lnSpc>
              <a:spcAft>
                <a:spcPts val="1000"/>
              </a:spcAft>
            </a:pPr>
            <a:r>
              <a:rPr lang="en-IN" sz="1600" b="1" dirty="0">
                <a:effectLst/>
                <a:latin typeface="Cambria" panose="02040503050406030204" pitchFamily="18" charset="0"/>
                <a:ea typeface="Calibri" panose="020F0502020204030204" charset="0"/>
                <a:cs typeface="Times New Roman" panose="02020603050405020304" charset="0"/>
              </a:rPr>
              <a:t>14         2      7</a:t>
            </a:r>
            <a:endParaRPr lang="en-IN" sz="1600" b="1" dirty="0">
              <a:effectLst/>
              <a:latin typeface="Calibri" panose="020F0502020204030204" charset="0"/>
              <a:ea typeface="Calibri" panose="020F0502020204030204" charset="0"/>
              <a:cs typeface="Times New Roman" panose="02020603050405020304" charset="0"/>
            </a:endParaRPr>
          </a:p>
          <a:p>
            <a:pPr algn="ctr">
              <a:lnSpc>
                <a:spcPct val="115000"/>
              </a:lnSpc>
              <a:spcAft>
                <a:spcPts val="1000"/>
              </a:spcAft>
            </a:pPr>
            <a:r>
              <a:rPr lang="en-IN" sz="1600" b="1" dirty="0">
                <a:effectLst/>
                <a:latin typeface="Cambria" panose="02040503050406030204" pitchFamily="18" charset="0"/>
                <a:ea typeface="Calibri" panose="020F0502020204030204" charset="0"/>
                <a:cs typeface="Times New Roman" panose="02020603050405020304" charset="0"/>
              </a:rPr>
              <a:t>16        2      3</a:t>
            </a:r>
            <a:endParaRPr lang="en-IN" sz="1600" b="1" dirty="0">
              <a:effectLst/>
              <a:latin typeface="Calibri" panose="020F0502020204030204" charset="0"/>
              <a:ea typeface="Calibri" panose="020F0502020204030204" charset="0"/>
              <a:cs typeface="Times New Roman" panose="02020603050405020304" charset="0"/>
            </a:endParaRPr>
          </a:p>
          <a:p>
            <a:pPr algn="ctr">
              <a:lnSpc>
                <a:spcPct val="115000"/>
              </a:lnSpc>
              <a:spcAft>
                <a:spcPts val="1000"/>
              </a:spcAft>
            </a:pPr>
            <a:r>
              <a:rPr lang="en-IN" sz="1600" b="1" dirty="0">
                <a:effectLst/>
                <a:latin typeface="Cambria" panose="02040503050406030204" pitchFamily="18" charset="0"/>
                <a:ea typeface="Calibri" panose="020F0502020204030204" charset="0"/>
                <a:cs typeface="Times New Roman" panose="02020603050405020304" charset="0"/>
              </a:rPr>
              <a:t>18         5     4</a:t>
            </a:r>
          </a:p>
          <a:p>
            <a:pPr algn="ctr">
              <a:lnSpc>
                <a:spcPct val="115000"/>
              </a:lnSpc>
              <a:spcAft>
                <a:spcPts val="1000"/>
              </a:spcAft>
            </a:pPr>
            <a:r>
              <a:rPr lang="en-IN" sz="1600" b="1" dirty="0">
                <a:effectLst/>
                <a:latin typeface="Cambria" panose="02040503050406030204" pitchFamily="18" charset="0"/>
                <a:ea typeface="Calibri" panose="020F0502020204030204" charset="0"/>
                <a:cs typeface="Times New Roman" panose="02020603050405020304" charset="0"/>
              </a:rPr>
              <a:t>22         8      6</a:t>
            </a:r>
            <a:endParaRPr lang="en-IN" sz="1600" b="1" dirty="0">
              <a:effectLst/>
              <a:latin typeface="Calibri" panose="020F0502020204030204" charset="0"/>
              <a:ea typeface="Calibri" panose="020F0502020204030204" charset="0"/>
              <a:cs typeface="Times New Roman" panose="02020603050405020304" charset="0"/>
            </a:endParaRPr>
          </a:p>
          <a:p>
            <a:pPr algn="ctr">
              <a:lnSpc>
                <a:spcPct val="115000"/>
              </a:lnSpc>
              <a:spcAft>
                <a:spcPts val="1000"/>
              </a:spcAft>
            </a:pPr>
            <a:r>
              <a:rPr lang="en-IN" sz="1600" b="1" dirty="0">
                <a:effectLst/>
                <a:latin typeface="Cambria" panose="02040503050406030204" pitchFamily="18" charset="0"/>
                <a:ea typeface="Calibri" panose="020F0502020204030204" charset="0"/>
                <a:cs typeface="Times New Roman" panose="02020603050405020304" charset="0"/>
              </a:rPr>
              <a:t>24         5      7</a:t>
            </a:r>
            <a:endParaRPr lang="en-IN" sz="1600" b="1" dirty="0">
              <a:effectLst/>
              <a:latin typeface="Calibri" panose="020F0502020204030204" charset="0"/>
              <a:ea typeface="Calibri" panose="020F0502020204030204" charset="0"/>
              <a:cs typeface="Times New Roman" panose="02020603050405020304" charset="0"/>
            </a:endParaRPr>
          </a:p>
          <a:p>
            <a:pPr algn="ctr">
              <a:lnSpc>
                <a:spcPct val="115000"/>
              </a:lnSpc>
              <a:spcAft>
                <a:spcPts val="1000"/>
              </a:spcAft>
            </a:pPr>
            <a:r>
              <a:rPr lang="en-IN" sz="1600" b="1" dirty="0">
                <a:effectLst/>
                <a:latin typeface="Cambria" panose="02040503050406030204" pitchFamily="18" charset="0"/>
                <a:ea typeface="Calibri" panose="020F0502020204030204" charset="0"/>
                <a:cs typeface="Times New Roman" panose="02020603050405020304" charset="0"/>
              </a:rPr>
              <a:t>25         6      5</a:t>
            </a:r>
            <a:endParaRPr lang="en-IN" sz="1600" b="1" dirty="0">
              <a:effectLst/>
              <a:latin typeface="Calibri" panose="020F0502020204030204" charset="0"/>
              <a:ea typeface="Calibri" panose="020F0502020204030204" charset="0"/>
              <a:cs typeface="Times New Roman" panose="02020603050405020304" charset="0"/>
            </a:endParaRPr>
          </a:p>
          <a:p>
            <a:pPr algn="ctr">
              <a:lnSpc>
                <a:spcPct val="115000"/>
              </a:lnSpc>
              <a:spcAft>
                <a:spcPts val="1000"/>
              </a:spcAft>
            </a:pPr>
            <a:r>
              <a:rPr lang="en-IN" sz="1600" b="1" dirty="0">
                <a:effectLst/>
                <a:latin typeface="Cambria" panose="02040503050406030204" pitchFamily="18" charset="0"/>
                <a:ea typeface="Calibri" panose="020F0502020204030204" charset="0"/>
                <a:cs typeface="Times New Roman" panose="02020603050405020304" charset="0"/>
              </a:rPr>
              <a:t>28         1      2</a:t>
            </a:r>
            <a:endParaRPr lang="en-IN" sz="1600" b="1" dirty="0">
              <a:effectLst/>
              <a:latin typeface="Calibri" panose="020F0502020204030204" charset="0"/>
              <a:ea typeface="Calibri" panose="020F0502020204030204" charset="0"/>
              <a:cs typeface="Times New Roman" panose="02020603050405020304" charset="0"/>
            </a:endParaRPr>
          </a:p>
          <a:p>
            <a:pPr algn="ctr">
              <a:lnSpc>
                <a:spcPct val="115000"/>
              </a:lnSpc>
              <a:spcAft>
                <a:spcPts val="1000"/>
              </a:spcAft>
            </a:pPr>
            <a:endParaRPr lang="en-IN" sz="1600" b="1" dirty="0">
              <a:effectLst/>
              <a:latin typeface="Calibri" panose="020F0502020204030204" charset="0"/>
              <a:ea typeface="Calibri" panose="020F0502020204030204" charset="0"/>
              <a:cs typeface="Times New Roman" panose="02020603050405020304" charset="0"/>
            </a:endParaRPr>
          </a:p>
        </p:txBody>
      </p:sp>
      <p:sp>
        <p:nvSpPr>
          <p:cNvPr id="9" name="TextBox 8"/>
          <p:cNvSpPr txBox="1"/>
          <p:nvPr/>
        </p:nvSpPr>
        <p:spPr>
          <a:xfrm>
            <a:off x="3916680" y="787400"/>
            <a:ext cx="5336540" cy="1630045"/>
          </a:xfrm>
          <a:prstGeom prst="rect">
            <a:avLst/>
          </a:prstGeom>
          <a:noFill/>
        </p:spPr>
        <p:txBody>
          <a:bodyPr wrap="square">
            <a:spAutoFit/>
          </a:bodyPr>
          <a:lstStyle/>
          <a:p>
            <a:r>
              <a:rPr lang="en-US" sz="2000" dirty="0">
                <a:sym typeface="+mn-ea"/>
              </a:rPr>
              <a:t>Step 1:</a:t>
            </a:r>
            <a:r>
              <a:rPr lang="en-IN" altLang="en-US" sz="2000" dirty="0">
                <a:sym typeface="+mn-ea"/>
              </a:rPr>
              <a:t> </a:t>
            </a:r>
            <a:r>
              <a:rPr lang="en-IN" sz="2000" dirty="0">
                <a:effectLst/>
                <a:ea typeface="Calibri" panose="020F0502020204030204" charset="0"/>
                <a:cs typeface="Times New Roman" panose="02020603050405020304" charset="0"/>
              </a:rPr>
              <a:t>Now pick all edges one by one from sorted list of edges</a:t>
            </a:r>
          </a:p>
          <a:p>
            <a:r>
              <a:rPr lang="en-IN" sz="2000" dirty="0">
                <a:effectLst/>
                <a:ea typeface="Calibri" panose="020F0502020204030204" charset="0"/>
                <a:cs typeface="Times New Roman" panose="02020603050405020304" charset="0"/>
              </a:rPr>
              <a:t/>
            </a:r>
            <a:br>
              <a:rPr lang="en-IN" sz="2000" dirty="0">
                <a:effectLst/>
                <a:ea typeface="Calibri" panose="020F0502020204030204" charset="0"/>
                <a:cs typeface="Times New Roman" panose="02020603050405020304" charset="0"/>
              </a:rPr>
            </a:br>
            <a:r>
              <a:rPr lang="en-IN" sz="2000" dirty="0">
                <a:effectLst/>
                <a:ea typeface="Calibri" panose="020F0502020204030204" charset="0"/>
                <a:cs typeface="Times New Roman" panose="02020603050405020304" charset="0"/>
              </a:rPr>
              <a:t>1. Pick edge 6-1:  No cycle is formed, include it.</a:t>
            </a:r>
            <a:br>
              <a:rPr lang="en-IN" sz="2000" dirty="0">
                <a:effectLst/>
                <a:ea typeface="Calibri" panose="020F0502020204030204" charset="0"/>
                <a:cs typeface="Times New Roman" panose="02020603050405020304" charset="0"/>
              </a:rPr>
            </a:br>
            <a:endParaRPr lang="en-IN" sz="2000" dirty="0"/>
          </a:p>
        </p:txBody>
      </p:sp>
      <p:pic>
        <p:nvPicPr>
          <p:cNvPr id="19458"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r="63127" b="25842"/>
          <a:stretch>
            <a:fillRect/>
          </a:stretch>
        </p:blipFill>
        <p:spPr bwMode="auto">
          <a:xfrm>
            <a:off x="5172075" y="2716530"/>
            <a:ext cx="1758950" cy="14268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2459355" y="968375"/>
            <a:ext cx="6581775" cy="368300"/>
          </a:xfrm>
          <a:prstGeom prst="rect">
            <a:avLst/>
          </a:prstGeom>
          <a:noFill/>
        </p:spPr>
        <p:txBody>
          <a:bodyPr wrap="square" rtlCol="0">
            <a:spAutoFit/>
          </a:bodyPr>
          <a:lstStyle/>
          <a:p>
            <a:r>
              <a:rPr lang="en-US" sz="1800"/>
              <a:t>step 3:</a:t>
            </a:r>
            <a:r>
              <a:rPr lang="en-IN" altLang="en-US" sz="1800"/>
              <a:t> Now pick edge 4-12. No cycle is formed, hence include it.</a:t>
            </a:r>
          </a:p>
        </p:txBody>
      </p:sp>
      <p:pic>
        <p:nvPicPr>
          <p:cNvPr id="204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61870" t="24220"/>
          <a:stretch>
            <a:fillRect/>
          </a:stretch>
        </p:blipFill>
        <p:spPr bwMode="auto">
          <a:xfrm>
            <a:off x="5469255" y="2562225"/>
            <a:ext cx="1509395" cy="1619250"/>
          </a:xfrm>
          <a:prstGeom prst="rect">
            <a:avLst/>
          </a:prstGeom>
          <a:noFill/>
          <a:extLst>
            <a:ext uri="{909E8E84-426E-40DD-AFC4-6F175D3DCCD1}">
              <a14:hiddenFill xmlns:a14="http://schemas.microsoft.com/office/drawing/2010/main">
                <a:solidFill>
                  <a:srgbClr val="FFFFFF"/>
                </a:solidFill>
              </a14:hiddenFill>
            </a:ext>
          </a:extLst>
        </p:spPr>
      </p:pic>
      <p:pic>
        <p:nvPicPr>
          <p:cNvPr id="19458" name="Picture 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r="63127" b="25842"/>
          <a:stretch>
            <a:fillRect/>
          </a:stretch>
        </p:blipFill>
        <p:spPr bwMode="auto">
          <a:xfrm>
            <a:off x="4083050" y="2138045"/>
            <a:ext cx="1758950" cy="14268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2459355" y="968375"/>
            <a:ext cx="6581775" cy="368300"/>
          </a:xfrm>
          <a:prstGeom prst="rect">
            <a:avLst/>
          </a:prstGeom>
          <a:noFill/>
        </p:spPr>
        <p:txBody>
          <a:bodyPr wrap="square" rtlCol="0">
            <a:spAutoFit/>
          </a:bodyPr>
          <a:lstStyle/>
          <a:p>
            <a:r>
              <a:rPr lang="en-US" sz="1800"/>
              <a:t>step 3:</a:t>
            </a:r>
            <a:r>
              <a:rPr lang="en-IN" altLang="en-US" sz="1800"/>
              <a:t> Now pick edge 4-12. No cycle is formed, hence include it.</a:t>
            </a:r>
          </a:p>
        </p:txBody>
      </p:sp>
      <p:pic>
        <p:nvPicPr>
          <p:cNvPr id="204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61870" t="24220"/>
          <a:stretch>
            <a:fillRect/>
          </a:stretch>
        </p:blipFill>
        <p:spPr bwMode="auto">
          <a:xfrm>
            <a:off x="5469255" y="2562225"/>
            <a:ext cx="1509395" cy="1619250"/>
          </a:xfrm>
          <a:prstGeom prst="rect">
            <a:avLst/>
          </a:prstGeom>
          <a:noFill/>
          <a:extLst>
            <a:ext uri="{909E8E84-426E-40DD-AFC4-6F175D3DCCD1}">
              <a14:hiddenFill xmlns:a14="http://schemas.microsoft.com/office/drawing/2010/main">
                <a:solidFill>
                  <a:srgbClr val="FFFFFF"/>
                </a:solidFill>
              </a14:hiddenFill>
            </a:ext>
          </a:extLst>
        </p:spPr>
      </p:pic>
      <p:pic>
        <p:nvPicPr>
          <p:cNvPr id="19458" name="Picture 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r="63127" b="25842"/>
          <a:stretch>
            <a:fillRect/>
          </a:stretch>
        </p:blipFill>
        <p:spPr bwMode="auto">
          <a:xfrm>
            <a:off x="4083050" y="2138045"/>
            <a:ext cx="1758950" cy="14268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7755" y="1068070"/>
            <a:ext cx="8951595" cy="4441825"/>
          </a:xfrm>
        </p:spPr>
        <p:txBody>
          <a:bodyPr/>
          <a:lstStyle/>
          <a:p>
            <a:r>
              <a:rPr lang="en-US" sz="2000" dirty="0">
                <a:latin typeface="Times New Roman" panose="02020603050405020304" charset="0"/>
                <a:cs typeface="Times New Roman" panose="02020603050405020304" charset="0"/>
              </a:rPr>
              <a:t>Step 4:</a:t>
            </a:r>
            <a:r>
              <a:rPr lang="en-IN" altLang="en-US" sz="2000" dirty="0">
                <a:latin typeface="Times New Roman" panose="02020603050405020304" charset="0"/>
                <a:cs typeface="Times New Roman" panose="02020603050405020304" charset="0"/>
              </a:rPr>
              <a:t> Now pick edge 7-2. No cycle is formed, include it.</a:t>
            </a:r>
            <a:endParaRPr lang="en-US" sz="2000" dirty="0">
              <a:latin typeface="Times New Roman" panose="02020603050405020304" charset="0"/>
              <a:cs typeface="Times New Roman" panose="02020603050405020304" charset="0"/>
            </a:endParaRPr>
          </a:p>
          <a:p>
            <a:endParaRPr lang="en-US" sz="2000" dirty="0">
              <a:latin typeface="Times New Roman" panose="02020603050405020304" charset="0"/>
              <a:cs typeface="Times New Roman" panose="02020603050405020304" charset="0"/>
            </a:endParaRPr>
          </a:p>
        </p:txBody>
      </p:sp>
      <p:pic>
        <p:nvPicPr>
          <p:cNvPr id="19458"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r="63127" b="25842"/>
          <a:stretch>
            <a:fillRect/>
          </a:stretch>
        </p:blipFill>
        <p:spPr bwMode="auto">
          <a:xfrm>
            <a:off x="4512310" y="2761615"/>
            <a:ext cx="1645285" cy="133477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p:cNvGrpSpPr/>
          <p:nvPr/>
        </p:nvGrpSpPr>
        <p:grpSpPr>
          <a:xfrm>
            <a:off x="4231640" y="2761615"/>
            <a:ext cx="3828415" cy="2362835"/>
            <a:chOff x="4264" y="4677"/>
            <a:chExt cx="6029" cy="3393"/>
          </a:xfrm>
        </p:grpSpPr>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l="41082" b="-3584"/>
            <a:stretch>
              <a:fillRect/>
            </a:stretch>
          </p:blipFill>
          <p:spPr bwMode="auto">
            <a:xfrm>
              <a:off x="7297" y="4804"/>
              <a:ext cx="2996" cy="326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9610"/>
            <a:ext cx="10515600" cy="5487670"/>
          </a:xfrm>
        </p:spPr>
        <p:txBody>
          <a:bodyPr/>
          <a:lstStyle/>
          <a:p>
            <a:r>
              <a:rPr lang="en-US" sz="1800" dirty="0">
                <a:latin typeface="Times New Roman" panose="02020603050405020304" charset="0"/>
                <a:cs typeface="Times New Roman" panose="02020603050405020304" charset="0"/>
              </a:rPr>
              <a:t>Step 5:</a:t>
            </a:r>
            <a:r>
              <a:rPr lang="en-IN" altLang="en-US" sz="1800" dirty="0">
                <a:latin typeface="Times New Roman" panose="02020603050405020304" charset="0"/>
                <a:cs typeface="Times New Roman" panose="02020603050405020304" charset="0"/>
              </a:rPr>
              <a:t> Now pick edge 2-3. No cycle is formed, so include it.</a:t>
            </a:r>
            <a:endParaRPr lang="en-US" sz="1800" dirty="0">
              <a:latin typeface="Times New Roman" panose="02020603050405020304" charset="0"/>
              <a:cs typeface="Times New Roman" panose="02020603050405020304" charset="0"/>
            </a:endParaRPr>
          </a:p>
          <a:p>
            <a:endParaRPr lang="en-US" sz="1800" dirty="0">
              <a:latin typeface="Times New Roman" panose="02020603050405020304" charset="0"/>
              <a:cs typeface="Times New Roman" panose="02020603050405020304" charset="0"/>
            </a:endParaRP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l="43504" t="-9475" b="-233"/>
          <a:stretch>
            <a:fillRect/>
          </a:stretch>
        </p:blipFill>
        <p:spPr bwMode="auto">
          <a:xfrm>
            <a:off x="5469255" y="2058670"/>
            <a:ext cx="2655570" cy="310261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r="63127" b="25842"/>
          <a:stretch>
            <a:fillRect/>
          </a:stretch>
        </p:blipFill>
        <p:spPr bwMode="auto">
          <a:xfrm>
            <a:off x="3514725" y="2510790"/>
            <a:ext cx="1758950" cy="16408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1800" dirty="0">
                <a:latin typeface="Times New Roman" panose="02020603050405020304" charset="0"/>
                <a:cs typeface="Times New Roman" panose="02020603050405020304" charset="0"/>
              </a:rPr>
              <a:t>Step 6:</a:t>
            </a:r>
            <a:r>
              <a:rPr lang="en-IN" altLang="en-US" sz="1800" dirty="0">
                <a:latin typeface="Times New Roman" panose="02020603050405020304" charset="0"/>
                <a:cs typeface="Times New Roman" panose="02020603050405020304" charset="0"/>
              </a:rPr>
              <a:t> Now pick edge 5-4. No cycle is formed, so include it.</a:t>
            </a:r>
            <a:endParaRPr lang="en-US" sz="1800" dirty="0">
              <a:latin typeface="Times New Roman" panose="02020603050405020304" charset="0"/>
              <a:cs typeface="Times New Roman" panose="02020603050405020304" charset="0"/>
            </a:endParaRPr>
          </a:p>
          <a:p>
            <a:endParaRPr lang="en-US" sz="1800" dirty="0">
              <a:latin typeface="Times New Roman" panose="02020603050405020304" charset="0"/>
              <a:cs typeface="Times New Roman" panose="02020603050405020304" charset="0"/>
            </a:endParaRP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3180" y="2341245"/>
            <a:ext cx="4355465" cy="24085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3200" y="508635"/>
            <a:ext cx="10087610" cy="5717540"/>
          </a:xfrm>
        </p:spPr>
        <p:txBody>
          <a:bodyPr/>
          <a:lstStyle/>
          <a:p>
            <a:r>
              <a:rPr lang="en-US" sz="1800" dirty="0"/>
              <a:t>Step 7:</a:t>
            </a:r>
            <a:r>
              <a:rPr lang="en-IN" altLang="en-US" sz="1800" dirty="0"/>
              <a:t>Now pick edge 6-5. No cycle is formed, so include it.</a:t>
            </a:r>
            <a:endParaRPr lang="en-US" dirty="0"/>
          </a:p>
          <a:p>
            <a:endParaRPr lang="en-US" dirty="0"/>
          </a:p>
          <a:p>
            <a:endParaRPr lang="en-US" dirty="0"/>
          </a:p>
          <a:p>
            <a:endParaRPr lang="en-US" dirty="0"/>
          </a:p>
          <a:p>
            <a:pPr marL="0" marR="0" lvl="0" indent="0" algn="ctr" defTabSz="914400" rtl="0" eaLnBrk="1" fontAlgn="base" latinLnBrk="0" hangingPunct="1">
              <a:lnSpc>
                <a:spcPct val="100000"/>
              </a:lnSpc>
              <a:spcBef>
                <a:spcPct val="0"/>
              </a:spcBef>
              <a:spcAft>
                <a:spcPct val="0"/>
              </a:spcAft>
              <a:buClrTx/>
              <a:buSzTx/>
              <a:buFontTx/>
              <a:buNone/>
            </a:pPr>
            <a:endParaRPr lang="en-IN" altLang="en-US" sz="1800" dirty="0">
              <a:ln>
                <a:noFill/>
              </a:ln>
              <a:solidFill>
                <a:srgbClr val="303030"/>
              </a:solidFill>
              <a:effectLst/>
              <a:latin typeface="Times New Roman" panose="02020603050405020304" charset="0"/>
              <a:cs typeface="Times New Roman" panose="02020603050405020304" charset="0"/>
              <a:sym typeface="+mn-ea"/>
            </a:endParaRPr>
          </a:p>
          <a:p>
            <a:pPr marL="0" marR="0" lvl="0" indent="0" algn="ctr" defTabSz="914400" rtl="0" eaLnBrk="1" fontAlgn="base" latinLnBrk="0" hangingPunct="1">
              <a:lnSpc>
                <a:spcPct val="100000"/>
              </a:lnSpc>
              <a:spcBef>
                <a:spcPct val="0"/>
              </a:spcBef>
              <a:spcAft>
                <a:spcPct val="0"/>
              </a:spcAft>
              <a:buClrTx/>
              <a:buSzTx/>
              <a:buFontTx/>
              <a:buNone/>
            </a:pPr>
            <a:endParaRPr lang="en-IN" altLang="en-US" sz="1800" dirty="0">
              <a:ln>
                <a:noFill/>
              </a:ln>
              <a:solidFill>
                <a:srgbClr val="303030"/>
              </a:solidFill>
              <a:effectLst/>
              <a:latin typeface="Times New Roman" panose="02020603050405020304" charset="0"/>
              <a:cs typeface="Times New Roman" panose="02020603050405020304" charset="0"/>
              <a:sym typeface="+mn-ea"/>
            </a:endParaRPr>
          </a:p>
          <a:p>
            <a:pPr marL="0" marR="0" lvl="0" indent="0" algn="ctr" defTabSz="914400" rtl="0" eaLnBrk="1" fontAlgn="base" latinLnBrk="0" hangingPunct="1">
              <a:lnSpc>
                <a:spcPct val="100000"/>
              </a:lnSpc>
              <a:spcBef>
                <a:spcPct val="0"/>
              </a:spcBef>
              <a:spcAft>
                <a:spcPct val="0"/>
              </a:spcAft>
              <a:buClrTx/>
              <a:buSzTx/>
              <a:buFontTx/>
              <a:buNone/>
            </a:pPr>
            <a:endParaRPr lang="en-IN" altLang="en-US" sz="1800" dirty="0">
              <a:ln>
                <a:noFill/>
              </a:ln>
              <a:solidFill>
                <a:srgbClr val="303030"/>
              </a:solidFill>
              <a:effectLst/>
              <a:latin typeface="Times New Roman" panose="02020603050405020304" charset="0"/>
              <a:cs typeface="Times New Roman" panose="02020603050405020304" charset="0"/>
              <a:sym typeface="+mn-ea"/>
            </a:endParaRPr>
          </a:p>
          <a:p>
            <a:pPr marL="0" marR="0" lvl="0" indent="0" algn="ctr" defTabSz="914400" rtl="0" eaLnBrk="1" fontAlgn="base" latinLnBrk="0" hangingPunct="1">
              <a:lnSpc>
                <a:spcPct val="100000"/>
              </a:lnSpc>
              <a:spcBef>
                <a:spcPct val="0"/>
              </a:spcBef>
              <a:spcAft>
                <a:spcPct val="0"/>
              </a:spcAft>
              <a:buClrTx/>
              <a:buSzTx/>
              <a:buFontTx/>
              <a:buNone/>
            </a:pPr>
            <a:endParaRPr lang="en-IN" altLang="en-US" sz="1800" dirty="0">
              <a:ln>
                <a:noFill/>
              </a:ln>
              <a:solidFill>
                <a:srgbClr val="303030"/>
              </a:solidFill>
              <a:effectLst/>
              <a:latin typeface="Times New Roman" panose="02020603050405020304" charset="0"/>
              <a:cs typeface="Times New Roman" panose="02020603050405020304" charset="0"/>
              <a:sym typeface="+mn-ea"/>
            </a:endParaRPr>
          </a:p>
          <a:p>
            <a:pPr marL="0" marR="0" lvl="0" indent="0" algn="ctr" defTabSz="914400" rtl="0" eaLnBrk="1" fontAlgn="base" latinLnBrk="0" hangingPunct="1">
              <a:lnSpc>
                <a:spcPct val="100000"/>
              </a:lnSpc>
              <a:spcBef>
                <a:spcPct val="0"/>
              </a:spcBef>
              <a:spcAft>
                <a:spcPct val="0"/>
              </a:spcAft>
              <a:buClrTx/>
              <a:buSzTx/>
              <a:buFontTx/>
              <a:buNone/>
            </a:pPr>
            <a:endParaRPr lang="en-IN" altLang="en-US" sz="1800" dirty="0">
              <a:ln>
                <a:noFill/>
              </a:ln>
              <a:solidFill>
                <a:srgbClr val="303030"/>
              </a:solidFill>
              <a:effectLst/>
              <a:latin typeface="Times New Roman" panose="02020603050405020304" charset="0"/>
              <a:cs typeface="Times New Roman" panose="02020603050405020304" charset="0"/>
              <a:sym typeface="+mn-ea"/>
            </a:endParaRPr>
          </a:p>
          <a:p>
            <a:pPr marL="0" marR="0" lvl="0" indent="0" algn="l" defTabSz="914400" rtl="0" eaLnBrk="1" fontAlgn="base" latinLnBrk="0" hangingPunct="1">
              <a:lnSpc>
                <a:spcPct val="100000"/>
              </a:lnSpc>
              <a:spcBef>
                <a:spcPct val="0"/>
              </a:spcBef>
              <a:spcAft>
                <a:spcPct val="0"/>
              </a:spcAft>
              <a:buClrTx/>
              <a:buSzTx/>
              <a:buFontTx/>
              <a:buNone/>
            </a:pPr>
            <a:r>
              <a:rPr lang="en-IN" altLang="en-US" sz="1800" dirty="0">
                <a:ln>
                  <a:noFill/>
                </a:ln>
                <a:solidFill>
                  <a:srgbClr val="303030"/>
                </a:solidFill>
                <a:effectLst/>
                <a:latin typeface="Times New Roman" panose="02020603050405020304" charset="0"/>
                <a:cs typeface="Times New Roman" panose="02020603050405020304" charset="0"/>
                <a:sym typeface="+mn-ea"/>
              </a:rPr>
              <a:t>Since all the vertices have been connected / included in the MST, so we stop.</a:t>
            </a:r>
          </a:p>
          <a:p>
            <a:pPr marL="0" marR="0" lvl="0" indent="0" algn="l" defTabSz="914400" rtl="0" eaLnBrk="1" fontAlgn="base" latinLnBrk="0" hangingPunct="1">
              <a:lnSpc>
                <a:spcPct val="100000"/>
              </a:lnSpc>
              <a:spcBef>
                <a:spcPct val="0"/>
              </a:spcBef>
              <a:spcAft>
                <a:spcPct val="0"/>
              </a:spcAft>
              <a:buClrTx/>
              <a:buSzTx/>
              <a:buFontTx/>
              <a:buNone/>
            </a:pPr>
            <a:r>
              <a:rPr lang="en-IN" altLang="en-US" sz="1800" dirty="0">
                <a:ln>
                  <a:noFill/>
                </a:ln>
                <a:solidFill>
                  <a:srgbClr val="303030"/>
                </a:solidFill>
                <a:effectLst/>
                <a:latin typeface="Times New Roman" panose="02020603050405020304" charset="0"/>
                <a:cs typeface="Times New Roman" panose="02020603050405020304" charset="0"/>
                <a:sym typeface="+mn-ea"/>
              </a:rPr>
              <a:t>Weight of the MST = Sum of all edge weights= 10 + 25 + 22 + 12 + 16 + 14</a:t>
            </a:r>
            <a:endParaRPr kumimoji="0" lang="en-IN" altLang="en-US" sz="1800" b="0" i="0" u="none" strike="noStrike" cap="none" normalizeH="0" baseline="0" dirty="0">
              <a:ln>
                <a:noFill/>
              </a:ln>
              <a:solidFill>
                <a:schemeClr val="tx1"/>
              </a:solidFill>
              <a:effectLst/>
              <a:latin typeface="Times New Roman" panose="02020603050405020304" charset="0"/>
              <a:cs typeface="Times New Roman" panose="02020603050405020304" charset="0"/>
            </a:endParaRPr>
          </a:p>
          <a:p>
            <a:pPr marL="0" marR="0" lvl="0" indent="0" algn="ctr" defTabSz="914400" rtl="0" eaLnBrk="0" fontAlgn="base" latinLnBrk="0" hangingPunct="0">
              <a:lnSpc>
                <a:spcPct val="100000"/>
              </a:lnSpc>
              <a:spcBef>
                <a:spcPct val="0"/>
              </a:spcBef>
              <a:spcAft>
                <a:spcPct val="0"/>
              </a:spcAft>
              <a:buClrTx/>
              <a:buSzTx/>
              <a:buFontTx/>
              <a:buNone/>
            </a:pPr>
            <a:r>
              <a:rPr lang="en-IN" altLang="en-US" sz="1800" dirty="0">
                <a:ln>
                  <a:noFill/>
                </a:ln>
                <a:solidFill>
                  <a:srgbClr val="303030"/>
                </a:solidFill>
                <a:effectLst/>
                <a:latin typeface="Times New Roman" panose="02020603050405020304" charset="0"/>
                <a:cs typeface="Times New Roman" panose="02020603050405020304" charset="0"/>
                <a:sym typeface="+mn-ea"/>
              </a:rPr>
              <a:t>= 99 units</a:t>
            </a:r>
            <a:endParaRPr kumimoji="0" lang="en-IN" altLang="en-US" sz="1800" b="0" i="0" u="none" strike="noStrike" cap="none" normalizeH="0" baseline="0" dirty="0">
              <a:ln>
                <a:noFill/>
              </a:ln>
              <a:solidFill>
                <a:schemeClr val="tx1"/>
              </a:solidFill>
              <a:effectLst/>
              <a:latin typeface="Times New Roman" panose="02020603050405020304" charset="0"/>
              <a:cs typeface="Times New Roman" panose="02020603050405020304"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IN" altLang="en-US" sz="2100" b="0" i="0" u="none" strike="noStrike" cap="none" normalizeH="0" baseline="0" dirty="0">
              <a:ln>
                <a:noFill/>
              </a:ln>
              <a:solidFill>
                <a:srgbClr val="303030"/>
              </a:solidFill>
              <a:effectLst/>
              <a:latin typeface="Arimo"/>
            </a:endParaRPr>
          </a:p>
          <a:p>
            <a:endParaRPr lang="en-IN" dirty="0"/>
          </a:p>
        </p:txBody>
      </p:sp>
      <p:pic>
        <p:nvPicPr>
          <p:cNvPr id="245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2710" y="1639570"/>
            <a:ext cx="4067175" cy="203708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p:cNvSpPr>
            <a:spLocks noChangeArrowheads="1"/>
          </p:cNvSpPr>
          <p:nvPr/>
        </p:nvSpPr>
        <p:spPr bwMode="auto">
          <a:xfrm>
            <a:off x="5963920" y="826770"/>
            <a:ext cx="264160" cy="403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lvl1pPr>
              <a:defRPr>
                <a:solidFill>
                  <a:schemeClr val="tx1"/>
                </a:solidFill>
                <a:latin typeface="Calibri" panose="020F0502020204030204" charset="0"/>
              </a:defRPr>
            </a:lvl1pPr>
            <a:lvl2pPr>
              <a:defRPr>
                <a:solidFill>
                  <a:schemeClr val="tx1"/>
                </a:solidFill>
                <a:latin typeface="Calibri" panose="020F0502020204030204" charset="0"/>
              </a:defRPr>
            </a:lvl2pPr>
            <a:lvl3pPr>
              <a:defRPr>
                <a:solidFill>
                  <a:schemeClr val="tx1"/>
                </a:solidFill>
                <a:latin typeface="Calibri" panose="020F0502020204030204" charset="0"/>
              </a:defRPr>
            </a:lvl3pPr>
            <a:lvl4pPr>
              <a:defRPr>
                <a:solidFill>
                  <a:schemeClr val="tx1"/>
                </a:solidFill>
                <a:latin typeface="Calibri" panose="020F0502020204030204" charset="0"/>
              </a:defRPr>
            </a:lvl4pPr>
            <a:lvl5pPr>
              <a:defRPr>
                <a:solidFill>
                  <a:schemeClr val="tx1"/>
                </a:solidFill>
                <a:latin typeface="Calibri" panose="020F0502020204030204" charset="0"/>
              </a:defRPr>
            </a:lvl5pPr>
            <a:lvl6pPr fontAlgn="base">
              <a:spcBef>
                <a:spcPct val="0"/>
              </a:spcBef>
              <a:spcAft>
                <a:spcPct val="0"/>
              </a:spcAft>
              <a:defRPr>
                <a:solidFill>
                  <a:schemeClr val="tx1"/>
                </a:solidFill>
                <a:latin typeface="Calibri" panose="020F0502020204030204" charset="0"/>
              </a:defRPr>
            </a:lvl6pPr>
            <a:lvl7pPr fontAlgn="base">
              <a:spcBef>
                <a:spcPct val="0"/>
              </a:spcBef>
              <a:spcAft>
                <a:spcPct val="0"/>
              </a:spcAft>
              <a:defRPr>
                <a:solidFill>
                  <a:schemeClr val="tx1"/>
                </a:solidFill>
                <a:latin typeface="Calibri" panose="020F0502020204030204" charset="0"/>
              </a:defRPr>
            </a:lvl7pPr>
            <a:lvl8pPr fontAlgn="base">
              <a:spcBef>
                <a:spcPct val="0"/>
              </a:spcBef>
              <a:spcAft>
                <a:spcPct val="0"/>
              </a:spcAft>
              <a:defRPr>
                <a:solidFill>
                  <a:schemeClr val="tx1"/>
                </a:solidFill>
                <a:latin typeface="Calibri" panose="020F0502020204030204" charset="0"/>
              </a:defRPr>
            </a:lvl8pPr>
            <a:lvl9pPr fontAlgn="base">
              <a:spcBef>
                <a:spcPct val="0"/>
              </a:spcBef>
              <a:spcAft>
                <a:spcPct val="0"/>
              </a:spcAft>
              <a:defRPr>
                <a:solidFill>
                  <a:schemeClr val="tx1"/>
                </a:solidFill>
                <a:latin typeface="Calibri" panose="020F050202020403020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IN" altLang="en-US" sz="825" b="0" i="0" u="none" strike="noStrike" cap="none" normalizeH="0" baseline="0" dirty="0">
                <a:ln>
                  <a:noFill/>
                </a:ln>
                <a:solidFill>
                  <a:srgbClr val="303030"/>
                </a:solidFill>
                <a:effectLst/>
                <a:latin typeface="Arimo"/>
              </a:rPr>
              <a:t/>
            </a:r>
            <a:br>
              <a:rPr kumimoji="0" lang="en-IN" altLang="en-US" sz="825" b="0" i="0" u="none" strike="noStrike" cap="none" normalizeH="0" baseline="0" dirty="0">
                <a:ln>
                  <a:noFill/>
                </a:ln>
                <a:solidFill>
                  <a:srgbClr val="303030"/>
                </a:solidFill>
                <a:effectLst/>
                <a:latin typeface="Arimo"/>
              </a:rPr>
            </a:br>
            <a:endParaRPr kumimoji="0" lang="en-IN" altLang="en-US" sz="1350" b="0" i="0" u="none" strike="noStrike" cap="none" normalizeH="0" baseline="0" dirty="0">
              <a:ln>
                <a:noFill/>
              </a:ln>
              <a:solidFill>
                <a:schemeClr val="tx1"/>
              </a:solidFill>
              <a:effectLst/>
              <a:latin typeface="Calibri" panose="020F050202020403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687607" y="831020"/>
            <a:ext cx="10086536" cy="4892675"/>
          </a:xfrm>
          <a:prstGeom prst="rect">
            <a:avLst/>
          </a:prstGeom>
          <a:noFill/>
        </p:spPr>
        <p:txBody>
          <a:bodyPr wrap="square" rtlCol="0">
            <a:spAutoFit/>
          </a:bodyPr>
          <a:lstStyle/>
          <a:p>
            <a:pPr marL="342900" indent="-342900">
              <a:buFont typeface="Arial" panose="020B0604020202020204" pitchFamily="34" charset="0"/>
              <a:buChar char="•"/>
            </a:pPr>
            <a:r>
              <a:rPr lang="en-IN" altLang="en-US" sz="2400" dirty="0">
                <a:latin typeface="Times New Roman" panose="02020603050405020304" charset="0"/>
                <a:cs typeface="Times New Roman" panose="02020603050405020304" charset="0"/>
              </a:rPr>
              <a:t>We find minimum spanning tree using kruskal’s algorithm by including edges with minimum cost. </a:t>
            </a:r>
          </a:p>
          <a:p>
            <a:pPr marL="342900" indent="-342900">
              <a:buFont typeface="Arial" panose="020B0604020202020204" pitchFamily="34" charset="0"/>
              <a:buChar char="•"/>
            </a:pPr>
            <a:endParaRPr lang="en-IN" altLang="en-US"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IN" altLang="en-US" sz="2400" dirty="0">
                <a:latin typeface="Times New Roman" panose="02020603050405020304" charset="0"/>
                <a:cs typeface="Times New Roman" panose="02020603050405020304" charset="0"/>
              </a:rPr>
              <a:t>First we have to sort vertices from minimum edge cost to maximum edge cost. Then we have to include vertices in such a way that no closed loops occur and all vertices are included exactly once.</a:t>
            </a:r>
            <a:endParaRPr lang="en-US"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sz="2400" dirty="0">
              <a:latin typeface="Times New Roman" panose="02020603050405020304" charset="0"/>
              <a:cs typeface="Times New Roman" panose="02020603050405020304" charset="0"/>
            </a:endParaRPr>
          </a:p>
          <a:p>
            <a:pPr indent="0">
              <a:buFont typeface="Arial" panose="020B0604020202020204" pitchFamily="34" charset="0"/>
              <a:buNone/>
            </a:pPr>
            <a:endParaRPr lang="en-US"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sz="2400" dirty="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sz="2400" dirty="0">
              <a:latin typeface="Times New Roman" panose="02020603050405020304" charset="0"/>
              <a:cs typeface="Times New Roman" panose="02020603050405020304" charset="0"/>
            </a:endParaRPr>
          </a:p>
          <a:p>
            <a:pPr marL="342900" indent="-342900"/>
            <a:endParaRPr lang="en-US" sz="24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p:cNvSpPr/>
          <p:nvPr/>
        </p:nvSpPr>
        <p:spPr>
          <a:xfrm>
            <a:off x="1009650" y="1093470"/>
            <a:ext cx="10172065" cy="547370"/>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marR="0" lvl="0" indent="-342900" rtl="0">
              <a:spcBef>
                <a:spcPts val="0"/>
              </a:spcBef>
              <a:spcAft>
                <a:spcPts val="0"/>
              </a:spcAft>
              <a:buFont typeface="+mj-lt"/>
              <a:buAutoNum type="arabicPeriod"/>
            </a:pPr>
            <a:r>
              <a:rPr lang="en-US" sz="1600" dirty="0">
                <a:solidFill>
                  <a:schemeClr val="bg1"/>
                </a:solidFill>
                <a:latin typeface="Times New Roman" panose="02020603050405020304" charset="0"/>
                <a:ea typeface="Calibri" panose="020F0502020204030204"/>
                <a:cs typeface="Times New Roman" panose="02020603050405020304" charset="0"/>
                <a:sym typeface="Calibri" panose="020F0502020204030204"/>
              </a:rPr>
              <a:t>Kruskal’s algorithm is a ______</a:t>
            </a:r>
          </a:p>
          <a:p>
            <a:pPr marL="342900" marR="0" lvl="0" indent="-342900" rtl="0">
              <a:spcBef>
                <a:spcPts val="0"/>
              </a:spcBef>
              <a:spcAft>
                <a:spcPts val="0"/>
              </a:spcAft>
              <a:buFont typeface="+mj-lt"/>
              <a:buAutoNum type="arabicPeriod"/>
            </a:pPr>
            <a:endParaRPr sz="1600">
              <a:solidFill>
                <a:schemeClr val="bg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11" name="Rounded Rectangle 17"/>
          <p:cNvSpPr/>
          <p:nvPr/>
        </p:nvSpPr>
        <p:spPr>
          <a:xfrm>
            <a:off x="1026795" y="1978025"/>
            <a:ext cx="4636135" cy="164592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rtl="0">
              <a:spcBef>
                <a:spcPts val="0"/>
              </a:spcBef>
              <a:spcAft>
                <a:spcPts val="0"/>
              </a:spcAft>
              <a:buFont typeface="+mj-lt"/>
              <a:buNone/>
            </a:pPr>
            <a:r>
              <a:rPr lang="en-US" sz="1600" dirty="0">
                <a:solidFill>
                  <a:schemeClr val="bg1"/>
                </a:solidFill>
                <a:latin typeface="Times New Roman" panose="02020603050405020304" charset="0"/>
                <a:ea typeface="Calibri" panose="020F0502020204030204"/>
                <a:cs typeface="Times New Roman" panose="02020603050405020304" charset="0"/>
                <a:sym typeface="Calibri" panose="020F0502020204030204"/>
              </a:rPr>
              <a:t>a) divide and conquer algorithm</a:t>
            </a:r>
          </a:p>
          <a:p>
            <a:pPr marR="0" lvl="0" indent="0" rtl="0">
              <a:spcBef>
                <a:spcPts val="0"/>
              </a:spcBef>
              <a:spcAft>
                <a:spcPts val="0"/>
              </a:spcAft>
              <a:buFont typeface="+mj-lt"/>
              <a:buNone/>
            </a:pPr>
            <a:r>
              <a:rPr lang="en-US" sz="1600" dirty="0">
                <a:solidFill>
                  <a:schemeClr val="bg1"/>
                </a:solidFill>
                <a:latin typeface="Times New Roman" panose="02020603050405020304" charset="0"/>
                <a:ea typeface="Calibri" panose="020F0502020204030204"/>
                <a:cs typeface="Times New Roman" panose="02020603050405020304" charset="0"/>
                <a:sym typeface="Calibri" panose="020F0502020204030204"/>
              </a:rPr>
              <a:t>b) dynamic programming algorithm</a:t>
            </a:r>
          </a:p>
          <a:p>
            <a:pPr marR="0" lvl="0" indent="0" rtl="0">
              <a:spcBef>
                <a:spcPts val="0"/>
              </a:spcBef>
              <a:spcAft>
                <a:spcPts val="0"/>
              </a:spcAft>
              <a:buFont typeface="+mj-lt"/>
              <a:buNone/>
            </a:pPr>
            <a:r>
              <a:rPr lang="en-US" sz="1600" dirty="0">
                <a:solidFill>
                  <a:schemeClr val="bg1"/>
                </a:solidFill>
                <a:latin typeface="Times New Roman" panose="02020603050405020304" charset="0"/>
                <a:ea typeface="Calibri" panose="020F0502020204030204"/>
                <a:cs typeface="Times New Roman" panose="02020603050405020304" charset="0"/>
                <a:sym typeface="Calibri" panose="020F0502020204030204"/>
              </a:rPr>
              <a:t>c) greedy algorithm</a:t>
            </a:r>
          </a:p>
          <a:p>
            <a:pPr marR="0" lvl="0" indent="0" rtl="0">
              <a:spcBef>
                <a:spcPts val="0"/>
              </a:spcBef>
              <a:spcAft>
                <a:spcPts val="0"/>
              </a:spcAft>
              <a:buFont typeface="+mj-lt"/>
              <a:buNone/>
            </a:pPr>
            <a:r>
              <a:rPr lang="en-US" sz="1600" dirty="0">
                <a:solidFill>
                  <a:schemeClr val="bg1"/>
                </a:solidFill>
                <a:latin typeface="Times New Roman" panose="02020603050405020304" charset="0"/>
                <a:ea typeface="Calibri" panose="020F0502020204030204"/>
                <a:cs typeface="Times New Roman" panose="02020603050405020304" charset="0"/>
                <a:sym typeface="Calibri" panose="020F0502020204030204"/>
              </a:rPr>
              <a:t>d) approximation algorithm</a:t>
            </a:r>
          </a:p>
          <a:p>
            <a:pPr marR="0" lvl="0" indent="0" rtl="0">
              <a:spcBef>
                <a:spcPts val="0"/>
              </a:spcBef>
              <a:spcAft>
                <a:spcPts val="0"/>
              </a:spcAft>
              <a:buFont typeface="+mj-lt"/>
              <a:buNone/>
            </a:pPr>
            <a:endParaRPr lang="en-US" sz="1600" dirty="0"/>
          </a:p>
        </p:txBody>
      </p:sp>
      <p:sp>
        <p:nvSpPr>
          <p:cNvPr id="13" name="Google Shape;502;p17"/>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marR="0" lvl="0" indent="-342900" rtl="0">
              <a:spcBef>
                <a:spcPts val="0"/>
              </a:spcBef>
              <a:spcAft>
                <a:spcPts val="0"/>
              </a:spcAft>
              <a:buFont typeface="+mj-lt"/>
              <a:buAutoNum type="arabicPeriod" startAt="2"/>
            </a:pPr>
            <a:r>
              <a:rPr lang="en-US" sz="1600" dirty="0">
                <a:solidFill>
                  <a:schemeClr val="bg1"/>
                </a:solidFill>
                <a:latin typeface="Times New Roman" panose="02020603050405020304" charset="0"/>
                <a:ea typeface="Calibri" panose="020F0502020204030204"/>
                <a:cs typeface="Times New Roman" panose="02020603050405020304" charset="0"/>
                <a:sym typeface="Calibri" panose="020F0502020204030204"/>
              </a:rPr>
              <a:t>What is the time complexity of Kruskal’s algorithm?</a:t>
            </a:r>
          </a:p>
        </p:txBody>
      </p:sp>
      <p:sp>
        <p:nvSpPr>
          <p:cNvPr id="14" name="Rounded Rectangle 17"/>
          <p:cNvSpPr/>
          <p:nvPr/>
        </p:nvSpPr>
        <p:spPr>
          <a:xfrm>
            <a:off x="1009895" y="472719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nSpc>
                <a:spcPct val="150000"/>
              </a:lnSpc>
              <a:buNone/>
            </a:pPr>
            <a:r>
              <a:rPr lang="en-US" dirty="0"/>
              <a:t>a) O(log V)</a:t>
            </a:r>
          </a:p>
          <a:p>
            <a:pPr indent="0">
              <a:lnSpc>
                <a:spcPct val="150000"/>
              </a:lnSpc>
              <a:buNone/>
            </a:pPr>
            <a:r>
              <a:rPr lang="en-US" dirty="0"/>
              <a:t>b) O(E log V)</a:t>
            </a:r>
          </a:p>
          <a:p>
            <a:pPr indent="0">
              <a:lnSpc>
                <a:spcPct val="150000"/>
              </a:lnSpc>
              <a:buNone/>
            </a:pPr>
            <a:r>
              <a:rPr lang="en-US" dirty="0"/>
              <a:t>c) O(E2)</a:t>
            </a:r>
          </a:p>
          <a:p>
            <a:pPr indent="0">
              <a:lnSpc>
                <a:spcPct val="150000"/>
              </a:lnSpc>
              <a:buNone/>
            </a:pPr>
            <a:r>
              <a:rPr lang="en-US" dirty="0"/>
              <a:t>d) O(V log E)</a:t>
            </a: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bldLvl="0" animBg="1"/>
      <p:bldP spid="11" grpId="0" bldLvl="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535940" y="672465"/>
            <a:ext cx="10155555" cy="7477760"/>
          </a:xfrm>
          <a:prstGeom prst="rect">
            <a:avLst/>
          </a:prstGeom>
          <a:noFill/>
        </p:spPr>
        <p:txBody>
          <a:bodyPr wrap="square" rtlCol="0">
            <a:spAutoFit/>
          </a:bodyPr>
          <a:lstStyle/>
          <a:p>
            <a:pPr>
              <a:lnSpc>
                <a:spcPct val="200000"/>
              </a:lnSpc>
            </a:pPr>
            <a:r>
              <a:rPr lang="en-US" sz="2000" b="1" dirty="0">
                <a:latin typeface="Times New Roman" panose="02020603050405020304" charset="0"/>
                <a:cs typeface="Times New Roman" panose="02020603050405020304" charset="0"/>
              </a:rPr>
              <a:t>1. Find minimum spanning tree for the following weighted graph using Kruskal's Algorithm. List out at least four real time applications where kruskal’s algorithm is applicable? </a:t>
            </a:r>
          </a:p>
          <a:p>
            <a:pPr>
              <a:lnSpc>
                <a:spcPct val="200000"/>
              </a:lnSpc>
            </a:pPr>
            <a:endParaRPr lang="en-US" sz="2000" b="1" dirty="0">
              <a:latin typeface="Times New Roman" panose="02020603050405020304" charset="0"/>
              <a:cs typeface="Times New Roman" panose="02020603050405020304" charset="0"/>
            </a:endParaRPr>
          </a:p>
          <a:p>
            <a:pPr>
              <a:lnSpc>
                <a:spcPct val="200000"/>
              </a:lnSpc>
            </a:pPr>
            <a:endParaRPr lang="en-US" sz="2000" b="1" dirty="0">
              <a:latin typeface="Times New Roman" panose="02020603050405020304" charset="0"/>
              <a:cs typeface="Times New Roman" panose="02020603050405020304" charset="0"/>
            </a:endParaRPr>
          </a:p>
          <a:p>
            <a:pPr>
              <a:lnSpc>
                <a:spcPct val="200000"/>
              </a:lnSpc>
            </a:pPr>
            <a:endParaRPr lang="en-US" sz="2000" b="1" dirty="0">
              <a:latin typeface="Times New Roman" panose="02020603050405020304" charset="0"/>
              <a:cs typeface="Times New Roman" panose="02020603050405020304" charset="0"/>
            </a:endParaRPr>
          </a:p>
          <a:p>
            <a:pPr>
              <a:lnSpc>
                <a:spcPct val="200000"/>
              </a:lnSpc>
            </a:pPr>
            <a:endParaRPr lang="en-IN" altLang="en-US" sz="2000" b="1" dirty="0">
              <a:latin typeface="Times New Roman" panose="02020603050405020304" charset="0"/>
              <a:cs typeface="Times New Roman" panose="02020603050405020304" charset="0"/>
            </a:endParaRPr>
          </a:p>
          <a:p>
            <a:pPr>
              <a:lnSpc>
                <a:spcPct val="200000"/>
              </a:lnSpc>
            </a:pPr>
            <a:r>
              <a:rPr lang="en-IN" altLang="en-US" sz="2000" b="1" dirty="0">
                <a:latin typeface="Times New Roman" panose="02020603050405020304" charset="0"/>
                <a:cs typeface="Times New Roman" panose="02020603050405020304" charset="0"/>
              </a:rPr>
              <a:t>2. Write kruskal’s algorithm to find minimum spanning tree of the graph and analyze its time complexity with adjacency matrix and list representation?</a:t>
            </a:r>
          </a:p>
          <a:p>
            <a:pPr>
              <a:lnSpc>
                <a:spcPct val="200000"/>
              </a:lnSpc>
            </a:pPr>
            <a:r>
              <a:rPr lang="en-IN" altLang="en-US" sz="2000" b="1" dirty="0">
                <a:latin typeface="Times New Roman" panose="02020603050405020304" charset="0"/>
                <a:cs typeface="Times New Roman" panose="02020603050405020304" charset="0"/>
              </a:rPr>
              <a:t>3. Write an algorithm to implement kruskal’s algorithm to find minimum spanning tree of the given undirected graph? </a:t>
            </a:r>
          </a:p>
          <a:p>
            <a:pPr>
              <a:lnSpc>
                <a:spcPct val="200000"/>
              </a:lnSpc>
            </a:pPr>
            <a:endParaRPr lang="en-US" sz="2000" b="1" dirty="0">
              <a:latin typeface="Times New Roman" panose="02020603050405020304" charset="0"/>
              <a:cs typeface="Times New Roman" panose="02020603050405020304" charset="0"/>
            </a:endParaRPr>
          </a:p>
          <a:p>
            <a:pPr>
              <a:lnSpc>
                <a:spcPct val="200000"/>
              </a:lnSpc>
            </a:pPr>
            <a:endParaRPr lang="en-US" sz="2000" b="1" dirty="0">
              <a:latin typeface="Times New Roman" panose="02020603050405020304" charset="0"/>
              <a:cs typeface="Times New Roman" panose="02020603050405020304" charset="0"/>
            </a:endParaRPr>
          </a:p>
        </p:txBody>
      </p:sp>
      <p:pic>
        <p:nvPicPr>
          <p:cNvPr id="10"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Content Placeholder 4">
            <a:extLst>
              <a:ext uri="{FF2B5EF4-FFF2-40B4-BE49-F238E27FC236}">
                <a16:creationId xmlns:a16="http://schemas.microsoft.com/office/drawing/2014/main" xmlns="" id="{49E08396-28A1-7CFA-DBED-4C791C677139}"/>
              </a:ext>
            </a:extLst>
          </p:cNvPr>
          <p:cNvSpPr>
            <a:spLocks noGrp="1"/>
          </p:cNvSpPr>
          <p:nvPr>
            <p:ph/>
          </p:nvPr>
        </p:nvSpPr>
        <p:spPr>
          <a:xfrm>
            <a:off x="0" y="365125"/>
            <a:ext cx="12192000" cy="6398092"/>
          </a:xfrm>
        </p:spPr>
        <p:txBody>
          <a:bodyPr/>
          <a:lstStyle/>
          <a:p>
            <a:pPr marL="0" indent="0">
              <a:buNone/>
            </a:pPr>
            <a:endParaRPr lang="en-IN" dirty="0"/>
          </a:p>
        </p:txBody>
      </p:sp>
      <p:graphicFrame>
        <p:nvGraphicFramePr>
          <p:cNvPr id="6" name="Object 5">
            <a:extLst>
              <a:ext uri="{FF2B5EF4-FFF2-40B4-BE49-F238E27FC236}">
                <a16:creationId xmlns:a16="http://schemas.microsoft.com/office/drawing/2014/main" xmlns="" id="{A8F2CE27-847C-CC0D-F566-E43817AA4EAC}"/>
              </a:ext>
            </a:extLst>
          </p:cNvPr>
          <p:cNvGraphicFramePr>
            <a:graphicFrameLocks noChangeAspect="1"/>
          </p:cNvGraphicFramePr>
          <p:nvPr>
            <p:extLst>
              <p:ext uri="{D42A27DB-BD31-4B8C-83A1-F6EECF244321}">
                <p14:modId xmlns:p14="http://schemas.microsoft.com/office/powerpoint/2010/main" val="2724766424"/>
              </p:ext>
            </p:extLst>
          </p:nvPr>
        </p:nvGraphicFramePr>
        <p:xfrm>
          <a:off x="3557587" y="2694482"/>
          <a:ext cx="5076825" cy="1469036"/>
        </p:xfrm>
        <a:graphic>
          <a:graphicData uri="http://schemas.openxmlformats.org/presentationml/2006/ole">
            <mc:AlternateContent xmlns:mc="http://schemas.openxmlformats.org/markup-compatibility/2006">
              <mc:Choice xmlns:v="urn:schemas-microsoft-com:vml" Requires="v">
                <p:oleObj spid="_x0000_s1032" r:id="rId4" imgW="5076720" imgH="3276720" progId="">
                  <p:embed/>
                </p:oleObj>
              </mc:Choice>
              <mc:Fallback>
                <p:oleObj r:id="rId4" imgW="5076720" imgH="3276720" progId="">
                  <p:embed/>
                  <p:pic>
                    <p:nvPicPr>
                      <p:cNvPr id="0" name=""/>
                      <p:cNvPicPr/>
                      <p:nvPr/>
                    </p:nvPicPr>
                    <p:blipFill>
                      <a:blip r:embed="rId5"/>
                      <a:stretch>
                        <a:fillRect/>
                      </a:stretch>
                    </p:blipFill>
                    <p:spPr>
                      <a:xfrm>
                        <a:off x="3557587" y="2694482"/>
                        <a:ext cx="5076825" cy="1469036"/>
                      </a:xfrm>
                      <a:prstGeom prst="rect">
                        <a:avLst/>
                      </a:prstGeom>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2108718" y="158864"/>
            <a:ext cx="8882743" cy="59667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REFERENCES FOR FURTHER LEARNING OF THE SESSION</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2">
            <a:extLst>
              <a:ext uri="{FF2B5EF4-FFF2-40B4-BE49-F238E27FC236}">
                <a16:creationId xmlns:a16="http://schemas.microsoft.com/office/drawing/2014/main" xmlns="" id="{E5B5C571-3A43-FAC0-56FA-D5E56691C93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1">
            <a:extLst>
              <a:ext uri="{FF2B5EF4-FFF2-40B4-BE49-F238E27FC236}">
                <a16:creationId xmlns:a16="http://schemas.microsoft.com/office/drawing/2014/main" xmlns="" id="{D819F75A-1162-9E61-F7FB-619431DF3CFC}"/>
              </a:ext>
            </a:extLst>
          </p:cNvPr>
          <p:cNvSpPr>
            <a:spLocks noChangeArrowheads="1"/>
          </p:cNvSpPr>
          <p:nvPr/>
        </p:nvSpPr>
        <p:spPr bwMode="auto">
          <a:xfrm>
            <a:off x="1647825" y="690563"/>
            <a:ext cx="49213" cy="14287"/>
          </a:xfrm>
          <a:prstGeom prst="rect">
            <a:avLst/>
          </a:prstGeom>
          <a:solidFill>
            <a:srgbClr val="000000"/>
          </a:solidFill>
          <a:ln>
            <a:noFill/>
          </a:ln>
          <a:extLst>
            <a:ext uri="{91240B29-F687-4F45-9708-019B960494DF}">
              <a14:hiddenLine xmlns:a14="http://schemas.microsoft.com/office/drawing/2010/main" w="9525">
                <a:solidFill>
                  <a:srgbClr val="3465A4"/>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6" name="Rectangle 3">
            <a:extLst>
              <a:ext uri="{FF2B5EF4-FFF2-40B4-BE49-F238E27FC236}">
                <a16:creationId xmlns:a16="http://schemas.microsoft.com/office/drawing/2014/main" xmlns="" id="{E0B71DF7-1C35-1050-36BE-FF0850A2915E}"/>
              </a:ext>
            </a:extLst>
          </p:cNvPr>
          <p:cNvSpPr>
            <a:spLocks noChangeArrowheads="1"/>
          </p:cNvSpPr>
          <p:nvPr/>
        </p:nvSpPr>
        <p:spPr bwMode="auto">
          <a:xfrm>
            <a:off x="499165" y="682982"/>
            <a:ext cx="11193670" cy="569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69752" tIns="103155" rIns="91440" bIns="45720" numCol="1" anchor="ctr" anchorCtr="0" compatLnSpc="1">
            <a:prstTxWarp prst="textNoShape">
              <a:avLst/>
            </a:prstTxWarp>
            <a:spAutoFit/>
          </a:bodyPr>
          <a:lstStyle>
            <a:lvl1pPr eaLnBrk="0" fontAlgn="base" hangingPunct="0">
              <a:spcBef>
                <a:spcPct val="0"/>
              </a:spcBef>
              <a:spcAft>
                <a:spcPct val="0"/>
              </a:spcAft>
              <a:tabLst>
                <a:tab pos="927100" algn="l"/>
              </a:tabLst>
              <a:defRPr>
                <a:solidFill>
                  <a:schemeClr val="tx1"/>
                </a:solidFill>
                <a:latin typeface="Arial" panose="020B0604020202020204" pitchFamily="34" charset="0"/>
              </a:defRPr>
            </a:lvl1pPr>
            <a:lvl2pPr eaLnBrk="0" fontAlgn="base" hangingPunct="0">
              <a:spcBef>
                <a:spcPct val="0"/>
              </a:spcBef>
              <a:spcAft>
                <a:spcPct val="0"/>
              </a:spcAft>
              <a:tabLst>
                <a:tab pos="927100" algn="l"/>
              </a:tabLst>
              <a:defRPr>
                <a:solidFill>
                  <a:schemeClr val="tx1"/>
                </a:solidFill>
                <a:latin typeface="Arial" panose="020B0604020202020204" pitchFamily="34" charset="0"/>
              </a:defRPr>
            </a:lvl2pPr>
            <a:lvl3pPr eaLnBrk="0" fontAlgn="base" hangingPunct="0">
              <a:spcBef>
                <a:spcPct val="0"/>
              </a:spcBef>
              <a:spcAft>
                <a:spcPct val="0"/>
              </a:spcAft>
              <a:tabLst>
                <a:tab pos="927100" algn="l"/>
              </a:tabLst>
              <a:defRPr>
                <a:solidFill>
                  <a:schemeClr val="tx1"/>
                </a:solidFill>
                <a:latin typeface="Arial" panose="020B0604020202020204" pitchFamily="34" charset="0"/>
              </a:defRPr>
            </a:lvl3pPr>
            <a:lvl4pPr eaLnBrk="0" fontAlgn="base" hangingPunct="0">
              <a:spcBef>
                <a:spcPct val="0"/>
              </a:spcBef>
              <a:spcAft>
                <a:spcPct val="0"/>
              </a:spcAft>
              <a:tabLst>
                <a:tab pos="927100" algn="l"/>
              </a:tabLst>
              <a:defRPr>
                <a:solidFill>
                  <a:schemeClr val="tx1"/>
                </a:solidFill>
                <a:latin typeface="Arial" panose="020B0604020202020204" pitchFamily="34" charset="0"/>
              </a:defRPr>
            </a:lvl4pPr>
            <a:lvl5pPr eaLnBrk="0" fontAlgn="base" hangingPunct="0">
              <a:spcBef>
                <a:spcPct val="0"/>
              </a:spcBef>
              <a:spcAft>
                <a:spcPct val="0"/>
              </a:spcAft>
              <a:tabLst>
                <a:tab pos="927100" algn="l"/>
              </a:tabLst>
              <a:defRPr>
                <a:solidFill>
                  <a:schemeClr val="tx1"/>
                </a:solidFill>
                <a:latin typeface="Arial" panose="020B0604020202020204" pitchFamily="34" charset="0"/>
              </a:defRPr>
            </a:lvl5pPr>
            <a:lvl6pPr eaLnBrk="0" fontAlgn="base" hangingPunct="0">
              <a:spcBef>
                <a:spcPct val="0"/>
              </a:spcBef>
              <a:spcAft>
                <a:spcPct val="0"/>
              </a:spcAft>
              <a:tabLst>
                <a:tab pos="927100" algn="l"/>
              </a:tabLst>
              <a:defRPr>
                <a:solidFill>
                  <a:schemeClr val="tx1"/>
                </a:solidFill>
                <a:latin typeface="Arial" panose="020B0604020202020204" pitchFamily="34" charset="0"/>
              </a:defRPr>
            </a:lvl6pPr>
            <a:lvl7pPr eaLnBrk="0" fontAlgn="base" hangingPunct="0">
              <a:spcBef>
                <a:spcPct val="0"/>
              </a:spcBef>
              <a:spcAft>
                <a:spcPct val="0"/>
              </a:spcAft>
              <a:tabLst>
                <a:tab pos="927100" algn="l"/>
              </a:tabLst>
              <a:defRPr>
                <a:solidFill>
                  <a:schemeClr val="tx1"/>
                </a:solidFill>
                <a:latin typeface="Arial" panose="020B0604020202020204" pitchFamily="34" charset="0"/>
              </a:defRPr>
            </a:lvl7pPr>
            <a:lvl8pPr eaLnBrk="0" fontAlgn="base" hangingPunct="0">
              <a:spcBef>
                <a:spcPct val="0"/>
              </a:spcBef>
              <a:spcAft>
                <a:spcPct val="0"/>
              </a:spcAft>
              <a:tabLst>
                <a:tab pos="927100" algn="l"/>
              </a:tabLst>
              <a:defRPr>
                <a:solidFill>
                  <a:schemeClr val="tx1"/>
                </a:solidFill>
                <a:latin typeface="Arial" panose="020B0604020202020204" pitchFamily="34" charset="0"/>
              </a:defRPr>
            </a:lvl8pPr>
            <a:lvl9pPr eaLnBrk="0" fontAlgn="base" hangingPunct="0">
              <a:spcBef>
                <a:spcPct val="0"/>
              </a:spcBef>
              <a:spcAft>
                <a:spcPct val="0"/>
              </a:spcAft>
              <a:tabLst>
                <a:tab pos="9271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927100" algn="l"/>
              </a:tabLst>
            </a:pPr>
            <a:r>
              <a:rPr kumimoji="0" lang="en-US" altLang="en-US"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lang="en-US" altLang="en-US" b="1" dirty="0">
                <a:ea typeface="Times New Roman" panose="02020603050405020304" pitchFamily="18" charset="0"/>
              </a:rPr>
              <a:t>T</a:t>
            </a:r>
            <a:r>
              <a:rPr kumimoji="0" lang="en-US" altLang="en-US"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EXTBOOKS:</a:t>
            </a:r>
            <a:endParaRPr kumimoji="0" lang="en-US" altLang="en-US" b="0" i="0" u="none" strike="noStrike" cap="none" normalizeH="0" baseline="0" dirty="0">
              <a:ln>
                <a:noFill/>
              </a:ln>
              <a:solidFill>
                <a:schemeClr val="tx1"/>
              </a:solidFill>
              <a:effectLst/>
              <a:latin typeface="Arial" panose="020B0604020202020204" pitchFamily="34" charset="0"/>
            </a:endParaRPr>
          </a:p>
          <a:p>
            <a:pPr lvl="0"/>
            <a:r>
              <a:rPr lang="en-US" dirty="0" smtClean="0"/>
              <a:t>1. Mark </a:t>
            </a:r>
            <a:r>
              <a:rPr lang="en-US" dirty="0"/>
              <a:t>Allen Weiss, Data Structures and Algorithm Analysis in C, 2010, Second Edition, Pearson Education.</a:t>
            </a:r>
          </a:p>
          <a:p>
            <a:pPr lvl="0"/>
            <a:r>
              <a:rPr lang="en-US" dirty="0" smtClean="0"/>
              <a:t>2. Allen </a:t>
            </a:r>
            <a:r>
              <a:rPr lang="en-US" dirty="0"/>
              <a:t>B. Downey, ”Think Python: How to Think Like a Computer Scientist’’, 2nd edition, Updated for Python 3, Shroff/O’Reilly Publishers, 2016 (</a:t>
            </a:r>
            <a:r>
              <a:rPr lang="en-US" u="sng" dirty="0">
                <a:hlinkClick r:id="rId3"/>
              </a:rPr>
              <a:t>http://greenteapress.com/wp/thinkpython/</a:t>
            </a:r>
            <a:r>
              <a:rPr lang="en-US" dirty="0"/>
              <a:t>)</a:t>
            </a:r>
          </a:p>
          <a:p>
            <a:r>
              <a:rPr lang="en-US" dirty="0" smtClean="0"/>
              <a:t>3. Data </a:t>
            </a:r>
            <a:r>
              <a:rPr lang="en-US" dirty="0"/>
              <a:t>Structures and algorithms using python, 2011,Rance D, </a:t>
            </a:r>
            <a:r>
              <a:rPr lang="en-US" dirty="0" err="1"/>
              <a:t>Necaise</a:t>
            </a:r>
            <a:r>
              <a:rPr lang="en-US" dirty="0"/>
              <a:t>, </a:t>
            </a:r>
            <a:r>
              <a:rPr lang="en-US" dirty="0" err="1"/>
              <a:t>himilton</a:t>
            </a:r>
            <a:r>
              <a:rPr lang="en-US" dirty="0"/>
              <a:t> </a:t>
            </a:r>
            <a:r>
              <a:rPr lang="en-US" dirty="0" smtClean="0"/>
              <a:t>printing</a:t>
            </a:r>
          </a:p>
          <a:p>
            <a:r>
              <a:rPr kumimoji="0" lang="en-US" altLang="en-US"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REFERENCE </a:t>
            </a:r>
            <a:r>
              <a:rPr kumimoji="0" lang="en-US" altLang="en-US"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BOOKS</a:t>
            </a:r>
            <a:r>
              <a:rPr kumimoji="0" lang="en-US" altLang="en-US"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lvl="0"/>
            <a:r>
              <a:rPr lang="en-US" dirty="0" smtClean="0"/>
              <a:t>1. Data </a:t>
            </a:r>
            <a:r>
              <a:rPr lang="en-US" dirty="0"/>
              <a:t>Structures and Algorithm Analysis in PYTHON, 2010, Mark Allen Weiss, Second Edition, Pearson Education.</a:t>
            </a:r>
          </a:p>
          <a:p>
            <a:pPr lvl="0"/>
            <a:r>
              <a:rPr lang="en-US" dirty="0" smtClean="0"/>
              <a:t>2. Data </a:t>
            </a:r>
            <a:r>
              <a:rPr lang="en-US" dirty="0"/>
              <a:t>Structures and Algorithms, </a:t>
            </a:r>
            <a:r>
              <a:rPr lang="en-US" dirty="0" err="1"/>
              <a:t>A.V.Aho</a:t>
            </a:r>
            <a:r>
              <a:rPr lang="en-US" dirty="0"/>
              <a:t>, </a:t>
            </a:r>
            <a:r>
              <a:rPr lang="en-US" dirty="0" err="1"/>
              <a:t>J.E.Hopcroft</a:t>
            </a:r>
            <a:r>
              <a:rPr lang="en-US" dirty="0"/>
              <a:t>, and </a:t>
            </a:r>
            <a:r>
              <a:rPr lang="en-US" dirty="0" err="1"/>
              <a:t>J.D.Ullman</a:t>
            </a:r>
            <a:r>
              <a:rPr lang="en-US" dirty="0"/>
              <a:t>, Pearson Education, First Edition Reprint2003.</a:t>
            </a:r>
          </a:p>
          <a:p>
            <a:pPr lvl="0"/>
            <a:r>
              <a:rPr lang="en-US" dirty="0" smtClean="0"/>
              <a:t>3. Advanced </a:t>
            </a:r>
            <a:r>
              <a:rPr lang="en-US" dirty="0"/>
              <a:t>Guide to Python 3 Programming, John Hunt, 4</a:t>
            </a:r>
            <a:r>
              <a:rPr lang="en-US" baseline="30000" dirty="0"/>
              <a:t>th</a:t>
            </a:r>
            <a:r>
              <a:rPr lang="en-US" dirty="0"/>
              <a:t> Edition, Springer Nature Switzerland AG 2019.</a:t>
            </a:r>
          </a:p>
          <a:p>
            <a:r>
              <a:rPr lang="en-US" dirty="0" smtClean="0"/>
              <a:t>4. Python </a:t>
            </a:r>
            <a:r>
              <a:rPr lang="en-US" dirty="0"/>
              <a:t>Basics: A Practice Introduction to Python 3, David Amos, Dan Bader, Joanna </a:t>
            </a:r>
            <a:r>
              <a:rPr lang="en-US" dirty="0" err="1"/>
              <a:t>Jablonski</a:t>
            </a:r>
            <a:r>
              <a:rPr lang="en-US" dirty="0"/>
              <a:t>, Fletcher </a:t>
            </a:r>
            <a:r>
              <a:rPr lang="en-US" dirty="0" err="1"/>
              <a:t>Heisler</a:t>
            </a:r>
            <a:r>
              <a:rPr lang="en-US" dirty="0"/>
              <a:t>, 4</a:t>
            </a:r>
            <a:r>
              <a:rPr lang="en-US" baseline="30000" dirty="0"/>
              <a:t>th</a:t>
            </a:r>
            <a:r>
              <a:rPr lang="en-US" dirty="0"/>
              <a:t> edition, Real Python.</a:t>
            </a:r>
            <a:r>
              <a:rPr kumimoji="0" lang="en-US" alt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a:t>
            </a:r>
            <a:endParaRPr kumimoji="0" lang="en-US" altLang="en-US"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tab pos="927100" algn="l"/>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927100" algn="l"/>
              </a:tabLst>
            </a:pPr>
            <a:r>
              <a:rPr kumimoji="0" lang="en-US" altLang="en-US"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WEB REFERNCES/MOOCS:</a:t>
            </a:r>
          </a:p>
          <a:p>
            <a:pPr lvl="0"/>
            <a:r>
              <a:rPr lang="en-US" u="sng" dirty="0" smtClean="0">
                <a:hlinkClick r:id="rId4"/>
              </a:rPr>
              <a:t>1. https</a:t>
            </a:r>
            <a:r>
              <a:rPr lang="en-US" u="sng" dirty="0">
                <a:hlinkClick r:id="rId4"/>
              </a:rPr>
              <a:t>://docs.python.org/3/tutorial/datastructures.html</a:t>
            </a:r>
            <a:endParaRPr lang="en-US" dirty="0"/>
          </a:p>
          <a:p>
            <a:pPr lvl="0"/>
            <a:r>
              <a:rPr lang="en-US" u="sng" dirty="0" smtClean="0">
                <a:hlinkClick r:id="rId5"/>
              </a:rPr>
              <a:t>2. https</a:t>
            </a:r>
            <a:r>
              <a:rPr lang="en-US" u="sng" dirty="0">
                <a:hlinkClick r:id="rId5"/>
              </a:rPr>
              <a:t>://www.w3schools.com/dsa/dsa_intro.php</a:t>
            </a:r>
            <a:endParaRPr lang="en-US" dirty="0"/>
          </a:p>
          <a:p>
            <a:r>
              <a:rPr lang="en-US" u="sng" dirty="0" smtClean="0">
                <a:hlinkClick r:id="rId6"/>
              </a:rPr>
              <a:t>3. https</a:t>
            </a:r>
            <a:r>
              <a:rPr lang="en-US" u="sng" dirty="0">
                <a:hlinkClick r:id="rId6"/>
              </a:rPr>
              <a:t>://www.geeksforgeeks.org/python-data-structures/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479111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panose="02020603050405020304" charset="0"/>
              <a:cs typeface="Times New Roman" panose="02020603050405020304" charset="0"/>
            </a:endParaRPr>
          </a:p>
          <a:p>
            <a:pPr algn="ctr"/>
            <a:endParaRPr lang="en-US" sz="2400" b="1" dirty="0">
              <a:latin typeface="Times New Roman" panose="02020603050405020304" charset="0"/>
              <a:cs typeface="Times New Roman" panose="02020603050405020304" charset="0"/>
            </a:endParaRPr>
          </a:p>
          <a:p>
            <a:pPr algn="ctr"/>
            <a:r>
              <a:rPr lang="en-US" sz="2400" b="1" dirty="0">
                <a:latin typeface="Times New Roman" panose="02020603050405020304" charset="0"/>
                <a:cs typeface="Times New Roman" panose="02020603050405020304" charset="0"/>
              </a:rPr>
              <a:t>THANK YOU</a:t>
            </a:r>
          </a:p>
          <a:p>
            <a:pPr algn="ctr"/>
            <a:endParaRPr lang="en-US" sz="2400" dirty="0">
              <a:latin typeface="Times New Roman" panose="02020603050405020304" charset="0"/>
              <a:cs typeface="Times New Roman" panose="02020603050405020304" charset="0"/>
            </a:endParaRPr>
          </a:p>
          <a:p>
            <a:pPr algn="ctr"/>
            <a:endParaRPr lang="en-US" sz="2400" dirty="0">
              <a:latin typeface="Times New Roman" panose="02020603050405020304" charset="0"/>
              <a:cs typeface="Times New Roman" panose="02020603050405020304" charset="0"/>
            </a:endParaRPr>
          </a:p>
          <a:p>
            <a:pPr algn="ctr"/>
            <a:endParaRPr lang="en-US" sz="2400" dirty="0">
              <a:latin typeface="Times New Roman" panose="02020603050405020304" charset="0"/>
              <a:cs typeface="Times New Roman" panose="02020603050405020304" charset="0"/>
            </a:endParaRPr>
          </a:p>
          <a:p>
            <a:pPr algn="ctr"/>
            <a:endParaRPr lang="en-US" sz="2400" dirty="0">
              <a:latin typeface="Times New Roman" panose="02020603050405020304" charset="0"/>
              <a:cs typeface="Times New Roman" panose="02020603050405020304" charset="0"/>
            </a:endParaRPr>
          </a:p>
          <a:p>
            <a:pPr algn="ctr"/>
            <a:r>
              <a:rPr lang="en-US" sz="2400" b="1" dirty="0">
                <a:latin typeface="Times New Roman" panose="02020603050405020304" charset="0"/>
                <a:cs typeface="Times New Roman" panose="02020603050405020304" charset="0"/>
              </a:rPr>
              <a:t>Team – </a:t>
            </a:r>
            <a:r>
              <a:rPr lang="en-IN" altLang="en-US" sz="2400" b="1" dirty="0">
                <a:latin typeface="Times New Roman" panose="02020603050405020304" charset="0"/>
                <a:cs typeface="Times New Roman" panose="02020603050405020304" charset="0"/>
              </a:rPr>
              <a:t>Data </a:t>
            </a:r>
            <a:r>
              <a:rPr lang="en-IN" altLang="en-US" sz="2400" b="1" dirty="0" smtClean="0">
                <a:latin typeface="Times New Roman" panose="02020603050405020304" charset="0"/>
                <a:cs typeface="Times New Roman" panose="02020603050405020304" charset="0"/>
              </a:rPr>
              <a:t>Structures through Python</a:t>
            </a:r>
            <a:endParaRPr lang="en-US" sz="2400" b="1" dirty="0">
              <a:latin typeface="Times New Roman" panose="02020603050405020304" charset="0"/>
              <a:cs typeface="Times New Roman" panose="02020603050405020304" charset="0"/>
            </a:endParaRPr>
          </a:p>
          <a:p>
            <a:pPr algn="ctr"/>
            <a:endParaRPr lang="en-US" sz="2400" dirty="0">
              <a:solidFill>
                <a:schemeClr val="bg1"/>
              </a:solidFill>
              <a:latin typeface="Times New Roman" panose="02020603050405020304" charset="0"/>
              <a:cs typeface="Times New Roman" panose="02020603050405020304" charset="0"/>
            </a:endParaRPr>
          </a:p>
          <a:p>
            <a:pPr algn="ctr"/>
            <a:endParaRPr lang="en-US" sz="2400" dirty="0">
              <a:solidFill>
                <a:schemeClr val="bg1"/>
              </a:solidFill>
              <a:latin typeface="Times New Roman" panose="02020603050405020304" charset="0"/>
              <a:cs typeface="Times New Roman" panose="02020603050405020304" charset="0"/>
            </a:endParaRPr>
          </a:p>
          <a:p>
            <a:pPr algn="ctr"/>
            <a:endParaRPr lang="en-US" sz="2400" dirty="0">
              <a:solidFill>
                <a:schemeClr val="bg1"/>
              </a:solidFill>
              <a:latin typeface="Times New Roman" panose="02020603050405020304" charset="0"/>
              <a:cs typeface="Times New Roman" panose="02020603050405020304" charset="0"/>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276</TotalTime>
  <Words>829</Words>
  <Application>Microsoft Office PowerPoint</Application>
  <PresentationFormat>Widescreen</PresentationFormat>
  <Paragraphs>178</Paragraphs>
  <Slides>19</Slides>
  <Notes>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0</vt:i4>
      </vt:variant>
      <vt:variant>
        <vt:lpstr>Slide Titles</vt:lpstr>
      </vt:variant>
      <vt:variant>
        <vt:i4>19</vt:i4>
      </vt:variant>
    </vt:vector>
  </HeadingPairs>
  <TitlesOfParts>
    <vt:vector size="31" baseType="lpstr">
      <vt:lpstr>Arial</vt:lpstr>
      <vt:lpstr>Arimo</vt:lpstr>
      <vt:lpstr>BioRhyme ExtraBold</vt:lpstr>
      <vt:lpstr>Calibri</vt:lpstr>
      <vt:lpstr>Calibri Light</vt:lpstr>
      <vt:lpstr>Cambria</vt:lpstr>
      <vt:lpstr>Poppins</vt:lpstr>
      <vt:lpstr>roboto condensed</vt:lpstr>
      <vt:lpstr>Symbol</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Microsoft account</cp:lastModifiedBy>
  <cp:revision>43</cp:revision>
  <dcterms:created xsi:type="dcterms:W3CDTF">2020-02-08T09:57:00Z</dcterms:created>
  <dcterms:modified xsi:type="dcterms:W3CDTF">2024-12-13T16:46:45Z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4AC6F79B639F404D8A6A7122DD99DCA7</vt:lpwstr>
  </property>
  <property fmtid="{D5CDD505-2E9C-101B-9397-08002B2CF9AE}" pid="4" name="KSOProductBuildVer">
    <vt:lpwstr>1033-11.2.0.11417</vt:lpwstr>
  </property>
</Properties>
</file>