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71" r:id="rId5"/>
    <p:sldId id="300" r:id="rId6"/>
    <p:sldId id="306" r:id="rId7"/>
    <p:sldId id="311" r:id="rId8"/>
    <p:sldId id="307" r:id="rId9"/>
    <p:sldId id="310" r:id="rId10"/>
    <p:sldId id="299" r:id="rId11"/>
    <p:sldId id="287" r:id="rId12"/>
    <p:sldId id="301" r:id="rId13"/>
    <p:sldId id="302" r:id="rId14"/>
    <p:sldId id="312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xmlns="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xmlns="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dsa/graph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greenteapress.com/wp/thinkpyth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-data-structures/" TargetMode="External"/><Relationship Id="rId5" Type="http://schemas.openxmlformats.org/officeDocument/2006/relationships/hyperlink" Target="https://www.w3schools.com/dsa/dsa_intro.php" TargetMode="External"/><Relationship Id="rId4" Type="http://schemas.openxmlformats.org/officeDocument/2006/relationships/hyperlink" Target="https://docs.python.org/3/tutorial/datastructures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52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90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</a:rPr>
              <a:t>Data </a:t>
            </a:r>
            <a:r>
              <a:rPr lang="en-US" sz="3200" b="1" dirty="0" smtClean="0">
                <a:solidFill>
                  <a:schemeClr val="accent1"/>
                </a:solidFill>
              </a:rPr>
              <a:t>Structures through Python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dirty="0" smtClean="0">
                <a:solidFill>
                  <a:schemeClr val="accent1"/>
                </a:solidFill>
              </a:rPr>
              <a:t>24SC1204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Graph Traversal - DFS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 dirty="0">
                <a:solidFill>
                  <a:srgbClr val="FF0000"/>
                </a:solidFill>
              </a:rPr>
              <a:t>BES-I</a:t>
            </a:r>
            <a:endParaRPr lang="en-US" sz="4000" dirty="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7358857" y="5897011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</a:t>
            </a: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– 37 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771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pc="-5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DFS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DFS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Apply </a:t>
            </a:r>
            <a:r>
              <a:rPr lang="en-US" sz="1600" dirty="0" smtClean="0">
                <a:latin typeface="Arial" panose="020B0604020202020204" pitchFamily="34" charset="0"/>
              </a:rPr>
              <a:t>DFS </a:t>
            </a:r>
            <a:r>
              <a:rPr lang="en-US" sz="1600" dirty="0">
                <a:latin typeface="Arial" panose="020B0604020202020204" pitchFamily="34" charset="0"/>
              </a:rPr>
              <a:t>to Real-World Problems.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Compare and Contrast </a:t>
            </a:r>
            <a:r>
              <a:rPr lang="en-US" sz="1600" dirty="0" smtClean="0">
                <a:latin typeface="Arial" panose="020B0604020202020204" pitchFamily="34" charset="0"/>
              </a:rPr>
              <a:t>BFS and DFS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each operation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/>
                <a:cs typeface="Arial"/>
              </a:rPr>
              <a:t>List out the advantages and disadvantages with BFS and DFS.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</a:t>
            </a:r>
            <a:r>
              <a:rPr lang="en-US" sz="1600" dirty="0" smtClean="0">
                <a:latin typeface="Arial" panose="020B0604020202020204" pitchFamily="34" charset="0"/>
              </a:rPr>
              <a:t>DFS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DFS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and its operations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definition, and operations of </a:t>
            </a:r>
            <a:r>
              <a:rPr lang="en-US" sz="1600" dirty="0" smtClean="0">
                <a:latin typeface="Arial" panose="020B0604020202020204" pitchFamily="34" charset="0"/>
              </a:rPr>
              <a:t>DFS</a:t>
            </a:r>
            <a:r>
              <a:rPr lang="en-US" sz="1600" dirty="0">
                <a:latin typeface="Arial" panose="020B0604020202020204" pitchFamily="34" charset="0"/>
              </a:rPr>
              <a:t>, its applications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3025180" y="300038"/>
            <a:ext cx="3637097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DFS-(Depth First Search)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550646" y="2386043"/>
            <a:ext cx="1137349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 DFS implementation puts each vertex of the graph into one of two categories: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Visited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Not Visited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algorithm is to mark each vertex as visited while avoiding cycles.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algorithm works as follows: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by putting any one of the graph's vertices on top of a stack.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top item of the stack and add it to the visited list.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 of that vertex's adjacent nodes. Add the ones which aren't in the visited list to the top of the stack.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repeating steps 2 and 3 until the stack is empty.</a:t>
            </a:r>
          </a:p>
          <a:p>
            <a:pPr algn="just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85800" y="1185714"/>
            <a:ext cx="104502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euclid_circular_a"/>
              </a:rPr>
              <a:t>Depth first Search or Depth first traversal is a recursive algorithm for searching all the vertices of a graph or tree data structure. Traversal means visiting all the nodes of a </a:t>
            </a:r>
            <a:r>
              <a:rPr lang="en-US" dirty="0">
                <a:solidFill>
                  <a:srgbClr val="0556F3"/>
                </a:solidFill>
                <a:latin typeface="euclid_circular_a"/>
                <a:hlinkClick r:id="rId3"/>
              </a:rPr>
              <a:t>graph</a:t>
            </a:r>
            <a:r>
              <a:rPr lang="en-US" dirty="0">
                <a:latin typeface="euclid_circular_a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2243190" y="263554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DFS Conti….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532" y="1305705"/>
            <a:ext cx="8129320" cy="2238879"/>
          </a:xfrm>
        </p:spPr>
      </p:pic>
      <p:sp>
        <p:nvSpPr>
          <p:cNvPr id="4" name="Rectangle 3"/>
          <p:cNvSpPr/>
          <p:nvPr/>
        </p:nvSpPr>
        <p:spPr>
          <a:xfrm>
            <a:off x="246579" y="3603882"/>
            <a:ext cx="117022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 from vertex 0, the DFS algorithm starts by putting it in the Visited list and putting all its adjacent vertices in the stack.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532" y="4250213"/>
            <a:ext cx="8375899" cy="230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6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DFS Conti..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15162" y="962645"/>
            <a:ext cx="117328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we visit the element at the top of stack i.e. 1 and go to its adjacent nodes. Since 0 has already been visited, we visit 2 instead.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793642"/>
            <a:ext cx="8568646" cy="21118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5161" y="3905526"/>
            <a:ext cx="113460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2 has an unvisited adjacent vertex in 4, so we add that to the top of the stack and visit it.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0" y="4739633"/>
            <a:ext cx="8568646" cy="18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06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2243189" y="253280"/>
            <a:ext cx="3119921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DFS Conti….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48" y="962645"/>
            <a:ext cx="8523924" cy="1765994"/>
          </a:xfrm>
        </p:spPr>
      </p:pic>
      <p:sp>
        <p:nvSpPr>
          <p:cNvPr id="4" name="Rectangle 3"/>
          <p:cNvSpPr/>
          <p:nvPr/>
        </p:nvSpPr>
        <p:spPr>
          <a:xfrm>
            <a:off x="154113" y="2837839"/>
            <a:ext cx="11948844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we visit the last element 3, it doesn't have any unvisited adjacent nodes, so we have completed the Depth First Traversal of the graph.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48" y="3468781"/>
            <a:ext cx="8523924" cy="190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6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18B84F3E-0BAB-4FEE-A20F-074E440ADCC6}"/>
              </a:ext>
            </a:extLst>
          </p:cNvPr>
          <p:cNvSpPr/>
          <p:nvPr/>
        </p:nvSpPr>
        <p:spPr>
          <a:xfrm>
            <a:off x="1990725" y="156154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631859"/>
            <a:ext cx="121919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Algorithm Complexity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complexity of the DFS algorithm is represented in the form of O(V + E), where V is the number of nodes and E is the number of edges.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space complexity of the algorithm is O(V).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DFS Algorithm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path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if the graph is bipartite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strongly connected components of a graph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detecting cycles in a graph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919" y="2839306"/>
            <a:ext cx="25705" cy="276999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7624" y="4345179"/>
            <a:ext cx="25705" cy="276999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91044" y="1716944"/>
            <a:ext cx="121009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 traversal algorithm that explores as far as possible along each branch before backtracking.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at a source node and explore as deeply as possible along each branch before backtracking.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stack (either explicitly or through recursion) to keep track of the nodes to visit.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Non-optimal for finding the shortest path.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implemented using recursion or an explicit stack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995362" y="842504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US" sz="2400" dirty="0"/>
          </a:p>
          <a:p>
            <a:pPr marL="342900" lvl="0" indent="-342900">
              <a:buFont typeface="+mj-lt"/>
              <a:buAutoNum type="arabicPeriod"/>
            </a:pPr>
            <a:r>
              <a:rPr lang="en-US" sz="2400" dirty="0"/>
              <a:t>Breadth First Search is equivalent to which of the traversal in the Binary Trees?</a:t>
            </a:r>
            <a:r>
              <a:rPr lang="en-IN" sz="2400" dirty="0"/>
              <a:t/>
            </a:r>
            <a:br>
              <a:rPr lang="en-IN" sz="2400" dirty="0"/>
            </a:br>
            <a:endParaRPr sz="2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xmlns="" id="{5D8B791C-9B35-CF16-C192-D202E0DB9A60}"/>
              </a:ext>
            </a:extLst>
          </p:cNvPr>
          <p:cNvSpPr/>
          <p:nvPr/>
        </p:nvSpPr>
        <p:spPr>
          <a:xfrm>
            <a:off x="1026828" y="1888177"/>
            <a:ext cx="6430876" cy="173555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a) Pre-order Traversal</a:t>
            </a:r>
            <a:br>
              <a:rPr lang="en-US" dirty="0"/>
            </a:br>
            <a:r>
              <a:rPr lang="en-US" dirty="0"/>
              <a:t>b) Post-order Traversal</a:t>
            </a:r>
            <a:br>
              <a:rPr lang="en-US" dirty="0"/>
            </a:br>
            <a:r>
              <a:rPr lang="en-US" dirty="0"/>
              <a:t>c) Level-order Traversal</a:t>
            </a:r>
            <a:br>
              <a:rPr lang="en-US" dirty="0"/>
            </a:br>
            <a:r>
              <a:rPr lang="en-US" dirty="0"/>
              <a:t>d) In-order Traversal</a:t>
            </a: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xmlns="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400" dirty="0"/>
              <a:t>2. </a:t>
            </a:r>
            <a:r>
              <a:rPr lang="en-US" sz="2400" dirty="0"/>
              <a:t>Traversal of a graph is different from tree because</a:t>
            </a:r>
            <a:r>
              <a:rPr lang="en-IN" sz="2400" dirty="0"/>
              <a:t>?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xmlns="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779146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R"/>
            </a:pPr>
            <a:r>
              <a:rPr lang="en-US" dirty="0"/>
              <a:t>There can be a loop in graph so we must maintain a visited flag for every vertex</a:t>
            </a:r>
            <a:endParaRPr lang="en-IN" dirty="0"/>
          </a:p>
          <a:p>
            <a:pPr marL="342900" indent="-342900">
              <a:buAutoNum type="alphaLcParenR"/>
            </a:pPr>
            <a:r>
              <a:rPr lang="en-IN" dirty="0"/>
              <a:t> </a:t>
            </a:r>
            <a:r>
              <a:rPr lang="en-US" dirty="0"/>
              <a:t>DFS of a graph uses stack, but </a:t>
            </a:r>
            <a:r>
              <a:rPr lang="en-US" dirty="0" err="1"/>
              <a:t>inorder</a:t>
            </a:r>
            <a:r>
              <a:rPr lang="en-US" dirty="0"/>
              <a:t> traversal of a tree is recursive</a:t>
            </a:r>
          </a:p>
          <a:p>
            <a:pPr marL="342900" indent="-342900">
              <a:buAutoNum type="alphaLcParenR"/>
            </a:pPr>
            <a:r>
              <a:rPr lang="en-US" dirty="0"/>
              <a:t>BFS of a graph uses queue, but a time efficient BFS of a tree is recursive.</a:t>
            </a:r>
            <a:endParaRPr lang="en-IN" dirty="0"/>
          </a:p>
          <a:p>
            <a:pPr marL="342900" indent="-342900">
              <a:buAutoNum type="alphaLcParenR"/>
            </a:pPr>
            <a:r>
              <a:rPr lang="en-US" dirty="0"/>
              <a:t>All of the above</a:t>
            </a:r>
            <a:endParaRPr lang="en-IN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900332" y="2726901"/>
            <a:ext cx="960823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</a:t>
            </a:r>
            <a:r>
              <a:rPr lang="en-US" b="1" dirty="0" smtClean="0"/>
              <a:t>. </a:t>
            </a:r>
            <a:r>
              <a:rPr lang="en-US" b="1" dirty="0"/>
              <a:t>Describe the Depth First Search (DFS) in a graph or tree?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</a:t>
            </a:r>
            <a:r>
              <a:rPr lang="en-US" b="1" dirty="0" smtClean="0"/>
              <a:t>. </a:t>
            </a:r>
            <a:r>
              <a:rPr lang="en-US" b="1" dirty="0"/>
              <a:t>Describe the DFS algorithm work in a C program?</a:t>
            </a:r>
          </a:p>
          <a:p>
            <a:pPr>
              <a:lnSpc>
                <a:spcPct val="200000"/>
              </a:lnSpc>
            </a:pPr>
            <a:r>
              <a:rPr lang="en-US" b="1" dirty="0"/>
              <a:t>3</a:t>
            </a:r>
            <a:r>
              <a:rPr lang="en-US" b="1" dirty="0" smtClean="0"/>
              <a:t>. </a:t>
            </a:r>
            <a:r>
              <a:rPr lang="en-US" b="1" dirty="0"/>
              <a:t>Can DFS be used to search in unweighted and weighted graphs?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2108718" y="158864"/>
            <a:ext cx="8882743" cy="59667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FOR FURTHER LEARNING OF THE SESSION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E5B5C571-3A43-FAC0-56FA-D5E56691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D819F75A-1162-9E61-F7FB-619431DF3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5" y="690563"/>
            <a:ext cx="49213" cy="142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E0B71DF7-1C35-1050-36BE-FF0850A29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65" y="682982"/>
            <a:ext cx="11193670" cy="569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69752" tIns="103155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b="1" dirty="0">
                <a:ea typeface="Times New Roman" panose="02020603050405020304" pitchFamily="18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EXTBOOKS: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dirty="0" smtClean="0"/>
              <a:t>1. Mark </a:t>
            </a:r>
            <a:r>
              <a:rPr lang="en-US" dirty="0"/>
              <a:t>Allen Weiss, Data Structures and Algorithm Analysis in C, 2010, Second Edition, Pearson Education.</a:t>
            </a:r>
          </a:p>
          <a:p>
            <a:pPr lvl="0"/>
            <a:r>
              <a:rPr lang="en-US" dirty="0" smtClean="0"/>
              <a:t>2. Allen </a:t>
            </a:r>
            <a:r>
              <a:rPr lang="en-US" dirty="0"/>
              <a:t>B. Downey, ”Think Python: How to Think Like a Computer Scientist’’, 2nd edition, Updated for Python 3, Shroff/O’Reilly Publishers, 2016 (</a:t>
            </a:r>
            <a:r>
              <a:rPr lang="en-US" u="sng" dirty="0">
                <a:hlinkClick r:id="rId3"/>
              </a:rPr>
              <a:t>http://greenteapress.com/wp/thinkpython/</a:t>
            </a:r>
            <a:r>
              <a:rPr lang="en-US" dirty="0"/>
              <a:t>)</a:t>
            </a:r>
          </a:p>
          <a:p>
            <a:r>
              <a:rPr lang="en-US" dirty="0" smtClean="0"/>
              <a:t>3. Data </a:t>
            </a:r>
            <a:r>
              <a:rPr lang="en-US" dirty="0"/>
              <a:t>Structures and algorithms using python, 2011,Rance D, </a:t>
            </a:r>
            <a:r>
              <a:rPr lang="en-US" dirty="0" err="1"/>
              <a:t>Necaise</a:t>
            </a:r>
            <a:r>
              <a:rPr lang="en-US" dirty="0"/>
              <a:t>, </a:t>
            </a:r>
            <a:r>
              <a:rPr lang="en-US" dirty="0" err="1"/>
              <a:t>himilton</a:t>
            </a:r>
            <a:r>
              <a:rPr lang="en-US" dirty="0"/>
              <a:t> </a:t>
            </a:r>
            <a:r>
              <a:rPr lang="en-US" dirty="0" smtClean="0"/>
              <a:t>printing</a:t>
            </a:r>
          </a:p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REFERENCE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BOOKS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dirty="0" smtClean="0"/>
              <a:t>1. Data </a:t>
            </a:r>
            <a:r>
              <a:rPr lang="en-US" dirty="0"/>
              <a:t>Structures and Algorithm Analysis in PYTHON, 2010, Mark Allen Weiss, Second Edition, Pearson Education.</a:t>
            </a:r>
          </a:p>
          <a:p>
            <a:pPr lvl="0"/>
            <a:r>
              <a:rPr lang="en-US" dirty="0" smtClean="0"/>
              <a:t>2. Data </a:t>
            </a:r>
            <a:r>
              <a:rPr lang="en-US" dirty="0"/>
              <a:t>Structures and Algorithms, </a:t>
            </a:r>
            <a:r>
              <a:rPr lang="en-US" dirty="0" err="1"/>
              <a:t>A.V.Aho</a:t>
            </a:r>
            <a:r>
              <a:rPr lang="en-US" dirty="0"/>
              <a:t>, </a:t>
            </a:r>
            <a:r>
              <a:rPr lang="en-US" dirty="0" err="1"/>
              <a:t>J.E.Hopcroft</a:t>
            </a:r>
            <a:r>
              <a:rPr lang="en-US" dirty="0"/>
              <a:t>, and </a:t>
            </a:r>
            <a:r>
              <a:rPr lang="en-US" dirty="0" err="1"/>
              <a:t>J.D.Ullman</a:t>
            </a:r>
            <a:r>
              <a:rPr lang="en-US" dirty="0"/>
              <a:t>, Pearson Education, First Edition Reprint2003.</a:t>
            </a:r>
          </a:p>
          <a:p>
            <a:pPr lvl="0"/>
            <a:r>
              <a:rPr lang="en-US" dirty="0" smtClean="0"/>
              <a:t>3. Advanced </a:t>
            </a:r>
            <a:r>
              <a:rPr lang="en-US" dirty="0"/>
              <a:t>Guide to Python 3 Programming, John Hunt, 4</a:t>
            </a:r>
            <a:r>
              <a:rPr lang="en-US" baseline="30000" dirty="0"/>
              <a:t>th</a:t>
            </a:r>
            <a:r>
              <a:rPr lang="en-US" dirty="0"/>
              <a:t> Edition, Springer Nature Switzerland AG 2019.</a:t>
            </a:r>
          </a:p>
          <a:p>
            <a:r>
              <a:rPr lang="en-US" dirty="0" smtClean="0"/>
              <a:t>4. Python </a:t>
            </a:r>
            <a:r>
              <a:rPr lang="en-US" dirty="0"/>
              <a:t>Basics: A Practice Introduction to Python 3, David Amos, Dan Bader, Joanna </a:t>
            </a:r>
            <a:r>
              <a:rPr lang="en-US" dirty="0" err="1"/>
              <a:t>Jablonski</a:t>
            </a:r>
            <a:r>
              <a:rPr lang="en-US" dirty="0"/>
              <a:t>, Fletcher </a:t>
            </a:r>
            <a:r>
              <a:rPr lang="en-US" dirty="0" err="1"/>
              <a:t>Heisler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 edition, Real Python.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271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WEB REFERNCES/MOOCS:</a:t>
            </a:r>
          </a:p>
          <a:p>
            <a:pPr lvl="0"/>
            <a:r>
              <a:rPr lang="en-US" u="sng" dirty="0" smtClean="0">
                <a:hlinkClick r:id="rId4"/>
              </a:rPr>
              <a:t>1. https</a:t>
            </a:r>
            <a:r>
              <a:rPr lang="en-US" u="sng" dirty="0">
                <a:hlinkClick r:id="rId4"/>
              </a:rPr>
              <a:t>://docs.python.org/3/tutorial/datastructures.html</a:t>
            </a:r>
            <a:endParaRPr lang="en-US" dirty="0"/>
          </a:p>
          <a:p>
            <a:pPr lvl="0"/>
            <a:r>
              <a:rPr lang="en-US" u="sng" dirty="0" smtClean="0">
                <a:hlinkClick r:id="rId5"/>
              </a:rPr>
              <a:t>2. https</a:t>
            </a:r>
            <a:r>
              <a:rPr lang="en-US" u="sng" dirty="0">
                <a:hlinkClick r:id="rId5"/>
              </a:rPr>
              <a:t>://www.w3schools.com/dsa/dsa_intro.php</a:t>
            </a:r>
            <a:endParaRPr lang="en-US" dirty="0"/>
          </a:p>
          <a:p>
            <a:r>
              <a:rPr lang="en-US" u="sng" dirty="0" smtClean="0">
                <a:hlinkClick r:id="rId6"/>
              </a:rPr>
              <a:t>3. https</a:t>
            </a:r>
            <a:r>
              <a:rPr lang="en-US" u="sng" dirty="0">
                <a:hlinkClick r:id="rId6"/>
              </a:rPr>
              <a:t>://www.geeksforgeeks.org/python-data-structures/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659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40509" cy="351059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3600" b="1" dirty="0" err="1" smtClean="0">
                <a:latin typeface="Poppins" pitchFamily="2" charset="77"/>
                <a:cs typeface="Poppins" pitchFamily="2" charset="77"/>
              </a:rPr>
              <a:t>Sructures</a:t>
            </a:r>
            <a:r>
              <a:rPr lang="en-US" sz="3600" b="1" dirty="0" smtClean="0">
                <a:latin typeface="Poppins" pitchFamily="2" charset="77"/>
                <a:cs typeface="Poppins" pitchFamily="2" charset="77"/>
              </a:rPr>
              <a:t> through Python</a:t>
            </a:r>
            <a:endParaRPr lang="en-US" sz="36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0125a647-8023-46ae-ae6e-85cf36d841bd"/>
    <ds:schemaRef ds:uri="http://schemas.openxmlformats.org/package/2006/metadata/core-properties"/>
    <ds:schemaRef ds:uri="d43ee83c-3e71-4748-8ebc-8eaadf79342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3195</TotalTime>
  <Words>817</Words>
  <Application>Microsoft Office PowerPoint</Application>
  <PresentationFormat>Widescreen</PresentationFormat>
  <Paragraphs>100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BioRhyme ExtraBold</vt:lpstr>
      <vt:lpstr>Calibri</vt:lpstr>
      <vt:lpstr>Calibri Light</vt:lpstr>
      <vt:lpstr>euclid_circular_a</vt:lpstr>
      <vt:lpstr>Poppins</vt:lpstr>
      <vt:lpstr>Tahoma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Microsoft account</cp:lastModifiedBy>
  <cp:revision>86</cp:revision>
  <dcterms:created xsi:type="dcterms:W3CDTF">2020-02-08T09:57:44Z</dcterms:created>
  <dcterms:modified xsi:type="dcterms:W3CDTF">2024-12-13T16:46:53Z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