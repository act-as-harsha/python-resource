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71" r:id="rId2"/>
    <p:sldId id="300" r:id="rId3"/>
    <p:sldId id="258" r:id="rId4"/>
    <p:sldId id="306" r:id="rId5"/>
    <p:sldId id="307" r:id="rId6"/>
    <p:sldId id="288" r:id="rId7"/>
    <p:sldId id="308" r:id="rId8"/>
    <p:sldId id="309" r:id="rId9"/>
    <p:sldId id="310" r:id="rId10"/>
    <p:sldId id="311" r:id="rId11"/>
    <p:sldId id="312" r:id="rId12"/>
    <p:sldId id="313" r:id="rId13"/>
    <p:sldId id="314" r:id="rId14"/>
    <p:sldId id="318" r:id="rId15"/>
    <p:sldId id="319" r:id="rId16"/>
    <p:sldId id="320" r:id="rId17"/>
    <p:sldId id="321" r:id="rId18"/>
    <p:sldId id="324" r:id="rId19"/>
    <p:sldId id="325" r:id="rId20"/>
    <p:sldId id="326" r:id="rId21"/>
    <p:sldId id="329" r:id="rId22"/>
    <p:sldId id="330" r:id="rId23"/>
    <p:sldId id="331" r:id="rId24"/>
    <p:sldId id="328" r:id="rId25"/>
    <p:sldId id="30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539FA4D-9E70-481F-936D-B0B2BAD40B71}">
          <p14:sldIdLst>
            <p14:sldId id="271"/>
            <p14:sldId id="300"/>
            <p14:sldId id="258"/>
            <p14:sldId id="306"/>
            <p14:sldId id="307"/>
            <p14:sldId id="288"/>
            <p14:sldId id="308"/>
            <p14:sldId id="309"/>
            <p14:sldId id="310"/>
            <p14:sldId id="311"/>
            <p14:sldId id="312"/>
            <p14:sldId id="313"/>
            <p14:sldId id="314"/>
            <p14:sldId id="318"/>
            <p14:sldId id="319"/>
            <p14:sldId id="320"/>
            <p14:sldId id="321"/>
            <p14:sldId id="324"/>
            <p14:sldId id="325"/>
            <p14:sldId id="326"/>
            <p14:sldId id="329"/>
            <p14:sldId id="330"/>
            <p14:sldId id="331"/>
            <p14:sldId id="328"/>
          </p14:sldIdLst>
        </p14:section>
        <p14:section name="Untitled Section" id="{6581676A-317C-40FD-A648-90596D1B8012}">
          <p14:sldIdLst>
            <p14:sldId id="304"/>
          </p14:sldIdLst>
        </p14:section>
      </p14:sectionLst>
    </p:ext>
    <p:ext uri="{EFAFB233-063F-42B5-8137-9DF3F51BA10A}">
      <p15:sldGuideLst xmlns:p15="http://schemas.microsoft.com/office/powerpoint/2012/main">
        <p15:guide id="1" orient="horz" pos="2157">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1E24"/>
    <a:srgbClr val="FF9900"/>
    <a:srgbClr val="E84845"/>
    <a:srgbClr val="FAD2D2"/>
    <a:srgbClr val="F89E4C"/>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629" y="53"/>
      </p:cViewPr>
      <p:guideLst>
        <p:guide orient="horz" pos="2157"/>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t>12/13/2024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t>‹#›</a:t>
            </a:fld>
            <a:endParaRPr lang="en-US"/>
          </a:p>
        </p:txBody>
      </p:sp>
    </p:spTree>
    <p:extLst>
      <p:ext uri="{BB962C8B-B14F-4D97-AF65-F5344CB8AC3E}">
        <p14:creationId xmlns:p14="http://schemas.microsoft.com/office/powerpoint/2010/main" val="3014292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656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t>3</a:t>
            </a:fld>
            <a:endParaRPr lang="en-US"/>
          </a:p>
        </p:txBody>
      </p:sp>
    </p:spTree>
    <p:extLst>
      <p:ext uri="{BB962C8B-B14F-4D97-AF65-F5344CB8AC3E}">
        <p14:creationId xmlns:p14="http://schemas.microsoft.com/office/powerpoint/2010/main" val="3845576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E4ADD7-897F-4F47-A317-DE24AB827DD3}" type="slidenum">
              <a:rPr lang="en-US" smtClean="0"/>
              <a:t>13</a:t>
            </a:fld>
            <a:endParaRPr lang="en-US"/>
          </a:p>
        </p:txBody>
      </p:sp>
    </p:spTree>
    <p:extLst>
      <p:ext uri="{BB962C8B-B14F-4D97-AF65-F5344CB8AC3E}">
        <p14:creationId xmlns:p14="http://schemas.microsoft.com/office/powerpoint/2010/main" val="35864345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12/13/2024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12/13/2024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p:cNvPicPr>
            <a:picLocks noChangeAspect="1"/>
          </p:cNvPicPr>
          <p:nvPr userDrawn="1"/>
        </p:nvPicPr>
        <p:blipFill>
          <a:blip r:embed="rId13">
            <a:alphaModFix amt="5000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p:cNvPicPr>
            <a:picLocks noChangeAspect="1"/>
          </p:cNvPicPr>
          <p:nvPr userDrawn="1"/>
        </p:nvPicPr>
        <p:blipFill rotWithShape="1">
          <a:blip r:embed="rId14">
            <a:alphaModFix amt="35000"/>
            <a:clrChange>
              <a:clrFrom>
                <a:srgbClr val="F6F6F6"/>
              </a:clrFrom>
              <a:clrTo>
                <a:srgbClr val="F6F6F6">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r="26721" b="8103"/>
          <a:stretch>
            <a:fillRect/>
          </a:stretch>
        </p:blipFill>
        <p:spPr>
          <a:xfrm>
            <a:off x="8376334" y="4104641"/>
            <a:ext cx="3815666" cy="2707640"/>
          </a:xfrm>
          <a:prstGeom prst="rect">
            <a:avLst/>
          </a:prstGeom>
        </p:spPr>
      </p:pic>
      <p:sp>
        <p:nvSpPr>
          <p:cNvPr id="7" name="TextBox 6"/>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greenteapress.com/wp/thinkpython/" TargetMode="Externa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hyperlink" Target="https://www.geeksforgeeks.org/python-data-structures/" TargetMode="External"/><Relationship Id="rId5" Type="http://schemas.openxmlformats.org/officeDocument/2006/relationships/hyperlink" Target="https://www.w3schools.com/dsa/dsa_intro.php" TargetMode="External"/><Relationship Id="rId4" Type="http://schemas.openxmlformats.org/officeDocument/2006/relationships/hyperlink" Target="https://docs.python.org/3/tutorial/datastructures.html"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p:cNvSpPr/>
          <p:nvPr/>
        </p:nvSpPr>
        <p:spPr>
          <a:xfrm>
            <a:off x="-1" y="20295"/>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985392"/>
          </a:xfrm>
          <a:prstGeom prst="rect">
            <a:avLst/>
          </a:prstGeom>
          <a:noFill/>
          <a:ln>
            <a:noFill/>
          </a:ln>
        </p:spPr>
        <p:txBody>
          <a:bodyPr spcFirstLastPara="1" wrap="square" lIns="91425" tIns="45700" rIns="91425" bIns="45700" anchor="t" anchorCtr="0">
            <a:spAutoFit/>
          </a:bodyPr>
          <a:lstStyle/>
          <a:p>
            <a:pPr algn="ctr"/>
            <a:r>
              <a:rPr lang="en-US" sz="3200" b="1" dirty="0">
                <a:solidFill>
                  <a:srgbClr val="A81E24"/>
                </a:solidFill>
                <a:sym typeface="BioRhyme ExtraBold"/>
              </a:rPr>
              <a:t>Data Structures </a:t>
            </a:r>
            <a:r>
              <a:rPr lang="en-US" sz="3200" b="1" dirty="0" smtClean="0">
                <a:solidFill>
                  <a:srgbClr val="A81E24"/>
                </a:solidFill>
                <a:sym typeface="BioRhyme ExtraBold"/>
              </a:rPr>
              <a:t>through Python</a:t>
            </a:r>
            <a:endParaRPr lang="en-US" b="1" dirty="0">
              <a:solidFill>
                <a:srgbClr val="A81E24"/>
              </a:solidFill>
              <a:ea typeface="Calibri" panose="020F0502020204030204"/>
              <a:cs typeface="Calibri" panose="020F0502020204030204"/>
            </a:endParaRPr>
          </a:p>
          <a:p>
            <a:pPr marR="0" lvl="0" indent="0" algn="ctr">
              <a:spcBef>
                <a:spcPts val="0"/>
              </a:spcBef>
              <a:spcAft>
                <a:spcPts val="0"/>
              </a:spcAft>
              <a:buNone/>
            </a:pPr>
            <a:r>
              <a:rPr lang="en-US" sz="3600" b="1" cap="all" dirty="0" smtClean="0">
                <a:solidFill>
                  <a:srgbClr val="A81E24"/>
                </a:solidFill>
                <a:ea typeface="+mn-lt"/>
                <a:cs typeface="+mn-lt"/>
                <a:sym typeface="BioRhyme ExtraBold"/>
              </a:rPr>
              <a:t>24SC1204</a:t>
            </a:r>
            <a:endParaRPr lang="en-US" sz="3600" b="1" dirty="0">
              <a:solidFill>
                <a:srgbClr val="A81E24"/>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algn="ctr"/>
            <a:r>
              <a:rPr lang="en-US" sz="4000" b="1" dirty="0">
                <a:solidFill>
                  <a:srgbClr val="C00000"/>
                </a:solidFill>
                <a:cs typeface="Poppins" panose="00000500000000000000" pitchFamily="2" charset="0"/>
              </a:rPr>
              <a:t>Graphs Representation – Adjacency Matrix</a:t>
            </a:r>
            <a:endParaRPr lang="en-US" sz="4000" b="1" dirty="0">
              <a:solidFill>
                <a:srgbClr val="C00000"/>
              </a:solidFill>
              <a:effectLst/>
              <a:cs typeface="Poppins" panose="00000500000000000000" pitchFamily="2" charset="0"/>
            </a:endParaRPr>
          </a:p>
        </p:txBody>
      </p:sp>
      <p:sp>
        <p:nvSpPr>
          <p:cNvPr id="19" name="Rectangle: Rounded Corners 18"/>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a:solidFill>
                  <a:srgbClr val="C00000"/>
                </a:solidFill>
                <a:cs typeface="Poppins"/>
              </a:rPr>
              <a:t>Department of BES-1</a:t>
            </a:r>
            <a:endParaRPr lang="en-US" sz="4000">
              <a:solidFill>
                <a:srgbClr val="C00000"/>
              </a:solidFill>
              <a:cs typeface="Poppins" pitchFamily="2" charset="77"/>
            </a:endParaRPr>
          </a:p>
        </p:txBody>
      </p:sp>
      <p:sp>
        <p:nvSpPr>
          <p:cNvPr id="8" name="Google Shape;502;p17"/>
          <p:cNvSpPr/>
          <p:nvPr/>
        </p:nvSpPr>
        <p:spPr>
          <a:xfrm>
            <a:off x="7604880" y="4841245"/>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a:sym typeface="Calibri" panose="020F0502020204030204"/>
              </a:rPr>
              <a:t>Session - </a:t>
            </a:r>
            <a:r>
              <a:rPr lang="en-US" sz="2400" dirty="0" smtClean="0">
                <a:solidFill>
                  <a:schemeClr val="lt1"/>
                </a:solidFill>
                <a:ea typeface="Calibri" panose="020F0502020204030204"/>
                <a:cs typeface="Poppins"/>
                <a:sym typeface="Calibri" panose="020F0502020204030204"/>
              </a:rPr>
              <a:t>35</a:t>
            </a:r>
            <a:endParaRPr sz="2400" dirty="0">
              <a:solidFill>
                <a:schemeClr val="lt1"/>
              </a:solidFill>
              <a:ea typeface="Calibri" panose="020F0502020204030204"/>
              <a:cs typeface="Poppins" panose="00000500000000000000" pitchFamily="2" charset="0"/>
              <a:sym typeface="Calibri" panose="020F0502020204030204"/>
            </a:endParaRPr>
          </a:p>
        </p:txBody>
      </p:sp>
      <p:sp>
        <p:nvSpPr>
          <p:cNvPr id="33" name="Rectangle 32"/>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AIM OF THE SESSION</a:t>
            </a:r>
          </a:p>
        </p:txBody>
      </p:sp>
      <p:sp>
        <p:nvSpPr>
          <p:cNvPr id="5" name="TextBox 4"/>
          <p:cNvSpPr txBox="1"/>
          <p:nvPr/>
        </p:nvSpPr>
        <p:spPr>
          <a:xfrm>
            <a:off x="914400" y="684469"/>
            <a:ext cx="10731286" cy="82994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a:effectLst/>
                <a:latin typeface="Times New Roman" panose="02020603050405020304" pitchFamily="18" charset="0"/>
                <a:cs typeface="Times New Roman" panose="02020603050405020304" pitchFamily="18" charset="0"/>
              </a:rPr>
              <a:t>To familiarize students with the basic concept of</a:t>
            </a:r>
            <a:r>
              <a:rPr lang="en-US" sz="1600">
                <a:latin typeface="Times New Roman" panose="02020603050405020304" pitchFamily="18" charset="0"/>
                <a:cs typeface="Times New Roman" panose="02020603050405020304" pitchFamily="18" charset="0"/>
              </a:rPr>
              <a:t> Graph Representation and its application</a:t>
            </a:r>
            <a:endParaRPr lang="en-US" sz="1600" b="0" i="0">
              <a:effectLst/>
              <a:latin typeface="Times New Roman" panose="02020603050405020304" pitchFamily="18" charset="0"/>
              <a:cs typeface="Times New Roman" panose="02020603050405020304" pitchFamily="18" charset="0"/>
            </a:endParaRPr>
          </a:p>
          <a:p>
            <a:pPr>
              <a:lnSpc>
                <a:spcPct val="150000"/>
              </a:lnSpc>
            </a:pPr>
            <a:endParaRPr lang="en-US" sz="1600" b="0" i="0">
              <a:effectLst/>
              <a:latin typeface="Times New Roman" panose="02020603050405020304" pitchFamily="18" charset="0"/>
              <a:cs typeface="Times New Roman" panose="02020603050405020304" pitchFamily="18" charset="0"/>
            </a:endParaRPr>
          </a:p>
        </p:txBody>
      </p:sp>
      <p:sp>
        <p:nvSpPr>
          <p:cNvPr id="7" name="Rounded Rectangle 17"/>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INSTRUCTIONAL OBJECTIVES</a:t>
            </a:r>
          </a:p>
        </p:txBody>
      </p:sp>
      <p:sp>
        <p:nvSpPr>
          <p:cNvPr id="9" name="TextBox 8"/>
          <p:cNvSpPr txBox="1"/>
          <p:nvPr/>
        </p:nvSpPr>
        <p:spPr>
          <a:xfrm>
            <a:off x="1752600" y="2438605"/>
            <a:ext cx="8791575" cy="181588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Times New Roman" panose="02020603050405020304" pitchFamily="18" charset="0"/>
                <a:cs typeface="Times New Roman" panose="02020603050405020304" pitchFamily="18" charset="0"/>
              </a:rPr>
              <a:t>This</a:t>
            </a:r>
            <a:r>
              <a:rPr lang="en-US" sz="1600" b="0" i="0" dirty="0">
                <a:effectLst/>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Session</a:t>
            </a:r>
            <a:r>
              <a:rPr lang="en-US" sz="1600" b="0" i="0" dirty="0">
                <a:effectLst/>
                <a:latin typeface="Times New Roman" panose="02020603050405020304" pitchFamily="18" charset="0"/>
                <a:cs typeface="Times New Roman" panose="02020603050405020304" pitchFamily="18" charset="0"/>
              </a:rPr>
              <a:t> is designed to:</a:t>
            </a:r>
          </a:p>
          <a:p>
            <a:pPr marL="342900" indent="-342900">
              <a:buAutoNum type="arabicPeriod"/>
            </a:pPr>
            <a:r>
              <a:rPr lang="en-US" sz="1600" b="0" i="0" dirty="0">
                <a:effectLst/>
                <a:latin typeface="Times New Roman" panose="02020603050405020304" pitchFamily="18" charset="0"/>
                <a:cs typeface="Times New Roman" panose="02020603050405020304" pitchFamily="18" charset="0"/>
              </a:rPr>
              <a:t>Demonstrate</a:t>
            </a:r>
            <a:r>
              <a:rPr lang="en-US" sz="1600" dirty="0">
                <a:latin typeface="Times New Roman" panose="02020603050405020304" pitchFamily="18" charset="0"/>
                <a:cs typeface="Times New Roman" panose="02020603050405020304" pitchFamily="18" charset="0"/>
              </a:rPr>
              <a:t> : Graph.</a:t>
            </a:r>
            <a:endParaRPr lang="en-US" sz="1600" b="0" i="0" dirty="0">
              <a:effectLst/>
              <a:latin typeface="Times New Roman" panose="02020603050405020304" pitchFamily="18" charset="0"/>
              <a:cs typeface="Times New Roman" panose="02020603050405020304" pitchFamily="18" charset="0"/>
            </a:endParaRPr>
          </a:p>
          <a:p>
            <a:pPr marL="342900" indent="-342900">
              <a:buAutoNum type="arabicPeriod"/>
            </a:pPr>
            <a:r>
              <a:rPr lang="en-US" sz="1600" b="0" i="0" dirty="0">
                <a:effectLst/>
                <a:latin typeface="Times New Roman" panose="02020603050405020304" pitchFamily="18" charset="0"/>
                <a:cs typeface="Times New Roman" panose="02020603050405020304" pitchFamily="18" charset="0"/>
              </a:rPr>
              <a:t>Describe</a:t>
            </a:r>
            <a:r>
              <a:rPr lang="en-US" sz="1600" dirty="0">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sym typeface="+mn-ea"/>
              </a:rPr>
              <a:t>Types of Graph</a:t>
            </a:r>
          </a:p>
          <a:p>
            <a:pPr marL="342900" indent="-342900">
              <a:buAutoNum type="arabicPeriod"/>
            </a:pPr>
            <a:r>
              <a:rPr lang="en-US" sz="1600" dirty="0">
                <a:latin typeface="Times New Roman" panose="02020603050405020304" pitchFamily="18" charset="0"/>
                <a:cs typeface="Times New Roman" panose="02020603050405020304" pitchFamily="18" charset="0"/>
                <a:sym typeface="+mn-ea"/>
              </a:rPr>
              <a:t>Describe :Graph Terminology</a:t>
            </a:r>
          </a:p>
          <a:p>
            <a:pPr marL="342900" indent="-342900">
              <a:buAutoNum type="arabicPeriod"/>
            </a:pPr>
            <a:r>
              <a:rPr lang="en-US" sz="1600" b="0" i="0" dirty="0">
                <a:effectLst/>
                <a:latin typeface="Times New Roman" panose="02020603050405020304" pitchFamily="18" charset="0"/>
                <a:cs typeface="Times New Roman" panose="02020603050405020304" pitchFamily="18" charset="0"/>
                <a:sym typeface="+mn-ea"/>
              </a:rPr>
              <a:t>Representation of Graph’s</a:t>
            </a:r>
            <a:endParaRPr lang="en-US" sz="1600" b="0" i="0" dirty="0">
              <a:effectLst/>
              <a:latin typeface="Times New Roman" panose="02020603050405020304" pitchFamily="18" charset="0"/>
              <a:cs typeface="Times New Roman" panose="02020603050405020304" pitchFamily="18" charset="0"/>
            </a:endParaRPr>
          </a:p>
          <a:p>
            <a:pPr marL="342900" indent="-342900">
              <a:buAutoNum type="arabicPeriod"/>
            </a:pPr>
            <a:r>
              <a:rPr lang="en-US" sz="1600" b="0" i="0" dirty="0">
                <a:effectLst/>
                <a:latin typeface="Times New Roman" panose="02020603050405020304" pitchFamily="18" charset="0"/>
                <a:cs typeface="Times New Roman" panose="02020603050405020304" pitchFamily="18" charset="0"/>
              </a:rPr>
              <a:t>List out the</a:t>
            </a:r>
            <a:r>
              <a:rPr lang="en-US" sz="1600" dirty="0">
                <a:latin typeface="Times New Roman" panose="02020603050405020304" pitchFamily="18" charset="0"/>
                <a:cs typeface="Times New Roman" panose="02020603050405020304" pitchFamily="18" charset="0"/>
              </a:rPr>
              <a:t> :Applications Graph.</a:t>
            </a:r>
          </a:p>
        </p:txBody>
      </p:sp>
      <p:pic>
        <p:nvPicPr>
          <p:cNvPr id="11" name="Graphic 10" descr="Bullseye outline"/>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LEARNING OUTCOMES</a:t>
            </a:r>
          </a:p>
        </p:txBody>
      </p:sp>
      <p:pic>
        <p:nvPicPr>
          <p:cNvPr id="31" name="Graphic 30" descr="Idea outline"/>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914400" y="4765771"/>
            <a:ext cx="914400" cy="914400"/>
          </a:xfrm>
          <a:prstGeom prst="rect">
            <a:avLst/>
          </a:prstGeom>
        </p:spPr>
      </p:pic>
      <p:sp>
        <p:nvSpPr>
          <p:cNvPr id="37" name="TextBox 36"/>
          <p:cNvSpPr txBox="1"/>
          <p:nvPr/>
        </p:nvSpPr>
        <p:spPr>
          <a:xfrm>
            <a:off x="1752600" y="4772230"/>
            <a:ext cx="8791575" cy="156966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panose="020B0604020202020204"/>
                <a:cs typeface="Arial" panose="020B0604020202020204"/>
              </a:rPr>
              <a:t>At the end of this </a:t>
            </a:r>
            <a:r>
              <a:rPr lang="en-US" sz="1600" dirty="0">
                <a:latin typeface="Arial" panose="020B0604020202020204"/>
                <a:cs typeface="Arial" panose="020B0604020202020204"/>
              </a:rPr>
              <a:t>session</a:t>
            </a:r>
            <a:r>
              <a:rPr lang="en-US" sz="1600" b="0" i="0" dirty="0">
                <a:effectLst/>
                <a:latin typeface="Arial" panose="020B0604020202020204"/>
                <a:cs typeface="Arial" panose="020B0604020202020204"/>
              </a:rPr>
              <a:t>, you should be able to:</a:t>
            </a:r>
          </a:p>
          <a:p>
            <a:pPr marL="342900" indent="-342900">
              <a:buAutoNum type="arabicPeriod"/>
            </a:pPr>
            <a:r>
              <a:rPr lang="en-US" sz="1600" b="0" i="0" dirty="0">
                <a:effectLst/>
                <a:latin typeface="Arial" panose="020B0604020202020204"/>
                <a:cs typeface="Arial" panose="020B0604020202020204"/>
              </a:rPr>
              <a:t>Define</a:t>
            </a:r>
            <a:r>
              <a:rPr lang="en-US" sz="1600" dirty="0">
                <a:latin typeface="Arial" panose="020B0604020202020204"/>
                <a:cs typeface="Arial" panose="020B0604020202020204"/>
              </a:rPr>
              <a:t> : Graph </a:t>
            </a:r>
            <a:endParaRPr lang="en-US" sz="1600" b="0" i="0" dirty="0">
              <a:effectLst/>
              <a:latin typeface="Arial" panose="020B0604020202020204" pitchFamily="34" charset="0"/>
              <a:cs typeface="Arial" panose="020B0604020202020204"/>
            </a:endParaRPr>
          </a:p>
          <a:p>
            <a:pPr marL="342900" indent="-342900">
              <a:buAutoNum type="arabicPeriod"/>
            </a:pPr>
            <a:r>
              <a:rPr lang="en-US" sz="1600" b="0" i="0" dirty="0">
                <a:effectLst/>
                <a:latin typeface="Arial" panose="020B0604020202020204"/>
                <a:cs typeface="Arial" panose="020B0604020202020204"/>
              </a:rPr>
              <a:t>Describe</a:t>
            </a:r>
            <a:r>
              <a:rPr lang="en-US" sz="1600" dirty="0">
                <a:latin typeface="Arial" panose="020B0604020202020204"/>
                <a:cs typeface="Arial" panose="020B0604020202020204"/>
              </a:rPr>
              <a:t> : </a:t>
            </a:r>
            <a:r>
              <a:rPr lang="en-US" sz="1600" dirty="0">
                <a:latin typeface="Arial" panose="020B0604020202020204"/>
                <a:cs typeface="Arial" panose="020B0604020202020204"/>
                <a:sym typeface="+mn-ea"/>
              </a:rPr>
              <a:t>Types of Graph and Graph Terminology.</a:t>
            </a:r>
          </a:p>
          <a:p>
            <a:pPr marL="342900" indent="-342900">
              <a:buAutoNum type="arabicPeriod"/>
            </a:pPr>
            <a:r>
              <a:rPr lang="en-US" sz="1600" dirty="0">
                <a:latin typeface="Arial" panose="020B0604020202020204"/>
                <a:cs typeface="Arial" panose="020B0604020202020204"/>
                <a:sym typeface="+mn-ea"/>
              </a:rPr>
              <a:t>Representation of graph’s</a:t>
            </a:r>
          </a:p>
          <a:p>
            <a:pPr marL="342900" indent="-342900">
              <a:buAutoNum type="arabicPeriod"/>
            </a:pPr>
            <a:r>
              <a:rPr lang="en-US" sz="1600" dirty="0">
                <a:latin typeface="Arial" panose="020B0604020202020204"/>
                <a:cs typeface="Arial" panose="020B0604020202020204"/>
              </a:rPr>
              <a:t>Summarize : Application of Graph.</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ldLvl="0" animBg="1"/>
      <p:bldP spid="7" grpId="0" animBg="1"/>
      <p:bldP spid="9" grpId="0" bldLvl="0" animBg="1"/>
      <p:bldP spid="29" grpId="0" animBg="1"/>
      <p:bldP spid="37"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t>GRAPH INTRODUCTION </a:t>
            </a:r>
            <a:endParaRPr lang="en-US"/>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285750" y="706755"/>
            <a:ext cx="11363325" cy="5414303"/>
          </a:xfrm>
          <a:prstGeom prst="rect">
            <a:avLst/>
          </a:prstGeom>
          <a:noFill/>
        </p:spPr>
        <p:txBody>
          <a:bodyPr wrap="square" lIns="91440" tIns="45720" rIns="91440" bIns="45720" rtlCol="0" anchor="t">
            <a:spAutoFit/>
          </a:bodyPr>
          <a:lstStyle/>
          <a:p>
            <a:pPr marL="0" marR="196850" indent="0" algn="just">
              <a:spcBef>
                <a:spcPts val="100"/>
              </a:spcBef>
              <a:buSzPct val="94000"/>
              <a:buFont typeface="Wingdings" panose="05000000000000000000" pitchFamily="2" charset="2"/>
              <a:buChar char="Ø"/>
              <a:tabLst>
                <a:tab pos="217170" algn="l"/>
              </a:tabLst>
            </a:pPr>
            <a:endParaRPr lang="en-US" sz="3200" spc="-5" dirty="0">
              <a:solidFill>
                <a:srgbClr val="00B0F0"/>
              </a:solidFill>
              <a:latin typeface="Times New Roman" panose="02020603050405020304" pitchFamily="18" charset="0"/>
              <a:ea typeface="Tahoma" panose="020B0604030504040204" pitchFamily="34" charset="0"/>
              <a:cs typeface="Times New Roman" panose="02020603050405020304" pitchFamily="18" charset="0"/>
              <a:sym typeface="+mn-ea"/>
            </a:endParaRPr>
          </a:p>
          <a:p>
            <a:pPr marL="0" marR="196850" indent="0" algn="just">
              <a:spcBef>
                <a:spcPts val="100"/>
              </a:spcBef>
              <a:buSzPct val="94000"/>
              <a:buFont typeface="Wingdings" panose="05000000000000000000" pitchFamily="2" charset="2"/>
              <a:buChar char="Ø"/>
              <a:tabLst>
                <a:tab pos="217170" algn="l"/>
              </a:tabLst>
            </a:pPr>
            <a:r>
              <a:rPr lang="en-US" sz="2800" spc="-5" dirty="0">
                <a:solidFill>
                  <a:srgbClr val="00B0F0"/>
                </a:solidFill>
                <a:latin typeface="Times New Roman" panose="02020603050405020304" pitchFamily="18" charset="0"/>
                <a:ea typeface="Tahoma" panose="020B0604030504040204" pitchFamily="34" charset="0"/>
                <a:cs typeface="Times New Roman" panose="02020603050405020304" pitchFamily="18" charset="0"/>
                <a:sym typeface="+mn-ea"/>
              </a:rPr>
              <a:t>What is a Graph?</a:t>
            </a:r>
            <a:endParaRPr lang="en-US" sz="2800" spc="-5"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a:p>
            <a:pPr marL="0" marR="196850" indent="0" algn="just">
              <a:spcBef>
                <a:spcPts val="100"/>
              </a:spcBef>
              <a:buSzPct val="94000"/>
              <a:buFont typeface="Wingdings" panose="05000000000000000000" pitchFamily="2" charset="2"/>
              <a:buChar char="Ø"/>
              <a:tabLst>
                <a:tab pos="217170" algn="l"/>
              </a:tabLst>
            </a:pPr>
            <a:r>
              <a:rPr lang="en-US" sz="2800" spc="-5" dirty="0">
                <a:solidFill>
                  <a:srgbClr val="00B0F0"/>
                </a:solidFill>
                <a:latin typeface="Times New Roman" panose="02020603050405020304" pitchFamily="18" charset="0"/>
                <a:ea typeface="Tahoma" panose="020B0604030504040204" pitchFamily="34" charset="0"/>
                <a:cs typeface="Times New Roman" panose="02020603050405020304" pitchFamily="18" charset="0"/>
                <a:sym typeface="+mn-ea"/>
              </a:rPr>
              <a:t>Definition</a:t>
            </a:r>
            <a:r>
              <a:rPr lang="en-US" sz="2800" spc="-5" dirty="0">
                <a:latin typeface="Times New Roman" panose="02020603050405020304" pitchFamily="18" charset="0"/>
                <a:ea typeface="Tahoma" panose="020B0604030504040204" pitchFamily="34" charset="0"/>
                <a:cs typeface="Times New Roman" panose="02020603050405020304" pitchFamily="18" charset="0"/>
                <a:sym typeface="+mn-ea"/>
              </a:rPr>
              <a:t>:Graphs are mathematical structures that represent pairwise relationships between objects.</a:t>
            </a:r>
          </a:p>
          <a:p>
            <a:pPr marL="0" marR="196850" indent="0" algn="just">
              <a:spcBef>
                <a:spcPts val="100"/>
              </a:spcBef>
              <a:buSzPct val="94000"/>
              <a:buFont typeface="Wingdings" panose="05000000000000000000" pitchFamily="2" charset="2"/>
              <a:buChar char="Ø"/>
              <a:tabLst>
                <a:tab pos="217170" algn="l"/>
              </a:tabLst>
            </a:pPr>
            <a:r>
              <a:rPr lang="en-US" sz="2800" spc="-5" dirty="0">
                <a:latin typeface="Times New Roman" panose="02020603050405020304" pitchFamily="18" charset="0"/>
                <a:ea typeface="Tahoma" panose="020B0604030504040204" pitchFamily="34" charset="0"/>
                <a:cs typeface="Times New Roman" panose="02020603050405020304" pitchFamily="18" charset="0"/>
                <a:sym typeface="+mn-ea"/>
              </a:rPr>
              <a:t> It can be visualized by using the following two basic components:</a:t>
            </a:r>
            <a:endParaRPr lang="en-US" sz="2800" spc="-5"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a:p>
            <a:pPr marL="0" marR="196850" indent="0" algn="just">
              <a:spcBef>
                <a:spcPts val="100"/>
              </a:spcBef>
              <a:buSzPct val="94000"/>
              <a:buFont typeface="Wingdings" panose="05000000000000000000" pitchFamily="2" charset="2"/>
              <a:buChar char="Ø"/>
              <a:tabLst>
                <a:tab pos="217170" algn="l"/>
              </a:tabLst>
            </a:pPr>
            <a:r>
              <a:rPr lang="en-US" sz="2800" spc="-5" dirty="0">
                <a:solidFill>
                  <a:srgbClr val="00B0F0"/>
                </a:solidFill>
                <a:latin typeface="Times New Roman" panose="02020603050405020304" pitchFamily="18" charset="0"/>
                <a:ea typeface="Tahoma" panose="020B0604030504040204" pitchFamily="34" charset="0"/>
                <a:cs typeface="Times New Roman" panose="02020603050405020304" pitchFamily="18" charset="0"/>
                <a:sym typeface="+mn-ea"/>
              </a:rPr>
              <a:t>Nodes</a:t>
            </a:r>
            <a:r>
              <a:rPr lang="en-US" sz="2800" spc="-5" dirty="0">
                <a:latin typeface="Times New Roman" panose="02020603050405020304" pitchFamily="18" charset="0"/>
                <a:ea typeface="Tahoma" panose="020B0604030504040204" pitchFamily="34" charset="0"/>
                <a:cs typeface="Times New Roman" panose="02020603050405020304" pitchFamily="18" charset="0"/>
                <a:sym typeface="+mn-ea"/>
              </a:rPr>
              <a:t>:Nodes are entities whose relationships are expressed using edges.</a:t>
            </a:r>
            <a:endParaRPr lang="en-US" sz="2800" spc="-5"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a:p>
            <a:pPr marL="0" marR="196850" indent="0" algn="l">
              <a:spcBef>
                <a:spcPts val="100"/>
              </a:spcBef>
              <a:buSzPct val="94000"/>
              <a:buFont typeface="Wingdings" panose="05000000000000000000" pitchFamily="2" charset="2"/>
              <a:buChar char="Ø"/>
              <a:tabLst>
                <a:tab pos="217170" algn="l"/>
              </a:tabLst>
            </a:pPr>
            <a:r>
              <a:rPr lang="en-US" sz="2800" spc="-5" dirty="0">
                <a:solidFill>
                  <a:srgbClr val="00B0F0"/>
                </a:solidFill>
                <a:latin typeface="Times New Roman" panose="02020603050405020304" pitchFamily="18" charset="0"/>
                <a:ea typeface="Tahoma" panose="020B0604030504040204" pitchFamily="34" charset="0"/>
                <a:cs typeface="Times New Roman" panose="02020603050405020304" pitchFamily="18" charset="0"/>
                <a:sym typeface="+mn-ea"/>
              </a:rPr>
              <a:t>Edges</a:t>
            </a:r>
            <a:r>
              <a:rPr lang="en-US" sz="2800" spc="-5" dirty="0">
                <a:latin typeface="Times New Roman" panose="02020603050405020304" pitchFamily="18" charset="0"/>
                <a:ea typeface="Tahoma" panose="020B0604030504040204" pitchFamily="34" charset="0"/>
                <a:cs typeface="Times New Roman" panose="02020603050405020304" pitchFamily="18" charset="0"/>
                <a:sym typeface="+mn-ea"/>
              </a:rPr>
              <a:t>: Edges are the components that are used to represent the relationships between various nodes in a graph.</a:t>
            </a:r>
          </a:p>
          <a:p>
            <a:pPr marL="0" marR="196850" indent="0" algn="l">
              <a:spcBef>
                <a:spcPts val="100"/>
              </a:spcBef>
              <a:buSzPct val="94000"/>
              <a:buFont typeface="Wingdings" panose="05000000000000000000" pitchFamily="2" charset="2"/>
              <a:buChar char="Ø"/>
              <a:tabLst>
                <a:tab pos="217170" algn="l"/>
              </a:tabLst>
            </a:pPr>
            <a:endParaRPr lang="en-US" sz="2800" spc="-5" dirty="0">
              <a:latin typeface="Times New Roman" panose="02020603050405020304" pitchFamily="18" charset="0"/>
              <a:ea typeface="Tahoma" panose="020B0604030504040204" pitchFamily="34" charset="0"/>
              <a:cs typeface="Times New Roman" panose="02020603050405020304" pitchFamily="18" charset="0"/>
              <a:sym typeface="+mn-ea"/>
            </a:endParaRPr>
          </a:p>
          <a:p>
            <a:pPr marL="0" marR="196850" indent="0" algn="just">
              <a:spcBef>
                <a:spcPts val="100"/>
              </a:spcBef>
              <a:buSzPct val="94000"/>
              <a:tabLst>
                <a:tab pos="217170" algn="l"/>
              </a:tabLst>
            </a:pPr>
            <a:r>
              <a:rPr lang="en-US" sz="2800" b="1" spc="-5" dirty="0">
                <a:latin typeface="Times New Roman" panose="02020603050405020304" pitchFamily="18" charset="0"/>
                <a:ea typeface="Tahoma" panose="020B0604030504040204" pitchFamily="34" charset="0"/>
                <a:cs typeface="Times New Roman" panose="02020603050405020304" pitchFamily="18" charset="0"/>
                <a:sym typeface="+mn-ea"/>
              </a:rPr>
              <a:t>Note: </a:t>
            </a:r>
            <a:r>
              <a:rPr lang="en-US" sz="2800" b="1" dirty="0"/>
              <a:t> </a:t>
            </a:r>
            <a:r>
              <a:rPr lang="en-US" sz="2800" dirty="0"/>
              <a:t>A graph is often viewed as a generalization of the tree structure, where instead of having a purely parent-to-child relationship between tree nodes, any kind of complex relationship can exist.</a:t>
            </a:r>
            <a:endParaRPr lang="en-US" sz="2800" dirty="0">
              <a:ea typeface="Calibri" panose="020F0502020204030204"/>
              <a:cs typeface="Calibri" panose="020F0502020204030204"/>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A44AC0D-777D-46CE-B755-5693CCDAE9B0}"/>
              </a:ext>
            </a:extLst>
          </p:cNvPr>
          <p:cNvSpPr>
            <a:spLocks noGrp="1"/>
          </p:cNvSpPr>
          <p:nvPr>
            <p:ph type="title"/>
          </p:nvPr>
        </p:nvSpPr>
        <p:spPr>
          <a:xfrm>
            <a:off x="838200" y="365125"/>
            <a:ext cx="10515600" cy="720725"/>
          </a:xfrm>
        </p:spPr>
        <p:txBody>
          <a:bodyPr/>
          <a:lstStyle/>
          <a:p>
            <a:r>
              <a:rPr lang="en-US" b="1" dirty="0"/>
              <a:t>Why are Graphs Useful?</a:t>
            </a:r>
            <a:endParaRPr lang="en-IN" b="1" dirty="0"/>
          </a:p>
        </p:txBody>
      </p:sp>
      <p:sp>
        <p:nvSpPr>
          <p:cNvPr id="3" name="Content Placeholder 2">
            <a:extLst>
              <a:ext uri="{FF2B5EF4-FFF2-40B4-BE49-F238E27FC236}">
                <a16:creationId xmlns="" xmlns:a16="http://schemas.microsoft.com/office/drawing/2014/main" id="{368A6552-9879-4E2D-B85C-71C02CB2FA0D}"/>
              </a:ext>
            </a:extLst>
          </p:cNvPr>
          <p:cNvSpPr>
            <a:spLocks noGrp="1"/>
          </p:cNvSpPr>
          <p:nvPr>
            <p:ph idx="1"/>
          </p:nvPr>
        </p:nvSpPr>
        <p:spPr>
          <a:xfrm>
            <a:off x="257175" y="1238250"/>
            <a:ext cx="11753850" cy="4938713"/>
          </a:xfrm>
        </p:spPr>
        <p:txBody>
          <a:bodyPr/>
          <a:lstStyle/>
          <a:p>
            <a:pPr algn="just"/>
            <a:r>
              <a:rPr lang="en-US" dirty="0"/>
              <a:t>Graphs are widely used to model any situation where entities or things are related to each other in pairs. For example, the following information can be represented by graphs: </a:t>
            </a:r>
          </a:p>
          <a:p>
            <a:pPr marL="0" indent="0" algn="just">
              <a:buNone/>
            </a:pPr>
            <a:r>
              <a:rPr lang="en-US" dirty="0"/>
              <a:t>Example:</a:t>
            </a:r>
          </a:p>
          <a:p>
            <a:pPr marL="0" indent="0" algn="just">
              <a:buNone/>
            </a:pPr>
            <a:r>
              <a:rPr lang="en-US" sz="2400" i="1" dirty="0"/>
              <a:t>1.Family trees in which the member nodes have an edge from parent to each of their children. </a:t>
            </a:r>
          </a:p>
          <a:p>
            <a:pPr marL="0" indent="0" algn="just">
              <a:buNone/>
            </a:pPr>
            <a:r>
              <a:rPr lang="en-US" sz="2400" i="1" dirty="0"/>
              <a:t>2.Transportation networks in which nodes are airports, intersections, ports, etc. The edges can be airline flights, one-way roads, shipping routes, etc.</a:t>
            </a:r>
            <a:endParaRPr lang="en-IN" sz="2400" i="1" dirty="0"/>
          </a:p>
        </p:txBody>
      </p:sp>
    </p:spTree>
    <p:extLst>
      <p:ext uri="{BB962C8B-B14F-4D97-AF65-F5344CB8AC3E}">
        <p14:creationId xmlns:p14="http://schemas.microsoft.com/office/powerpoint/2010/main" val="1892015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8A2BD64-7959-4EF7-80DA-424B40F10AF7}"/>
              </a:ext>
            </a:extLst>
          </p:cNvPr>
          <p:cNvSpPr>
            <a:spLocks noGrp="1"/>
          </p:cNvSpPr>
          <p:nvPr>
            <p:ph type="title"/>
          </p:nvPr>
        </p:nvSpPr>
        <p:spPr>
          <a:xfrm>
            <a:off x="90489" y="88900"/>
            <a:ext cx="2709862" cy="687387"/>
          </a:xfrm>
        </p:spPr>
        <p:txBody>
          <a:bodyPr/>
          <a:lstStyle/>
          <a:p>
            <a:r>
              <a:rPr lang="en-US" b="1" dirty="0"/>
              <a:t>Definition:</a:t>
            </a:r>
            <a:endParaRPr lang="en-IN" b="1" dirty="0"/>
          </a:p>
        </p:txBody>
      </p:sp>
      <p:sp>
        <p:nvSpPr>
          <p:cNvPr id="3" name="Content Placeholder 2">
            <a:extLst>
              <a:ext uri="{FF2B5EF4-FFF2-40B4-BE49-F238E27FC236}">
                <a16:creationId xmlns="" xmlns:a16="http://schemas.microsoft.com/office/drawing/2014/main" id="{C90BA643-A940-4CBB-85B6-8418640A620C}"/>
              </a:ext>
            </a:extLst>
          </p:cNvPr>
          <p:cNvSpPr>
            <a:spLocks noGrp="1"/>
          </p:cNvSpPr>
          <p:nvPr>
            <p:ph idx="1"/>
          </p:nvPr>
        </p:nvSpPr>
        <p:spPr>
          <a:xfrm>
            <a:off x="3043237" y="171450"/>
            <a:ext cx="9053513" cy="6457950"/>
          </a:xfrm>
        </p:spPr>
        <p:txBody>
          <a:bodyPr/>
          <a:lstStyle/>
          <a:p>
            <a:pPr algn="just"/>
            <a:r>
              <a:rPr lang="en-US" sz="2600" dirty="0"/>
              <a:t>A graph G is defined as an ordered set (V, E), where V(G) represents the set of vertices and E(G) represents the edges that connect these vertices. Figure.1 shows a graph with V(G) = {A, B, C, D and E} and E(G) = {(A, B), (B, C), (A, D), (B, D), (D, E), (C, E)}. Note that there are five vertices or nodes and six edges in the graph.</a:t>
            </a:r>
          </a:p>
          <a:p>
            <a:pPr algn="just"/>
            <a:r>
              <a:rPr lang="en-US" sz="2600" dirty="0"/>
              <a:t>A graph can be </a:t>
            </a:r>
            <a:r>
              <a:rPr lang="en-US" sz="2600" b="1" dirty="0"/>
              <a:t>directed or undirected</a:t>
            </a:r>
            <a:r>
              <a:rPr lang="en-US" sz="2600" dirty="0"/>
              <a:t>. In an undirected graph, edges do not have any direction associated with them. That is, if an edge is drawn between nodes A and B, then the nodes can be traversed from A to B as well as from B to A. </a:t>
            </a:r>
            <a:r>
              <a:rPr lang="en-US" sz="2600" dirty="0" err="1"/>
              <a:t>Figur</a:t>
            </a:r>
            <a:r>
              <a:rPr lang="en-US" sz="2600" dirty="0"/>
              <a:t> shows an undirected graph because it does not give any information about the direction of the edges</a:t>
            </a:r>
          </a:p>
          <a:p>
            <a:pPr algn="just"/>
            <a:r>
              <a:rPr lang="en-US" sz="2600" dirty="0"/>
              <a:t>Look at Figure.2 which shows a </a:t>
            </a:r>
            <a:r>
              <a:rPr lang="en-US" sz="2600" b="1" dirty="0"/>
              <a:t>directed graph</a:t>
            </a:r>
            <a:r>
              <a:rPr lang="en-US" sz="2600" dirty="0"/>
              <a:t>. In a directed graph, edges form an ordered pair. If there is an edge from A to B, then there is a path from A to B but not from B to A. The edge (A, B) is said to initiate from node A (also known as initial node) and terminate at node B (terminal node)</a:t>
            </a:r>
            <a:endParaRPr lang="en-IN" sz="2600" dirty="0"/>
          </a:p>
        </p:txBody>
      </p:sp>
      <p:pic>
        <p:nvPicPr>
          <p:cNvPr id="6" name="Picture 5">
            <a:extLst>
              <a:ext uri="{FF2B5EF4-FFF2-40B4-BE49-F238E27FC236}">
                <a16:creationId xmlns="" xmlns:a16="http://schemas.microsoft.com/office/drawing/2014/main" id="{BAB9CCEC-40AD-4167-927E-D56C7667E0F0}"/>
              </a:ext>
            </a:extLst>
          </p:cNvPr>
          <p:cNvPicPr>
            <a:picLocks noChangeAspect="1"/>
          </p:cNvPicPr>
          <p:nvPr/>
        </p:nvPicPr>
        <p:blipFill>
          <a:blip r:embed="rId2"/>
          <a:stretch>
            <a:fillRect/>
          </a:stretch>
        </p:blipFill>
        <p:spPr>
          <a:xfrm>
            <a:off x="184940" y="2007258"/>
            <a:ext cx="2615411" cy="1554615"/>
          </a:xfrm>
          <a:prstGeom prst="rect">
            <a:avLst/>
          </a:prstGeom>
        </p:spPr>
      </p:pic>
      <p:pic>
        <p:nvPicPr>
          <p:cNvPr id="7" name="Picture 6">
            <a:extLst>
              <a:ext uri="{FF2B5EF4-FFF2-40B4-BE49-F238E27FC236}">
                <a16:creationId xmlns="" xmlns:a16="http://schemas.microsoft.com/office/drawing/2014/main" id="{FA493CAA-BF65-4DFE-84CE-8B47E37167C2}"/>
              </a:ext>
            </a:extLst>
          </p:cNvPr>
          <p:cNvPicPr>
            <a:picLocks noChangeAspect="1"/>
          </p:cNvPicPr>
          <p:nvPr/>
        </p:nvPicPr>
        <p:blipFill>
          <a:blip r:embed="rId3"/>
          <a:stretch>
            <a:fillRect/>
          </a:stretch>
        </p:blipFill>
        <p:spPr>
          <a:xfrm>
            <a:off x="251515" y="4436078"/>
            <a:ext cx="2670279" cy="1591194"/>
          </a:xfrm>
          <a:prstGeom prst="rect">
            <a:avLst/>
          </a:prstGeom>
        </p:spPr>
      </p:pic>
    </p:spTree>
    <p:extLst>
      <p:ext uri="{BB962C8B-B14F-4D97-AF65-F5344CB8AC3E}">
        <p14:creationId xmlns:p14="http://schemas.microsoft.com/office/powerpoint/2010/main" val="2703043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061460" y="83820"/>
            <a:ext cx="5462270" cy="51562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400" b="1" dirty="0">
              <a:solidFill>
                <a:srgbClr val="00B0F0"/>
              </a:solidFill>
              <a:latin typeface="Times New Roman" panose="02020603050405020304" pitchFamily="18" charset="0"/>
              <a:cs typeface="Times New Roman" panose="02020603050405020304" pitchFamily="18" charset="0"/>
              <a:sym typeface="+mn-ea"/>
            </a:endParaRPr>
          </a:p>
          <a:p>
            <a:pPr algn="ctr"/>
            <a:r>
              <a:rPr lang="en-US" sz="2800" b="1" dirty="0"/>
              <a:t>Graph Terminology </a:t>
            </a:r>
            <a:r>
              <a:rPr lang="en-US" sz="2400" b="1" dirty="0">
                <a:solidFill>
                  <a:srgbClr val="00B0F0"/>
                </a:solidFill>
                <a:latin typeface="Times New Roman" panose="02020603050405020304" pitchFamily="18" charset="0"/>
                <a:cs typeface="Times New Roman" panose="02020603050405020304" pitchFamily="18" charset="0"/>
                <a:sym typeface="+mn-ea"/>
              </a:rPr>
              <a:t/>
            </a:r>
            <a:br>
              <a:rPr lang="en-US" sz="2400" b="1" dirty="0">
                <a:solidFill>
                  <a:srgbClr val="00B0F0"/>
                </a:solidFill>
                <a:latin typeface="Times New Roman" panose="02020603050405020304" pitchFamily="18" charset="0"/>
                <a:cs typeface="Times New Roman" panose="02020603050405020304" pitchFamily="18" charset="0"/>
                <a:sym typeface="+mn-ea"/>
              </a:rPr>
            </a:br>
            <a:endParaRPr lang="en-US" sz="2000" dirty="0">
              <a:ln w="0"/>
              <a:solidFill>
                <a:schemeClr val="bg1"/>
              </a:solidFill>
              <a:effectLst>
                <a:outerShdw blurRad="38100" dist="19050" dir="2700000" algn="tl" rotWithShape="0">
                  <a:prstClr val="black">
                    <a:alpha val="40000"/>
                  </a:prst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7" name="Content Placeholder 6">
            <a:extLst>
              <a:ext uri="{FF2B5EF4-FFF2-40B4-BE49-F238E27FC236}">
                <a16:creationId xmlns="" xmlns:a16="http://schemas.microsoft.com/office/drawing/2014/main" id="{FA256893-BB7C-47BA-8C1B-442DFBBA8351}"/>
              </a:ext>
            </a:extLst>
          </p:cNvPr>
          <p:cNvSpPr>
            <a:spLocks noGrp="1"/>
          </p:cNvSpPr>
          <p:nvPr>
            <p:ph sz="half" idx="1"/>
          </p:nvPr>
        </p:nvSpPr>
        <p:spPr>
          <a:xfrm>
            <a:off x="0" y="581026"/>
            <a:ext cx="11858625" cy="5829300"/>
          </a:xfrm>
        </p:spPr>
        <p:txBody>
          <a:bodyPr/>
          <a:lstStyle/>
          <a:p>
            <a:r>
              <a:rPr lang="en-US" b="1" dirty="0"/>
              <a:t>Adjacent nodes or </a:t>
            </a:r>
            <a:r>
              <a:rPr lang="en-US" b="1" dirty="0" err="1"/>
              <a:t>neighbours</a:t>
            </a:r>
            <a:r>
              <a:rPr lang="en-US" b="1" dirty="0"/>
              <a:t> :</a:t>
            </a:r>
            <a:r>
              <a:rPr lang="en-US" dirty="0"/>
              <a:t>For every edge, e = (u, v) that connects nodes u and v, the nodes u and v are the end-points and are said to be the adjacent nodes or neighbors. </a:t>
            </a:r>
          </a:p>
          <a:p>
            <a:r>
              <a:rPr lang="en-US" b="1" dirty="0"/>
              <a:t>Degree of a node : </a:t>
            </a:r>
            <a:r>
              <a:rPr lang="en-US" dirty="0"/>
              <a:t>Degree of a node u, deg(u), is the total number of edges containing the node u. If deg(u) = 0, it means that u does not belong to any edge and such a node is known as an isolated node. </a:t>
            </a:r>
          </a:p>
          <a:p>
            <a:r>
              <a:rPr lang="en-US" b="1" dirty="0"/>
              <a:t>Regular graph : </a:t>
            </a:r>
            <a:r>
              <a:rPr lang="en-US" dirty="0"/>
              <a:t>It is a graph where each vertex has the same number of neighbors. That is, every node has the same degree. A regular graph with vertices of degree k is called a k–regular graph or a regular graph of degree k. Figure shows regular graphs. </a:t>
            </a:r>
          </a:p>
        </p:txBody>
      </p:sp>
      <p:pic>
        <p:nvPicPr>
          <p:cNvPr id="2" name="Picture 1">
            <a:extLst>
              <a:ext uri="{FF2B5EF4-FFF2-40B4-BE49-F238E27FC236}">
                <a16:creationId xmlns="" xmlns:a16="http://schemas.microsoft.com/office/drawing/2014/main" id="{10427584-6046-46F4-99CA-1BC430491AEE}"/>
              </a:ext>
            </a:extLst>
          </p:cNvPr>
          <p:cNvPicPr>
            <a:picLocks noChangeAspect="1"/>
          </p:cNvPicPr>
          <p:nvPr/>
        </p:nvPicPr>
        <p:blipFill>
          <a:blip r:embed="rId3"/>
          <a:stretch>
            <a:fillRect/>
          </a:stretch>
        </p:blipFill>
        <p:spPr>
          <a:xfrm>
            <a:off x="1990725" y="4765035"/>
            <a:ext cx="5730737" cy="151193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02A5BD5-AC35-4269-97CB-180EBF15C9C0}"/>
              </a:ext>
            </a:extLst>
          </p:cNvPr>
          <p:cNvSpPr>
            <a:spLocks noGrp="1"/>
          </p:cNvSpPr>
          <p:nvPr>
            <p:ph sz="half" idx="1"/>
          </p:nvPr>
        </p:nvSpPr>
        <p:spPr>
          <a:xfrm>
            <a:off x="257175" y="266700"/>
            <a:ext cx="11563350" cy="6591300"/>
          </a:xfrm>
        </p:spPr>
        <p:txBody>
          <a:bodyPr/>
          <a:lstStyle/>
          <a:p>
            <a:pPr algn="just"/>
            <a:r>
              <a:rPr lang="en-US" b="1" dirty="0"/>
              <a:t>Path: </a:t>
            </a:r>
            <a:r>
              <a:rPr lang="en-US" dirty="0"/>
              <a:t>A path P written as P = {v</a:t>
            </a:r>
            <a:r>
              <a:rPr lang="en-US" sz="2000" dirty="0"/>
              <a:t>0</a:t>
            </a:r>
            <a:r>
              <a:rPr lang="en-US" dirty="0"/>
              <a:t> , v</a:t>
            </a:r>
            <a:r>
              <a:rPr lang="en-US" sz="2000" dirty="0"/>
              <a:t>1</a:t>
            </a:r>
            <a:r>
              <a:rPr lang="en-US" dirty="0"/>
              <a:t> , v</a:t>
            </a:r>
            <a:r>
              <a:rPr lang="en-US" sz="2000" dirty="0"/>
              <a:t>2</a:t>
            </a:r>
            <a:r>
              <a:rPr lang="en-US" dirty="0"/>
              <a:t> , ..., </a:t>
            </a:r>
            <a:r>
              <a:rPr lang="en-US" dirty="0" err="1"/>
              <a:t>v</a:t>
            </a:r>
            <a:r>
              <a:rPr lang="en-US" sz="2000" dirty="0" err="1"/>
              <a:t>n</a:t>
            </a:r>
            <a:r>
              <a:rPr lang="en-US" dirty="0"/>
              <a:t> ), of length n from a node u to v is defined as a sequence of (n+1) nodes. Here, u = v</a:t>
            </a:r>
            <a:r>
              <a:rPr lang="en-US" sz="2000" dirty="0"/>
              <a:t>0</a:t>
            </a:r>
            <a:r>
              <a:rPr lang="en-US" dirty="0"/>
              <a:t> , v = v </a:t>
            </a:r>
            <a:r>
              <a:rPr lang="en-US" sz="1800" dirty="0"/>
              <a:t>n</a:t>
            </a:r>
            <a:r>
              <a:rPr lang="en-US" dirty="0"/>
              <a:t> and </a:t>
            </a:r>
            <a:r>
              <a:rPr lang="en-US" sz="3200" dirty="0"/>
              <a:t>v</a:t>
            </a:r>
            <a:r>
              <a:rPr lang="en-US" sz="2000" dirty="0"/>
              <a:t>i–1</a:t>
            </a:r>
            <a:r>
              <a:rPr lang="en-US" dirty="0"/>
              <a:t> is adjacent to </a:t>
            </a:r>
            <a:r>
              <a:rPr lang="en-US" sz="3600" dirty="0"/>
              <a:t>v</a:t>
            </a:r>
            <a:r>
              <a:rPr lang="en-US" dirty="0"/>
              <a:t>i for </a:t>
            </a:r>
            <a:r>
              <a:rPr lang="en-US" dirty="0" err="1"/>
              <a:t>i</a:t>
            </a:r>
            <a:r>
              <a:rPr lang="en-US" dirty="0"/>
              <a:t> = 1, 2, 3, ..., n.</a:t>
            </a:r>
          </a:p>
          <a:p>
            <a:pPr algn="just"/>
            <a:r>
              <a:rPr lang="en-US" b="1" dirty="0"/>
              <a:t>Closed path: </a:t>
            </a:r>
            <a:r>
              <a:rPr lang="en-US" dirty="0"/>
              <a:t>A path P is known as a closed path if the edge has the same end-points. That is, if v</a:t>
            </a:r>
            <a:r>
              <a:rPr lang="en-US" sz="1800" dirty="0"/>
              <a:t>0</a:t>
            </a:r>
            <a:r>
              <a:rPr lang="en-US" dirty="0"/>
              <a:t> = </a:t>
            </a:r>
            <a:r>
              <a:rPr lang="en-US" dirty="0" err="1"/>
              <a:t>v</a:t>
            </a:r>
            <a:r>
              <a:rPr lang="en-US" sz="1800" dirty="0" err="1"/>
              <a:t>n</a:t>
            </a:r>
            <a:r>
              <a:rPr lang="en-US" dirty="0"/>
              <a:t> . </a:t>
            </a:r>
          </a:p>
          <a:p>
            <a:pPr algn="just"/>
            <a:r>
              <a:rPr lang="en-US" b="1" dirty="0"/>
              <a:t>Simple path: </a:t>
            </a:r>
            <a:r>
              <a:rPr lang="en-US" dirty="0"/>
              <a:t>A path P is known as a simple path if all the nodes in the path are distinct with an exception that v</a:t>
            </a:r>
            <a:r>
              <a:rPr lang="en-US" sz="1800" dirty="0"/>
              <a:t>0</a:t>
            </a:r>
            <a:r>
              <a:rPr lang="en-US" dirty="0"/>
              <a:t> may be equal to </a:t>
            </a:r>
            <a:r>
              <a:rPr lang="en-US" dirty="0" err="1"/>
              <a:t>v</a:t>
            </a:r>
            <a:r>
              <a:rPr lang="en-US" sz="2400" dirty="0" err="1"/>
              <a:t>n</a:t>
            </a:r>
            <a:r>
              <a:rPr lang="en-US" dirty="0"/>
              <a:t> . If v</a:t>
            </a:r>
            <a:r>
              <a:rPr lang="en-US" sz="2000" dirty="0"/>
              <a:t>0</a:t>
            </a:r>
            <a:r>
              <a:rPr lang="en-US" dirty="0"/>
              <a:t> = </a:t>
            </a:r>
            <a:r>
              <a:rPr lang="en-US" dirty="0" err="1"/>
              <a:t>v</a:t>
            </a:r>
            <a:r>
              <a:rPr lang="en-US" sz="2000" dirty="0" err="1"/>
              <a:t>n</a:t>
            </a:r>
            <a:r>
              <a:rPr lang="en-US" dirty="0"/>
              <a:t> , then the path is called a closed simple path. </a:t>
            </a:r>
          </a:p>
          <a:p>
            <a:pPr algn="just"/>
            <a:r>
              <a:rPr lang="en-US" b="1" dirty="0"/>
              <a:t>Cycle : </a:t>
            </a:r>
            <a:r>
              <a:rPr lang="en-US" dirty="0"/>
              <a:t>A path in which the first and the last vertices are same. A simple cycle has no repeated edges or vertices (except the first and last vertices).</a:t>
            </a:r>
          </a:p>
          <a:p>
            <a:pPr algn="just"/>
            <a:r>
              <a:rPr lang="en-US" b="1" dirty="0"/>
              <a:t>Connected graph: </a:t>
            </a:r>
            <a:r>
              <a:rPr lang="en-US" dirty="0"/>
              <a:t>A graph is said to be connected if for any two vertices (u, v) in V there is a path from u to v. That is to say that there are no isolated nodes in a connected graph. A connected graph that does not have any cycle is called a tree. Therefore, a tree is treated as a special graph (Refer Fig. b).</a:t>
            </a:r>
            <a:endParaRPr lang="en-IN" dirty="0"/>
          </a:p>
          <a:p>
            <a:endParaRPr lang="en-IN" dirty="0"/>
          </a:p>
        </p:txBody>
      </p:sp>
    </p:spTree>
    <p:extLst>
      <p:ext uri="{BB962C8B-B14F-4D97-AF65-F5344CB8AC3E}">
        <p14:creationId xmlns:p14="http://schemas.microsoft.com/office/powerpoint/2010/main" val="1377260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A696721-80F3-4E35-97ED-A0B05670C3D9}"/>
              </a:ext>
            </a:extLst>
          </p:cNvPr>
          <p:cNvSpPr>
            <a:spLocks noGrp="1"/>
          </p:cNvSpPr>
          <p:nvPr>
            <p:ph sz="half" idx="1"/>
          </p:nvPr>
        </p:nvSpPr>
        <p:spPr>
          <a:xfrm>
            <a:off x="-60960" y="3562350"/>
            <a:ext cx="12252960" cy="3114675"/>
          </a:xfrm>
        </p:spPr>
        <p:txBody>
          <a:bodyPr/>
          <a:lstStyle/>
          <a:p>
            <a:pPr algn="just"/>
            <a:r>
              <a:rPr lang="en-US" b="1" dirty="0"/>
              <a:t>Complete graph: </a:t>
            </a:r>
            <a:r>
              <a:rPr lang="en-US" dirty="0"/>
              <a:t>A graph G is said to be complete if all its nodes are fully connected. That is, there is a path from one node to every other node in the graph. A complete graph has n(n–1)/2 edges, where n is the number of nodes in G. </a:t>
            </a:r>
          </a:p>
          <a:p>
            <a:pPr algn="just"/>
            <a:r>
              <a:rPr lang="en-US" b="1" dirty="0"/>
              <a:t>Clique</a:t>
            </a:r>
            <a:r>
              <a:rPr lang="en-US" dirty="0"/>
              <a:t> : In an undirected graph G = (V, E), clique is a subset of the vertex set C Õ V, such that for every two vertices in C, there is an edge that connects two vertices.</a:t>
            </a:r>
          </a:p>
        </p:txBody>
      </p:sp>
      <p:pic>
        <p:nvPicPr>
          <p:cNvPr id="2" name="Picture 1">
            <a:extLst>
              <a:ext uri="{FF2B5EF4-FFF2-40B4-BE49-F238E27FC236}">
                <a16:creationId xmlns="" xmlns:a16="http://schemas.microsoft.com/office/drawing/2014/main" id="{AC481942-D211-4186-B584-F33EA8E0F3EC}"/>
              </a:ext>
            </a:extLst>
          </p:cNvPr>
          <p:cNvPicPr>
            <a:picLocks noChangeAspect="1"/>
          </p:cNvPicPr>
          <p:nvPr/>
        </p:nvPicPr>
        <p:blipFill>
          <a:blip r:embed="rId2"/>
          <a:stretch>
            <a:fillRect/>
          </a:stretch>
        </p:blipFill>
        <p:spPr>
          <a:xfrm>
            <a:off x="1654630" y="330926"/>
            <a:ext cx="8874034" cy="2629988"/>
          </a:xfrm>
          <a:prstGeom prst="rect">
            <a:avLst/>
          </a:prstGeom>
        </p:spPr>
      </p:pic>
    </p:spTree>
    <p:extLst>
      <p:ext uri="{BB962C8B-B14F-4D97-AF65-F5344CB8AC3E}">
        <p14:creationId xmlns:p14="http://schemas.microsoft.com/office/powerpoint/2010/main" val="4026916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2DBCE1A-E77B-4BDB-A297-FCC266C506FE}"/>
              </a:ext>
            </a:extLst>
          </p:cNvPr>
          <p:cNvSpPr>
            <a:spLocks noGrp="1"/>
          </p:cNvSpPr>
          <p:nvPr>
            <p:ph sz="half" idx="1"/>
          </p:nvPr>
        </p:nvSpPr>
        <p:spPr>
          <a:xfrm>
            <a:off x="-66675" y="323851"/>
            <a:ext cx="12258675" cy="6362700"/>
          </a:xfrm>
        </p:spPr>
        <p:txBody>
          <a:bodyPr/>
          <a:lstStyle/>
          <a:p>
            <a:pPr algn="just"/>
            <a:r>
              <a:rPr lang="en-US" sz="2900" b="1" dirty="0"/>
              <a:t>Labelled graph or weighted graph: </a:t>
            </a:r>
            <a:r>
              <a:rPr lang="en-US" sz="2900" dirty="0"/>
              <a:t>A graph is said to be labelled if every edge in the graph is assigned some data. In a weighted graph, the edges of the graph are assigned some weight or length. The weight of an edge denoted by w(e) is a positive value which indicates the cost of traversing the edge. Figure .c shows a weighted graph.</a:t>
            </a:r>
            <a:endParaRPr lang="en-IN" sz="2900" dirty="0"/>
          </a:p>
          <a:p>
            <a:pPr algn="just"/>
            <a:r>
              <a:rPr lang="en-US" sz="2900" b="1" dirty="0"/>
              <a:t>Multiple edges : </a:t>
            </a:r>
            <a:r>
              <a:rPr lang="en-US" sz="2900" dirty="0"/>
              <a:t>Distinct edges which connect the same end-points are called multiple edges. That is, e = (u, v) and e' = (u, v) are known as multiple edges of G. Loop An edge that has identical end-points is called a loop. That is, e = (u, u). </a:t>
            </a:r>
          </a:p>
          <a:p>
            <a:pPr algn="just"/>
            <a:r>
              <a:rPr lang="en-US" sz="2900" b="1" dirty="0"/>
              <a:t>Multi-graph: </a:t>
            </a:r>
            <a:r>
              <a:rPr lang="en-US" sz="2900" dirty="0"/>
              <a:t>A graph with multiple edges and/or loops is called a multi-graph. Figure. a shows a multi-graph. </a:t>
            </a:r>
          </a:p>
          <a:p>
            <a:pPr algn="just"/>
            <a:r>
              <a:rPr lang="en-US" sz="2900" b="1" dirty="0"/>
              <a:t>Size of a graph: </a:t>
            </a:r>
            <a:r>
              <a:rPr lang="en-US" sz="2900" dirty="0"/>
              <a:t>The size of a graph is the total number of edges in it</a:t>
            </a:r>
          </a:p>
          <a:p>
            <a:pPr algn="just"/>
            <a:r>
              <a:rPr lang="en-US" sz="2900" b="1" dirty="0">
                <a:sym typeface="+mn-ea"/>
              </a:rPr>
              <a:t>Maximum number of edges: </a:t>
            </a:r>
            <a:r>
              <a:rPr lang="en-US" sz="2900" dirty="0">
                <a:sym typeface="+mn-ea"/>
              </a:rPr>
              <a:t>The maximum number of edges in an undirected graph with n vertices is n(n−1)/2.  In a directed graph, it is n(n−1).</a:t>
            </a:r>
            <a:endParaRPr lang="en-US" sz="2900" dirty="0">
              <a:ea typeface="Calibri" panose="020F0502020204030204"/>
              <a:cs typeface="Calibri" panose="020F0502020204030204"/>
            </a:endParaRPr>
          </a:p>
          <a:p>
            <a:endParaRPr lang="en-IN" dirty="0"/>
          </a:p>
        </p:txBody>
      </p:sp>
    </p:spTree>
    <p:extLst>
      <p:ext uri="{BB962C8B-B14F-4D97-AF65-F5344CB8AC3E}">
        <p14:creationId xmlns:p14="http://schemas.microsoft.com/office/powerpoint/2010/main" val="550963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B8E5C4-423D-42EC-801D-CE4233BCB65B}"/>
              </a:ext>
            </a:extLst>
          </p:cNvPr>
          <p:cNvSpPr>
            <a:spLocks noGrp="1"/>
          </p:cNvSpPr>
          <p:nvPr>
            <p:ph type="title"/>
          </p:nvPr>
        </p:nvSpPr>
        <p:spPr>
          <a:xfrm>
            <a:off x="838200" y="-73025"/>
            <a:ext cx="10515600" cy="606425"/>
          </a:xfrm>
        </p:spPr>
        <p:txBody>
          <a:bodyPr/>
          <a:lstStyle/>
          <a:p>
            <a:r>
              <a:rPr lang="en-US" b="1" dirty="0"/>
              <a:t>Directed Graphs:</a:t>
            </a:r>
            <a:endParaRPr lang="en-IN" b="1" dirty="0"/>
          </a:p>
        </p:txBody>
      </p:sp>
      <p:sp>
        <p:nvSpPr>
          <p:cNvPr id="3" name="Content Placeholder 2">
            <a:extLst>
              <a:ext uri="{FF2B5EF4-FFF2-40B4-BE49-F238E27FC236}">
                <a16:creationId xmlns="" xmlns:a16="http://schemas.microsoft.com/office/drawing/2014/main" id="{E80FFCF3-6244-4F1B-BCFD-70B4B80DE85C}"/>
              </a:ext>
            </a:extLst>
          </p:cNvPr>
          <p:cNvSpPr>
            <a:spLocks noGrp="1"/>
          </p:cNvSpPr>
          <p:nvPr>
            <p:ph sz="half" idx="1"/>
          </p:nvPr>
        </p:nvSpPr>
        <p:spPr>
          <a:xfrm>
            <a:off x="190500" y="571500"/>
            <a:ext cx="12001500" cy="6457950"/>
          </a:xfrm>
        </p:spPr>
        <p:txBody>
          <a:bodyPr/>
          <a:lstStyle/>
          <a:p>
            <a:pPr marL="0" indent="0" algn="just">
              <a:buNone/>
            </a:pPr>
            <a:r>
              <a:rPr lang="en-US" dirty="0"/>
              <a:t>A directed graph G, also known as a digraph, is a graph in which every edge has a direction assigned to it. An edge of a directed graph is given as an ordered pair (u, v) of nodes in G. For an edge (u, v), </a:t>
            </a:r>
          </a:p>
          <a:p>
            <a:pPr algn="just"/>
            <a:r>
              <a:rPr lang="en-US" dirty="0"/>
              <a:t> The edge begins at u and terminates at v. </a:t>
            </a:r>
          </a:p>
          <a:p>
            <a:pPr algn="just"/>
            <a:r>
              <a:rPr lang="en-US" dirty="0"/>
              <a:t>u is known as the origin or initial point of e. Correspondingly, v is known as the destination or terminal point of e. </a:t>
            </a:r>
          </a:p>
          <a:p>
            <a:pPr algn="just"/>
            <a:r>
              <a:rPr lang="en-US" dirty="0"/>
              <a:t> u is the predecessor of v. Correspondingly, v is the successor of u. </a:t>
            </a:r>
          </a:p>
          <a:p>
            <a:pPr algn="just"/>
            <a:r>
              <a:rPr lang="en-US" dirty="0"/>
              <a:t> Nodes u and v are adjacent to each other</a:t>
            </a:r>
          </a:p>
          <a:p>
            <a:pPr marL="0" indent="0" algn="just">
              <a:buNone/>
            </a:pPr>
            <a:r>
              <a:rPr lang="en-US" b="1" dirty="0"/>
              <a:t>Terminology of a Directed Graph:</a:t>
            </a:r>
          </a:p>
          <a:p>
            <a:pPr algn="just"/>
            <a:r>
              <a:rPr lang="en-US" b="1" dirty="0"/>
              <a:t> Out-degree of a node: </a:t>
            </a:r>
            <a:r>
              <a:rPr lang="en-US" dirty="0"/>
              <a:t>The out-degree of a node u, written as </a:t>
            </a:r>
            <a:r>
              <a:rPr lang="en-US" dirty="0" err="1"/>
              <a:t>outdeg</a:t>
            </a:r>
            <a:r>
              <a:rPr lang="en-US" dirty="0"/>
              <a:t>(u), is the number of edges that originate at u. </a:t>
            </a:r>
          </a:p>
          <a:p>
            <a:pPr algn="just"/>
            <a:r>
              <a:rPr lang="en-US" b="1" dirty="0"/>
              <a:t>In-degree of a node: </a:t>
            </a:r>
            <a:r>
              <a:rPr lang="en-US" dirty="0"/>
              <a:t>The in-degree of a node u, written as </a:t>
            </a:r>
            <a:r>
              <a:rPr lang="en-US" dirty="0" err="1"/>
              <a:t>indeg</a:t>
            </a:r>
            <a:r>
              <a:rPr lang="en-US" dirty="0"/>
              <a:t>(u), is the number of edges that terminate at u. </a:t>
            </a:r>
            <a:endParaRPr lang="en-IN" dirty="0"/>
          </a:p>
        </p:txBody>
      </p:sp>
    </p:spTree>
    <p:extLst>
      <p:ext uri="{BB962C8B-B14F-4D97-AF65-F5344CB8AC3E}">
        <p14:creationId xmlns:p14="http://schemas.microsoft.com/office/powerpoint/2010/main" val="3871792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A5F01C4-649E-4460-A400-062A038E2B1E}"/>
              </a:ext>
            </a:extLst>
          </p:cNvPr>
          <p:cNvSpPr>
            <a:spLocks noGrp="1"/>
          </p:cNvSpPr>
          <p:nvPr>
            <p:ph sz="half" idx="1"/>
          </p:nvPr>
        </p:nvSpPr>
        <p:spPr>
          <a:xfrm>
            <a:off x="228601" y="95249"/>
            <a:ext cx="11830050" cy="6762751"/>
          </a:xfrm>
        </p:spPr>
        <p:txBody>
          <a:bodyPr/>
          <a:lstStyle/>
          <a:p>
            <a:r>
              <a:rPr lang="en-US" b="1" dirty="0"/>
              <a:t>Degree of a node :</a:t>
            </a:r>
            <a:r>
              <a:rPr lang="en-US" dirty="0"/>
              <a:t>The degree of a node, written as deg(u), is equal to the sum of in-degree and out-degree of that node. Therefore, deg(u) = </a:t>
            </a:r>
            <a:r>
              <a:rPr lang="en-US" dirty="0" err="1"/>
              <a:t>indeg</a:t>
            </a:r>
            <a:r>
              <a:rPr lang="en-US" dirty="0"/>
              <a:t>(u) + </a:t>
            </a:r>
            <a:r>
              <a:rPr lang="en-US" dirty="0" err="1"/>
              <a:t>outdeg</a:t>
            </a:r>
            <a:r>
              <a:rPr lang="en-US" dirty="0"/>
              <a:t>(u). </a:t>
            </a:r>
          </a:p>
          <a:p>
            <a:r>
              <a:rPr lang="en-US" b="1" dirty="0"/>
              <a:t>Isolated vertex: </a:t>
            </a:r>
            <a:r>
              <a:rPr lang="en-US" dirty="0"/>
              <a:t>A vertex with degree zero. Such a vertex is not an end-point of any edge. Pendant vertex (also known as leaf vertex) A vertex with degree one. </a:t>
            </a:r>
          </a:p>
          <a:p>
            <a:r>
              <a:rPr lang="en-US" b="1" dirty="0"/>
              <a:t>Cut vertex: </a:t>
            </a:r>
            <a:r>
              <a:rPr lang="en-US" dirty="0"/>
              <a:t>A vertex which when deleted would disconnect the remaining graph. </a:t>
            </a:r>
          </a:p>
          <a:p>
            <a:r>
              <a:rPr lang="en-US" b="1" dirty="0"/>
              <a:t>Source: </a:t>
            </a:r>
            <a:r>
              <a:rPr lang="en-US" dirty="0"/>
              <a:t>A node u is known as a source if it has a positive out-degree but a zero in-degree. </a:t>
            </a:r>
          </a:p>
          <a:p>
            <a:r>
              <a:rPr lang="en-US" b="1" dirty="0"/>
              <a:t>Sink:</a:t>
            </a:r>
            <a:r>
              <a:rPr lang="en-US" dirty="0"/>
              <a:t> A node u is known as a sink if it has a positive in-degree but a zero out-degree. </a:t>
            </a:r>
          </a:p>
          <a:p>
            <a:r>
              <a:rPr lang="en-US" b="1" dirty="0"/>
              <a:t>Reachability:</a:t>
            </a:r>
            <a:r>
              <a:rPr lang="en-US" dirty="0"/>
              <a:t> A node v is said to be reachable from node u, if and only if there exists a (directed) path from node u to node v. For example, if you consider the directed graph given in Fig. (a), you will observe that node D is reachable from node A. </a:t>
            </a:r>
            <a:endParaRPr lang="en-IN" dirty="0"/>
          </a:p>
        </p:txBody>
      </p:sp>
    </p:spTree>
    <p:extLst>
      <p:ext uri="{BB962C8B-B14F-4D97-AF65-F5344CB8AC3E}">
        <p14:creationId xmlns:p14="http://schemas.microsoft.com/office/powerpoint/2010/main" val="3515119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FF7F7FE-C70A-4E90-8CC6-04ED665C18BA}"/>
              </a:ext>
            </a:extLst>
          </p:cNvPr>
          <p:cNvSpPr>
            <a:spLocks noGrp="1"/>
          </p:cNvSpPr>
          <p:nvPr>
            <p:ph sz="half" idx="1"/>
          </p:nvPr>
        </p:nvSpPr>
        <p:spPr>
          <a:xfrm>
            <a:off x="104775" y="209550"/>
            <a:ext cx="12087225" cy="6648450"/>
          </a:xfrm>
        </p:spPr>
        <p:txBody>
          <a:bodyPr/>
          <a:lstStyle/>
          <a:p>
            <a:pPr algn="just"/>
            <a:r>
              <a:rPr lang="en-US" b="1" dirty="0"/>
              <a:t>Strongly connected directed graph: </a:t>
            </a:r>
            <a:r>
              <a:rPr lang="en-US" dirty="0"/>
              <a:t>A digraph is said to be strongly connected if and only if there exists a path between every pair of nodes in G. That is, if there is a path from node u to v, then there must be a path from node v to u.</a:t>
            </a:r>
          </a:p>
          <a:p>
            <a:pPr algn="just"/>
            <a:r>
              <a:rPr lang="en-US" dirty="0"/>
              <a:t> </a:t>
            </a:r>
            <a:r>
              <a:rPr lang="en-US" b="1" dirty="0"/>
              <a:t>Unilaterally connected graph: </a:t>
            </a:r>
            <a:r>
              <a:rPr lang="en-US" dirty="0"/>
              <a:t>A digraph is said to be unilaterally connected if there exists a path between any pair of nodes u, v in G such that there is a path from u to v or a path from v to u, but not both </a:t>
            </a:r>
          </a:p>
          <a:p>
            <a:pPr algn="just"/>
            <a:r>
              <a:rPr lang="en-US" b="1" dirty="0"/>
              <a:t>Weakly connected digraph: </a:t>
            </a:r>
            <a:r>
              <a:rPr lang="en-US" dirty="0"/>
              <a:t>A directed graph is said to be weakly connected if it is connected by ignoring the direction of edges. That is, in such a graph, it is possible to reach any node from any other node by traversing edges in any direction (may not be in the direction they point). The nodes in a weakly connected directed graph must have either out-degree or in-degree of at least 1. </a:t>
            </a:r>
            <a:r>
              <a:rPr lang="en-US" b="1" dirty="0"/>
              <a:t>Parallel/Multiple edges: </a:t>
            </a:r>
            <a:r>
              <a:rPr lang="en-US" dirty="0"/>
              <a:t>Distinct edges which connect the same end-points are called multiple edges. That is, e = (u, v) and e' = (u, v) are known as multiple edges of G. In Fig.(a), e3 and e5 are multiple edges connecting nodes C and D.</a:t>
            </a:r>
            <a:endParaRPr lang="en-IN" dirty="0"/>
          </a:p>
        </p:txBody>
      </p:sp>
    </p:spTree>
    <p:extLst>
      <p:ext uri="{BB962C8B-B14F-4D97-AF65-F5344CB8AC3E}">
        <p14:creationId xmlns:p14="http://schemas.microsoft.com/office/powerpoint/2010/main" val="2442331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E14CB505-468A-4F93-8021-932A9F34F841}"/>
              </a:ext>
            </a:extLst>
          </p:cNvPr>
          <p:cNvSpPr>
            <a:spLocks noGrp="1"/>
          </p:cNvSpPr>
          <p:nvPr>
            <p:ph sz="half" idx="2"/>
          </p:nvPr>
        </p:nvSpPr>
        <p:spPr>
          <a:xfrm>
            <a:off x="3571875" y="142875"/>
            <a:ext cx="8505826" cy="7010400"/>
          </a:xfrm>
        </p:spPr>
        <p:txBody>
          <a:bodyPr/>
          <a:lstStyle/>
          <a:p>
            <a:pPr algn="just"/>
            <a:r>
              <a:rPr lang="en-US" sz="2600" b="1" dirty="0"/>
              <a:t>Simple directed graph: </a:t>
            </a:r>
            <a:r>
              <a:rPr lang="en-US" sz="2600" dirty="0"/>
              <a:t>A directed graph G is said to be a simple directed graph if and only if it has no parallel edges. However, a simple directed graph may contain cycles with an exception that it cannot have more than one loop at a given node. </a:t>
            </a:r>
          </a:p>
          <a:p>
            <a:pPr algn="just"/>
            <a:r>
              <a:rPr lang="en-US" sz="2600" dirty="0"/>
              <a:t>The graph G given in Fig.(a) is a directed graph in which there are four nodes and eight edges. Note that edges e3 and e5 are parallel since they begin at C and end at D. The edge e8 is a loop since it originates and terminates at the same node. The sequence of nodes, A, B, D, and C, does not form a path because (D, C) is not an edge. Although there is a path from node C to D, there is no way from D to C. </a:t>
            </a:r>
          </a:p>
          <a:p>
            <a:pPr algn="just"/>
            <a:r>
              <a:rPr lang="en-US" sz="2600" dirty="0"/>
              <a:t>In the graph, we see that there is no path from node D to any other node in G, so the graph is not strongly connected. However, G is said to be unilaterally connected. We also observe that node D is a sink since it has a positive in-degree but a zero out-degree</a:t>
            </a:r>
            <a:endParaRPr lang="en-IN" sz="2600" dirty="0"/>
          </a:p>
        </p:txBody>
      </p:sp>
      <p:pic>
        <p:nvPicPr>
          <p:cNvPr id="6" name="Content Placeholder 5">
            <a:extLst>
              <a:ext uri="{FF2B5EF4-FFF2-40B4-BE49-F238E27FC236}">
                <a16:creationId xmlns="" xmlns:a16="http://schemas.microsoft.com/office/drawing/2014/main" id="{70638EF1-A903-4F9E-8DC4-5B05F3A349FE}"/>
              </a:ext>
            </a:extLst>
          </p:cNvPr>
          <p:cNvPicPr>
            <a:picLocks noGrp="1" noChangeAspect="1"/>
          </p:cNvPicPr>
          <p:nvPr>
            <p:ph sz="half" idx="1"/>
          </p:nvPr>
        </p:nvPicPr>
        <p:blipFill>
          <a:blip r:embed="rId3"/>
          <a:stretch>
            <a:fillRect/>
          </a:stretch>
        </p:blipFill>
        <p:spPr>
          <a:xfrm>
            <a:off x="0" y="142874"/>
            <a:ext cx="3744686" cy="6501765"/>
          </a:xfrm>
          <a:prstGeom prst="rect">
            <a:avLst/>
          </a:prstGeom>
        </p:spPr>
      </p:pic>
    </p:spTree>
    <p:extLst>
      <p:ext uri="{BB962C8B-B14F-4D97-AF65-F5344CB8AC3E}">
        <p14:creationId xmlns:p14="http://schemas.microsoft.com/office/powerpoint/2010/main" val="3121926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B67C890-387F-4142-A339-1943EFCB2011}"/>
              </a:ext>
            </a:extLst>
          </p:cNvPr>
          <p:cNvSpPr>
            <a:spLocks noGrp="1"/>
          </p:cNvSpPr>
          <p:nvPr>
            <p:ph type="title"/>
          </p:nvPr>
        </p:nvSpPr>
        <p:spPr>
          <a:xfrm>
            <a:off x="838200" y="47626"/>
            <a:ext cx="10515600" cy="633411"/>
          </a:xfrm>
        </p:spPr>
        <p:txBody>
          <a:bodyPr/>
          <a:lstStyle/>
          <a:p>
            <a:r>
              <a:rPr lang="en-US" sz="3600" b="1" dirty="0"/>
              <a:t>REPRESENTATION OF GRAPHS</a:t>
            </a:r>
            <a:endParaRPr lang="en-IN" sz="3600" b="1" dirty="0"/>
          </a:p>
        </p:txBody>
      </p:sp>
      <p:sp>
        <p:nvSpPr>
          <p:cNvPr id="3" name="Content Placeholder 2">
            <a:extLst>
              <a:ext uri="{FF2B5EF4-FFF2-40B4-BE49-F238E27FC236}">
                <a16:creationId xmlns="" xmlns:a16="http://schemas.microsoft.com/office/drawing/2014/main" id="{25AC366E-0B10-435A-9D49-863E72937870}"/>
              </a:ext>
            </a:extLst>
          </p:cNvPr>
          <p:cNvSpPr>
            <a:spLocks noGrp="1"/>
          </p:cNvSpPr>
          <p:nvPr>
            <p:ph sz="half" idx="1"/>
          </p:nvPr>
        </p:nvSpPr>
        <p:spPr>
          <a:xfrm>
            <a:off x="228600" y="681036"/>
            <a:ext cx="11801475" cy="6176963"/>
          </a:xfrm>
        </p:spPr>
        <p:txBody>
          <a:bodyPr/>
          <a:lstStyle/>
          <a:p>
            <a:pPr algn="just"/>
            <a:r>
              <a:rPr lang="en-US" dirty="0"/>
              <a:t>There are three common ways of storing graphs in the computer’s memory. They are: </a:t>
            </a:r>
          </a:p>
          <a:p>
            <a:pPr algn="just"/>
            <a:r>
              <a:rPr lang="en-US" dirty="0"/>
              <a:t>Sequential representation by using an adjacency matrix. </a:t>
            </a:r>
          </a:p>
          <a:p>
            <a:pPr algn="just"/>
            <a:r>
              <a:rPr lang="en-US" dirty="0"/>
              <a:t> Linked representation by using an adjacency list that stores the </a:t>
            </a:r>
            <a:r>
              <a:rPr lang="en-US" dirty="0" err="1"/>
              <a:t>neighbours</a:t>
            </a:r>
            <a:r>
              <a:rPr lang="en-US" dirty="0"/>
              <a:t> of a node using a linked list. </a:t>
            </a:r>
          </a:p>
          <a:p>
            <a:pPr algn="just"/>
            <a:r>
              <a:rPr lang="en-US" dirty="0"/>
              <a:t>Adjacency multi-list which is an extension of linked representation. In this section, we will discuss both these schemes in detail.</a:t>
            </a:r>
          </a:p>
          <a:p>
            <a:pPr algn="just"/>
            <a:r>
              <a:rPr lang="en-US" dirty="0"/>
              <a:t> </a:t>
            </a:r>
            <a:r>
              <a:rPr lang="en-US" b="1" dirty="0"/>
              <a:t>Adjacency Matrix Representation: </a:t>
            </a:r>
            <a:r>
              <a:rPr lang="en-US" dirty="0"/>
              <a:t>An adjacency matrix is used to represent which nodes are adjacent to one another. By definition, two nodes are said to be adjacent if there is an edge connecting them. </a:t>
            </a:r>
          </a:p>
          <a:p>
            <a:pPr algn="just"/>
            <a:r>
              <a:rPr lang="en-US" dirty="0"/>
              <a:t>In a directed graph G, if node v is adjacent to node u, then there is definitely an edge from u to v. That is, if v is adjacent to u, we can get from u to v by traversing one edge. For any graph G having n nodes, the adjacency matrix will have the dimension of n x n</a:t>
            </a:r>
            <a:endParaRPr lang="en-IN" dirty="0"/>
          </a:p>
        </p:txBody>
      </p:sp>
    </p:spTree>
    <p:extLst>
      <p:ext uri="{BB962C8B-B14F-4D97-AF65-F5344CB8AC3E}">
        <p14:creationId xmlns:p14="http://schemas.microsoft.com/office/powerpoint/2010/main" val="2414529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DE945AD-71D7-4829-B19C-A07E4E13BD95}"/>
              </a:ext>
            </a:extLst>
          </p:cNvPr>
          <p:cNvSpPr>
            <a:spLocks noGrp="1"/>
          </p:cNvSpPr>
          <p:nvPr>
            <p:ph sz="half" idx="1"/>
          </p:nvPr>
        </p:nvSpPr>
        <p:spPr>
          <a:xfrm>
            <a:off x="466725" y="209550"/>
            <a:ext cx="11239500" cy="4314825"/>
          </a:xfrm>
        </p:spPr>
        <p:txBody>
          <a:bodyPr/>
          <a:lstStyle/>
          <a:p>
            <a:pPr algn="just"/>
            <a:r>
              <a:rPr lang="en-US" dirty="0"/>
              <a:t>In an adjacency matrix, the rows and columns are labelled by graph vertices. An entry </a:t>
            </a:r>
            <a:r>
              <a:rPr lang="en-US" sz="3600" dirty="0" err="1"/>
              <a:t>a</a:t>
            </a:r>
            <a:r>
              <a:rPr lang="en-US" sz="2000" dirty="0" err="1"/>
              <a:t>ij</a:t>
            </a:r>
            <a:r>
              <a:rPr lang="en-US" dirty="0"/>
              <a:t> in the adjacency matrix will contain 1, if vertices </a:t>
            </a:r>
            <a:r>
              <a:rPr lang="en-US" sz="3200" dirty="0"/>
              <a:t>v</a:t>
            </a:r>
            <a:r>
              <a:rPr lang="en-US" sz="2000" dirty="0"/>
              <a:t>i </a:t>
            </a:r>
            <a:r>
              <a:rPr lang="en-US" dirty="0"/>
              <a:t>and </a:t>
            </a:r>
            <a:r>
              <a:rPr lang="en-US" sz="3200" dirty="0" err="1"/>
              <a:t>v</a:t>
            </a:r>
            <a:r>
              <a:rPr lang="en-US" sz="2000" dirty="0" err="1"/>
              <a:t>j</a:t>
            </a:r>
            <a:r>
              <a:rPr lang="en-US" dirty="0"/>
              <a:t> are adjacent to each other. However, if the nodes are not adjacent, </a:t>
            </a:r>
            <a:r>
              <a:rPr lang="en-US" sz="3600" dirty="0" err="1"/>
              <a:t>a</a:t>
            </a:r>
            <a:r>
              <a:rPr lang="en-US" sz="2000" dirty="0" err="1"/>
              <a:t>ij</a:t>
            </a:r>
            <a:r>
              <a:rPr lang="en-US" sz="2000" dirty="0"/>
              <a:t> </a:t>
            </a:r>
            <a:r>
              <a:rPr lang="en-US" dirty="0"/>
              <a:t>will be set to zero. It is summarized in Fig.  </a:t>
            </a:r>
          </a:p>
          <a:p>
            <a:pPr algn="just"/>
            <a:r>
              <a:rPr lang="en-US" dirty="0"/>
              <a:t>Since an adjacency matrix contains only 0s and 1s, it is called a bit matrix or a Boolean matrix. The entries in the matrix depend on the ordering of the nodes in G. Therefore, a change in the order of nodes will result in a different adjacency matrix. Figure shows some graphs and their corresponding adjacency matrices.</a:t>
            </a:r>
            <a:endParaRPr lang="en-IN" dirty="0"/>
          </a:p>
        </p:txBody>
      </p:sp>
      <p:pic>
        <p:nvPicPr>
          <p:cNvPr id="2" name="Picture 1">
            <a:extLst>
              <a:ext uri="{FF2B5EF4-FFF2-40B4-BE49-F238E27FC236}">
                <a16:creationId xmlns="" xmlns:a16="http://schemas.microsoft.com/office/drawing/2014/main" id="{D57D3393-C521-46BB-A8FA-B9CAABA9B20C}"/>
              </a:ext>
            </a:extLst>
          </p:cNvPr>
          <p:cNvPicPr>
            <a:picLocks noChangeAspect="1"/>
          </p:cNvPicPr>
          <p:nvPr/>
        </p:nvPicPr>
        <p:blipFill>
          <a:blip r:embed="rId2"/>
          <a:stretch>
            <a:fillRect/>
          </a:stretch>
        </p:blipFill>
        <p:spPr>
          <a:xfrm>
            <a:off x="1454331" y="4345577"/>
            <a:ext cx="7811589" cy="2302873"/>
          </a:xfrm>
          <a:prstGeom prst="rect">
            <a:avLst/>
          </a:prstGeom>
        </p:spPr>
      </p:pic>
    </p:spTree>
    <p:extLst>
      <p:ext uri="{BB962C8B-B14F-4D97-AF65-F5344CB8AC3E}">
        <p14:creationId xmlns:p14="http://schemas.microsoft.com/office/powerpoint/2010/main" val="15455870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32FE2C5C-9656-41B5-809D-2DBF1BF953B9}"/>
              </a:ext>
            </a:extLst>
          </p:cNvPr>
          <p:cNvPicPr>
            <a:picLocks noChangeAspect="1"/>
          </p:cNvPicPr>
          <p:nvPr/>
        </p:nvPicPr>
        <p:blipFill>
          <a:blip r:embed="rId2"/>
          <a:stretch>
            <a:fillRect/>
          </a:stretch>
        </p:blipFill>
        <p:spPr>
          <a:xfrm>
            <a:off x="1480457" y="452847"/>
            <a:ext cx="8325394" cy="5082504"/>
          </a:xfrm>
          <a:prstGeom prst="rect">
            <a:avLst/>
          </a:prstGeom>
        </p:spPr>
      </p:pic>
    </p:spTree>
    <p:extLst>
      <p:ext uri="{BB962C8B-B14F-4D97-AF65-F5344CB8AC3E}">
        <p14:creationId xmlns:p14="http://schemas.microsoft.com/office/powerpoint/2010/main" val="16038642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E396BCC-6133-4CFA-8E91-035B152A6A49}"/>
              </a:ext>
            </a:extLst>
          </p:cNvPr>
          <p:cNvSpPr>
            <a:spLocks noGrp="1"/>
          </p:cNvSpPr>
          <p:nvPr>
            <p:ph sz="half" idx="1"/>
          </p:nvPr>
        </p:nvSpPr>
        <p:spPr>
          <a:xfrm>
            <a:off x="342901" y="314325"/>
            <a:ext cx="11639550" cy="5862638"/>
          </a:xfrm>
        </p:spPr>
        <p:txBody>
          <a:bodyPr/>
          <a:lstStyle/>
          <a:p>
            <a:pPr algn="just"/>
            <a:r>
              <a:rPr lang="en-US" dirty="0"/>
              <a:t>From the above examples, we can draw the following conclusions: </a:t>
            </a:r>
          </a:p>
          <a:p>
            <a:pPr algn="just"/>
            <a:r>
              <a:rPr lang="en-US" dirty="0"/>
              <a:t> For a simple graph (that has no loops), the adjacency matrix has 0s on the diagonal. </a:t>
            </a:r>
          </a:p>
          <a:p>
            <a:pPr algn="just"/>
            <a:r>
              <a:rPr lang="en-US" dirty="0"/>
              <a:t> The adjacency matrix of an undirected graph is symmetric. </a:t>
            </a:r>
          </a:p>
          <a:p>
            <a:pPr algn="just"/>
            <a:r>
              <a:rPr lang="en-US" dirty="0"/>
              <a:t>The memory use of an adjacency matrix is O(n</a:t>
            </a:r>
            <a:r>
              <a:rPr lang="en-US" sz="2000" dirty="0"/>
              <a:t>2</a:t>
            </a:r>
            <a:r>
              <a:rPr lang="en-US" dirty="0"/>
              <a:t> ), where n is the number of nodes in the graph. </a:t>
            </a:r>
          </a:p>
          <a:p>
            <a:pPr algn="just"/>
            <a:r>
              <a:rPr lang="en-US" dirty="0"/>
              <a:t> Number of 1s (or non-zero entries) in an adjacency matrix is equal to the number of edges in the graph.</a:t>
            </a:r>
          </a:p>
          <a:p>
            <a:pPr algn="just"/>
            <a:r>
              <a:rPr lang="en-US" dirty="0"/>
              <a:t>  The adjacency matrix for a weighted graph contains the weights of the edges connecting the nodes</a:t>
            </a:r>
            <a:endParaRPr lang="en-IN" dirty="0"/>
          </a:p>
        </p:txBody>
      </p:sp>
    </p:spTree>
    <p:extLst>
      <p:ext uri="{BB962C8B-B14F-4D97-AF65-F5344CB8AC3E}">
        <p14:creationId xmlns:p14="http://schemas.microsoft.com/office/powerpoint/2010/main" val="1857762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 xmlns:a16="http://schemas.microsoft.com/office/drawing/2014/main" id="{D53B677B-BFE2-466C-A8F0-D04AD6FD9AE2}"/>
                  </a:ext>
                </a:extLst>
              </p:cNvPr>
              <p:cNvSpPr>
                <a:spLocks noGrp="1"/>
              </p:cNvSpPr>
              <p:nvPr>
                <p:ph sz="half" idx="1"/>
              </p:nvPr>
            </p:nvSpPr>
            <p:spPr>
              <a:xfrm>
                <a:off x="374469" y="243840"/>
                <a:ext cx="11817531" cy="6461760"/>
              </a:xfrm>
            </p:spPr>
            <p:txBody>
              <a:bodyPr/>
              <a:lstStyle/>
              <a:p>
                <a:pPr marL="0" indent="0">
                  <a:buNone/>
                </a:pPr>
                <a:r>
                  <a:rPr lang="en-US" dirty="0"/>
                  <a:t>Now let us discuss the powers of an adjacency matrix. From adjacency matrix A1 , we can conclude that an entry 1 in the </a:t>
                </a:r>
                <a:r>
                  <a:rPr lang="en-US" dirty="0" err="1"/>
                  <a:t>ith</a:t>
                </a:r>
                <a:r>
                  <a:rPr lang="en-US" dirty="0"/>
                  <a:t> row and </a:t>
                </a:r>
                <a:r>
                  <a:rPr lang="en-US" dirty="0" err="1"/>
                  <a:t>jth</a:t>
                </a:r>
                <a:r>
                  <a:rPr lang="en-US" dirty="0"/>
                  <a:t> column means that there exists a path of length 1 from vi to </a:t>
                </a:r>
                <a:r>
                  <a:rPr lang="en-US" dirty="0" err="1"/>
                  <a:t>vj</a:t>
                </a:r>
                <a:r>
                  <a:rPr lang="en-US" dirty="0"/>
                  <a:t> . Now consider, A2 , A3 , and A4 </a:t>
                </a:r>
              </a:p>
              <a:p>
                <a:pPr marL="0" indent="0">
                  <a:buNone/>
                </a:pPr>
                <a:endParaRPr lang="en-US" dirty="0"/>
              </a:p>
              <a:p>
                <a:pPr marL="0" indent="0">
                  <a:buNone/>
                </a:pPr>
                <a:r>
                  <a:rPr lang="en-US" dirty="0"/>
                  <a:t> </a:t>
                </a:r>
                <a14:m>
                  <m:oMath xmlns:m="http://schemas.openxmlformats.org/officeDocument/2006/math">
                    <m:sSup>
                      <m:sSupPr>
                        <m:ctrlPr>
                          <a:rPr lang="en-US" i="1" dirty="0" smtClean="0">
                            <a:latin typeface="Cambria Math" panose="02040503050406030204" pitchFamily="18" charset="0"/>
                          </a:rPr>
                        </m:ctrlPr>
                      </m:sSupPr>
                      <m:e>
                        <m:r>
                          <a:rPr lang="en-IN" b="0" i="1" dirty="0" smtClean="0">
                            <a:latin typeface="Cambria Math" panose="02040503050406030204" pitchFamily="18" charset="0"/>
                          </a:rPr>
                          <m:t>(</m:t>
                        </m:r>
                        <m:r>
                          <a:rPr lang="en-IN" b="0" i="1" dirty="0" smtClean="0">
                            <a:latin typeface="Cambria Math" panose="02040503050406030204" pitchFamily="18" charset="0"/>
                          </a:rPr>
                          <m:t>𝑎𝑖𝑗</m:t>
                        </m:r>
                        <m:r>
                          <a:rPr lang="en-IN" b="0" i="1" dirty="0" smtClean="0">
                            <a:latin typeface="Cambria Math" panose="02040503050406030204" pitchFamily="18" charset="0"/>
                          </a:rPr>
                          <m:t>)</m:t>
                        </m:r>
                      </m:e>
                      <m:sup>
                        <m:r>
                          <a:rPr lang="en-IN" b="0" i="1" dirty="0" smtClean="0">
                            <a:latin typeface="Cambria Math" panose="02040503050406030204" pitchFamily="18" charset="0"/>
                          </a:rPr>
                          <m:t>2</m:t>
                        </m:r>
                      </m:sup>
                    </m:sSup>
                  </m:oMath>
                </a14:m>
                <a:r>
                  <a:rPr lang="en-US" dirty="0"/>
                  <a:t>= </a:t>
                </a:r>
                <a14:m>
                  <m:oMath xmlns:m="http://schemas.openxmlformats.org/officeDocument/2006/math">
                    <m:nary>
                      <m:naryPr>
                        <m:chr m:val="∑"/>
                        <m:subHide m:val="on"/>
                        <m:supHide m:val="on"/>
                        <m:ctrlPr>
                          <a:rPr lang="en-US" sz="3600" i="1" smtClean="0">
                            <a:latin typeface="Cambria Math" panose="02040503050406030204" pitchFamily="18" charset="0"/>
                          </a:rPr>
                        </m:ctrlPr>
                      </m:naryPr>
                      <m:sub/>
                      <m:sup/>
                      <m:e>
                        <m:r>
                          <a:rPr lang="en-IN" sz="3600" b="0" i="1" smtClean="0">
                            <a:latin typeface="Cambria Math" panose="02040503050406030204" pitchFamily="18" charset="0"/>
                          </a:rPr>
                          <m:t>𝑎𝑖𝑘</m:t>
                        </m:r>
                      </m:e>
                    </m:nary>
                  </m:oMath>
                </a14:m>
                <a:r>
                  <a:rPr lang="en-US" dirty="0"/>
                  <a:t> </a:t>
                </a:r>
                <a:r>
                  <a:rPr lang="en-US" sz="3600" dirty="0" err="1"/>
                  <a:t>a</a:t>
                </a:r>
                <a:r>
                  <a:rPr lang="en-US" sz="2000" dirty="0" err="1"/>
                  <a:t>kj</a:t>
                </a:r>
                <a:r>
                  <a:rPr lang="en-US" dirty="0"/>
                  <a:t> </a:t>
                </a:r>
              </a:p>
              <a:p>
                <a:pPr marL="0" indent="0">
                  <a:buNone/>
                </a:pPr>
                <a:r>
                  <a:rPr lang="en-US" dirty="0"/>
                  <a:t>Any entry </a:t>
                </a:r>
                <a:r>
                  <a:rPr lang="en-US" dirty="0" err="1"/>
                  <a:t>aij</a:t>
                </a:r>
                <a:r>
                  <a:rPr lang="en-US" dirty="0"/>
                  <a:t> = 1 if </a:t>
                </a:r>
                <a:r>
                  <a:rPr lang="en-US" dirty="0" err="1"/>
                  <a:t>aik</a:t>
                </a:r>
                <a:r>
                  <a:rPr lang="en-US" dirty="0"/>
                  <a:t> = </a:t>
                </a:r>
                <a:r>
                  <a:rPr lang="en-US" dirty="0" err="1"/>
                  <a:t>akj</a:t>
                </a:r>
                <a:r>
                  <a:rPr lang="en-US" dirty="0"/>
                  <a:t> = 1. That is, if there is an edge (vi , </a:t>
                </a:r>
                <a:r>
                  <a:rPr lang="en-US" dirty="0" err="1"/>
                  <a:t>vk</a:t>
                </a:r>
                <a:r>
                  <a:rPr lang="en-US" dirty="0"/>
                  <a:t> ) and (</a:t>
                </a:r>
                <a:r>
                  <a:rPr lang="en-US" dirty="0" err="1"/>
                  <a:t>vk</a:t>
                </a:r>
                <a:r>
                  <a:rPr lang="en-US" dirty="0"/>
                  <a:t> , </a:t>
                </a:r>
                <a:r>
                  <a:rPr lang="en-US" dirty="0" err="1"/>
                  <a:t>vj</a:t>
                </a:r>
                <a:r>
                  <a:rPr lang="en-US" dirty="0"/>
                  <a:t> ), then there is a path from vi to </a:t>
                </a:r>
                <a:r>
                  <a:rPr lang="en-US" dirty="0" err="1"/>
                  <a:t>vj</a:t>
                </a:r>
                <a:r>
                  <a:rPr lang="en-US" dirty="0"/>
                  <a:t> of length 2.</a:t>
                </a:r>
              </a:p>
              <a:p>
                <a:pPr marL="0" indent="0">
                  <a:buNone/>
                </a:pPr>
                <a:r>
                  <a:rPr lang="en-US" dirty="0"/>
                  <a:t> Similarly, every entry in the </a:t>
                </a:r>
                <a:r>
                  <a:rPr lang="en-US" dirty="0" err="1"/>
                  <a:t>ith</a:t>
                </a:r>
                <a:r>
                  <a:rPr lang="en-US" dirty="0"/>
                  <a:t> row and </a:t>
                </a:r>
                <a:r>
                  <a:rPr lang="en-US" dirty="0" err="1"/>
                  <a:t>jth</a:t>
                </a:r>
                <a:r>
                  <a:rPr lang="en-US" dirty="0"/>
                  <a:t> column of A3 gives the number of paths of length 3 from node vi to </a:t>
                </a:r>
                <a:r>
                  <a:rPr lang="en-US" dirty="0" err="1"/>
                  <a:t>vj</a:t>
                </a:r>
                <a:r>
                  <a:rPr lang="en-US" dirty="0"/>
                  <a:t> . In general terms, we can conclude that every entry in the </a:t>
                </a:r>
                <a:r>
                  <a:rPr lang="en-US" dirty="0" err="1"/>
                  <a:t>ith</a:t>
                </a:r>
                <a:r>
                  <a:rPr lang="en-US" dirty="0"/>
                  <a:t> row and </a:t>
                </a:r>
                <a:r>
                  <a:rPr lang="en-US" dirty="0" err="1"/>
                  <a:t>jth</a:t>
                </a:r>
                <a:r>
                  <a:rPr lang="en-US" dirty="0"/>
                  <a:t> column of An (where n is the number of nodes in the graph) gives the number of paths of length n from node vi to </a:t>
                </a:r>
                <a:r>
                  <a:rPr lang="en-US" dirty="0" err="1"/>
                  <a:t>vj</a:t>
                </a:r>
                <a:r>
                  <a:rPr lang="en-US" dirty="0"/>
                  <a:t> . Consider a directed graph given in Fig.  Given its adjacency matrix A, let us calculate A2 , A3 , and A4 .</a:t>
                </a:r>
                <a:endParaRPr lang="en-IN" dirty="0"/>
              </a:p>
              <a:p>
                <a:endParaRPr lang="en-IN" dirty="0"/>
              </a:p>
            </p:txBody>
          </p:sp>
        </mc:Choice>
        <mc:Fallback xmlns="">
          <p:sp>
            <p:nvSpPr>
              <p:cNvPr id="3" name="Content Placeholder 2">
                <a:extLst>
                  <a:ext uri="{FF2B5EF4-FFF2-40B4-BE49-F238E27FC236}">
                    <a16:creationId xmlns:a16="http://schemas.microsoft.com/office/drawing/2014/main" id="{D53B677B-BFE2-466C-A8F0-D04AD6FD9AE2}"/>
                  </a:ext>
                </a:extLst>
              </p:cNvPr>
              <p:cNvSpPr>
                <a:spLocks noGrp="1" noRot="1" noChangeAspect="1" noMove="1" noResize="1" noEditPoints="1" noAdjustHandles="1" noChangeArrowheads="1" noChangeShapeType="1" noTextEdit="1"/>
              </p:cNvSpPr>
              <p:nvPr>
                <p:ph sz="half" idx="1"/>
              </p:nvPr>
            </p:nvSpPr>
            <p:spPr>
              <a:xfrm>
                <a:off x="374469" y="243840"/>
                <a:ext cx="11817531" cy="6461760"/>
              </a:xfrm>
              <a:blipFill>
                <a:blip r:embed="rId2"/>
                <a:stretch>
                  <a:fillRect l="-1031" t="-1509" r="-1753"/>
                </a:stretch>
              </a:blipFill>
            </p:spPr>
            <p:txBody>
              <a:bodyPr/>
              <a:lstStyle/>
              <a:p>
                <a:r>
                  <a:rPr lang="en-IN">
                    <a:noFill/>
                  </a:rPr>
                  <a:t> </a:t>
                </a:r>
              </a:p>
            </p:txBody>
          </p:sp>
        </mc:Fallback>
      </mc:AlternateContent>
    </p:spTree>
    <p:extLst>
      <p:ext uri="{BB962C8B-B14F-4D97-AF65-F5344CB8AC3E}">
        <p14:creationId xmlns:p14="http://schemas.microsoft.com/office/powerpoint/2010/main" val="2725275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E4B13597-3BD2-408B-8EAB-DA22DD507500}"/>
              </a:ext>
            </a:extLst>
          </p:cNvPr>
          <p:cNvPicPr>
            <a:picLocks noChangeAspect="1"/>
          </p:cNvPicPr>
          <p:nvPr/>
        </p:nvPicPr>
        <p:blipFill>
          <a:blip r:embed="rId2"/>
          <a:stretch>
            <a:fillRect/>
          </a:stretch>
        </p:blipFill>
        <p:spPr>
          <a:xfrm>
            <a:off x="5357268" y="226424"/>
            <a:ext cx="6772275" cy="6339840"/>
          </a:xfrm>
          <a:prstGeom prst="rect">
            <a:avLst/>
          </a:prstGeom>
        </p:spPr>
      </p:pic>
      <p:pic>
        <p:nvPicPr>
          <p:cNvPr id="4" name="Content Placeholder 3">
            <a:extLst>
              <a:ext uri="{FF2B5EF4-FFF2-40B4-BE49-F238E27FC236}">
                <a16:creationId xmlns="" xmlns:a16="http://schemas.microsoft.com/office/drawing/2014/main" id="{CB968965-14C7-4A5A-91CE-187F7A8448E6}"/>
              </a:ext>
            </a:extLst>
          </p:cNvPr>
          <p:cNvPicPr>
            <a:picLocks noGrp="1" noChangeAspect="1"/>
          </p:cNvPicPr>
          <p:nvPr>
            <p:ph sz="half" idx="1"/>
          </p:nvPr>
        </p:nvPicPr>
        <p:blipFill>
          <a:blip r:embed="rId3"/>
          <a:stretch>
            <a:fillRect/>
          </a:stretch>
        </p:blipFill>
        <p:spPr>
          <a:xfrm>
            <a:off x="-111034" y="662743"/>
            <a:ext cx="5181600" cy="4928159"/>
          </a:xfrm>
          <a:prstGeom prst="rect">
            <a:avLst/>
          </a:prstGeom>
        </p:spPr>
      </p:pic>
    </p:spTree>
    <p:extLst>
      <p:ext uri="{BB962C8B-B14F-4D97-AF65-F5344CB8AC3E}">
        <p14:creationId xmlns:p14="http://schemas.microsoft.com/office/powerpoint/2010/main" val="23472559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B6688C2F-79C0-44F6-8D07-F68B14DAD808}"/>
              </a:ext>
            </a:extLst>
          </p:cNvPr>
          <p:cNvSpPr>
            <a:spLocks noGrp="1"/>
          </p:cNvSpPr>
          <p:nvPr>
            <p:ph sz="half" idx="1"/>
          </p:nvPr>
        </p:nvSpPr>
        <p:spPr>
          <a:xfrm>
            <a:off x="287383" y="156754"/>
            <a:ext cx="11625943" cy="6020209"/>
          </a:xfrm>
        </p:spPr>
        <p:txBody>
          <a:bodyPr/>
          <a:lstStyle/>
          <a:p>
            <a:pPr algn="just"/>
            <a:r>
              <a:rPr lang="en-US" dirty="0"/>
              <a:t>An entry in the </a:t>
            </a:r>
            <a:r>
              <a:rPr lang="en-US" dirty="0" err="1"/>
              <a:t>ith</a:t>
            </a:r>
            <a:r>
              <a:rPr lang="en-US" dirty="0"/>
              <a:t> row and </a:t>
            </a:r>
            <a:r>
              <a:rPr lang="en-US" dirty="0" err="1"/>
              <a:t>jth</a:t>
            </a:r>
            <a:r>
              <a:rPr lang="en-US" dirty="0"/>
              <a:t> column of matrix Br gives the number of paths of length r or less than r from vertex vi to </a:t>
            </a:r>
            <a:r>
              <a:rPr lang="en-US" dirty="0" err="1"/>
              <a:t>vj</a:t>
            </a:r>
            <a:r>
              <a:rPr lang="en-US" dirty="0"/>
              <a:t> . The main goal to define matrix B is to obtain the path matrix P. The path matrix P can be calculated from B by setting an entry </a:t>
            </a:r>
            <a:r>
              <a:rPr lang="en-US" dirty="0" err="1"/>
              <a:t>Pij</a:t>
            </a:r>
            <a:r>
              <a:rPr lang="en-US" dirty="0"/>
              <a:t> = 1, if </a:t>
            </a:r>
            <a:r>
              <a:rPr lang="en-US" dirty="0" err="1"/>
              <a:t>Bij</a:t>
            </a:r>
            <a:r>
              <a:rPr lang="en-US" dirty="0"/>
              <a:t> is non-zero and </a:t>
            </a:r>
            <a:r>
              <a:rPr lang="en-US" dirty="0" err="1"/>
              <a:t>Pij</a:t>
            </a:r>
            <a:r>
              <a:rPr lang="en-US" dirty="0"/>
              <a:t> = 0, </a:t>
            </a:r>
            <a:endParaRPr lang="en-IN" dirty="0"/>
          </a:p>
        </p:txBody>
      </p:sp>
      <p:pic>
        <p:nvPicPr>
          <p:cNvPr id="2" name="Picture 1">
            <a:extLst>
              <a:ext uri="{FF2B5EF4-FFF2-40B4-BE49-F238E27FC236}">
                <a16:creationId xmlns="" xmlns:a16="http://schemas.microsoft.com/office/drawing/2014/main" id="{76319B83-1D8B-4651-B360-53D9D96D55C0}"/>
              </a:ext>
            </a:extLst>
          </p:cNvPr>
          <p:cNvPicPr>
            <a:picLocks noChangeAspect="1"/>
          </p:cNvPicPr>
          <p:nvPr/>
        </p:nvPicPr>
        <p:blipFill>
          <a:blip r:embed="rId2"/>
          <a:stretch>
            <a:fillRect/>
          </a:stretch>
        </p:blipFill>
        <p:spPr>
          <a:xfrm>
            <a:off x="1436913" y="2203597"/>
            <a:ext cx="9065623" cy="4057865"/>
          </a:xfrm>
          <a:prstGeom prst="rect">
            <a:avLst/>
          </a:prstGeom>
        </p:spPr>
      </p:pic>
    </p:spTree>
    <p:extLst>
      <p:ext uri="{BB962C8B-B14F-4D97-AF65-F5344CB8AC3E}">
        <p14:creationId xmlns:p14="http://schemas.microsoft.com/office/powerpoint/2010/main" val="4154652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latin typeface="Times New Roman" panose="02020603050405020304" pitchFamily="18" charset="0"/>
                <a:cs typeface="Times New Roman" panose="02020603050405020304" pitchFamily="18" charset="0"/>
              </a:rPr>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ectangle 4"/>
          <p:cNvSpPr/>
          <p:nvPr/>
        </p:nvSpPr>
        <p:spPr>
          <a:xfrm>
            <a:off x="206326" y="891849"/>
            <a:ext cx="5477021" cy="584775"/>
          </a:xfrm>
          <a:prstGeom prst="rect">
            <a:avLst/>
          </a:prstGeom>
        </p:spPr>
        <p:txBody>
          <a:bodyPr wrap="square">
            <a:spAutoFit/>
          </a:bodyPr>
          <a:lstStyle/>
          <a:p>
            <a:r>
              <a:rPr lang="en-IN" sz="3200" dirty="0"/>
              <a:t> </a:t>
            </a:r>
            <a:endParaRPr lang="en-US" sz="3200" dirty="0"/>
          </a:p>
        </p:txBody>
      </p:sp>
      <p:sp>
        <p:nvSpPr>
          <p:cNvPr id="7" name="Rectangle 6"/>
          <p:cNvSpPr/>
          <p:nvPr/>
        </p:nvSpPr>
        <p:spPr>
          <a:xfrm>
            <a:off x="719000" y="1320898"/>
            <a:ext cx="10715713" cy="3539430"/>
          </a:xfrm>
          <a:prstGeom prst="rect">
            <a:avLst/>
          </a:prstGeom>
        </p:spPr>
        <p:txBody>
          <a:bodyPr wrap="square" lIns="91440" tIns="45720" rIns="91440" bIns="45720" anchor="t">
            <a:spAutoFit/>
          </a:bodyPr>
          <a:lstStyle/>
          <a:p>
            <a:pPr marL="457200" indent="-457200">
              <a:buFont typeface="Arial" panose="020B0604020202020204" pitchFamily="34" charset="0"/>
              <a:buChar char="•"/>
            </a:pPr>
            <a:r>
              <a:rPr lang="en-US" sz="3200" dirty="0"/>
              <a:t>An </a:t>
            </a:r>
            <a:r>
              <a:rPr lang="en-US" sz="3200" b="1" dirty="0"/>
              <a:t>Adjacency Matrix</a:t>
            </a:r>
            <a:r>
              <a:rPr lang="en-US" sz="3200" dirty="0"/>
              <a:t> is a way to represent a graph as a two-dimensional matrix. It is particularly useful for dense graphs or when quick access to information about edges is required</a:t>
            </a:r>
            <a:r>
              <a:rPr lang="en-US" sz="3200" dirty="0" smtClean="0"/>
              <a:t>.</a:t>
            </a:r>
          </a:p>
          <a:p>
            <a:pPr marL="457200" indent="-457200">
              <a:buFont typeface="Arial" panose="020B0604020202020204" pitchFamily="34" charset="0"/>
              <a:buChar char="•"/>
            </a:pPr>
            <a:r>
              <a:rPr lang="en-US" sz="3200" dirty="0" smtClean="0"/>
              <a:t>Adjacency </a:t>
            </a:r>
            <a:r>
              <a:rPr lang="en-US" sz="3200" dirty="0"/>
              <a:t>matrices are most useful for dense graphs or when edge existence needs to be checked frequently. However, for sparse graphs or scenarios requiring efficient edge traversal, adjacency lists are usually preferred.</a:t>
            </a:r>
            <a:endParaRPr lang="en-US" sz="3200" dirty="0">
              <a:solidFill>
                <a:srgbClr val="37415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056753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SELF-ASSESSMENT QUESTIONS</a:t>
            </a:r>
          </a:p>
        </p:txBody>
      </p:sp>
      <p:sp>
        <p:nvSpPr>
          <p:cNvPr id="7" name="Google Shape;502;p17">
            <a:extLst>
              <a:ext uri="{FF2B5EF4-FFF2-40B4-BE49-F238E27FC236}">
                <a16:creationId xmlns="" xmlns:a16="http://schemas.microsoft.com/office/drawing/2014/main" id="{AE3D0AA7-0A5F-7BD6-7BC7-1D38F326B8B4}"/>
              </a:ext>
            </a:extLst>
          </p:cNvPr>
          <p:cNvSpPr/>
          <p:nvPr/>
        </p:nvSpPr>
        <p:spPr>
          <a:xfrm>
            <a:off x="823282" y="681585"/>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IN" b="1" dirty="0">
                <a:solidFill>
                  <a:schemeClr val="bg1"/>
                </a:solidFill>
                <a:latin typeface="Times New Roman" panose="02020603050405020304" pitchFamily="18" charset="0"/>
                <a:cs typeface="Times New Roman" panose="02020603050405020304" pitchFamily="18" charset="0"/>
              </a:rPr>
              <a:t>1. </a:t>
            </a:r>
            <a:r>
              <a:rPr lang="en-US" dirty="0"/>
              <a:t>What does the entry A[</a:t>
            </a:r>
            <a:r>
              <a:rPr lang="en-US" dirty="0" err="1"/>
              <a:t>i</a:t>
            </a:r>
            <a:r>
              <a:rPr lang="en-US" dirty="0"/>
              <a:t>][j]A[</a:t>
            </a:r>
            <a:r>
              <a:rPr lang="en-US" dirty="0" err="1"/>
              <a:t>i</a:t>
            </a:r>
            <a:r>
              <a:rPr lang="en-US" dirty="0"/>
              <a:t>][j]A[</a:t>
            </a:r>
            <a:r>
              <a:rPr lang="en-US" dirty="0" err="1"/>
              <a:t>i</a:t>
            </a:r>
            <a:r>
              <a:rPr lang="en-US" dirty="0"/>
              <a:t>][j] in an adjacency matrix represent for an undirected graph?</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1" name="Rounded Rectangle 17">
            <a:extLst>
              <a:ext uri="{FF2B5EF4-FFF2-40B4-BE49-F238E27FC236}">
                <a16:creationId xmlns="" xmlns:a16="http://schemas.microsoft.com/office/drawing/2014/main" id="{5D8B791C-9B35-CF16-C192-D202E0DB9A60}"/>
              </a:ext>
            </a:extLst>
          </p:cNvPr>
          <p:cNvSpPr/>
          <p:nvPr/>
        </p:nvSpPr>
        <p:spPr>
          <a:xfrm>
            <a:off x="887626" y="1413681"/>
            <a:ext cx="5183990" cy="1292919"/>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a</a:t>
            </a:r>
            <a:r>
              <a:rPr lang="en-US" dirty="0"/>
              <a:t>) The weight of the edge from vertex </a:t>
            </a:r>
            <a:r>
              <a:rPr lang="en-US" dirty="0" smtClean="0"/>
              <a:t>I to j.</a:t>
            </a:r>
            <a:r>
              <a:rPr lang="en-US" dirty="0"/>
              <a:t/>
            </a:r>
            <a:br>
              <a:rPr lang="en-US" dirty="0"/>
            </a:br>
            <a:r>
              <a:rPr lang="en-US" dirty="0"/>
              <a:t>b) Whether there is an edge from </a:t>
            </a:r>
            <a:r>
              <a:rPr lang="en-US" dirty="0" err="1" smtClean="0"/>
              <a:t>i</a:t>
            </a:r>
            <a:r>
              <a:rPr lang="en-US" dirty="0" smtClean="0"/>
              <a:t> </a:t>
            </a:r>
            <a:r>
              <a:rPr lang="en-US" dirty="0"/>
              <a:t>to </a:t>
            </a:r>
            <a:r>
              <a:rPr lang="en-US" dirty="0" smtClean="0"/>
              <a:t>j </a:t>
            </a:r>
            <a:r>
              <a:rPr lang="en-US" dirty="0"/>
              <a:t>(1 for yes, 0 for no).</a:t>
            </a:r>
            <a:br>
              <a:rPr lang="en-US" dirty="0"/>
            </a:br>
            <a:r>
              <a:rPr lang="en-US" dirty="0"/>
              <a:t>c) The number of edges connected to vertex </a:t>
            </a:r>
            <a:r>
              <a:rPr lang="en-US" dirty="0" err="1" smtClean="0"/>
              <a:t>i</a:t>
            </a:r>
            <a:r>
              <a:rPr lang="en-US" dirty="0" smtClean="0"/>
              <a:t>.</a:t>
            </a:r>
            <a:r>
              <a:rPr lang="en-US" dirty="0"/>
              <a:t/>
            </a:r>
            <a:br>
              <a:rPr lang="en-US" dirty="0"/>
            </a:br>
            <a:r>
              <a:rPr lang="en-US" dirty="0"/>
              <a:t>d) The shortest distance from </a:t>
            </a:r>
            <a:r>
              <a:rPr lang="en-US" dirty="0" err="1" smtClean="0"/>
              <a:t>i</a:t>
            </a:r>
            <a:r>
              <a:rPr lang="en-US" dirty="0" smtClean="0"/>
              <a:t> </a:t>
            </a:r>
            <a:r>
              <a:rPr lang="en-US" dirty="0"/>
              <a:t>to </a:t>
            </a:r>
            <a:r>
              <a:rPr lang="en-US" dirty="0" smtClean="0"/>
              <a:t>j.</a:t>
            </a:r>
            <a:endParaRPr lang="en-IN" dirty="0">
              <a:latin typeface="Times New Roman" panose="02020603050405020304" pitchFamily="18" charset="0"/>
              <a:cs typeface="Times New Roman" panose="02020603050405020304" pitchFamily="18" charset="0"/>
            </a:endParaRPr>
          </a:p>
        </p:txBody>
      </p:sp>
      <p:sp>
        <p:nvSpPr>
          <p:cNvPr id="13" name="Google Shape;502;p17">
            <a:extLst>
              <a:ext uri="{FF2B5EF4-FFF2-40B4-BE49-F238E27FC236}">
                <a16:creationId xmlns="" xmlns:a16="http://schemas.microsoft.com/office/drawing/2014/main" id="{BB41B87C-BE5F-4BF2-531D-57DC21D1A451}"/>
              </a:ext>
            </a:extLst>
          </p:cNvPr>
          <p:cNvSpPr/>
          <p:nvPr/>
        </p:nvSpPr>
        <p:spPr>
          <a:xfrm>
            <a:off x="686021" y="2706600"/>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indent="-342900"/>
            <a:r>
              <a:rPr lang="en-IN" b="1" dirty="0">
                <a:solidFill>
                  <a:schemeClr val="bg1"/>
                </a:solidFill>
                <a:latin typeface="Times New Roman" panose="02020603050405020304" pitchFamily="18" charset="0"/>
                <a:cs typeface="Times New Roman" panose="02020603050405020304" pitchFamily="18" charset="0"/>
              </a:rPr>
              <a:t>2. </a:t>
            </a:r>
            <a:r>
              <a:rPr lang="en-US" dirty="0"/>
              <a:t>Which of the following is </a:t>
            </a:r>
            <a:r>
              <a:rPr lang="en-US" b="1" dirty="0"/>
              <a:t>not true</a:t>
            </a:r>
            <a:r>
              <a:rPr lang="en-US" dirty="0"/>
              <a:t> for an adjacency matrix?</a:t>
            </a:r>
            <a:r>
              <a:rPr lang="en-IN" b="1" dirty="0" smtClean="0">
                <a:solidFill>
                  <a:schemeClr val="bg1"/>
                </a:solidFill>
                <a:latin typeface="Times New Roman" panose="02020603050405020304" pitchFamily="18" charset="0"/>
                <a:cs typeface="Times New Roman" panose="02020603050405020304" pitchFamily="18" charset="0"/>
              </a:rPr>
              <a:t>?</a:t>
            </a:r>
            <a:endParaRPr sz="1600" b="1" dirty="0">
              <a:solidFill>
                <a:schemeClr val="bg1"/>
              </a:solidFill>
              <a:latin typeface="Times New Roman" panose="02020603050405020304" pitchFamily="18" charset="0"/>
              <a:ea typeface="Calibri"/>
              <a:cs typeface="Times New Roman" panose="02020603050405020304" pitchFamily="18" charset="0"/>
              <a:sym typeface="Calibri"/>
            </a:endParaRPr>
          </a:p>
        </p:txBody>
      </p:sp>
      <p:sp>
        <p:nvSpPr>
          <p:cNvPr id="14" name="Rounded Rectangle 17">
            <a:extLst>
              <a:ext uri="{FF2B5EF4-FFF2-40B4-BE49-F238E27FC236}">
                <a16:creationId xmlns="" xmlns:a16="http://schemas.microsoft.com/office/drawing/2014/main" id="{7E00138C-2256-5D01-E821-A57ADA3BBCB0}"/>
              </a:ext>
            </a:extLst>
          </p:cNvPr>
          <p:cNvSpPr/>
          <p:nvPr/>
        </p:nvSpPr>
        <p:spPr>
          <a:xfrm>
            <a:off x="819246" y="3437097"/>
            <a:ext cx="5587853" cy="1463721"/>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latin typeface="Times New Roman" panose="02020603050405020304" pitchFamily="18" charset="0"/>
                <a:cs typeface="Times New Roman" panose="02020603050405020304" pitchFamily="18" charset="0"/>
              </a:rPr>
              <a:t>A. </a:t>
            </a:r>
            <a:r>
              <a:rPr lang="en-US" dirty="0"/>
              <a:t>It is space-efficient for dense graphs.</a:t>
            </a:r>
            <a:br>
              <a:rPr lang="en-US" dirty="0"/>
            </a:br>
            <a:r>
              <a:rPr lang="en-US" dirty="0"/>
              <a:t>b) It is easy to check whether an edge exists between two vertices.</a:t>
            </a:r>
            <a:br>
              <a:rPr lang="en-US" dirty="0"/>
            </a:br>
            <a:r>
              <a:rPr lang="en-US" dirty="0"/>
              <a:t>c) It is space-efficient for sparse graphs.</a:t>
            </a:r>
            <a:br>
              <a:rPr lang="en-US" dirty="0"/>
            </a:br>
            <a:r>
              <a:rPr lang="en-US" dirty="0"/>
              <a:t>d) It supports weighted graphs by storing weights instead of 1s.</a:t>
            </a:r>
            <a:endParaRPr lang="en-IN" dirty="0">
              <a:latin typeface="Times New Roman" panose="02020603050405020304" pitchFamily="18" charset="0"/>
              <a:cs typeface="Times New Roman" panose="02020603050405020304" pitchFamily="18" charset="0"/>
            </a:endParaRP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Google Shape;502;p17">
            <a:extLst>
              <a:ext uri="{FF2B5EF4-FFF2-40B4-BE49-F238E27FC236}">
                <a16:creationId xmlns="" xmlns:a16="http://schemas.microsoft.com/office/drawing/2014/main" id="{4A029437-3F91-230B-B6B8-0AA8E59B9B49}"/>
              </a:ext>
            </a:extLst>
          </p:cNvPr>
          <p:cNvSpPr/>
          <p:nvPr/>
        </p:nvSpPr>
        <p:spPr>
          <a:xfrm>
            <a:off x="686021" y="4900818"/>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indent="-342900"/>
            <a:r>
              <a:rPr lang="en-IN" b="1" dirty="0">
                <a:solidFill>
                  <a:schemeClr val="bg1"/>
                </a:solidFill>
                <a:latin typeface="Times New Roman" panose="02020603050405020304" pitchFamily="18" charset="0"/>
                <a:cs typeface="Times New Roman" panose="02020603050405020304" pitchFamily="18" charset="0"/>
              </a:rPr>
              <a:t>3. </a:t>
            </a:r>
            <a:r>
              <a:rPr lang="en-US" dirty="0"/>
              <a:t>Which of the following graph algorithms can efficiently use an adjacency matrix?</a:t>
            </a:r>
            <a:endParaRPr sz="1600" b="1" dirty="0">
              <a:solidFill>
                <a:schemeClr val="bg1"/>
              </a:solidFill>
              <a:latin typeface="Times New Roman" panose="02020603050405020304" pitchFamily="18" charset="0"/>
              <a:ea typeface="Calibri"/>
              <a:cs typeface="Times New Roman" panose="02020603050405020304" pitchFamily="18" charset="0"/>
              <a:sym typeface="Calibri"/>
            </a:endParaRPr>
          </a:p>
        </p:txBody>
      </p:sp>
      <p:sp>
        <p:nvSpPr>
          <p:cNvPr id="3" name="Rounded Rectangle 17">
            <a:extLst>
              <a:ext uri="{FF2B5EF4-FFF2-40B4-BE49-F238E27FC236}">
                <a16:creationId xmlns="" xmlns:a16="http://schemas.microsoft.com/office/drawing/2014/main" id="{F40F1C73-8B61-62D1-1B18-E99D71FE9B5B}"/>
              </a:ext>
            </a:extLst>
          </p:cNvPr>
          <p:cNvSpPr/>
          <p:nvPr/>
        </p:nvSpPr>
        <p:spPr>
          <a:xfrm>
            <a:off x="819246" y="5611062"/>
            <a:ext cx="5587853" cy="1176776"/>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smtClean="0">
                <a:latin typeface="Times New Roman" panose="02020603050405020304" pitchFamily="18" charset="0"/>
                <a:cs typeface="Times New Roman" panose="02020603050405020304" pitchFamily="18" charset="0"/>
              </a:rPr>
              <a:t>a) </a:t>
            </a:r>
            <a:r>
              <a:rPr lang="en-US" dirty="0" err="1" smtClean="0"/>
              <a:t>Dijkstra’s</a:t>
            </a:r>
            <a:r>
              <a:rPr lang="en-US" dirty="0" smtClean="0"/>
              <a:t> </a:t>
            </a:r>
            <a:r>
              <a:rPr lang="en-US" dirty="0"/>
              <a:t>algorithm for shortest path.</a:t>
            </a:r>
            <a:br>
              <a:rPr lang="en-US" dirty="0"/>
            </a:br>
            <a:r>
              <a:rPr lang="en-US" dirty="0"/>
              <a:t>b) Floyd-</a:t>
            </a:r>
            <a:r>
              <a:rPr lang="en-US" dirty="0" err="1"/>
              <a:t>Warshall</a:t>
            </a:r>
            <a:r>
              <a:rPr lang="en-US" dirty="0"/>
              <a:t> algorithm for all-pairs shortest paths.</a:t>
            </a:r>
            <a:br>
              <a:rPr lang="en-US" dirty="0"/>
            </a:br>
            <a:r>
              <a:rPr lang="en-US" dirty="0"/>
              <a:t>c) Depth-First Search (DFS).</a:t>
            </a:r>
            <a:br>
              <a:rPr lang="en-US" dirty="0"/>
            </a:br>
            <a:r>
              <a:rPr lang="en-US" dirty="0"/>
              <a:t>d) </a:t>
            </a:r>
            <a:r>
              <a:rPr lang="en-US" dirty="0" err="1"/>
              <a:t>Kruskal’s</a:t>
            </a:r>
            <a:r>
              <a:rPr lang="en-US" dirty="0"/>
              <a:t> Minimum Spanning Tree algorithm.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66921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up)">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P spid="2" grpId="0" animBg="1"/>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45E056E-10BD-0B9E-4ACE-A3F54C31FD9F}"/>
              </a:ext>
            </a:extLst>
          </p:cNvPr>
          <p:cNvSpPr/>
          <p:nvPr/>
        </p:nvSpPr>
        <p:spPr>
          <a:xfrm>
            <a:off x="3260007" y="187783"/>
            <a:ext cx="6276409"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latin typeface="Times New Roman" panose="02020603050405020304" pitchFamily="18" charset="0"/>
                <a:cs typeface="Times New Roman" panose="02020603050405020304" pitchFamily="18" charset="0"/>
              </a:rPr>
              <a:t>TERMINAL QUESTIONS</a:t>
            </a:r>
          </a:p>
        </p:txBody>
      </p:sp>
      <p:sp>
        <p:nvSpPr>
          <p:cNvPr id="9" name="TextBox 8"/>
          <p:cNvSpPr txBox="1"/>
          <p:nvPr/>
        </p:nvSpPr>
        <p:spPr>
          <a:xfrm>
            <a:off x="2434915" y="2162451"/>
            <a:ext cx="7928155" cy="3539430"/>
          </a:xfrm>
          <a:prstGeom prst="rect">
            <a:avLst/>
          </a:prstGeom>
          <a:noFill/>
        </p:spPr>
        <p:txBody>
          <a:bodyPr wrap="square" lIns="91440" tIns="45720" rIns="91440" bIns="45720" rtlCol="0" anchor="t">
            <a:spAutoFit/>
          </a:bodyPr>
          <a:lstStyle/>
          <a:p>
            <a:pPr marL="514350" indent="-514350">
              <a:buAutoNum type="arabicPeriod"/>
            </a:pPr>
            <a:r>
              <a:rPr lang="en-US" sz="3200" dirty="0" smtClean="0"/>
              <a:t>What </a:t>
            </a:r>
            <a:r>
              <a:rPr lang="en-US" sz="3200" dirty="0"/>
              <a:t>is an adjacency matrix, and how is it used to represent graphs</a:t>
            </a:r>
            <a:r>
              <a:rPr lang="en-US" sz="3200" dirty="0" smtClean="0"/>
              <a:t>?</a:t>
            </a:r>
          </a:p>
          <a:p>
            <a:pPr marL="514350" indent="-514350">
              <a:buAutoNum type="arabicPeriod"/>
            </a:pPr>
            <a:r>
              <a:rPr lang="en-US" sz="3200" dirty="0"/>
              <a:t>Explain the differences in adjacency matrices for undirected, directed, and weighted </a:t>
            </a:r>
            <a:r>
              <a:rPr lang="en-US" sz="3200" dirty="0" smtClean="0"/>
              <a:t>graphs.</a:t>
            </a:r>
          </a:p>
          <a:p>
            <a:r>
              <a:rPr lang="en-US" sz="3200" dirty="0" smtClean="0">
                <a:latin typeface="Times New Roman"/>
                <a:cs typeface="Times New Roman"/>
              </a:rPr>
              <a:t>3. </a:t>
            </a:r>
            <a:r>
              <a:rPr lang="en-US" sz="3200" dirty="0"/>
              <a:t>Describe how to count the number of edges in a graph using its adjacency matrix</a:t>
            </a:r>
            <a:endParaRPr lang="en-US" sz="3200" dirty="0">
              <a:latin typeface="Times New Roman"/>
              <a:cs typeface="Times New Roman"/>
            </a:endParaRP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2309228" cy="600076"/>
          </a:xfrm>
          <a:prstGeom prst="rect">
            <a:avLst/>
          </a:prstGeom>
          <a:noFill/>
        </p:spPr>
      </p:pic>
    </p:spTree>
    <p:extLst>
      <p:ext uri="{BB962C8B-B14F-4D97-AF65-F5344CB8AC3E}">
        <p14:creationId xmlns:p14="http://schemas.microsoft.com/office/powerpoint/2010/main" val="39402875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45E056E-10BD-0B9E-4ACE-A3F54C31FD9F}"/>
              </a:ext>
            </a:extLst>
          </p:cNvPr>
          <p:cNvSpPr/>
          <p:nvPr/>
        </p:nvSpPr>
        <p:spPr>
          <a:xfrm>
            <a:off x="2108718" y="158864"/>
            <a:ext cx="8882743" cy="59667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REFERENCES FOR FURTHER LEARNING OF THE SESSION</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2">
            <a:extLst>
              <a:ext uri="{FF2B5EF4-FFF2-40B4-BE49-F238E27FC236}">
                <a16:creationId xmlns="" xmlns:a16="http://schemas.microsoft.com/office/drawing/2014/main" id="{E5B5C571-3A43-FAC0-56FA-D5E56691C93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1">
            <a:extLst>
              <a:ext uri="{FF2B5EF4-FFF2-40B4-BE49-F238E27FC236}">
                <a16:creationId xmlns="" xmlns:a16="http://schemas.microsoft.com/office/drawing/2014/main" id="{D819F75A-1162-9E61-F7FB-619431DF3CFC}"/>
              </a:ext>
            </a:extLst>
          </p:cNvPr>
          <p:cNvSpPr>
            <a:spLocks noChangeArrowheads="1"/>
          </p:cNvSpPr>
          <p:nvPr/>
        </p:nvSpPr>
        <p:spPr bwMode="auto">
          <a:xfrm>
            <a:off x="1647825" y="690563"/>
            <a:ext cx="49213" cy="14287"/>
          </a:xfrm>
          <a:prstGeom prst="rect">
            <a:avLst/>
          </a:prstGeom>
          <a:solidFill>
            <a:srgbClr val="000000"/>
          </a:solidFill>
          <a:ln>
            <a:noFill/>
          </a:ln>
          <a:extLst>
            <a:ext uri="{91240B29-F687-4F45-9708-019B960494DF}">
              <a14:hiddenLine xmlns:a14="http://schemas.microsoft.com/office/drawing/2010/main" w="9525">
                <a:solidFill>
                  <a:srgbClr val="3465A4"/>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6" name="Rectangle 3">
            <a:extLst>
              <a:ext uri="{FF2B5EF4-FFF2-40B4-BE49-F238E27FC236}">
                <a16:creationId xmlns="" xmlns:a16="http://schemas.microsoft.com/office/drawing/2014/main" id="{E0B71DF7-1C35-1050-36BE-FF0850A2915E}"/>
              </a:ext>
            </a:extLst>
          </p:cNvPr>
          <p:cNvSpPr>
            <a:spLocks noChangeArrowheads="1"/>
          </p:cNvSpPr>
          <p:nvPr/>
        </p:nvSpPr>
        <p:spPr bwMode="auto">
          <a:xfrm>
            <a:off x="499165" y="682982"/>
            <a:ext cx="11193670" cy="569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69752" tIns="103155" rIns="91440" bIns="45720" numCol="1" anchor="ctr" anchorCtr="0" compatLnSpc="1">
            <a:prstTxWarp prst="textNoShape">
              <a:avLst/>
            </a:prstTxWarp>
            <a:spAutoFit/>
          </a:bodyPr>
          <a:lstStyle>
            <a:lvl1pPr eaLnBrk="0" fontAlgn="base" hangingPunct="0">
              <a:spcBef>
                <a:spcPct val="0"/>
              </a:spcBef>
              <a:spcAft>
                <a:spcPct val="0"/>
              </a:spcAft>
              <a:tabLst>
                <a:tab pos="927100" algn="l"/>
              </a:tabLst>
              <a:defRPr>
                <a:solidFill>
                  <a:schemeClr val="tx1"/>
                </a:solidFill>
                <a:latin typeface="Arial" panose="020B0604020202020204" pitchFamily="34" charset="0"/>
              </a:defRPr>
            </a:lvl1pPr>
            <a:lvl2pPr eaLnBrk="0" fontAlgn="base" hangingPunct="0">
              <a:spcBef>
                <a:spcPct val="0"/>
              </a:spcBef>
              <a:spcAft>
                <a:spcPct val="0"/>
              </a:spcAft>
              <a:tabLst>
                <a:tab pos="927100" algn="l"/>
              </a:tabLst>
              <a:defRPr>
                <a:solidFill>
                  <a:schemeClr val="tx1"/>
                </a:solidFill>
                <a:latin typeface="Arial" panose="020B0604020202020204" pitchFamily="34" charset="0"/>
              </a:defRPr>
            </a:lvl2pPr>
            <a:lvl3pPr eaLnBrk="0" fontAlgn="base" hangingPunct="0">
              <a:spcBef>
                <a:spcPct val="0"/>
              </a:spcBef>
              <a:spcAft>
                <a:spcPct val="0"/>
              </a:spcAft>
              <a:tabLst>
                <a:tab pos="927100" algn="l"/>
              </a:tabLst>
              <a:defRPr>
                <a:solidFill>
                  <a:schemeClr val="tx1"/>
                </a:solidFill>
                <a:latin typeface="Arial" panose="020B0604020202020204" pitchFamily="34" charset="0"/>
              </a:defRPr>
            </a:lvl3pPr>
            <a:lvl4pPr eaLnBrk="0" fontAlgn="base" hangingPunct="0">
              <a:spcBef>
                <a:spcPct val="0"/>
              </a:spcBef>
              <a:spcAft>
                <a:spcPct val="0"/>
              </a:spcAft>
              <a:tabLst>
                <a:tab pos="927100" algn="l"/>
              </a:tabLst>
              <a:defRPr>
                <a:solidFill>
                  <a:schemeClr val="tx1"/>
                </a:solidFill>
                <a:latin typeface="Arial" panose="020B0604020202020204" pitchFamily="34" charset="0"/>
              </a:defRPr>
            </a:lvl4pPr>
            <a:lvl5pPr eaLnBrk="0" fontAlgn="base" hangingPunct="0">
              <a:spcBef>
                <a:spcPct val="0"/>
              </a:spcBef>
              <a:spcAft>
                <a:spcPct val="0"/>
              </a:spcAft>
              <a:tabLst>
                <a:tab pos="927100" algn="l"/>
              </a:tabLst>
              <a:defRPr>
                <a:solidFill>
                  <a:schemeClr val="tx1"/>
                </a:solidFill>
                <a:latin typeface="Arial" panose="020B0604020202020204" pitchFamily="34" charset="0"/>
              </a:defRPr>
            </a:lvl5pPr>
            <a:lvl6pPr eaLnBrk="0" fontAlgn="base" hangingPunct="0">
              <a:spcBef>
                <a:spcPct val="0"/>
              </a:spcBef>
              <a:spcAft>
                <a:spcPct val="0"/>
              </a:spcAft>
              <a:tabLst>
                <a:tab pos="927100" algn="l"/>
              </a:tabLst>
              <a:defRPr>
                <a:solidFill>
                  <a:schemeClr val="tx1"/>
                </a:solidFill>
                <a:latin typeface="Arial" panose="020B0604020202020204" pitchFamily="34" charset="0"/>
              </a:defRPr>
            </a:lvl6pPr>
            <a:lvl7pPr eaLnBrk="0" fontAlgn="base" hangingPunct="0">
              <a:spcBef>
                <a:spcPct val="0"/>
              </a:spcBef>
              <a:spcAft>
                <a:spcPct val="0"/>
              </a:spcAft>
              <a:tabLst>
                <a:tab pos="927100" algn="l"/>
              </a:tabLst>
              <a:defRPr>
                <a:solidFill>
                  <a:schemeClr val="tx1"/>
                </a:solidFill>
                <a:latin typeface="Arial" panose="020B0604020202020204" pitchFamily="34" charset="0"/>
              </a:defRPr>
            </a:lvl7pPr>
            <a:lvl8pPr eaLnBrk="0" fontAlgn="base" hangingPunct="0">
              <a:spcBef>
                <a:spcPct val="0"/>
              </a:spcBef>
              <a:spcAft>
                <a:spcPct val="0"/>
              </a:spcAft>
              <a:tabLst>
                <a:tab pos="927100" algn="l"/>
              </a:tabLst>
              <a:defRPr>
                <a:solidFill>
                  <a:schemeClr val="tx1"/>
                </a:solidFill>
                <a:latin typeface="Arial" panose="020B0604020202020204" pitchFamily="34" charset="0"/>
              </a:defRPr>
            </a:lvl8pPr>
            <a:lvl9pPr eaLnBrk="0" fontAlgn="base" hangingPunct="0">
              <a:spcBef>
                <a:spcPct val="0"/>
              </a:spcBef>
              <a:spcAft>
                <a:spcPct val="0"/>
              </a:spcAft>
              <a:tabLst>
                <a:tab pos="9271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927100" algn="l"/>
              </a:tabLst>
            </a:pPr>
            <a:r>
              <a:rPr kumimoji="0" lang="en-US" altLang="en-US" sz="16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r>
              <a:rPr lang="en-US" altLang="en-US" b="1" dirty="0">
                <a:ea typeface="Times New Roman" panose="02020603050405020304" pitchFamily="18" charset="0"/>
              </a:rPr>
              <a:t>T</a:t>
            </a:r>
            <a:r>
              <a:rPr kumimoji="0" lang="en-US" altLang="en-US"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EXTBOOKS:</a:t>
            </a:r>
            <a:endParaRPr kumimoji="0" lang="en-US" altLang="en-US" b="0" i="0" u="none" strike="noStrike" cap="none" normalizeH="0" baseline="0" dirty="0">
              <a:ln>
                <a:noFill/>
              </a:ln>
              <a:solidFill>
                <a:schemeClr val="tx1"/>
              </a:solidFill>
              <a:effectLst/>
              <a:latin typeface="Arial" panose="020B0604020202020204" pitchFamily="34" charset="0"/>
            </a:endParaRPr>
          </a:p>
          <a:p>
            <a:pPr lvl="0"/>
            <a:r>
              <a:rPr lang="en-US" dirty="0" smtClean="0"/>
              <a:t>1. Mark </a:t>
            </a:r>
            <a:r>
              <a:rPr lang="en-US" dirty="0"/>
              <a:t>Allen Weiss, Data Structures and Algorithm Analysis in C, 2010, Second Edition, Pearson Education.</a:t>
            </a:r>
          </a:p>
          <a:p>
            <a:pPr lvl="0"/>
            <a:r>
              <a:rPr lang="en-US" dirty="0" smtClean="0"/>
              <a:t>2. Allen </a:t>
            </a:r>
            <a:r>
              <a:rPr lang="en-US" dirty="0"/>
              <a:t>B. Downey, ”Think Python: How to Think Like a Computer Scientist’’, 2nd edition, Updated for Python 3, Shroff/O’Reilly Publishers, 2016 (</a:t>
            </a:r>
            <a:r>
              <a:rPr lang="en-US" u="sng" dirty="0">
                <a:hlinkClick r:id="rId3"/>
              </a:rPr>
              <a:t>http://greenteapress.com/wp/thinkpython/</a:t>
            </a:r>
            <a:r>
              <a:rPr lang="en-US" dirty="0"/>
              <a:t>)</a:t>
            </a:r>
          </a:p>
          <a:p>
            <a:r>
              <a:rPr lang="en-US" dirty="0" smtClean="0"/>
              <a:t>3. Data </a:t>
            </a:r>
            <a:r>
              <a:rPr lang="en-US" dirty="0"/>
              <a:t>Structures and algorithms using python, 2011,Rance D, </a:t>
            </a:r>
            <a:r>
              <a:rPr lang="en-US" dirty="0" err="1"/>
              <a:t>Necaise</a:t>
            </a:r>
            <a:r>
              <a:rPr lang="en-US" dirty="0"/>
              <a:t>, </a:t>
            </a:r>
            <a:r>
              <a:rPr lang="en-US" dirty="0" err="1"/>
              <a:t>himilton</a:t>
            </a:r>
            <a:r>
              <a:rPr lang="en-US" dirty="0"/>
              <a:t> </a:t>
            </a:r>
            <a:r>
              <a:rPr lang="en-US" dirty="0" smtClean="0"/>
              <a:t>printing</a:t>
            </a:r>
          </a:p>
          <a:p>
            <a:r>
              <a:rPr kumimoji="0" lang="en-US" altLang="en-US"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REFERENCE </a:t>
            </a:r>
            <a:r>
              <a:rPr kumimoji="0" lang="en-US" altLang="en-US"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BOOKS</a:t>
            </a:r>
            <a:r>
              <a:rPr kumimoji="0" lang="en-US" altLang="en-US" b="1" i="0" u="sng" strike="noStrike" cap="none" normalizeH="0" baseline="0" dirty="0">
                <a:ln>
                  <a:noFill/>
                </a:ln>
                <a:solidFill>
                  <a:schemeClr val="tx1"/>
                </a:solidFill>
                <a:effectLst/>
                <a:latin typeface="Arial" panose="020B0604020202020204" pitchFamily="34" charset="0"/>
                <a:ea typeface="Times New Roman" panose="02020603050405020304" pitchFamily="18" charset="0"/>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lvl="0"/>
            <a:r>
              <a:rPr lang="en-US" dirty="0" smtClean="0"/>
              <a:t>1. Data </a:t>
            </a:r>
            <a:r>
              <a:rPr lang="en-US" dirty="0"/>
              <a:t>Structures and Algorithm Analysis in PYTHON, 2010, Mark Allen Weiss, Second Edition, Pearson Education.</a:t>
            </a:r>
          </a:p>
          <a:p>
            <a:pPr lvl="0"/>
            <a:r>
              <a:rPr lang="en-US" dirty="0" smtClean="0"/>
              <a:t>2. Data </a:t>
            </a:r>
            <a:r>
              <a:rPr lang="en-US" dirty="0"/>
              <a:t>Structures and Algorithms, </a:t>
            </a:r>
            <a:r>
              <a:rPr lang="en-US" dirty="0" err="1"/>
              <a:t>A.V.Aho</a:t>
            </a:r>
            <a:r>
              <a:rPr lang="en-US" dirty="0"/>
              <a:t>, </a:t>
            </a:r>
            <a:r>
              <a:rPr lang="en-US" dirty="0" err="1"/>
              <a:t>J.E.Hopcroft</a:t>
            </a:r>
            <a:r>
              <a:rPr lang="en-US" dirty="0"/>
              <a:t>, and </a:t>
            </a:r>
            <a:r>
              <a:rPr lang="en-US" dirty="0" err="1"/>
              <a:t>J.D.Ullman</a:t>
            </a:r>
            <a:r>
              <a:rPr lang="en-US" dirty="0"/>
              <a:t>, Pearson Education, First Edition Reprint2003.</a:t>
            </a:r>
          </a:p>
          <a:p>
            <a:pPr lvl="0"/>
            <a:r>
              <a:rPr lang="en-US" dirty="0" smtClean="0"/>
              <a:t>3. Advanced </a:t>
            </a:r>
            <a:r>
              <a:rPr lang="en-US" dirty="0"/>
              <a:t>Guide to Python 3 Programming, John Hunt, 4</a:t>
            </a:r>
            <a:r>
              <a:rPr lang="en-US" baseline="30000" dirty="0"/>
              <a:t>th</a:t>
            </a:r>
            <a:r>
              <a:rPr lang="en-US" dirty="0"/>
              <a:t> Edition, Springer Nature Switzerland AG 2019.</a:t>
            </a:r>
          </a:p>
          <a:p>
            <a:r>
              <a:rPr lang="en-US" dirty="0" smtClean="0"/>
              <a:t>4. Python </a:t>
            </a:r>
            <a:r>
              <a:rPr lang="en-US" dirty="0"/>
              <a:t>Basics: A Practice Introduction to Python 3, David Amos, Dan Bader, Joanna </a:t>
            </a:r>
            <a:r>
              <a:rPr lang="en-US" dirty="0" err="1"/>
              <a:t>Jablonski</a:t>
            </a:r>
            <a:r>
              <a:rPr lang="en-US" dirty="0"/>
              <a:t>, Fletcher </a:t>
            </a:r>
            <a:r>
              <a:rPr lang="en-US" dirty="0" err="1"/>
              <a:t>Heisler</a:t>
            </a:r>
            <a:r>
              <a:rPr lang="en-US" dirty="0"/>
              <a:t>, 4</a:t>
            </a:r>
            <a:r>
              <a:rPr lang="en-US" baseline="30000" dirty="0"/>
              <a:t>th</a:t>
            </a:r>
            <a:r>
              <a:rPr lang="en-US" dirty="0"/>
              <a:t> edition, Real Python.</a:t>
            </a:r>
            <a:r>
              <a:rPr kumimoji="0" lang="en-US" alt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a:t>
            </a:r>
            <a:endParaRPr kumimoji="0" lang="en-US" altLang="en-US"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tab pos="927100" algn="l"/>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927100" algn="l"/>
              </a:tabLst>
            </a:pPr>
            <a:r>
              <a:rPr kumimoji="0" lang="en-US" altLang="en-US"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WEB REFERNCES/MOOCS:</a:t>
            </a:r>
          </a:p>
          <a:p>
            <a:pPr lvl="0"/>
            <a:r>
              <a:rPr lang="en-US" u="sng" dirty="0" smtClean="0">
                <a:hlinkClick r:id="rId4"/>
              </a:rPr>
              <a:t>1. https</a:t>
            </a:r>
            <a:r>
              <a:rPr lang="en-US" u="sng" dirty="0">
                <a:hlinkClick r:id="rId4"/>
              </a:rPr>
              <a:t>://docs.python.org/3/tutorial/datastructures.html</a:t>
            </a:r>
            <a:endParaRPr lang="en-US" dirty="0"/>
          </a:p>
          <a:p>
            <a:pPr lvl="0"/>
            <a:r>
              <a:rPr lang="en-US" u="sng" dirty="0" smtClean="0">
                <a:hlinkClick r:id="rId5"/>
              </a:rPr>
              <a:t>2. https</a:t>
            </a:r>
            <a:r>
              <a:rPr lang="en-US" u="sng" dirty="0">
                <a:hlinkClick r:id="rId5"/>
              </a:rPr>
              <a:t>://www.w3schools.com/dsa/dsa_intro.php</a:t>
            </a:r>
            <a:endParaRPr lang="en-US" dirty="0"/>
          </a:p>
          <a:p>
            <a:r>
              <a:rPr lang="en-US" u="sng" dirty="0" smtClean="0">
                <a:hlinkClick r:id="rId6"/>
              </a:rPr>
              <a:t>3. https</a:t>
            </a:r>
            <a:r>
              <a:rPr lang="en-US" u="sng" dirty="0">
                <a:hlinkClick r:id="rId6"/>
              </a:rPr>
              <a:t>://www.geeksforgeeks.org/python-data-structures/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689316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smtClean="0">
                <a:latin typeface="Poppins"/>
                <a:cs typeface="Poppins"/>
              </a:rPr>
              <a:t>Team </a:t>
            </a:r>
            <a:r>
              <a:rPr lang="en-US" sz="2400" b="1" dirty="0">
                <a:latin typeface="Poppins"/>
                <a:cs typeface="Poppins"/>
              </a:rPr>
              <a:t>– </a:t>
            </a:r>
            <a:r>
              <a:rPr lang="en-US" sz="3200" b="1" dirty="0"/>
              <a:t>Data </a:t>
            </a:r>
            <a:r>
              <a:rPr lang="en-US" sz="3200" b="1" dirty="0" smtClean="0"/>
              <a:t>Structures through Python</a:t>
            </a:r>
            <a:r>
              <a:rPr lang="en-US" sz="3200" b="1" dirty="0"/>
              <a:t> </a:t>
            </a:r>
            <a:endParaRPr lang="en-US" sz="3200" b="1" dirty="0">
              <a:ea typeface="Calibri" panose="020F0502020204030204"/>
              <a:cs typeface="Calibri" panose="020F0502020204030204"/>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328</TotalTime>
  <Words>2891</Words>
  <Application>Microsoft Office PowerPoint</Application>
  <PresentationFormat>Widescreen</PresentationFormat>
  <Paragraphs>140</Paragraphs>
  <Slides>25</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Arial</vt:lpstr>
      <vt:lpstr>BioRhyme ExtraBold</vt:lpstr>
      <vt:lpstr>Calibri</vt:lpstr>
      <vt:lpstr>Calibri Light</vt:lpstr>
      <vt:lpstr>Cambria Math</vt:lpstr>
      <vt:lpstr>Poppins</vt:lpstr>
      <vt:lpstr>Tahoma</vt:lpstr>
      <vt:lpstr>Times New Roman</vt:lpstr>
      <vt:lpstr>Wingdings</vt:lpstr>
      <vt:lpstr>1_Office Theme</vt:lpstr>
      <vt:lpstr>PowerPoint Presentation</vt:lpstr>
      <vt:lpstr>PowerPoint Presentation</vt:lpstr>
      <vt:lpstr>PowerPoint Presentation</vt:lpstr>
      <vt:lpstr>Why are Graphs Useful?</vt:lpstr>
      <vt:lpstr>Definition:</vt:lpstr>
      <vt:lpstr>PowerPoint Presentation</vt:lpstr>
      <vt:lpstr>PowerPoint Presentation</vt:lpstr>
      <vt:lpstr>PowerPoint Presentation</vt:lpstr>
      <vt:lpstr>PowerPoint Presentation</vt:lpstr>
      <vt:lpstr>Directed Graphs:</vt:lpstr>
      <vt:lpstr>PowerPoint Presentation</vt:lpstr>
      <vt:lpstr>PowerPoint Presentation</vt:lpstr>
      <vt:lpstr>PowerPoint Presentation</vt:lpstr>
      <vt:lpstr>REPRESENTATION OF GRAPHS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Microsoft account</cp:lastModifiedBy>
  <cp:revision>53</cp:revision>
  <dcterms:created xsi:type="dcterms:W3CDTF">2020-02-08T09:57:00Z</dcterms:created>
  <dcterms:modified xsi:type="dcterms:W3CDTF">2024-12-13T13:03:12Z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y fmtid="{D5CDD505-2E9C-101B-9397-08002B2CF9AE}" pid="3" name="ICV">
    <vt:lpwstr>E507977E0DD044DDA157887CD3DD9D27</vt:lpwstr>
  </property>
  <property fmtid="{D5CDD505-2E9C-101B-9397-08002B2CF9AE}" pid="4" name="KSOProductBuildVer">
    <vt:lpwstr>1033-11.2.0.11417</vt:lpwstr>
  </property>
</Properties>
</file>