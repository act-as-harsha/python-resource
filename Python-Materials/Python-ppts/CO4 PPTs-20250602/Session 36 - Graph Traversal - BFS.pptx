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71" r:id="rId5"/>
    <p:sldId id="300" r:id="rId6"/>
    <p:sldId id="258" r:id="rId7"/>
    <p:sldId id="312" r:id="rId8"/>
    <p:sldId id="288" r:id="rId9"/>
    <p:sldId id="290" r:id="rId10"/>
    <p:sldId id="305" r:id="rId11"/>
    <p:sldId id="299" r:id="rId12"/>
    <p:sldId id="287" r:id="rId13"/>
    <p:sldId id="301" r:id="rId14"/>
    <p:sldId id="302" r:id="rId15"/>
    <p:sldId id="313"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83" d="100"/>
          <a:sy n="83" d="100"/>
        </p:scale>
        <p:origin x="629"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greenteapress.com/wp/thinkpython/"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www.geeksforgeeks.org/python-data-structures/" TargetMode="External"/><Relationship Id="rId5" Type="http://schemas.openxmlformats.org/officeDocument/2006/relationships/hyperlink" Target="https://www.w3schools.com/dsa/dsa_intro.php" TargetMode="External"/><Relationship Id="rId4" Type="http://schemas.openxmlformats.org/officeDocument/2006/relationships/hyperlink" Target="https://docs.python.org/3/tutorial/datastructures.html"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36452"/>
            <a:ext cx="6027459" cy="6623931"/>
          </a:xfrm>
          <a:prstGeom prst="rect">
            <a:avLst/>
          </a:prstGeom>
          <a:noFill/>
          <a:ln>
            <a:noFill/>
          </a:ln>
        </p:spPr>
      </p:pic>
      <p:sp>
        <p:nvSpPr>
          <p:cNvPr id="476" name="Google Shape;476;p16"/>
          <p:cNvSpPr txBox="1"/>
          <p:nvPr/>
        </p:nvSpPr>
        <p:spPr>
          <a:xfrm>
            <a:off x="5394455" y="1933408"/>
            <a:ext cx="6902548" cy="3908722"/>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a:t>
            </a:r>
            <a:r>
              <a:rPr lang="en-US" sz="3200" b="1" dirty="0" smtClean="0">
                <a:solidFill>
                  <a:schemeClr val="accent1"/>
                </a:solidFill>
              </a:rPr>
              <a:t>Structures through Python</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smtClean="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endParaRPr lang="en-US" sz="4000" b="1" dirty="0">
              <a:solidFill>
                <a:srgbClr val="C00000"/>
              </a:solidFill>
              <a:cs typeface="Poppins" panose="00000500000000000000" pitchFamily="2" charset="0"/>
            </a:endParaRPr>
          </a:p>
          <a:p>
            <a:pPr marR="0" lvl="0" indent="0" algn="ctr">
              <a:spcBef>
                <a:spcPts val="0"/>
              </a:spcBef>
              <a:spcAft>
                <a:spcPts val="0"/>
              </a:spcAft>
              <a:buNone/>
            </a:pPr>
            <a:r>
              <a:rPr lang="en-US" sz="4000" b="1" cap="all" dirty="0" smtClean="0">
                <a:ln/>
                <a:solidFill>
                  <a:srgbClr val="C00000"/>
                </a:solidFill>
                <a:effectLst/>
                <a:cs typeface="Poppins" panose="00000500000000000000" pitchFamily="2" charset="0"/>
              </a:rPr>
              <a:t>Graph Traversal - BFS</a:t>
            </a:r>
            <a:endParaRPr lang="en-US" sz="4000" b="1" cap="all" dirty="0">
              <a:ln/>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7276164" y="5783923"/>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a:t>
            </a:r>
            <a:r>
              <a:rPr lang="en-US" sz="2400" dirty="0" smtClean="0">
                <a:solidFill>
                  <a:schemeClr val="lt1"/>
                </a:solidFill>
                <a:ea typeface="Calibri"/>
                <a:cs typeface="Poppins" panose="00000500000000000000" pitchFamily="2" charset="0"/>
                <a:sym typeface="Calibri"/>
              </a:rPr>
              <a:t>– 36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914400" y="684469"/>
            <a:ext cx="10731286" cy="877163"/>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a:t>
            </a:r>
            <a:r>
              <a:rPr lang="en-US" spc="-5" dirty="0" smtClean="0">
                <a:latin typeface="Times New Roman" panose="02020603050405020304" pitchFamily="18" charset="0"/>
                <a:ea typeface="Tahoma" panose="020B0604030504040204" pitchFamily="34" charset="0"/>
                <a:cs typeface="Times New Roman" panose="02020603050405020304" pitchFamily="18" charset="0"/>
              </a:rPr>
              <a:t>BFS</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a:t>
            </a:r>
            <a:r>
              <a:rPr lang="en-US" sz="1600" dirty="0">
                <a:latin typeface="Arial" panose="020B0604020202020204" pitchFamily="34" charset="0"/>
              </a:rPr>
              <a:t>t</a:t>
            </a:r>
            <a:r>
              <a:rPr lang="en-US" sz="1600" b="0" i="0" dirty="0" smtClean="0">
                <a:effectLst/>
                <a:latin typeface="Arial" panose="020B0604020202020204" pitchFamily="34" charset="0"/>
              </a:rPr>
              <a:t>he BFS</a:t>
            </a:r>
            <a:endParaRPr lang="en-US" sz="1600" dirty="0">
              <a:latin typeface="Arial" panose="020B0604020202020204" pitchFamily="34" charset="0"/>
            </a:endParaRPr>
          </a:p>
          <a:p>
            <a:pPr marL="342900" indent="-342900">
              <a:buAutoNum type="arabicPeriod"/>
            </a:pPr>
            <a:r>
              <a:rPr lang="en-US" sz="1600" dirty="0">
                <a:latin typeface="Arial" panose="020B0604020202020204" pitchFamily="34" charset="0"/>
              </a:rPr>
              <a:t>Apply BFS </a:t>
            </a:r>
            <a:r>
              <a:rPr lang="en-US" sz="1600" dirty="0" smtClean="0">
                <a:latin typeface="Arial" panose="020B0604020202020204" pitchFamily="34" charset="0"/>
              </a:rPr>
              <a:t>to </a:t>
            </a:r>
            <a:r>
              <a:rPr lang="en-US" sz="1600" dirty="0">
                <a:latin typeface="Arial" panose="020B0604020202020204" pitchFamily="34" charset="0"/>
              </a:rPr>
              <a:t>Real-World Problems.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Compare and Contrast BFS and DFS.</a:t>
            </a:r>
            <a:endParaRPr lang="en-US" sz="1600" b="0" i="0" dirty="0">
              <a:effectLst/>
              <a:latin typeface="Arial" panose="020B0604020202020204" pitchFamily="34" charset="0"/>
            </a:endParaRPr>
          </a:p>
          <a:p>
            <a:pPr marL="342900" indent="-342900">
              <a:buAutoNum type="arabicPeriod"/>
            </a:pPr>
            <a:r>
              <a:rPr lang="en-US" sz="1600" b="0" i="0" dirty="0">
                <a:effectLst/>
                <a:latin typeface="Arial"/>
                <a:cs typeface="Arial"/>
              </a:rPr>
              <a:t>Describe the each operation </a:t>
            </a:r>
          </a:p>
          <a:p>
            <a:pPr marL="342900" indent="-342900">
              <a:buAutoNum type="arabicPeriod"/>
            </a:pPr>
            <a:r>
              <a:rPr lang="en-US" sz="1600" dirty="0">
                <a:latin typeface="Arial"/>
                <a:cs typeface="Arial"/>
              </a:rPr>
              <a:t>List out the advantages and disadvantages with BFS and DFS.</a:t>
            </a:r>
          </a:p>
        </p:txBody>
      </p:sp>
      <p:pic>
        <p:nvPicPr>
          <p:cNvPr id="11"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xmlns=""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xmlns=""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t>
            </a:r>
            <a:r>
              <a:rPr lang="en-US" sz="1600" dirty="0" smtClean="0">
                <a:latin typeface="Arial" panose="020B0604020202020204" pitchFamily="34" charset="0"/>
              </a:rPr>
              <a:t>BFS</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a:t>
            </a:r>
            <a:r>
              <a:rPr lang="en-US" sz="1600" b="0" i="0" dirty="0" smtClean="0">
                <a:effectLst/>
                <a:latin typeface="Arial" panose="020B0604020202020204" pitchFamily="34" charset="0"/>
              </a:rPr>
              <a:t>BFS </a:t>
            </a:r>
            <a:r>
              <a:rPr lang="en-US" sz="1600" b="0" i="0" dirty="0">
                <a:effectLst/>
                <a:latin typeface="Arial" panose="020B0604020202020204" pitchFamily="34" charset="0"/>
              </a:rPr>
              <a:t>and its operations</a:t>
            </a:r>
          </a:p>
          <a:p>
            <a:pPr marL="342900" indent="-342900">
              <a:buAutoNum type="arabicPeriod"/>
            </a:pPr>
            <a:r>
              <a:rPr lang="en-US" sz="1600" dirty="0">
                <a:latin typeface="Arial" panose="020B0604020202020204" pitchFamily="34" charset="0"/>
              </a:rPr>
              <a:t>Summarize definition, and operations of BFS </a:t>
            </a:r>
            <a:r>
              <a:rPr lang="en-US" sz="1600" dirty="0" smtClean="0">
                <a:latin typeface="Arial" panose="020B0604020202020204" pitchFamily="34" charset="0"/>
              </a:rPr>
              <a:t>and </a:t>
            </a:r>
            <a:r>
              <a:rPr lang="en-US" sz="1600" dirty="0">
                <a:latin typeface="Arial" panose="020B0604020202020204" pitchFamily="34" charset="0"/>
              </a:rPr>
              <a:t>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BFS-</a:t>
            </a:r>
            <a:r>
              <a:rPr lang="en-US" sz="2400" dirty="0"/>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336055" cy="4278094"/>
          </a:xfrm>
          <a:prstGeom prst="rect">
            <a:avLst/>
          </a:prstGeom>
          <a:noFill/>
        </p:spPr>
        <p:txBody>
          <a:bodyPr wrap="square" rtlCol="0">
            <a:spAutoFit/>
          </a:bodyPr>
          <a:lstStyle/>
          <a:p>
            <a:pPr algn="just">
              <a:buFont typeface="Wingdings" pitchFamily="2" charset="2"/>
              <a:buChar char="Ø"/>
            </a:pPr>
            <a:r>
              <a:rPr lang="en-IN" sz="3200" dirty="0"/>
              <a:t> </a:t>
            </a:r>
            <a:r>
              <a:rPr lang="en-US" sz="2000" dirty="0">
                <a:latin typeface="Times New Roman" panose="02020603050405020304" pitchFamily="18" charset="0"/>
                <a:cs typeface="Times New Roman" panose="02020603050405020304" pitchFamily="18" charset="0"/>
              </a:rPr>
              <a:t>Breadth-First Search (BFS) is a fundamental graph traversal algorithm used to explore and analyze graphs and trees in a systematic manner. It starts from a specified source vertex and visits all the vertices in the graph, level by level, before moving to the next depth level. </a:t>
            </a:r>
          </a:p>
          <a:p>
            <a:pPr algn="just">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algn="just">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itchFamily="18" charset="0"/>
            </a:endParaRPr>
          </a:p>
          <a:p>
            <a:pPr algn="just">
              <a:buFont typeface="Wingdings" pitchFamily="2" charset="2"/>
              <a:buChar char="Ø"/>
            </a:pPr>
            <a:r>
              <a:rPr lang="en-US" sz="2000" dirty="0">
                <a:latin typeface="Times New Roman" pitchFamily="18" charset="0"/>
                <a:cs typeface="Times New Roman" pitchFamily="18" charset="0"/>
              </a:rPr>
              <a:t>This approach ensures that vertices at lower levels are visited before vertices at deeper levels, making BFS particularly useful for finding the shortest path between nodes and solving problems where proximity matters</a:t>
            </a:r>
            <a:r>
              <a:rPr lang="en-US" sz="2000" dirty="0" smtClean="0">
                <a:latin typeface="Times New Roman" pitchFamily="18" charset="0"/>
                <a:cs typeface="Times New Roman" pitchFamily="18" charset="0"/>
              </a:rPr>
              <a:t>.</a:t>
            </a:r>
          </a:p>
          <a:p>
            <a:pPr algn="just">
              <a:buFont typeface="Wingdings" pitchFamily="2" charset="2"/>
              <a:buChar char="Ø"/>
            </a:pPr>
            <a:endParaRPr lang="en-US" sz="2000" dirty="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buFont typeface="Wingdings" pitchFamily="2" charset="2"/>
              <a:buChar char="Ø"/>
            </a:pPr>
            <a:r>
              <a:rPr lang="en-US" sz="2000" dirty="0">
                <a:latin typeface="Times New Roman" panose="02020603050405020304" pitchFamily="18" charset="0"/>
                <a:cs typeface="Times New Roman" panose="02020603050405020304" pitchFamily="18" charset="0"/>
              </a:rPr>
              <a:t>Traversal means visiting all the nodes of a graph. Breadth First Traversal or Breadth First Search is a recursive algorithm for searching all the vertices of a graph or tree data structure.</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371600"/>
            <a:ext cx="11658600" cy="4370832"/>
          </a:xfrm>
        </p:spPr>
        <p:txBody>
          <a:bodyPr/>
          <a:lstStyle/>
          <a:p>
            <a:r>
              <a:rPr lang="en-US" sz="2000" dirty="0">
                <a:latin typeface="Times New Roman" panose="02020603050405020304" pitchFamily="18" charset="0"/>
                <a:cs typeface="Times New Roman" panose="02020603050405020304" pitchFamily="18" charset="0"/>
              </a:rPr>
              <a:t>A standard BFS implementation puts each vertex of the graph into one of two categories:</a:t>
            </a:r>
          </a:p>
          <a:p>
            <a:pPr lvl="5"/>
            <a:r>
              <a:rPr lang="en-US" sz="2000" dirty="0">
                <a:latin typeface="Times New Roman" panose="02020603050405020304" pitchFamily="18" charset="0"/>
                <a:cs typeface="Times New Roman" panose="02020603050405020304" pitchFamily="18" charset="0"/>
              </a:rPr>
              <a:t>Visited</a:t>
            </a:r>
          </a:p>
          <a:p>
            <a:pPr lvl="5"/>
            <a:r>
              <a:rPr lang="en-US" sz="2000" dirty="0">
                <a:latin typeface="Times New Roman" panose="02020603050405020304" pitchFamily="18" charset="0"/>
                <a:cs typeface="Times New Roman" panose="02020603050405020304" pitchFamily="18" charset="0"/>
              </a:rPr>
              <a:t>Not Visited</a:t>
            </a:r>
          </a:p>
          <a:p>
            <a:r>
              <a:rPr lang="en-US" sz="2000" dirty="0">
                <a:latin typeface="Times New Roman" panose="02020603050405020304" pitchFamily="18" charset="0"/>
                <a:cs typeface="Times New Roman" panose="02020603050405020304" pitchFamily="18" charset="0"/>
              </a:rPr>
              <a:t>The purpose of the algorithm is to mark each vertex as visited while avoiding cycles.</a:t>
            </a:r>
          </a:p>
          <a:p>
            <a:pPr marL="0" indent="0">
              <a:buNone/>
            </a:pPr>
            <a:r>
              <a:rPr lang="en-US" sz="2000" b="1" dirty="0">
                <a:latin typeface="Times New Roman" panose="02020603050405020304" pitchFamily="18" charset="0"/>
                <a:cs typeface="Times New Roman" panose="02020603050405020304" pitchFamily="18" charset="0"/>
              </a:rPr>
              <a:t>The algorithm works as follows:</a:t>
            </a:r>
          </a:p>
          <a:p>
            <a:r>
              <a:rPr lang="en-US" sz="2000" dirty="0">
                <a:latin typeface="Times New Roman" panose="02020603050405020304" pitchFamily="18" charset="0"/>
                <a:cs typeface="Times New Roman" panose="02020603050405020304" pitchFamily="18" charset="0"/>
              </a:rPr>
              <a:t>Start by putting any one of the graph's vertices at the back of a queue.</a:t>
            </a:r>
          </a:p>
          <a:p>
            <a:r>
              <a:rPr lang="en-US" sz="2000" dirty="0">
                <a:latin typeface="Times New Roman" panose="02020603050405020304" pitchFamily="18" charset="0"/>
                <a:cs typeface="Times New Roman" panose="02020603050405020304" pitchFamily="18" charset="0"/>
              </a:rPr>
              <a:t>Take the front item of the queue and add it to the visited list.</a:t>
            </a:r>
          </a:p>
          <a:p>
            <a:r>
              <a:rPr lang="en-US" sz="2000" dirty="0">
                <a:latin typeface="Times New Roman" panose="02020603050405020304" pitchFamily="18" charset="0"/>
                <a:cs typeface="Times New Roman" panose="02020603050405020304" pitchFamily="18" charset="0"/>
              </a:rPr>
              <a:t>Create a list of that vertex's adjacent nodes. Add the ones which aren't in the visited list to the back of the queue.</a:t>
            </a:r>
          </a:p>
          <a:p>
            <a:r>
              <a:rPr lang="en-US" sz="2000" dirty="0">
                <a:latin typeface="Times New Roman" panose="02020603050405020304" pitchFamily="18" charset="0"/>
                <a:cs typeface="Times New Roman" panose="02020603050405020304" pitchFamily="18" charset="0"/>
              </a:rPr>
              <a:t>Keep repeating steps 2 and 3 until the queue is empty.</a:t>
            </a:r>
          </a:p>
          <a:p>
            <a:r>
              <a:rPr lang="en-US" sz="2000" dirty="0">
                <a:latin typeface="Times New Roman" panose="02020603050405020304" pitchFamily="18" charset="0"/>
                <a:cs typeface="Times New Roman" panose="02020603050405020304" pitchFamily="18" charset="0"/>
              </a:rPr>
              <a:t>The graph might have two different disconnected parts so to make sure that we cover every vertex, we can also run the BFS algorithm on every node</a:t>
            </a:r>
          </a:p>
          <a:p>
            <a:endParaRPr lang="en-US" dirty="0"/>
          </a:p>
        </p:txBody>
      </p:sp>
      <p:pic>
        <p:nvPicPr>
          <p:cNvPr id="2" name="Picture 2" descr="KL Deemed to be University Logo">
            <a:extLst>
              <a:ext uri="{FF2B5EF4-FFF2-40B4-BE49-F238E27FC236}">
                <a16:creationId xmlns:a16="http://schemas.microsoft.com/office/drawing/2014/main" xmlns="" id="{B7330209-9DE7-3285-6D77-AF0DDBB29A2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xmlns="" id="{B294FF30-EB77-E4A2-C6F7-810CCD410C7F}"/>
              </a:ext>
            </a:extLst>
          </p:cNvPr>
          <p:cNvSpPr/>
          <p:nvPr/>
        </p:nvSpPr>
        <p:spPr>
          <a:xfrm>
            <a:off x="1579418" y="84673"/>
            <a:ext cx="8324237" cy="71776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INTRODUCTION-Conti… </a:t>
            </a:r>
          </a:p>
        </p:txBody>
      </p:sp>
    </p:spTree>
    <p:extLst>
      <p:ext uri="{BB962C8B-B14F-4D97-AF65-F5344CB8AC3E}">
        <p14:creationId xmlns:p14="http://schemas.microsoft.com/office/powerpoint/2010/main" val="154965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pitchFamily="18" charset="0"/>
                <a:cs typeface="Times New Roman" pitchFamily="18" charset="0"/>
              </a:rPr>
              <a:t>Example of BFS</a:t>
            </a:r>
            <a:endParaRPr lang="en-US" sz="28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Rectangle 7"/>
          <p:cNvSpPr/>
          <p:nvPr/>
        </p:nvSpPr>
        <p:spPr>
          <a:xfrm>
            <a:off x="643848" y="2959705"/>
            <a:ext cx="11548152" cy="1631216"/>
          </a:xfrm>
          <a:prstGeom prst="rect">
            <a:avLst/>
          </a:prstGeom>
        </p:spPr>
        <p:txBody>
          <a:bodyPr wrap="square">
            <a:spAutoFit/>
          </a:bodyPr>
          <a:lstStyle/>
          <a:p>
            <a:r>
              <a:rPr lang="en-US" sz="2000" dirty="0" smtClean="0">
                <a:solidFill>
                  <a:srgbClr val="282828"/>
                </a:solidFill>
                <a:latin typeface="Times New Roman" panose="02020603050405020304" pitchFamily="18" charset="0"/>
                <a:cs typeface="Times New Roman" panose="02020603050405020304" pitchFamily="18" charset="0"/>
              </a:rPr>
              <a:t>				Undirected Graph with Vertices</a:t>
            </a:r>
          </a:p>
          <a:p>
            <a:pPr marL="285750" indent="-285750">
              <a:buFont typeface="Arial" panose="020B0604020202020204" pitchFamily="34" charset="0"/>
              <a:buChar char="•"/>
            </a:pPr>
            <a:endParaRPr lang="en-US" sz="2000" dirty="0" smtClean="0">
              <a:solidFill>
                <a:srgbClr val="282828"/>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solidFill>
                <a:srgbClr val="282828"/>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t>We start from vertex 0, the BFS algorithm starts by putting it in the Visited list and putting all its adjacent vertices in the stack.</a:t>
            </a:r>
            <a:endParaRPr lang="en-US" sz="2000" dirty="0">
              <a:latin typeface="Times New Roman" panose="02020603050405020304" pitchFamily="18" charset="0"/>
              <a:cs typeface="Times New Roman" panose="02020603050405020304" pitchFamily="18" charset="0"/>
            </a:endParaRPr>
          </a:p>
        </p:txBody>
      </p:sp>
      <p:pic>
        <p:nvPicPr>
          <p:cNvPr id="1028" name="Picture 4" descr="undirected graph with 5 verti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3085" y="1164771"/>
            <a:ext cx="7053943" cy="15943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visit start vertex and add its adjacent vertices to que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3085" y="4376056"/>
            <a:ext cx="7369629" cy="17852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14169" y="6161313"/>
            <a:ext cx="5771773" cy="369332"/>
          </a:xfrm>
          <a:prstGeom prst="rect">
            <a:avLst/>
          </a:prstGeom>
        </p:spPr>
        <p:txBody>
          <a:bodyPr wrap="none">
            <a:spAutoFit/>
          </a:bodyPr>
          <a:lstStyle/>
          <a:p>
            <a:r>
              <a:rPr lang="en-US" dirty="0">
                <a:latin typeface="euclid_circular_a"/>
              </a:rPr>
              <a:t>Visit start vertex and add its adjacent vertices to queue</a:t>
            </a:r>
            <a:endParaRPr lang="en-US" dirty="0"/>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2333613"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err="1"/>
              <a:t>Cont</a:t>
            </a:r>
            <a:r>
              <a:rPr lang="en-US" sz="3200" b="1" dirty="0"/>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ectangle 4"/>
          <p:cNvSpPr/>
          <p:nvPr/>
        </p:nvSpPr>
        <p:spPr>
          <a:xfrm>
            <a:off x="570112" y="768421"/>
            <a:ext cx="11001402" cy="646331"/>
          </a:xfrm>
          <a:prstGeom prst="rect">
            <a:avLst/>
          </a:prstGeom>
        </p:spPr>
        <p:txBody>
          <a:bodyPr wrap="square">
            <a:spAutoFit/>
          </a:bodyPr>
          <a:lstStyle/>
          <a:p>
            <a:r>
              <a:rPr lang="en-US" dirty="0">
                <a:latin typeface="euclid_circular_a"/>
              </a:rPr>
              <a:t>Next, we visit the element at the front of queue i.e. 1 and go to its adjacent nodes. Since 0 has already been visited, we visit 2 instead.</a:t>
            </a:r>
            <a:endParaRPr lang="en-US" dirty="0"/>
          </a:p>
        </p:txBody>
      </p:sp>
      <p:pic>
        <p:nvPicPr>
          <p:cNvPr id="2050" name="Picture 2" descr="visit the first neighbour of start node 0, which is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434567"/>
            <a:ext cx="7522030" cy="180702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26943" y="3761993"/>
            <a:ext cx="10435345" cy="646331"/>
          </a:xfrm>
          <a:prstGeom prst="rect">
            <a:avLst/>
          </a:prstGeom>
        </p:spPr>
        <p:txBody>
          <a:bodyPr wrap="square">
            <a:spAutoFit/>
          </a:bodyPr>
          <a:lstStyle/>
          <a:p>
            <a:r>
              <a:rPr lang="en-US" dirty="0">
                <a:latin typeface="euclid_circular_a"/>
              </a:rPr>
              <a:t>Vertex 2 has an unvisited adjacent vertex in 4, so we add that to the back of the queue and visit 3, which is at the front of the queue.</a:t>
            </a:r>
            <a:endParaRPr lang="en-US" dirty="0"/>
          </a:p>
        </p:txBody>
      </p:sp>
      <p:pic>
        <p:nvPicPr>
          <p:cNvPr id="2052" name="Picture 4" descr="visit 2 which was added to queue earlier to add its neighbour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304320"/>
            <a:ext cx="7422033" cy="172385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3020741" y="3056930"/>
            <a:ext cx="5207516" cy="369332"/>
          </a:xfrm>
          <a:prstGeom prst="rect">
            <a:avLst/>
          </a:prstGeom>
        </p:spPr>
        <p:txBody>
          <a:bodyPr wrap="none">
            <a:spAutoFit/>
          </a:bodyPr>
          <a:lstStyle/>
          <a:p>
            <a:r>
              <a:rPr lang="en-US" dirty="0">
                <a:latin typeface="euclid_circular_a"/>
              </a:rPr>
              <a:t>Visit the first </a:t>
            </a:r>
            <a:r>
              <a:rPr lang="en-US" dirty="0" err="1">
                <a:latin typeface="euclid_circular_a"/>
              </a:rPr>
              <a:t>neighbour</a:t>
            </a:r>
            <a:r>
              <a:rPr lang="en-US" dirty="0">
                <a:latin typeface="euclid_circular_a"/>
              </a:rPr>
              <a:t> of start node 0, which is 1</a:t>
            </a:r>
            <a:endParaRPr lang="en-US" dirty="0"/>
          </a:p>
        </p:txBody>
      </p:sp>
      <p:sp>
        <p:nvSpPr>
          <p:cNvPr id="13" name="Rectangle 12"/>
          <p:cNvSpPr/>
          <p:nvPr/>
        </p:nvSpPr>
        <p:spPr>
          <a:xfrm>
            <a:off x="2915135" y="5843511"/>
            <a:ext cx="6533666" cy="369332"/>
          </a:xfrm>
          <a:prstGeom prst="rect">
            <a:avLst/>
          </a:prstGeom>
        </p:spPr>
        <p:txBody>
          <a:bodyPr wrap="square">
            <a:spAutoFit/>
          </a:bodyPr>
          <a:lstStyle/>
          <a:p>
            <a:r>
              <a:rPr lang="en-US" dirty="0">
                <a:latin typeface="euclid_circular_a"/>
              </a:rPr>
              <a:t>Visit 2 which was added to queue earlier to add its </a:t>
            </a:r>
            <a:r>
              <a:rPr lang="en-US" dirty="0" err="1">
                <a:latin typeface="euclid_circular_a"/>
              </a:rPr>
              <a:t>neighbours</a:t>
            </a:r>
            <a:endParaRPr lang="en-US"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979460" y="245393"/>
            <a:ext cx="3400792"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3074" name="Picture 2" descr="visi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362" y="954758"/>
            <a:ext cx="9249682" cy="17693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639488" y="2709465"/>
            <a:ext cx="2531462" cy="369332"/>
          </a:xfrm>
          <a:prstGeom prst="rect">
            <a:avLst/>
          </a:prstGeom>
        </p:spPr>
        <p:txBody>
          <a:bodyPr wrap="none">
            <a:spAutoFit/>
          </a:bodyPr>
          <a:lstStyle/>
          <a:p>
            <a:r>
              <a:rPr lang="en-US" dirty="0">
                <a:latin typeface="euclid_circular_a"/>
              </a:rPr>
              <a:t>4 remains in the queue</a:t>
            </a:r>
            <a:endParaRPr lang="en-US" dirty="0"/>
          </a:p>
        </p:txBody>
      </p:sp>
      <p:sp>
        <p:nvSpPr>
          <p:cNvPr id="7" name="Rectangle 6"/>
          <p:cNvSpPr/>
          <p:nvPr/>
        </p:nvSpPr>
        <p:spPr>
          <a:xfrm>
            <a:off x="995362" y="3110314"/>
            <a:ext cx="10118951" cy="369332"/>
          </a:xfrm>
          <a:prstGeom prst="rect">
            <a:avLst/>
          </a:prstGeom>
        </p:spPr>
        <p:txBody>
          <a:bodyPr wrap="square">
            <a:spAutoFit/>
          </a:bodyPr>
          <a:lstStyle/>
          <a:p>
            <a:r>
              <a:rPr lang="en-US" dirty="0">
                <a:latin typeface="euclid_circular_a"/>
              </a:rPr>
              <a:t>Only 4 remains in the queue since the only adjacent node of 3 i.e. 0 is already visited. We visit it.</a:t>
            </a:r>
            <a:endParaRPr lang="en-US" dirty="0"/>
          </a:p>
        </p:txBody>
      </p:sp>
      <p:pic>
        <p:nvPicPr>
          <p:cNvPr id="3076" name="Picture 4" descr="visit last remaining item in queue to check if it has unvisited neighbour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412" y="3660921"/>
            <a:ext cx="9487581" cy="193016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469571" y="5409809"/>
            <a:ext cx="8120743" cy="369332"/>
          </a:xfrm>
          <a:prstGeom prst="rect">
            <a:avLst/>
          </a:prstGeom>
        </p:spPr>
        <p:txBody>
          <a:bodyPr wrap="square">
            <a:spAutoFit/>
          </a:bodyPr>
          <a:lstStyle/>
          <a:p>
            <a:r>
              <a:rPr lang="en-US" dirty="0">
                <a:latin typeface="euclid_circular_a"/>
              </a:rPr>
              <a:t>Visit last remaining item in the queue to check if it has unvisited neighbors</a:t>
            </a:r>
            <a:endParaRPr lang="en-US" dirty="0"/>
          </a:p>
        </p:txBody>
      </p:sp>
      <p:sp>
        <p:nvSpPr>
          <p:cNvPr id="9" name="Rectangle 8"/>
          <p:cNvSpPr/>
          <p:nvPr/>
        </p:nvSpPr>
        <p:spPr>
          <a:xfrm>
            <a:off x="533400" y="5772359"/>
            <a:ext cx="10668000" cy="923330"/>
          </a:xfrm>
          <a:prstGeom prst="rect">
            <a:avLst/>
          </a:prstGeom>
        </p:spPr>
        <p:txBody>
          <a:bodyPr wrap="square">
            <a:spAutoFit/>
          </a:bodyPr>
          <a:lstStyle/>
          <a:p>
            <a:r>
              <a:rPr lang="en-US" dirty="0">
                <a:latin typeface="euclid_circular_a"/>
              </a:rPr>
              <a:t>Since the queue is empty, we have completed the Breadth First Traversal of the graph.</a:t>
            </a:r>
          </a:p>
          <a:p>
            <a:r>
              <a:rPr lang="en-US" dirty="0"/>
              <a:t/>
            </a:r>
            <a:br>
              <a:rPr lang="en-US" dirty="0"/>
            </a:br>
            <a:endParaRPr lang="en-US"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18B84F3E-0BAB-4FEE-A20F-074E440ADCC6}"/>
              </a:ext>
            </a:extLst>
          </p:cNvPr>
          <p:cNvSpPr/>
          <p:nvPr/>
        </p:nvSpPr>
        <p:spPr>
          <a:xfrm>
            <a:off x="1990725" y="156154"/>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a:spLocks noChangeArrowheads="1"/>
          </p:cNvSpPr>
          <p:nvPr/>
        </p:nvSpPr>
        <p:spPr bwMode="auto">
          <a:xfrm>
            <a:off x="71919" y="2839306"/>
            <a:ext cx="2570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696" tIns="0" rIns="12696"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97624" y="4345179"/>
            <a:ext cx="2570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696" tIns="0" rIns="12696"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a:xfrm>
            <a:off x="0" y="1575190"/>
            <a:ext cx="11907749" cy="1384995"/>
          </a:xfrm>
          <a:prstGeom prst="rect">
            <a:avLst/>
          </a:prstGeom>
        </p:spPr>
        <p:txBody>
          <a:bodyPr wrap="square">
            <a:spAutoFit/>
          </a:bodyPr>
          <a:lstStyle/>
          <a:p>
            <a:pPr lvl="0" eaLnBrk="0" fontAlgn="base" hangingPunct="0">
              <a:spcBef>
                <a:spcPct val="0"/>
              </a:spcBef>
              <a:spcAft>
                <a:spcPct val="0"/>
              </a:spcAft>
            </a:pPr>
            <a:r>
              <a:rPr lang="en-US" altLang="en-US" sz="2400" b="1" dirty="0">
                <a:latin typeface="euclid_circular_a"/>
              </a:rPr>
              <a:t>BFS Algorithm Complexity</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The time complexity of the BFS algorithm is represented in the form of O(V + E), where V is the number of nodes and E is the number of edges.</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The space complexity of the algorithm is O(V).</a:t>
            </a:r>
          </a:p>
        </p:txBody>
      </p:sp>
      <p:sp>
        <p:nvSpPr>
          <p:cNvPr id="7" name="Rectangle 6"/>
          <p:cNvSpPr/>
          <p:nvPr/>
        </p:nvSpPr>
        <p:spPr>
          <a:xfrm>
            <a:off x="71919" y="3410925"/>
            <a:ext cx="11548153" cy="1938992"/>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BFS Algorithm Applications</a:t>
            </a:r>
          </a:p>
          <a:p>
            <a:pPr>
              <a:buFont typeface="+mj-lt"/>
              <a:buAutoNum type="arabicPeriod"/>
            </a:pPr>
            <a:r>
              <a:rPr lang="en-US" sz="2000" dirty="0">
                <a:latin typeface="Times New Roman" panose="02020603050405020304" pitchFamily="18" charset="0"/>
                <a:cs typeface="Times New Roman" panose="02020603050405020304" pitchFamily="18" charset="0"/>
              </a:rPr>
              <a:t>To build index by search index</a:t>
            </a:r>
          </a:p>
          <a:p>
            <a:pPr>
              <a:buFont typeface="+mj-lt"/>
              <a:buAutoNum type="arabicPeriod"/>
            </a:pPr>
            <a:r>
              <a:rPr lang="en-US" sz="2000" dirty="0">
                <a:latin typeface="Times New Roman" panose="02020603050405020304" pitchFamily="18" charset="0"/>
                <a:cs typeface="Times New Roman" panose="02020603050405020304" pitchFamily="18" charset="0"/>
              </a:rPr>
              <a:t>For GPS navigation</a:t>
            </a:r>
          </a:p>
          <a:p>
            <a:pPr>
              <a:buFont typeface="+mj-lt"/>
              <a:buAutoNum type="arabicPeriod"/>
            </a:pPr>
            <a:r>
              <a:rPr lang="en-US" sz="2000" dirty="0">
                <a:latin typeface="Times New Roman" panose="02020603050405020304" pitchFamily="18" charset="0"/>
                <a:cs typeface="Times New Roman" panose="02020603050405020304" pitchFamily="18" charset="0"/>
              </a:rPr>
              <a:t>Path finding algorithms</a:t>
            </a:r>
          </a:p>
          <a:p>
            <a:pPr>
              <a:buFont typeface="+mj-lt"/>
              <a:buAutoNum type="arabicPeriod"/>
            </a:pPr>
            <a:r>
              <a:rPr lang="en-US" sz="2000" dirty="0">
                <a:latin typeface="Times New Roman" panose="02020603050405020304" pitchFamily="18" charset="0"/>
                <a:cs typeface="Times New Roman" panose="02020603050405020304" pitchFamily="18" charset="0"/>
              </a:rPr>
              <a:t>In Ford-Fulkerson algorithm to find maximum flow in a network</a:t>
            </a:r>
          </a:p>
          <a:p>
            <a:pPr>
              <a:buFont typeface="+mj-lt"/>
              <a:buAutoNum type="arabicPeriod"/>
            </a:pPr>
            <a:r>
              <a:rPr lang="en-US" sz="2000" dirty="0">
                <a:latin typeface="Times New Roman" panose="02020603050405020304" pitchFamily="18" charset="0"/>
                <a:cs typeface="Times New Roman" panose="02020603050405020304" pitchFamily="18" charset="0"/>
              </a:rPr>
              <a:t>Cycle detection in an undirected graph</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2554545"/>
          </a:xfrm>
          <a:prstGeom prst="rect">
            <a:avLst/>
          </a:prstGeom>
          <a:noFill/>
        </p:spPr>
        <p:txBody>
          <a:bodyPr wrap="square" rtlCol="0">
            <a:spAutoFit/>
          </a:bodyPr>
          <a:lstStyle/>
          <a:p>
            <a:r>
              <a:rPr lang="en-US" sz="2000" u="sng" dirty="0" smtClean="0">
                <a:latin typeface="Times New Roman" panose="02020603050405020304" pitchFamily="18" charset="0"/>
                <a:cs typeface="Times New Roman" panose="02020603050405020304" pitchFamily="18" charset="0"/>
              </a:rPr>
              <a:t>BFS</a:t>
            </a:r>
            <a:r>
              <a:rPr lang="en-US" sz="2000" u="sng" dirty="0">
                <a:latin typeface="Times New Roman" panose="02020603050405020304" pitchFamily="18" charset="0"/>
                <a:cs typeface="Times New Roman" panose="02020603050405020304" pitchFamily="18" charset="0"/>
              </a:rPr>
              <a:t>:</a:t>
            </a:r>
          </a:p>
          <a:p>
            <a:pPr marL="285750" indent="-285750">
              <a:buFont typeface="Wingdings" pitchFamily="2" charset="2"/>
              <a:buChar char="Ø"/>
            </a:pPr>
            <a:r>
              <a:rPr lang="en-US" sz="2000" dirty="0">
                <a:latin typeface="Times New Roman" panose="02020603050405020304" pitchFamily="18" charset="0"/>
                <a:cs typeface="Times New Roman" panose="02020603050405020304" pitchFamily="18" charset="0"/>
              </a:rPr>
              <a:t>BFS is a graph traversal algorithm that explores all the vertices on the current level before moving to the next level.</a:t>
            </a:r>
          </a:p>
          <a:p>
            <a:pPr marL="285750" indent="-285750">
              <a:buFont typeface="Wingdings" pitchFamily="2" charset="2"/>
              <a:buChar char="Ø"/>
            </a:pPr>
            <a:r>
              <a:rPr lang="en-US" sz="2000" dirty="0">
                <a:latin typeface="Times New Roman" panose="02020603050405020304" pitchFamily="18" charset="0"/>
                <a:cs typeface="Times New Roman" panose="02020603050405020304" pitchFamily="18" charset="0"/>
              </a:rPr>
              <a:t>Start at a source node and explore all its neighbors before moving on to their neighbors.</a:t>
            </a:r>
          </a:p>
          <a:p>
            <a:pPr marL="285750" indent="-285750">
              <a:buFont typeface="Wingdings" pitchFamily="2" charset="2"/>
              <a:buChar char="Ø"/>
            </a:pPr>
            <a:r>
              <a:rPr lang="en-US" sz="2000" dirty="0">
                <a:latin typeface="Times New Roman" panose="02020603050405020304" pitchFamily="18" charset="0"/>
                <a:cs typeface="Times New Roman" panose="02020603050405020304" pitchFamily="18" charset="0"/>
              </a:rPr>
              <a:t>Uses a queue to keep track of the nodes to visit.</a:t>
            </a:r>
          </a:p>
          <a:p>
            <a:pPr marL="285750" indent="-285750">
              <a:buFont typeface="Wingdings" pitchFamily="2" charset="2"/>
              <a:buChar char="Ø"/>
            </a:pPr>
            <a:r>
              <a:rPr lang="en-US" sz="2000" u="sng" dirty="0">
                <a:latin typeface="Times New Roman" panose="02020603050405020304" pitchFamily="18" charset="0"/>
                <a:cs typeface="Times New Roman" panose="02020603050405020304" pitchFamily="18" charset="0"/>
              </a:rPr>
              <a:t>Characteristics:</a:t>
            </a:r>
          </a:p>
          <a:p>
            <a:pPr marL="285750" indent="-285750">
              <a:buFont typeface="Wingdings" pitchFamily="2" charset="2"/>
              <a:buChar char="Ø"/>
            </a:pPr>
            <a:r>
              <a:rPr lang="en-US" sz="2000" dirty="0">
                <a:latin typeface="Times New Roman" panose="02020603050405020304" pitchFamily="18" charset="0"/>
                <a:cs typeface="Times New Roman" panose="02020603050405020304" pitchFamily="18" charset="0"/>
              </a:rPr>
              <a:t>Guarantees the shortest path in an unweighted graph.</a:t>
            </a:r>
          </a:p>
          <a:p>
            <a:pPr marL="285750" indent="-285750">
              <a:buFont typeface="Wingdings" pitchFamily="2" charset="2"/>
              <a:buChar char="Ø"/>
            </a:pPr>
            <a:r>
              <a:rPr lang="en-US" sz="2000" dirty="0">
                <a:latin typeface="Times New Roman" panose="02020603050405020304" pitchFamily="18" charset="0"/>
                <a:cs typeface="Times New Roman" panose="02020603050405020304" pitchFamily="18" charset="0"/>
              </a:rPr>
              <a:t>Requires more memory than DFS due to the use of a queue.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xmlns="" id="{AE3D0AA7-0A5F-7BD6-7BC7-1D38F326B8B4}"/>
              </a:ext>
            </a:extLst>
          </p:cNvPr>
          <p:cNvSpPr/>
          <p:nvPr/>
        </p:nvSpPr>
        <p:spPr>
          <a:xfrm>
            <a:off x="995362" y="84250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endParaRPr lang="en-US" sz="2400" dirty="0"/>
          </a:p>
          <a:p>
            <a:pPr marL="342900" lvl="0" indent="-342900">
              <a:buFont typeface="+mj-lt"/>
              <a:buAutoNum type="arabicPeriod"/>
            </a:pPr>
            <a:r>
              <a:rPr lang="en-US" sz="2400" dirty="0"/>
              <a:t>Breadth First Search is equivalent to which of the traversal in the Binary Trees?</a:t>
            </a:r>
            <a:r>
              <a:rPr lang="en-IN" sz="2400" dirty="0"/>
              <a:t/>
            </a:r>
            <a:br>
              <a:rPr lang="en-IN" sz="2400" dirty="0"/>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xmlns="" id="{5D8B791C-9B35-CF16-C192-D202E0DB9A60}"/>
              </a:ext>
            </a:extLst>
          </p:cNvPr>
          <p:cNvSpPr/>
          <p:nvPr/>
        </p:nvSpPr>
        <p:spPr>
          <a:xfrm>
            <a:off x="102682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dirty="0"/>
          </a:p>
          <a:p>
            <a:pPr>
              <a:lnSpc>
                <a:spcPct val="150000"/>
              </a:lnSpc>
            </a:pPr>
            <a:r>
              <a:rPr lang="en-US" dirty="0"/>
              <a:t>a) Pre-order Traversal</a:t>
            </a:r>
            <a:br>
              <a:rPr lang="en-US" dirty="0"/>
            </a:br>
            <a:r>
              <a:rPr lang="en-US" dirty="0"/>
              <a:t>b) Post-order Traversal</a:t>
            </a:r>
            <a:br>
              <a:rPr lang="en-US" dirty="0"/>
            </a:br>
            <a:r>
              <a:rPr lang="en-US" dirty="0"/>
              <a:t>c) Level-order Traversal</a:t>
            </a:r>
            <a:br>
              <a:rPr lang="en-US" dirty="0"/>
            </a:br>
            <a:r>
              <a:rPr lang="en-US" dirty="0"/>
              <a:t>d) In-order Traversal</a:t>
            </a:r>
            <a:r>
              <a:rPr lang="en-IN" dirty="0"/>
              <a:t/>
            </a:r>
            <a:br>
              <a:rPr lang="en-IN" dirty="0"/>
            </a:br>
            <a:endParaRPr lang="en-US" dirty="0"/>
          </a:p>
        </p:txBody>
      </p:sp>
      <p:sp>
        <p:nvSpPr>
          <p:cNvPr id="13" name="Google Shape;502;p17">
            <a:extLst>
              <a:ext uri="{FF2B5EF4-FFF2-40B4-BE49-F238E27FC236}">
                <a16:creationId xmlns:a16="http://schemas.microsoft.com/office/drawing/2014/main" xmlns=""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a:t>
            </a:r>
            <a:r>
              <a:rPr lang="en-US" sz="2400" dirty="0"/>
              <a:t>Traversal of a graph is different from tree because</a:t>
            </a:r>
            <a:r>
              <a:rPr lang="en-IN" sz="2400" dirty="0"/>
              <a:t>?</a:t>
            </a:r>
            <a:br>
              <a:rPr lang="en-IN" sz="2400" dirty="0"/>
            </a:br>
            <a:endParaRPr lang="en-IN" sz="2400" dirty="0"/>
          </a:p>
        </p:txBody>
      </p:sp>
      <p:sp>
        <p:nvSpPr>
          <p:cNvPr id="14" name="Rounded Rectangle 17">
            <a:extLst>
              <a:ext uri="{FF2B5EF4-FFF2-40B4-BE49-F238E27FC236}">
                <a16:creationId xmlns:a16="http://schemas.microsoft.com/office/drawing/2014/main" xmlns=""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lphaLcParenR"/>
            </a:pPr>
            <a:r>
              <a:rPr lang="en-US" dirty="0"/>
              <a:t>There can be a loop in graph so we must maintain a visited flag for every vertex</a:t>
            </a:r>
            <a:endParaRPr lang="en-IN" dirty="0"/>
          </a:p>
          <a:p>
            <a:pPr marL="342900" indent="-342900">
              <a:buAutoNum type="alphaLcParenR"/>
            </a:pPr>
            <a:r>
              <a:rPr lang="en-IN" dirty="0"/>
              <a:t> </a:t>
            </a:r>
            <a:r>
              <a:rPr lang="en-US" dirty="0"/>
              <a:t>DFS of a graph uses stack, but </a:t>
            </a:r>
            <a:r>
              <a:rPr lang="en-US" dirty="0" err="1"/>
              <a:t>inorder</a:t>
            </a:r>
            <a:r>
              <a:rPr lang="en-US" dirty="0"/>
              <a:t> traversal of a tree is recursive</a:t>
            </a:r>
          </a:p>
          <a:p>
            <a:pPr marL="342900" indent="-342900">
              <a:buAutoNum type="alphaLcParenR"/>
            </a:pPr>
            <a:r>
              <a:rPr lang="en-US" dirty="0"/>
              <a:t>BFS of a graph uses queue, but a time efficient BFS of a tree is recursive.</a:t>
            </a:r>
            <a:endParaRPr lang="en-IN" dirty="0"/>
          </a:p>
          <a:p>
            <a:pPr marL="342900" indent="-342900">
              <a:buAutoNum type="alphaLcParenR"/>
            </a:pPr>
            <a:r>
              <a:rPr lang="en-US" dirty="0"/>
              <a:t>All of the above</a:t>
            </a:r>
            <a:endParaRPr lang="en-IN"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1754326"/>
          </a:xfrm>
          <a:prstGeom prst="rect">
            <a:avLst/>
          </a:prstGeom>
          <a:noFill/>
        </p:spPr>
        <p:txBody>
          <a:bodyPr wrap="square" rtlCol="0">
            <a:spAutoFit/>
          </a:bodyPr>
          <a:lstStyle/>
          <a:p>
            <a:pPr>
              <a:lnSpc>
                <a:spcPct val="200000"/>
              </a:lnSpc>
            </a:pPr>
            <a:r>
              <a:rPr lang="en-US" b="1" dirty="0"/>
              <a:t>1. Describe the Breadth First Search (BFS) in a graph or tree?</a:t>
            </a:r>
          </a:p>
          <a:p>
            <a:pPr>
              <a:lnSpc>
                <a:spcPct val="200000"/>
              </a:lnSpc>
            </a:pPr>
            <a:r>
              <a:rPr lang="en-US" b="1" dirty="0"/>
              <a:t>2. Describe the BFS algorithm work in a C program?</a:t>
            </a:r>
          </a:p>
          <a:p>
            <a:pPr>
              <a:lnSpc>
                <a:spcPct val="200000"/>
              </a:lnSpc>
            </a:pPr>
            <a:r>
              <a:rPr lang="en-US" b="1" dirty="0"/>
              <a:t>3. Can BFS be used to search in unweighted and weighted graphs?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2108718" y="158864"/>
            <a:ext cx="8882743" cy="59667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REFERENCES FOR FURTHER LEARNING OF THE SESSION</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2">
            <a:extLst>
              <a:ext uri="{FF2B5EF4-FFF2-40B4-BE49-F238E27FC236}">
                <a16:creationId xmlns:a16="http://schemas.microsoft.com/office/drawing/2014/main" xmlns="" id="{E5B5C571-3A43-FAC0-56FA-D5E56691C93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xmlns="" id="{D819F75A-1162-9E61-F7FB-619431DF3CFC}"/>
              </a:ext>
            </a:extLst>
          </p:cNvPr>
          <p:cNvSpPr>
            <a:spLocks noChangeArrowheads="1"/>
          </p:cNvSpPr>
          <p:nvPr/>
        </p:nvSpPr>
        <p:spPr bwMode="auto">
          <a:xfrm>
            <a:off x="1647825" y="690563"/>
            <a:ext cx="49213" cy="14287"/>
          </a:xfrm>
          <a:prstGeom prst="rect">
            <a:avLst/>
          </a:prstGeom>
          <a:solidFill>
            <a:srgbClr val="000000"/>
          </a:solidFill>
          <a:ln>
            <a:noFill/>
          </a:ln>
          <a:extLst>
            <a:ext uri="{91240B29-F687-4F45-9708-019B960494DF}">
              <a14:hiddenLine xmlns:a14="http://schemas.microsoft.com/office/drawing/2010/main" w="9525">
                <a:solidFill>
                  <a:srgbClr val="3465A4"/>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 name="Rectangle 3">
            <a:extLst>
              <a:ext uri="{FF2B5EF4-FFF2-40B4-BE49-F238E27FC236}">
                <a16:creationId xmlns:a16="http://schemas.microsoft.com/office/drawing/2014/main" xmlns="" id="{E0B71DF7-1C35-1050-36BE-FF0850A2915E}"/>
              </a:ext>
            </a:extLst>
          </p:cNvPr>
          <p:cNvSpPr>
            <a:spLocks noChangeArrowheads="1"/>
          </p:cNvSpPr>
          <p:nvPr/>
        </p:nvSpPr>
        <p:spPr bwMode="auto">
          <a:xfrm>
            <a:off x="499165" y="682982"/>
            <a:ext cx="11193670" cy="569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69752" tIns="103155" rIns="91440" bIns="45720" numCol="1" anchor="ctr" anchorCtr="0" compatLnSpc="1">
            <a:prstTxWarp prst="textNoShape">
              <a:avLst/>
            </a:prstTxWarp>
            <a:spAutoFit/>
          </a:bodyPr>
          <a:lstStyle>
            <a:lvl1pPr eaLnBrk="0" fontAlgn="base" hangingPunct="0">
              <a:spcBef>
                <a:spcPct val="0"/>
              </a:spcBef>
              <a:spcAft>
                <a:spcPct val="0"/>
              </a:spcAft>
              <a:tabLst>
                <a:tab pos="927100" algn="l"/>
              </a:tabLst>
              <a:defRPr>
                <a:solidFill>
                  <a:schemeClr val="tx1"/>
                </a:solidFill>
                <a:latin typeface="Arial" panose="020B0604020202020204" pitchFamily="34" charset="0"/>
              </a:defRPr>
            </a:lvl1pPr>
            <a:lvl2pPr eaLnBrk="0" fontAlgn="base" hangingPunct="0">
              <a:spcBef>
                <a:spcPct val="0"/>
              </a:spcBef>
              <a:spcAft>
                <a:spcPct val="0"/>
              </a:spcAft>
              <a:tabLst>
                <a:tab pos="927100" algn="l"/>
              </a:tabLst>
              <a:defRPr>
                <a:solidFill>
                  <a:schemeClr val="tx1"/>
                </a:solidFill>
                <a:latin typeface="Arial" panose="020B0604020202020204" pitchFamily="34" charset="0"/>
              </a:defRPr>
            </a:lvl2pPr>
            <a:lvl3pPr eaLnBrk="0" fontAlgn="base" hangingPunct="0">
              <a:spcBef>
                <a:spcPct val="0"/>
              </a:spcBef>
              <a:spcAft>
                <a:spcPct val="0"/>
              </a:spcAft>
              <a:tabLst>
                <a:tab pos="927100" algn="l"/>
              </a:tabLst>
              <a:defRPr>
                <a:solidFill>
                  <a:schemeClr val="tx1"/>
                </a:solidFill>
                <a:latin typeface="Arial" panose="020B0604020202020204" pitchFamily="34" charset="0"/>
              </a:defRPr>
            </a:lvl3pPr>
            <a:lvl4pPr eaLnBrk="0" fontAlgn="base" hangingPunct="0">
              <a:spcBef>
                <a:spcPct val="0"/>
              </a:spcBef>
              <a:spcAft>
                <a:spcPct val="0"/>
              </a:spcAft>
              <a:tabLst>
                <a:tab pos="927100" algn="l"/>
              </a:tabLst>
              <a:defRPr>
                <a:solidFill>
                  <a:schemeClr val="tx1"/>
                </a:solidFill>
                <a:latin typeface="Arial" panose="020B0604020202020204" pitchFamily="34" charset="0"/>
              </a:defRPr>
            </a:lvl4pPr>
            <a:lvl5pPr eaLnBrk="0" fontAlgn="base" hangingPunct="0">
              <a:spcBef>
                <a:spcPct val="0"/>
              </a:spcBef>
              <a:spcAft>
                <a:spcPct val="0"/>
              </a:spcAft>
              <a:tabLst>
                <a:tab pos="927100" algn="l"/>
              </a:tabLst>
              <a:defRPr>
                <a:solidFill>
                  <a:schemeClr val="tx1"/>
                </a:solidFill>
                <a:latin typeface="Arial" panose="020B0604020202020204" pitchFamily="34" charset="0"/>
              </a:defRPr>
            </a:lvl5pPr>
            <a:lvl6pPr eaLnBrk="0" fontAlgn="base" hangingPunct="0">
              <a:spcBef>
                <a:spcPct val="0"/>
              </a:spcBef>
              <a:spcAft>
                <a:spcPct val="0"/>
              </a:spcAft>
              <a:tabLst>
                <a:tab pos="927100" algn="l"/>
              </a:tabLst>
              <a:defRPr>
                <a:solidFill>
                  <a:schemeClr val="tx1"/>
                </a:solidFill>
                <a:latin typeface="Arial" panose="020B0604020202020204" pitchFamily="34" charset="0"/>
              </a:defRPr>
            </a:lvl6pPr>
            <a:lvl7pPr eaLnBrk="0" fontAlgn="base" hangingPunct="0">
              <a:spcBef>
                <a:spcPct val="0"/>
              </a:spcBef>
              <a:spcAft>
                <a:spcPct val="0"/>
              </a:spcAft>
              <a:tabLst>
                <a:tab pos="927100" algn="l"/>
              </a:tabLst>
              <a:defRPr>
                <a:solidFill>
                  <a:schemeClr val="tx1"/>
                </a:solidFill>
                <a:latin typeface="Arial" panose="020B0604020202020204" pitchFamily="34" charset="0"/>
              </a:defRPr>
            </a:lvl7pPr>
            <a:lvl8pPr eaLnBrk="0" fontAlgn="base" hangingPunct="0">
              <a:spcBef>
                <a:spcPct val="0"/>
              </a:spcBef>
              <a:spcAft>
                <a:spcPct val="0"/>
              </a:spcAft>
              <a:tabLst>
                <a:tab pos="927100" algn="l"/>
              </a:tabLst>
              <a:defRPr>
                <a:solidFill>
                  <a:schemeClr val="tx1"/>
                </a:solidFill>
                <a:latin typeface="Arial" panose="020B0604020202020204" pitchFamily="34" charset="0"/>
              </a:defRPr>
            </a:lvl8pPr>
            <a:lvl9pPr eaLnBrk="0" fontAlgn="base" hangingPunct="0">
              <a:spcBef>
                <a:spcPct val="0"/>
              </a:spcBef>
              <a:spcAft>
                <a:spcPct val="0"/>
              </a:spcAft>
              <a:tabLst>
                <a:tab pos="9271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27100" algn="l"/>
              </a:tabLst>
            </a:pPr>
            <a:r>
              <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lang="en-US" altLang="en-US" b="1" dirty="0">
                <a:ea typeface="Times New Roman" panose="02020603050405020304" pitchFamily="18" charset="0"/>
              </a:rPr>
              <a:t>T</a:t>
            </a: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EXTBOOKS:</a:t>
            </a:r>
            <a:endParaRPr kumimoji="0" lang="en-US" altLang="en-US" b="0" i="0" u="none" strike="noStrike" cap="none" normalizeH="0" baseline="0" dirty="0">
              <a:ln>
                <a:noFill/>
              </a:ln>
              <a:solidFill>
                <a:schemeClr val="tx1"/>
              </a:solidFill>
              <a:effectLst/>
              <a:latin typeface="Arial" panose="020B0604020202020204" pitchFamily="34" charset="0"/>
            </a:endParaRPr>
          </a:p>
          <a:p>
            <a:pPr lvl="0"/>
            <a:r>
              <a:rPr lang="en-US" dirty="0" smtClean="0"/>
              <a:t>1. Mark </a:t>
            </a:r>
            <a:r>
              <a:rPr lang="en-US" dirty="0"/>
              <a:t>Allen Weiss, Data Structures and Algorithm Analysis in C, 2010, Second Edition, Pearson Education.</a:t>
            </a:r>
          </a:p>
          <a:p>
            <a:pPr lvl="0"/>
            <a:r>
              <a:rPr lang="en-US" dirty="0" smtClean="0"/>
              <a:t>2. Allen </a:t>
            </a:r>
            <a:r>
              <a:rPr lang="en-US" dirty="0"/>
              <a:t>B. Downey, ”Think Python: How to Think Like a Computer Scientist’’, 2nd edition, Updated for Python 3, Shroff/O’Reilly Publishers, 2016 (</a:t>
            </a:r>
            <a:r>
              <a:rPr lang="en-US" u="sng" dirty="0">
                <a:hlinkClick r:id="rId3"/>
              </a:rPr>
              <a:t>http://greenteapress.com/wp/thinkpython/</a:t>
            </a:r>
            <a:r>
              <a:rPr lang="en-US" dirty="0"/>
              <a:t>)</a:t>
            </a:r>
          </a:p>
          <a:p>
            <a:r>
              <a:rPr lang="en-US" dirty="0" smtClean="0"/>
              <a:t>3. Data </a:t>
            </a:r>
            <a:r>
              <a:rPr lang="en-US" dirty="0"/>
              <a:t>Structures and algorithms using python, 2011,Rance D, </a:t>
            </a:r>
            <a:r>
              <a:rPr lang="en-US" dirty="0" err="1"/>
              <a:t>Necaise</a:t>
            </a:r>
            <a:r>
              <a:rPr lang="en-US" dirty="0"/>
              <a:t>, </a:t>
            </a:r>
            <a:r>
              <a:rPr lang="en-US" dirty="0" err="1"/>
              <a:t>himilton</a:t>
            </a:r>
            <a:r>
              <a:rPr lang="en-US" dirty="0"/>
              <a:t> </a:t>
            </a:r>
            <a:r>
              <a:rPr lang="en-US" dirty="0" smtClean="0"/>
              <a:t>printing</a:t>
            </a:r>
          </a:p>
          <a:p>
            <a:r>
              <a:rPr kumimoji="0" lang="en-US" altLang="en-US"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REFERENCE </a:t>
            </a: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r>
              <a:rPr kumimoji="0" lang="en-US" altLang="en-US"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lvl="0"/>
            <a:r>
              <a:rPr lang="en-US" dirty="0" smtClean="0"/>
              <a:t>1. Data </a:t>
            </a:r>
            <a:r>
              <a:rPr lang="en-US" dirty="0"/>
              <a:t>Structures and Algorithm Analysis in PYTHON, 2010, Mark Allen Weiss, Second Edition, Pearson Education.</a:t>
            </a:r>
          </a:p>
          <a:p>
            <a:pPr lvl="0"/>
            <a:r>
              <a:rPr lang="en-US" dirty="0" smtClean="0"/>
              <a:t>2. Data </a:t>
            </a:r>
            <a:r>
              <a:rPr lang="en-US" dirty="0"/>
              <a:t>Structures and Algorithms, </a:t>
            </a:r>
            <a:r>
              <a:rPr lang="en-US" dirty="0" err="1"/>
              <a:t>A.V.Aho</a:t>
            </a:r>
            <a:r>
              <a:rPr lang="en-US" dirty="0"/>
              <a:t>, </a:t>
            </a:r>
            <a:r>
              <a:rPr lang="en-US" dirty="0" err="1"/>
              <a:t>J.E.Hopcroft</a:t>
            </a:r>
            <a:r>
              <a:rPr lang="en-US" dirty="0"/>
              <a:t>, and </a:t>
            </a:r>
            <a:r>
              <a:rPr lang="en-US" dirty="0" err="1"/>
              <a:t>J.D.Ullman</a:t>
            </a:r>
            <a:r>
              <a:rPr lang="en-US" dirty="0"/>
              <a:t>, Pearson Education, First Edition Reprint2003.</a:t>
            </a:r>
          </a:p>
          <a:p>
            <a:pPr lvl="0"/>
            <a:r>
              <a:rPr lang="en-US" dirty="0" smtClean="0"/>
              <a:t>3. Advanced </a:t>
            </a:r>
            <a:r>
              <a:rPr lang="en-US" dirty="0"/>
              <a:t>Guide to Python 3 Programming, John Hunt, 4</a:t>
            </a:r>
            <a:r>
              <a:rPr lang="en-US" baseline="30000" dirty="0"/>
              <a:t>th</a:t>
            </a:r>
            <a:r>
              <a:rPr lang="en-US" dirty="0"/>
              <a:t> Edition, Springer Nature Switzerland AG 2019.</a:t>
            </a:r>
          </a:p>
          <a:p>
            <a:r>
              <a:rPr lang="en-US" dirty="0" smtClean="0"/>
              <a:t>4. Python </a:t>
            </a:r>
            <a:r>
              <a:rPr lang="en-US" dirty="0"/>
              <a:t>Basics: A Practice Introduction to Python 3, David Amos, Dan Bader, Joanna </a:t>
            </a:r>
            <a:r>
              <a:rPr lang="en-US" dirty="0" err="1"/>
              <a:t>Jablonski</a:t>
            </a:r>
            <a:r>
              <a:rPr lang="en-US" dirty="0"/>
              <a:t>, Fletcher </a:t>
            </a:r>
            <a:r>
              <a:rPr lang="en-US" dirty="0" err="1"/>
              <a:t>Heisler</a:t>
            </a:r>
            <a:r>
              <a:rPr lang="en-US" dirty="0"/>
              <a:t>, 4</a:t>
            </a:r>
            <a:r>
              <a:rPr lang="en-US" baseline="30000" dirty="0"/>
              <a:t>th</a:t>
            </a:r>
            <a:r>
              <a:rPr lang="en-US" dirty="0"/>
              <a:t> edition, Real Python.</a:t>
            </a:r>
            <a:r>
              <a:rPr kumimoji="0" lang="en-US" alt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a:t>
            </a:r>
            <a:endParaRPr kumimoji="0" lang="en-US" altLang="en-US"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tab pos="927100" algn="l"/>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927100" algn="l"/>
              </a:tabLst>
            </a:pP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WEB REFERNCES/MOOCS:</a:t>
            </a:r>
          </a:p>
          <a:p>
            <a:pPr lvl="0"/>
            <a:r>
              <a:rPr lang="en-US" u="sng" dirty="0" smtClean="0">
                <a:hlinkClick r:id="rId4"/>
              </a:rPr>
              <a:t>1. https</a:t>
            </a:r>
            <a:r>
              <a:rPr lang="en-US" u="sng" dirty="0">
                <a:hlinkClick r:id="rId4"/>
              </a:rPr>
              <a:t>://docs.python.org/3/tutorial/datastructures.html</a:t>
            </a:r>
            <a:endParaRPr lang="en-US" dirty="0"/>
          </a:p>
          <a:p>
            <a:pPr lvl="0"/>
            <a:r>
              <a:rPr lang="en-US" u="sng" dirty="0" smtClean="0">
                <a:hlinkClick r:id="rId5"/>
              </a:rPr>
              <a:t>2. https</a:t>
            </a:r>
            <a:r>
              <a:rPr lang="en-US" u="sng" dirty="0">
                <a:hlinkClick r:id="rId5"/>
              </a:rPr>
              <a:t>://www.w3schools.com/dsa/dsa_intro.php</a:t>
            </a:r>
            <a:endParaRPr lang="en-US" dirty="0"/>
          </a:p>
          <a:p>
            <a:r>
              <a:rPr lang="en-US" u="sng" dirty="0" smtClean="0">
                <a:hlinkClick r:id="rId6"/>
              </a:rPr>
              <a:t>3. https</a:t>
            </a:r>
            <a:r>
              <a:rPr lang="en-US" u="sng" dirty="0">
                <a:hlinkClick r:id="rId6"/>
              </a:rPr>
              <a:t>://www.geeksforgeeks.org/python-data-structures/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93894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40509" cy="3483162"/>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smtClean="0">
                <a:latin typeface="Poppins" pitchFamily="2" charset="77"/>
                <a:cs typeface="Poppins" pitchFamily="2" charset="77"/>
              </a:rPr>
              <a:t>Sructures</a:t>
            </a:r>
            <a:r>
              <a:rPr lang="en-US" sz="3600" b="1" dirty="0" smtClean="0">
                <a:latin typeface="Poppins" pitchFamily="2" charset="77"/>
                <a:cs typeface="Poppins" pitchFamily="2" charset="77"/>
              </a:rPr>
              <a:t> through Python</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BD0A98-E68B-4DAA-8964-2F739D6D4075}">
  <ds:schemaRefs>
    <ds:schemaRef ds:uri="http://www.w3.org/XML/1998/namespace"/>
    <ds:schemaRef ds:uri="http://purl.org/dc/terms/"/>
    <ds:schemaRef ds:uri="http://purl.org/dc/elements/1.1/"/>
    <ds:schemaRef ds:uri="http://schemas.microsoft.com/office/2006/documentManagement/types"/>
    <ds:schemaRef ds:uri="http://schemas.microsoft.com/office/infopath/2007/PartnerControls"/>
    <ds:schemaRef ds:uri="http://purl.org/dc/dcmitype/"/>
    <ds:schemaRef ds:uri="0125a647-8023-46ae-ae6e-85cf36d841bd"/>
    <ds:schemaRef ds:uri="http://schemas.openxmlformats.org/package/2006/metadata/core-properties"/>
    <ds:schemaRef ds:uri="d43ee83c-3e71-4748-8ebc-8eaadf793425"/>
    <ds:schemaRef ds:uri="http://schemas.microsoft.com/office/2006/metadata/properties"/>
  </ds:schemaRefs>
</ds:datastoreItem>
</file>

<file path=customXml/itemProps2.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3184</TotalTime>
  <Words>988</Words>
  <Application>Microsoft Office PowerPoint</Application>
  <PresentationFormat>Widescreen</PresentationFormat>
  <Paragraphs>117</Paragraphs>
  <Slides>13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BioRhyme ExtraBold</vt:lpstr>
      <vt:lpstr>Calibri</vt:lpstr>
      <vt:lpstr>Calibri Light</vt:lpstr>
      <vt:lpstr>euclid_circular_a</vt:lpstr>
      <vt:lpstr>Poppins</vt:lpstr>
      <vt:lpstr>Tahoma</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Microsoft account</cp:lastModifiedBy>
  <cp:revision>87</cp:revision>
  <dcterms:created xsi:type="dcterms:W3CDTF">2020-02-08T09:57:44Z</dcterms:created>
  <dcterms:modified xsi:type="dcterms:W3CDTF">2024-12-13T16:31:59Z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