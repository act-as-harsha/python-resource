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71" r:id="rId5"/>
    <p:sldId id="300" r:id="rId6"/>
    <p:sldId id="258" r:id="rId7"/>
    <p:sldId id="315" r:id="rId8"/>
    <p:sldId id="288" r:id="rId9"/>
    <p:sldId id="290" r:id="rId10"/>
    <p:sldId id="316" r:id="rId11"/>
    <p:sldId id="305" r:id="rId12"/>
    <p:sldId id="306" r:id="rId13"/>
    <p:sldId id="311" r:id="rId14"/>
    <p:sldId id="317" r:id="rId15"/>
    <p:sldId id="318" r:id="rId16"/>
    <p:sldId id="299" r:id="rId17"/>
    <p:sldId id="285" r:id="rId18"/>
    <p:sldId id="287" r:id="rId19"/>
    <p:sldId id="301" r:id="rId20"/>
    <p:sldId id="302" r:id="rId21"/>
    <p:sldId id="30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4T14:41:14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4T14:41:15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4T14:41:1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4T14:41:17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xmlns="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xmlns="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dsa/dsa_intro.php" TargetMode="External"/><Relationship Id="rId2" Type="http://schemas.openxmlformats.org/officeDocument/2006/relationships/hyperlink" Target="https://docs.python.org/3/tutorial/datastructur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geeksforgeeks.org/python-data-structures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90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</a:t>
            </a:r>
            <a:r>
              <a:rPr lang="en-US" sz="3200" b="1" dirty="0" smtClean="0">
                <a:solidFill>
                  <a:schemeClr val="accent1"/>
                </a:solidFill>
              </a:rPr>
              <a:t>Structures through Python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dirty="0" smtClean="0">
                <a:solidFill>
                  <a:schemeClr val="accent1"/>
                </a:solidFill>
              </a:rPr>
              <a:t>24SC1204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Construction of B-Tree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7358857" y="5779007"/>
            <a:ext cx="2235116" cy="424967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30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3726426" y="84408"/>
            <a:ext cx="3756522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(body)"/>
                <a:cs typeface="Times New Roman" panose="02020603050405020304" pitchFamily="18" charset="0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422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To familiarize students with the basic concept of </a:t>
            </a:r>
            <a:r>
              <a:rPr lang="en-US" spc="-5" dirty="0">
                <a:latin typeface="Calibri (body)"/>
                <a:ea typeface="Tahoma" panose="020B0604030504040204" pitchFamily="34" charset="0"/>
                <a:cs typeface="Times New Roman" panose="02020603050405020304" pitchFamily="18" charset="0"/>
              </a:rPr>
              <a:t>B-Tree.</a:t>
            </a:r>
            <a:endParaRPr lang="en-US" sz="1600" b="0" i="0" dirty="0">
              <a:effectLst/>
              <a:latin typeface="Calibri (body)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3136490" y="1807062"/>
            <a:ext cx="4894923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 (body)"/>
                <a:cs typeface="Times New Roman" panose="02020603050405020304" pitchFamily="18" charset="0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This</a:t>
            </a: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Demonstrate The Concept of B-Tree.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Describe the 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concept of m-way ordered Balanced Tree</a:t>
            </a: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List out the operations possible on the construction of B-Tree.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Describe the each operation.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List out the advantages and applications of B-Tree.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 (body)"/>
                <a:cs typeface="Times New Roman" panose="02020603050405020304" pitchFamily="18" charset="0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At the end of this 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Define 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Construction of B-Tree.</a:t>
            </a:r>
            <a:endParaRPr lang="en-US" sz="1600" b="0" i="0" dirty="0">
              <a:effectLst/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Describe 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three</a:t>
            </a:r>
            <a:r>
              <a:rPr lang="en-US" sz="1600" b="0" i="0" dirty="0">
                <a:effectLst/>
                <a:latin typeface="Calibri (body)"/>
                <a:cs typeface="Times New Roman" panose="02020603050405020304" pitchFamily="18" charset="0"/>
              </a:rPr>
              <a:t> different ordered of B-Tree. And their operations</a:t>
            </a: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.</a:t>
            </a:r>
            <a:endParaRPr lang="en-US" sz="1600" b="0" i="0" dirty="0">
              <a:effectLst/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Calibri (body)"/>
                <a:cs typeface="Times New Roman" panose="02020603050405020304" pitchFamily="18" charset="0"/>
              </a:rPr>
              <a:t>Summarize definition, types and operations of construction of B-Tree and its applications.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xmlns="" id="{9EB8A4A0-26E8-41C7-BE65-3B55B361B40D}"/>
              </a:ext>
            </a:extLst>
          </p:cNvPr>
          <p:cNvSpPr/>
          <p:nvPr/>
        </p:nvSpPr>
        <p:spPr>
          <a:xfrm>
            <a:off x="1579418" y="84673"/>
            <a:ext cx="8324237" cy="119786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Calibri (body)"/>
                <a:cs typeface="Times New Roman" panose="02020603050405020304" pitchFamily="18" charset="0"/>
              </a:rPr>
              <a:t>Construction of B-Tree</a:t>
            </a:r>
          </a:p>
          <a:p>
            <a:r>
              <a:rPr lang="en-US" sz="2400" dirty="0">
                <a:latin typeface="Calibri (body)"/>
                <a:cs typeface="Times New Roman" panose="02020603050405020304" pitchFamily="18" charset="0"/>
              </a:rPr>
              <a:t>			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781" y="1465781"/>
            <a:ext cx="113360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>
                <a:latin typeface="Calibri (body)"/>
                <a:cs typeface="Times New Roman" pitchFamily="18" charset="0"/>
              </a:rPr>
              <a:t>B-Tree is a balanced m-way tree.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>
                <a:latin typeface="Calibri (body)"/>
                <a:cs typeface="Times New Roman" pitchFamily="18" charset="0"/>
              </a:rPr>
              <a:t>Generalization of BST in which a node can has more than one key      and more than two children.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>
                <a:latin typeface="Calibri (body)"/>
                <a:cs typeface="Times New Roman" pitchFamily="18" charset="0"/>
              </a:rPr>
              <a:t>Maintain Sorted (ascending order) data.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>
                <a:latin typeface="Calibri (body)"/>
                <a:cs typeface="Times New Roman" pitchFamily="18" charset="0"/>
              </a:rPr>
              <a:t>All leaf nodes must be at same level.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>
                <a:latin typeface="Calibri (body)"/>
                <a:cs typeface="Times New Roman" pitchFamily="18" charset="0"/>
              </a:rPr>
              <a:t> B-Tree of order m has following properties</a:t>
            </a:r>
          </a:p>
          <a:p>
            <a:pPr algn="just"/>
            <a:r>
              <a:rPr lang="en-US" sz="3200" dirty="0">
                <a:latin typeface="Calibri (body)"/>
                <a:cs typeface="Times New Roman" pitchFamily="18" charset="0"/>
              </a:rPr>
              <a:t>	* Every node has maximum m no of children</a:t>
            </a:r>
          </a:p>
          <a:p>
            <a:pPr algn="just"/>
            <a:r>
              <a:rPr lang="en-US" sz="3200" dirty="0">
                <a:latin typeface="Calibri (body)"/>
                <a:cs typeface="Times New Roman" pitchFamily="18" charset="0"/>
              </a:rPr>
              <a:t>	*Minimum children : leaf node-&gt; 0</a:t>
            </a:r>
          </a:p>
          <a:p>
            <a:pPr algn="just"/>
            <a:r>
              <a:rPr lang="en-US" sz="3200" dirty="0">
                <a:latin typeface="Calibri (body)"/>
                <a:cs typeface="Times New Roman" pitchFamily="18" charset="0"/>
              </a:rPr>
              <a:t>					root -&gt; 2</a:t>
            </a:r>
          </a:p>
          <a:p>
            <a:pPr algn="just"/>
            <a:r>
              <a:rPr lang="en-US" sz="3200" dirty="0">
                <a:latin typeface="Calibri (body)"/>
                <a:cs typeface="Times New Roman" pitchFamily="18" charset="0"/>
              </a:rPr>
              <a:t>					internal nodes -&gt; ceiling(m/2)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xmlns="" id="{990D5B43-E42B-DB0A-3B4B-40C438103D8A}"/>
                  </a:ext>
                </a:extLst>
              </p14:cNvPr>
              <p14:cNvContentPartPr/>
              <p14:nvPr/>
            </p14:nvContentPartPr>
            <p14:xfrm>
              <a:off x="2723690" y="341170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0D5B43-E42B-DB0A-3B4B-40C438103D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7570" y="3405581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1322ED40-E0CD-B5A6-9070-E399E1AAF091}"/>
              </a:ext>
            </a:extLst>
          </p:cNvPr>
          <p:cNvGrpSpPr/>
          <p:nvPr/>
        </p:nvGrpSpPr>
        <p:grpSpPr>
          <a:xfrm>
            <a:off x="4109690" y="4375061"/>
            <a:ext cx="360" cy="360"/>
            <a:chOff x="4109690" y="437506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xmlns="" id="{667CEAF8-D3B0-6B39-751B-F996F505AE30}"/>
                    </a:ext>
                  </a:extLst>
                </p14:cNvPr>
                <p14:cNvContentPartPr/>
                <p14:nvPr/>
              </p14:nvContentPartPr>
              <p14:xfrm>
                <a:off x="4109690" y="4375061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7CEAF8-D3B0-6B39-751B-F996F505AE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03570" y="436894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xmlns="" id="{9D416FB9-8FC2-FB82-90E8-A5A603F935CB}"/>
                    </a:ext>
                  </a:extLst>
                </p14:cNvPr>
                <p14:cNvContentPartPr/>
                <p14:nvPr/>
              </p14:nvContentPartPr>
              <p14:xfrm>
                <a:off x="4109690" y="4375061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D416FB9-8FC2-FB82-90E8-A5A603F935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03570" y="436894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C30A73D5-B56A-C478-6A80-B8B8A4DEC877}"/>
                  </a:ext>
                </a:extLst>
              </p14:cNvPr>
              <p14:cNvContentPartPr/>
              <p14:nvPr/>
            </p14:nvContentPartPr>
            <p14:xfrm>
              <a:off x="8052410" y="6420221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30A73D5-B56A-C478-6A80-B8B8A4DEC8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6290" y="641410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39B457E-EF53-0A49-0BF7-72D759C72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03"/>
            <a:ext cx="1993565" cy="597460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xmlns="" id="{408184B8-1FAE-D929-F46A-E5F977FD7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0F8C066-D9C8-69E0-2FD9-ECBE2499F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449" y="92103"/>
            <a:ext cx="8431499" cy="1341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4F9BE46-8FFF-A2AF-7B9C-0DD9332062F9}"/>
              </a:ext>
            </a:extLst>
          </p:cNvPr>
          <p:cNvSpPr txBox="1"/>
          <p:nvPr/>
        </p:nvSpPr>
        <p:spPr>
          <a:xfrm>
            <a:off x="1179871" y="1740309"/>
            <a:ext cx="94291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Every node has maximum (m-1) keys.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Minimum keys: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Root -&gt; 1.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All other nodes -&gt; ceiling(m/2) – 1.</a:t>
            </a:r>
            <a:endParaRPr lang="en-IN" sz="3200" dirty="0">
              <a:latin typeface="Calibri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76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Calibri (body)"/>
                <a:cs typeface="Times New Roman" pitchFamily="18" charset="0"/>
              </a:rPr>
              <a:t>Example of Construction of B-Tree 4 order</a:t>
            </a:r>
            <a:endParaRPr lang="en-US" sz="2800" dirty="0">
              <a:solidFill>
                <a:schemeClr val="bg1"/>
              </a:solidFill>
              <a:latin typeface="Calibri (body)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29EA49C-A624-C111-0D57-ADE1EAC6D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626" y="1288843"/>
            <a:ext cx="11375922" cy="502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585884" y="70605"/>
            <a:ext cx="6740996" cy="82638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alibri (body)"/>
                <a:cs typeface="Times New Roman" panose="02020603050405020304" pitchFamily="18" charset="0"/>
              </a:rPr>
              <a:t>Types of B-Tree                    </a:t>
            </a:r>
            <a:r>
              <a:rPr lang="en-US" sz="3200" b="1" dirty="0" err="1">
                <a:latin typeface="Calibri (body)"/>
                <a:cs typeface="Times New Roman" panose="02020603050405020304" pitchFamily="18" charset="0"/>
              </a:rPr>
              <a:t>Cont</a:t>
            </a:r>
            <a:r>
              <a:rPr lang="en-US" sz="3200" b="1" dirty="0">
                <a:latin typeface="Calibri (body)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25259" y="1297745"/>
            <a:ext cx="118667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1. </a:t>
            </a:r>
            <a:r>
              <a:rPr lang="en-IN" sz="2800" b="1" dirty="0">
                <a:latin typeface="Calibri (body)"/>
                <a:cs typeface="Times New Roman" panose="02020603050405020304" pitchFamily="18" charset="0"/>
              </a:rPr>
              <a:t>Order 3 balanced B-Tree:</a:t>
            </a:r>
            <a:endParaRPr lang="en-IN" sz="2800" dirty="0">
              <a:latin typeface="Calibri (body)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2400" dirty="0">
                <a:latin typeface="Calibri (body)"/>
                <a:cs typeface="Times New Roman" panose="02020603050405020304" pitchFamily="18" charset="0"/>
              </a:rPr>
              <a:t>Here, each node can holds max 2 keys.</a:t>
            </a:r>
          </a:p>
          <a:p>
            <a:endParaRPr lang="en-IN" sz="2800" dirty="0"/>
          </a:p>
          <a:p>
            <a:endParaRPr lang="en-IN" sz="2800" b="1" dirty="0"/>
          </a:p>
          <a:p>
            <a:endParaRPr lang="en-IN" sz="2800" b="1" dirty="0"/>
          </a:p>
          <a:p>
            <a:pPr algn="ctr"/>
            <a:endParaRPr lang="en-IN" sz="2800" b="1" dirty="0"/>
          </a:p>
          <a:p>
            <a:r>
              <a:rPr lang="en-IN" sz="2400" b="1" dirty="0"/>
              <a:t>			</a:t>
            </a:r>
            <a:r>
              <a:rPr lang="en-IN" sz="2000" b="1" dirty="0"/>
              <a:t>Circular Singly linked list</a:t>
            </a:r>
            <a:endParaRPr lang="en-IN" sz="2400" b="1" dirty="0"/>
          </a:p>
          <a:p>
            <a:endParaRPr lang="en-IN" sz="24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b="1" dirty="0"/>
              <a:t>			</a:t>
            </a:r>
            <a:endParaRPr lang="en-IN" sz="2000" dirty="0"/>
          </a:p>
        </p:txBody>
      </p:sp>
      <p:pic>
        <p:nvPicPr>
          <p:cNvPr id="5" name="Picture 2" descr="C:\Users\Personal\Downloads\cirular SL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09" y="2329769"/>
            <a:ext cx="8166588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10A524-C744-18A0-0DE7-91D85E57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06" y="2457366"/>
            <a:ext cx="10249788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650920E-96AD-7AD1-E9DB-BD6191D3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93565" cy="5974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F5B9752-0935-B2A3-8FF2-5FB4BAAA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466" y="106690"/>
            <a:ext cx="6303810" cy="9632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5458045-2884-1084-5A40-3FA0284F9AFF}"/>
              </a:ext>
            </a:extLst>
          </p:cNvPr>
          <p:cNvSpPr txBox="1"/>
          <p:nvPr/>
        </p:nvSpPr>
        <p:spPr>
          <a:xfrm>
            <a:off x="996782" y="1229031"/>
            <a:ext cx="103693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alibri (body)"/>
                <a:cs typeface="Times New Roman" panose="02020603050405020304" pitchFamily="18" charset="0"/>
              </a:rPr>
              <a:t>Order 4 balanced B-Tree:</a:t>
            </a:r>
            <a:endParaRPr lang="en-IN" sz="3600" dirty="0">
              <a:latin typeface="Calibri (body)"/>
              <a:cs typeface="Times New Roman" panose="02020603050405020304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IN" sz="2400" dirty="0">
                <a:latin typeface="Calibri (body)"/>
                <a:cs typeface="Times New Roman" panose="02020603050405020304" pitchFamily="18" charset="0"/>
              </a:rPr>
              <a:t>Here, each node can holds max 3 keys</a:t>
            </a:r>
            <a:r>
              <a:rPr lang="en-IN" sz="1800" dirty="0">
                <a:latin typeface="Calibri (body)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1F8D56B-9000-3791-8FAF-972B8AF3A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0" y="2308763"/>
            <a:ext cx="10615580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3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979460" y="245393"/>
            <a:ext cx="3777956" cy="80616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B-Tree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56259" y="1320731"/>
            <a:ext cx="1154281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>
                <a:latin typeface="Calibri (body)"/>
                <a:cs typeface="Times New Roman" panose="02020603050405020304" pitchFamily="18" charset="0"/>
              </a:rPr>
              <a:t>In a B-Tree, we can perform the following operations...</a:t>
            </a:r>
          </a:p>
          <a:p>
            <a:pPr lvl="1">
              <a:buFont typeface="Wingdings" pitchFamily="2" charset="2"/>
              <a:buChar char="v"/>
            </a:pPr>
            <a:r>
              <a:rPr lang="en-IN" sz="4000" dirty="0">
                <a:latin typeface="Calibri (body)"/>
                <a:cs typeface="Times New Roman" panose="02020603050405020304" pitchFamily="18" charset="0"/>
              </a:rPr>
              <a:t> Insertion</a:t>
            </a:r>
          </a:p>
          <a:p>
            <a:pPr lvl="1">
              <a:buFont typeface="Wingdings" pitchFamily="2" charset="2"/>
              <a:buChar char="v"/>
            </a:pPr>
            <a:r>
              <a:rPr lang="en-IN" sz="4000" dirty="0">
                <a:latin typeface="Calibri (body)"/>
                <a:cs typeface="Times New Roman" panose="02020603050405020304" pitchFamily="18" charset="0"/>
              </a:rPr>
              <a:t> Deletion</a:t>
            </a:r>
          </a:p>
          <a:p>
            <a:pPr lvl="1">
              <a:buFont typeface="Wingdings" pitchFamily="2" charset="2"/>
              <a:buChar char="v"/>
            </a:pPr>
            <a:r>
              <a:rPr lang="en-IN" sz="4000" dirty="0">
                <a:latin typeface="Calibri (body)"/>
                <a:cs typeface="Times New Roman" panose="02020603050405020304" pitchFamily="18" charset="0"/>
              </a:rPr>
              <a:t> Display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1877961" y="236249"/>
            <a:ext cx="9213711" cy="78710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Calibri (body)"/>
                <a:cs typeface="Times New Roman" panose="02020603050405020304" pitchFamily="18" charset="0"/>
              </a:rPr>
              <a:t>Steps for insertion an element in a B-Tree    	</a:t>
            </a:r>
            <a:r>
              <a:rPr lang="en-US" sz="2400" dirty="0">
                <a:latin typeface="Calibri (body)"/>
                <a:cs typeface="Times New Roman" panose="02020603050405020304" pitchFamily="18" charset="0"/>
              </a:rPr>
              <a:t>(Cont..)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19606D-DFD5-D976-90F8-2ADEE4051593}"/>
              </a:ext>
            </a:extLst>
          </p:cNvPr>
          <p:cNvSpPr txBox="1"/>
          <p:nvPr/>
        </p:nvSpPr>
        <p:spPr>
          <a:xfrm>
            <a:off x="599768" y="1514167"/>
            <a:ext cx="106974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Always insert element at leaf node and in sorted manner.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Before insert check no of keys at that node. Maximum no of keys are possible in a node is m-1.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Explain with example: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 (body)"/>
                <a:cs typeface="Times New Roman" panose="02020603050405020304" pitchFamily="18" charset="0"/>
              </a:rPr>
              <a:t>Insert all the following numbers in a B-Tree having m=4.</a:t>
            </a:r>
          </a:p>
          <a:p>
            <a:r>
              <a:rPr lang="en-US" dirty="0">
                <a:latin typeface="Calibri (body)"/>
                <a:cs typeface="Times New Roman" panose="02020603050405020304" pitchFamily="18" charset="0"/>
              </a:rPr>
              <a:t>	6, 3, 12, 10, 5.</a:t>
            </a:r>
          </a:p>
          <a:p>
            <a:r>
              <a:rPr lang="en-IN" dirty="0">
                <a:latin typeface="Calibri (body)"/>
                <a:cs typeface="Times New Roman" panose="02020603050405020304" pitchFamily="18" charset="0"/>
              </a:rPr>
              <a:t>As m=4, so maximum no of keys are possible </a:t>
            </a:r>
            <a:r>
              <a:rPr lang="en-IN" dirty="0" err="1">
                <a:latin typeface="Calibri (body)"/>
                <a:cs typeface="Times New Roman" panose="02020603050405020304" pitchFamily="18" charset="0"/>
              </a:rPr>
              <a:t>ia</a:t>
            </a:r>
            <a:r>
              <a:rPr lang="en-IN" dirty="0">
                <a:latin typeface="Calibri (body)"/>
                <a:cs typeface="Times New Roman" panose="02020603050405020304" pitchFamily="18" charset="0"/>
              </a:rPr>
              <a:t> a node is 3.</a:t>
            </a:r>
          </a:p>
          <a:p>
            <a:r>
              <a:rPr lang="en-IN" dirty="0">
                <a:latin typeface="Calibri (body)"/>
                <a:cs typeface="Times New Roman" panose="02020603050405020304" pitchFamily="18" charset="0"/>
              </a:rPr>
              <a:t>First insert 6:</a:t>
            </a:r>
            <a:r>
              <a:rPr lang="en-IN" dirty="0">
                <a:latin typeface="Calibri (body)"/>
              </a:rPr>
              <a:t>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Calibri (body)"/>
                <a:cs typeface="Times New Roman" panose="02020603050405020304" pitchFamily="18" charset="0"/>
              </a:rPr>
              <a:t>Next Insert 3. As 3 is less than 6 so it comes at left side of 6.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50D339-821E-1DB0-B6A6-16C518EC1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884" y="3164596"/>
            <a:ext cx="3459780" cy="92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6A13584-9ECC-61B7-8DFC-F6068CA54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542" y="4577506"/>
            <a:ext cx="3204730" cy="121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xmlns="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Calibri (body)"/>
                <a:cs typeface="Times New Roman" panose="02020603050405020304" pitchFamily="18" charset="0"/>
              </a:rPr>
              <a:t>Insertion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60954C8D-E611-F355-6228-B59E33A3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 (body)"/>
                <a:cs typeface="Times New Roman" panose="02020603050405020304" pitchFamily="18" charset="0"/>
              </a:rPr>
              <a:t>Next Insert 12. As 12 is greater than 3 as well as 6. So it comes right side of 6.</a:t>
            </a:r>
          </a:p>
          <a:p>
            <a:pPr lvl="5"/>
            <a:endParaRPr lang="en-IN" dirty="0"/>
          </a:p>
          <a:p>
            <a:endParaRPr lang="en-IN" dirty="0"/>
          </a:p>
          <a:p>
            <a:r>
              <a:rPr lang="en-IN" dirty="0">
                <a:latin typeface="Calibri (body)"/>
                <a:cs typeface="Times New Roman" panose="02020603050405020304" pitchFamily="18" charset="0"/>
              </a:rPr>
              <a:t>Next insert 10. 10 is greater than 6 but less than 12. so it comes in between 6 and 12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latin typeface="Calibri (body)"/>
                <a:cs typeface="Times New Roman" panose="02020603050405020304" pitchFamily="18" charset="0"/>
              </a:rPr>
              <a:t>But here, the problem is number keys of the above node are 4 which is more than the value of m-1(as m=4). So we have to sent the middle element of the node towards the up node.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FD6BAD6-EB20-3275-C1AD-CBDB17BB3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297" y="2275881"/>
            <a:ext cx="3421677" cy="9297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3540EA-D1B0-E102-0FC9-56752CCAA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458" y="3958670"/>
            <a:ext cx="3459780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6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A612A2C-A5ED-674D-795D-AA2B2642E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35"/>
            <a:ext cx="1993565" cy="597460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19D986BF-9258-9D32-728F-C8CA55142F15}"/>
              </a:ext>
            </a:extLst>
          </p:cNvPr>
          <p:cNvSpPr/>
          <p:nvPr/>
        </p:nvSpPr>
        <p:spPr>
          <a:xfrm>
            <a:off x="2154700" y="87335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Calibri (body)"/>
                <a:cs typeface="Times New Roman" panose="02020603050405020304" pitchFamily="18" charset="0"/>
              </a:rPr>
              <a:t>Insertion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DADC1E0-DF21-FD34-560B-713E56AEC5BB}"/>
              </a:ext>
            </a:extLst>
          </p:cNvPr>
          <p:cNvSpPr txBox="1"/>
          <p:nvPr/>
        </p:nvSpPr>
        <p:spPr>
          <a:xfrm>
            <a:off x="786581" y="1258528"/>
            <a:ext cx="110514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alibri (body)"/>
                <a:cs typeface="Times New Roman" panose="02020603050405020304" pitchFamily="18" charset="0"/>
              </a:rPr>
              <a:t>Here middle elements are 6 </a:t>
            </a:r>
            <a:r>
              <a:rPr lang="en-US" sz="3200" dirty="0">
                <a:latin typeface="Calibri (body)"/>
                <a:cs typeface="Times New Roman" panose="02020603050405020304" pitchFamily="18" charset="0"/>
              </a:rPr>
              <a:t>and 10. We can send any one. If we send 6 to upwards then it is called Left Biased. If we send 10 to upwards then it is called Right Biased. Let, we consider Left Biased.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  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8888D01-587D-8D4D-E5A8-50AF6F18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813" y="2870774"/>
            <a:ext cx="5616427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D66432F-CE85-BA90-A5BE-231DA6CC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35"/>
            <a:ext cx="1993565" cy="597460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30ECDBCB-B11D-4A6F-0EE5-8F8E0E81A687}"/>
              </a:ext>
            </a:extLst>
          </p:cNvPr>
          <p:cNvSpPr/>
          <p:nvPr/>
        </p:nvSpPr>
        <p:spPr>
          <a:xfrm>
            <a:off x="2154700" y="87335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Calibri (body)"/>
                <a:cs typeface="Times New Roman" panose="02020603050405020304" pitchFamily="18" charset="0"/>
              </a:rPr>
              <a:t>Insertion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BB8B6A4-C1EF-8C6D-ECBF-2B117D60931A}"/>
              </a:ext>
            </a:extLst>
          </p:cNvPr>
          <p:cNvSpPr txBox="1"/>
          <p:nvPr/>
        </p:nvSpPr>
        <p:spPr>
          <a:xfrm>
            <a:off x="1052051" y="1091381"/>
            <a:ext cx="104320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 (body)"/>
                <a:cs typeface="Times New Roman" panose="02020603050405020304" pitchFamily="18" charset="0"/>
              </a:rPr>
              <a:t>Next element is 5. We have to check from root node. 5 is less than 6, so it goes to the left child node of 6. Next we have to compare with 3. 5 is grater than 3 so it comes right side of 3. Always insert at leaf node.</a:t>
            </a:r>
          </a:p>
          <a:p>
            <a:endParaRPr lang="en-US" sz="3600" dirty="0"/>
          </a:p>
          <a:p>
            <a:r>
              <a:rPr lang="en-US" sz="3600" dirty="0"/>
              <a:t>		 </a:t>
            </a:r>
            <a:endParaRPr lang="en-IN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9FEE926-55A5-B52C-BE33-DB56BA312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471" y="3821841"/>
            <a:ext cx="5540220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Advantages of a B-Tree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B-Tree can Balance themselves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High throughput and concurrency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Efficient use of storage space</a:t>
            </a:r>
            <a:endParaRPr lang="en-IN" sz="2400" b="1" dirty="0"/>
          </a:p>
          <a:p>
            <a:r>
              <a:rPr lang="en-IN" sz="2400" b="1" dirty="0"/>
              <a:t>Disadvantages of B-Tree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/>
              <a:t>B-Tree require more space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/>
              <a:t>Not efficient for write-heavy workloads.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/>
              <a:t>slow</a:t>
            </a:r>
          </a:p>
          <a:p>
            <a:r>
              <a:rPr lang="en-IN" sz="2400" b="1" dirty="0"/>
              <a:t>Applications/Uses of B-Tree in real life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Database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File Organisation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Information </a:t>
            </a:r>
            <a:r>
              <a:rPr lang="en-IN" sz="2000" dirty="0" err="1"/>
              <a:t>Retrival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xmlns="" id="{6A88569E-B8E0-456C-1AC4-3697CDA0D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626" y="1288843"/>
            <a:ext cx="11375922" cy="502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848264"/>
            <a:ext cx="1210095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sz="4000" dirty="0"/>
              <a:t>B-Tree is a m-way balanced tree.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4000" dirty="0"/>
              <a:t>Store data in sorted way.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4000" dirty="0"/>
              <a:t>If the order is m then each node can have maximum m-1 keys.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4000" dirty="0"/>
              <a:t>Always insert element into leaf node.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4000" dirty="0"/>
              <a:t>If the no of keys reaches at m-1 of a node then middle element of the node has to move up.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How many max keys are there in a node of order m?</a:t>
            </a:r>
            <a:br>
              <a:rPr lang="en-IN" sz="2400" dirty="0"/>
            </a:br>
            <a:endParaRPr sz="2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xmlns="" id="{5D8B791C-9B35-CF16-C192-D202E0DB9A60}"/>
              </a:ext>
            </a:extLst>
          </p:cNvPr>
          <p:cNvSpPr/>
          <p:nvPr/>
        </p:nvSpPr>
        <p:spPr>
          <a:xfrm>
            <a:off x="1026828" y="1888177"/>
            <a:ext cx="6430876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a) m</a:t>
            </a:r>
            <a:br>
              <a:rPr lang="en-IN" dirty="0"/>
            </a:br>
            <a:r>
              <a:rPr lang="en-IN" dirty="0"/>
              <a:t>b) m+1</a:t>
            </a:r>
            <a:br>
              <a:rPr lang="en-IN" dirty="0"/>
            </a:br>
            <a:r>
              <a:rPr lang="en-IN" dirty="0"/>
              <a:t>c) m/2</a:t>
            </a:r>
            <a:br>
              <a:rPr lang="en-IN" dirty="0"/>
            </a:br>
            <a:r>
              <a:rPr lang="en-IN" dirty="0"/>
              <a:t>d) m-1</a:t>
            </a:r>
            <a:br>
              <a:rPr lang="en-IN" dirty="0"/>
            </a:b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400" dirty="0"/>
              <a:t>2. Which of the following is false about a construction of B-Tree?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xmlns="" id="{7E00138C-2256-5D01-E821-A57ADA3BBCB0}"/>
              </a:ext>
            </a:extLst>
          </p:cNvPr>
          <p:cNvSpPr/>
          <p:nvPr/>
        </p:nvSpPr>
        <p:spPr>
          <a:xfrm>
            <a:off x="921405" y="4727197"/>
            <a:ext cx="779146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a) Max no of keys of a node is m-1</a:t>
            </a:r>
            <a:br>
              <a:rPr lang="en-IN" dirty="0"/>
            </a:br>
            <a:r>
              <a:rPr lang="en-IN" dirty="0"/>
              <a:t>b) If the order is m, then a node can have max m no of children</a:t>
            </a:r>
            <a:br>
              <a:rPr lang="en-IN" dirty="0"/>
            </a:br>
            <a:r>
              <a:rPr lang="en-IN" dirty="0"/>
              <a:t>c) Time complexity for deleting the last node is O(n)</a:t>
            </a:r>
            <a:br>
              <a:rPr lang="en-IN" dirty="0"/>
            </a:br>
            <a:r>
              <a:rPr lang="en-IN" dirty="0"/>
              <a:t>d) All Leaf nodes are in same level.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About Construction of B-Tree.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Define order of the B-Tree.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3. List out the different properties of B-Tree.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the time complexity of B-Tree.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What is B-Tree, its types and operations possible on it?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Reference Books:</a:t>
            </a:r>
            <a:endParaRPr lang="en-US" sz="2400" dirty="0"/>
          </a:p>
          <a:p>
            <a:pPr lvl="0"/>
            <a:r>
              <a:rPr lang="en-US" dirty="0" smtClean="0"/>
              <a:t>1. Data </a:t>
            </a:r>
            <a:r>
              <a:rPr lang="en-US" dirty="0"/>
              <a:t>Structures and Algorithm Analysis in PYTHON, 2010, Mark Allen Weiss, Second Edition, Pearson Education.</a:t>
            </a:r>
          </a:p>
          <a:p>
            <a:pPr lvl="0"/>
            <a:r>
              <a:rPr lang="en-US" dirty="0" smtClean="0"/>
              <a:t>2. Data </a:t>
            </a:r>
            <a:r>
              <a:rPr lang="en-US" dirty="0"/>
              <a:t>Structures and Algorithms, </a:t>
            </a:r>
            <a:r>
              <a:rPr lang="en-US" dirty="0" err="1"/>
              <a:t>A.V.Aho</a:t>
            </a:r>
            <a:r>
              <a:rPr lang="en-US" dirty="0"/>
              <a:t>, </a:t>
            </a:r>
            <a:r>
              <a:rPr lang="en-US" dirty="0" err="1"/>
              <a:t>J.E.Hopcroft</a:t>
            </a:r>
            <a:r>
              <a:rPr lang="en-US" dirty="0"/>
              <a:t>, and </a:t>
            </a:r>
            <a:r>
              <a:rPr lang="en-US" dirty="0" err="1"/>
              <a:t>J.D.Ullman</a:t>
            </a:r>
            <a:r>
              <a:rPr lang="en-US" dirty="0"/>
              <a:t>, Pearson Education, First Edition Reprint2003.</a:t>
            </a:r>
          </a:p>
          <a:p>
            <a:pPr lvl="0"/>
            <a:r>
              <a:rPr lang="en-US" dirty="0" smtClean="0"/>
              <a:t>3. Advanced </a:t>
            </a:r>
            <a:r>
              <a:rPr lang="en-US" dirty="0"/>
              <a:t>Guide to Python 3 Programming, John Hunt, 4</a:t>
            </a:r>
            <a:r>
              <a:rPr lang="en-US" baseline="30000" dirty="0"/>
              <a:t>th</a:t>
            </a:r>
            <a:r>
              <a:rPr lang="en-US" dirty="0"/>
              <a:t> Edition, Springer Nature Switzerland AG 2019.</a:t>
            </a:r>
          </a:p>
          <a:p>
            <a:r>
              <a:rPr lang="en-US" dirty="0" smtClean="0"/>
              <a:t>4. Python </a:t>
            </a:r>
            <a:r>
              <a:rPr lang="en-US" dirty="0"/>
              <a:t>Basics: A Practice Introduction to Python 3, David Amos, Dan Bader, Joanna </a:t>
            </a:r>
            <a:r>
              <a:rPr lang="en-US" dirty="0" err="1"/>
              <a:t>Jablonski</a:t>
            </a:r>
            <a:r>
              <a:rPr lang="en-US" dirty="0"/>
              <a:t>, Fletcher </a:t>
            </a:r>
            <a:r>
              <a:rPr lang="en-US" dirty="0" err="1"/>
              <a:t>Heisler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edition, Real Python.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Sites and Web links:</a:t>
            </a:r>
          </a:p>
          <a:p>
            <a:pPr lvl="0"/>
            <a:r>
              <a:rPr lang="en-US" dirty="0" smtClean="0"/>
              <a:t>1. </a:t>
            </a:r>
            <a:r>
              <a:rPr lang="en-US" u="sng" dirty="0" smtClean="0">
                <a:hlinkClick r:id="rId2"/>
              </a:rPr>
              <a:t>https</a:t>
            </a:r>
            <a:r>
              <a:rPr lang="en-US" u="sng" dirty="0">
                <a:hlinkClick r:id="rId2"/>
              </a:rPr>
              <a:t>://docs.python.org/3/tutorial/datastructures.html</a:t>
            </a:r>
            <a:endParaRPr lang="en-US" dirty="0"/>
          </a:p>
          <a:p>
            <a:pPr lvl="0"/>
            <a:r>
              <a:rPr lang="en-US" u="sng" dirty="0" smtClean="0">
                <a:hlinkClick r:id="rId3"/>
              </a:rPr>
              <a:t>2. https</a:t>
            </a:r>
            <a:r>
              <a:rPr lang="en-US" u="sng" dirty="0">
                <a:hlinkClick r:id="rId3"/>
              </a:rPr>
              <a:t>://www.w3schools.com/dsa/dsa_intro.php</a:t>
            </a:r>
            <a:endParaRPr lang="en-US" dirty="0"/>
          </a:p>
          <a:p>
            <a:r>
              <a:rPr lang="en-US" u="sng" dirty="0" smtClean="0">
                <a:hlinkClick r:id="rId4"/>
              </a:rPr>
              <a:t>3. https</a:t>
            </a:r>
            <a:r>
              <a:rPr lang="en-US" u="sng" dirty="0">
                <a:hlinkClick r:id="rId4"/>
              </a:rPr>
              <a:t>://www.geeksforgeeks.org/python-data-structures/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58797" cy="323627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3200" b="1" dirty="0" smtClean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 smtClean="0">
                <a:latin typeface="Poppins" pitchFamily="2" charset="77"/>
                <a:cs typeface="Poppins" pitchFamily="2" charset="77"/>
              </a:rPr>
              <a:t>THANK </a:t>
            </a:r>
            <a:r>
              <a:rPr lang="en-US" sz="3200" b="1" dirty="0">
                <a:latin typeface="Poppins" pitchFamily="2" charset="77"/>
                <a:cs typeface="Poppins" pitchFamily="2" charset="77"/>
              </a:rPr>
              <a:t>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dirty="0" err="1" smtClean="0">
                <a:latin typeface="Poppins" pitchFamily="2" charset="77"/>
                <a:cs typeface="Poppins" pitchFamily="2" charset="77"/>
              </a:rPr>
              <a:t>Sructures</a:t>
            </a:r>
            <a:r>
              <a:rPr lang="en-US" sz="3600" b="1" dirty="0" smtClean="0">
                <a:latin typeface="Poppins" pitchFamily="2" charset="77"/>
                <a:cs typeface="Poppins" pitchFamily="2" charset="77"/>
              </a:rPr>
              <a:t> through Python</a:t>
            </a:r>
            <a:endParaRPr lang="en-US" sz="36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2320</TotalTime>
  <Words>867</Words>
  <Application>Microsoft Office PowerPoint</Application>
  <PresentationFormat>Widescreen</PresentationFormat>
  <Paragraphs>159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BioRhyme ExtraBold</vt:lpstr>
      <vt:lpstr>Calibri</vt:lpstr>
      <vt:lpstr>Calibri (body)</vt:lpstr>
      <vt:lpstr>Calibri Light</vt:lpstr>
      <vt:lpstr>Calibri(body)</vt:lpstr>
      <vt:lpstr>Courier New</vt:lpstr>
      <vt:lpstr>Poppins</vt:lpstr>
      <vt:lpstr>Tahoma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Microsoft account</cp:lastModifiedBy>
  <cp:revision>73</cp:revision>
  <dcterms:created xsi:type="dcterms:W3CDTF">2020-02-08T09:57:44Z</dcterms:created>
  <dcterms:modified xsi:type="dcterms:W3CDTF">2024-12-13T08:19:41Z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