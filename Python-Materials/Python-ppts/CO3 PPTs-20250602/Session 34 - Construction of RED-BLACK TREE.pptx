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5"/>
  </p:notesMasterIdLst>
  <p:sldIdLst>
    <p:sldId id="271" r:id="rId5"/>
    <p:sldId id="300" r:id="rId6"/>
    <p:sldId id="258" r:id="rId7"/>
    <p:sldId id="343" r:id="rId8"/>
    <p:sldId id="323" r:id="rId9"/>
    <p:sldId id="329" r:id="rId10"/>
    <p:sldId id="330" r:id="rId11"/>
    <p:sldId id="331" r:id="rId12"/>
    <p:sldId id="332" r:id="rId13"/>
    <p:sldId id="333" r:id="rId14"/>
    <p:sldId id="334" r:id="rId15"/>
    <p:sldId id="344" r:id="rId16"/>
    <p:sldId id="341" r:id="rId17"/>
    <p:sldId id="342" r:id="rId18"/>
    <p:sldId id="345" r:id="rId19"/>
    <p:sldId id="287" r:id="rId20"/>
    <p:sldId id="301" r:id="rId21"/>
    <p:sldId id="302" r:id="rId22"/>
    <p:sldId id="303" r:id="rId23"/>
    <p:sldId id="30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B850D1-3DE1-5E49-ABFC-00B1F4CAB20B}" v="706" dt="2022-04-26T05:00:35.908"/>
    <p1510:client id="{AD1DD7D1-9F96-3F6A-A29C-F3CF23B6E08B}" v="846" dt="2023-12-28T14:08:55.958"/>
    <p1510:client id="{B8906113-84A5-D6EE-8131-D504648287C4}" v="62" dt="2022-09-08T10:44:06.60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4" autoAdjust="0"/>
    <p:restoredTop sz="95226" autoAdjust="0"/>
  </p:normalViewPr>
  <p:slideViewPr>
    <p:cSldViewPr snapToGrid="0">
      <p:cViewPr varScale="1">
        <p:scale>
          <a:sx n="83" d="100"/>
          <a:sy n="83" d="100"/>
        </p:scale>
        <p:origin x="59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041d050716007d72e933769838f51bced52d97ace154e39de1e0ee92a489812d::" providerId="AD" clId="Web-{AD1DD7D1-9F96-3F6A-A29C-F3CF23B6E08B}"/>
    <pc:docChg chg="addSld delSld modSld">
      <pc:chgData name="Guest User" userId="S::urn:spo:anon#041d050716007d72e933769838f51bced52d97ace154e39de1e0ee92a489812d::" providerId="AD" clId="Web-{AD1DD7D1-9F96-3F6A-A29C-F3CF23B6E08B}" dt="2023-12-28T14:08:54.739" v="721" actId="20577"/>
      <pc:docMkLst>
        <pc:docMk/>
      </pc:docMkLst>
      <pc:sldChg chg="modSp">
        <pc:chgData name="Guest User" userId="S::urn:spo:anon#041d050716007d72e933769838f51bced52d97ace154e39de1e0ee92a489812d::" providerId="AD" clId="Web-{AD1DD7D1-9F96-3F6A-A29C-F3CF23B6E08B}" dt="2023-12-28T14:08:21.222" v="717" actId="14100"/>
        <pc:sldMkLst>
          <pc:docMk/>
          <pc:sldMk cId="4254978408" sldId="287"/>
        </pc:sldMkLst>
        <pc:spChg chg="mod">
          <ac:chgData name="Guest User" userId="S::urn:spo:anon#041d050716007d72e933769838f51bced52d97ace154e39de1e0ee92a489812d::" providerId="AD" clId="Web-{AD1DD7D1-9F96-3F6A-A29C-F3CF23B6E08B}" dt="2023-12-28T14:08:21.222" v="717" actId="14100"/>
          <ac:spMkLst>
            <pc:docMk/>
            <pc:sldMk cId="4254978408" sldId="287"/>
            <ac:spMk id="7" creationId="{00000000-0000-0000-0000-000000000000}"/>
          </ac:spMkLst>
        </pc:spChg>
      </pc:sldChg>
      <pc:sldChg chg="del">
        <pc:chgData name="Guest User" userId="S::urn:spo:anon#041d050716007d72e933769838f51bced52d97ace154e39de1e0ee92a489812d::" providerId="AD" clId="Web-{AD1DD7D1-9F96-3F6A-A29C-F3CF23B6E08B}" dt="2023-12-28T13:55:26.341" v="519"/>
        <pc:sldMkLst>
          <pc:docMk/>
          <pc:sldMk cId="1300146341" sldId="299"/>
        </pc:sldMkLst>
      </pc:sldChg>
      <pc:sldChg chg="modSp">
        <pc:chgData name="Guest User" userId="S::urn:spo:anon#041d050716007d72e933769838f51bced52d97ace154e39de1e0ee92a489812d::" providerId="AD" clId="Web-{AD1DD7D1-9F96-3F6A-A29C-F3CF23B6E08B}" dt="2023-12-28T14:08:54.739" v="721" actId="20577"/>
        <pc:sldMkLst>
          <pc:docMk/>
          <pc:sldMk cId="2602073769" sldId="302"/>
        </pc:sldMkLst>
        <pc:spChg chg="mod">
          <ac:chgData name="Guest User" userId="S::urn:spo:anon#041d050716007d72e933769838f51bced52d97ace154e39de1e0ee92a489812d::" providerId="AD" clId="Web-{AD1DD7D1-9F96-3F6A-A29C-F3CF23B6E08B}" dt="2023-12-28T14:08:54.739" v="721" actId="20577"/>
          <ac:spMkLst>
            <pc:docMk/>
            <pc:sldMk cId="2602073769" sldId="302"/>
            <ac:spMk id="9" creationId="{00000000-0000-0000-0000-000000000000}"/>
          </ac:spMkLst>
        </pc:spChg>
      </pc:sldChg>
      <pc:sldChg chg="modSp">
        <pc:chgData name="Guest User" userId="S::urn:spo:anon#041d050716007d72e933769838f51bced52d97ace154e39de1e0ee92a489812d::" providerId="AD" clId="Web-{AD1DD7D1-9F96-3F6A-A29C-F3CF23B6E08B}" dt="2023-12-28T13:54:19.167" v="518" actId="20577"/>
        <pc:sldMkLst>
          <pc:docMk/>
          <pc:sldMk cId="3964287286" sldId="330"/>
        </pc:sldMkLst>
        <pc:spChg chg="mod">
          <ac:chgData name="Guest User" userId="S::urn:spo:anon#041d050716007d72e933769838f51bced52d97ace154e39de1e0ee92a489812d::" providerId="AD" clId="Web-{AD1DD7D1-9F96-3F6A-A29C-F3CF23B6E08B}" dt="2023-12-28T13:18:26.542" v="20" actId="20577"/>
          <ac:spMkLst>
            <pc:docMk/>
            <pc:sldMk cId="3964287286" sldId="330"/>
            <ac:spMk id="6" creationId="{9EB8A4A0-26E8-41C7-BE65-3B55B361B40D}"/>
          </ac:spMkLst>
        </pc:spChg>
        <pc:spChg chg="mod">
          <ac:chgData name="Guest User" userId="S::urn:spo:anon#041d050716007d72e933769838f51bced52d97ace154e39de1e0ee92a489812d::" providerId="AD" clId="Web-{AD1DD7D1-9F96-3F6A-A29C-F3CF23B6E08B}" dt="2023-12-28T13:54:19.167" v="518" actId="20577"/>
          <ac:spMkLst>
            <pc:docMk/>
            <pc:sldMk cId="3964287286" sldId="330"/>
            <ac:spMk id="11268" creationId="{00000000-0000-0000-0000-000000000000}"/>
          </ac:spMkLst>
        </pc:spChg>
      </pc:sldChg>
      <pc:sldChg chg="addSp delSp modSp new">
        <pc:chgData name="Guest User" userId="S::urn:spo:anon#041d050716007d72e933769838f51bced52d97ace154e39de1e0ee92a489812d::" providerId="AD" clId="Web-{AD1DD7D1-9F96-3F6A-A29C-F3CF23B6E08B}" dt="2023-12-28T14:08:00.472" v="714" actId="20577"/>
        <pc:sldMkLst>
          <pc:docMk/>
          <pc:sldMk cId="110099357" sldId="345"/>
        </pc:sldMkLst>
        <pc:spChg chg="del mod">
          <ac:chgData name="Guest User" userId="S::urn:spo:anon#041d050716007d72e933769838f51bced52d97ace154e39de1e0ee92a489812d::" providerId="AD" clId="Web-{AD1DD7D1-9F96-3F6A-A29C-F3CF23B6E08B}" dt="2023-12-28T13:56:41.015" v="524"/>
          <ac:spMkLst>
            <pc:docMk/>
            <pc:sldMk cId="110099357" sldId="345"/>
            <ac:spMk id="2" creationId="{4DF79EE2-11F2-D874-0DFB-C0DE535029FB}"/>
          </ac:spMkLst>
        </pc:spChg>
        <pc:spChg chg="mod">
          <ac:chgData name="Guest User" userId="S::urn:spo:anon#041d050716007d72e933769838f51bced52d97ace154e39de1e0ee92a489812d::" providerId="AD" clId="Web-{AD1DD7D1-9F96-3F6A-A29C-F3CF23B6E08B}" dt="2023-12-28T14:08:00.472" v="714" actId="20577"/>
          <ac:spMkLst>
            <pc:docMk/>
            <pc:sldMk cId="110099357" sldId="345"/>
            <ac:spMk id="3" creationId="{8AFBC257-6C1D-62B5-8F7A-9B7523DA921E}"/>
          </ac:spMkLst>
        </pc:spChg>
        <pc:spChg chg="add del mod">
          <ac:chgData name="Guest User" userId="S::urn:spo:anon#041d050716007d72e933769838f51bced52d97ace154e39de1e0ee92a489812d::" providerId="AD" clId="Web-{AD1DD7D1-9F96-3F6A-A29C-F3CF23B6E08B}" dt="2023-12-28T13:59:49.896" v="537"/>
          <ac:spMkLst>
            <pc:docMk/>
            <pc:sldMk cId="110099357" sldId="345"/>
            <ac:spMk id="8" creationId="{07720A56-1468-23E5-23A5-8CFA61B0C809}"/>
          </ac:spMkLst>
        </pc:spChg>
        <pc:spChg chg="add mod">
          <ac:chgData name="Guest User" userId="S::urn:spo:anon#041d050716007d72e933769838f51bced52d97ace154e39de1e0ee92a489812d::" providerId="AD" clId="Web-{AD1DD7D1-9F96-3F6A-A29C-F3CF23B6E08B}" dt="2023-12-28T14:01:18.320" v="551" actId="20577"/>
          <ac:spMkLst>
            <pc:docMk/>
            <pc:sldMk cId="110099357" sldId="345"/>
            <ac:spMk id="9" creationId="{FDDE88A8-FE52-4AF2-1520-88B7A62BF20C}"/>
          </ac:spMkLst>
        </pc:spChg>
        <pc:picChg chg="add">
          <ac:chgData name="Guest User" userId="S::urn:spo:anon#041d050716007d72e933769838f51bced52d97ace154e39de1e0ee92a489812d::" providerId="AD" clId="Web-{AD1DD7D1-9F96-3F6A-A29C-F3CF23B6E08B}" dt="2023-12-28T13:57:19.938" v="530"/>
          <ac:picMkLst>
            <pc:docMk/>
            <pc:sldMk cId="110099357" sldId="345"/>
            <ac:picMk id="5" creationId="{2C5CD37A-B948-3584-2608-EB0375B4D8BE}"/>
          </ac:picMkLst>
        </pc:picChg>
        <pc:picChg chg="add del">
          <ac:chgData name="Guest User" userId="S::urn:spo:anon#041d050716007d72e933769838f51bced52d97ace154e39de1e0ee92a489812d::" providerId="AD" clId="Web-{AD1DD7D1-9F96-3F6A-A29C-F3CF23B6E08B}" dt="2023-12-28T13:57:39.782" v="532"/>
          <ac:picMkLst>
            <pc:docMk/>
            <pc:sldMk cId="110099357" sldId="345"/>
            <ac:picMk id="7" creationId="{7F618C82-7758-0DB6-A45C-B3550D758F0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88632FB-C6D4-414E-8FE5-F8EA04FA55AA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7559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C4B822-7C95-4A96-99AB-6A0556453E90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188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010A45-8DE4-4144-A02F-DCA9467528DA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4049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FE3EC1-AB88-4A9A-A545-9CE46BD3610E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3731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D815F5-B98B-4843-A1FA-6D7A6BA472BB}" type="slidenum">
              <a:rPr lang="en-CA" smtClean="0"/>
              <a:pPr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0627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83CD16A-D6B0-41F9-AF5B-A30BF951BADB}" type="slidenum">
              <a:rPr lang="en-CA" smtClean="0"/>
              <a:pPr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088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EF95F6-18AC-4D1F-864F-FA160474A239}" type="slidenum">
              <a:rPr lang="en-CA" smtClean="0"/>
              <a:pPr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9147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12/13/2024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=""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=""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greenteapress.com/wp/thinkpyth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-data-structures/" TargetMode="External"/><Relationship Id="rId5" Type="http://schemas.openxmlformats.org/officeDocument/2006/relationships/hyperlink" Target="https://www.w3schools.com/dsa/dsa_intro.php" TargetMode="External"/><Relationship Id="rId4" Type="http://schemas.openxmlformats.org/officeDocument/2006/relationships/hyperlink" Target="https://docs.python.org/3/tutorial/datastructures.htm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27998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9" y="169496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n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Data </a:t>
            </a:r>
            <a:r>
              <a:rPr lang="en-US" sz="3600" b="1" dirty="0" smtClean="0">
                <a:ln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Structure through Python</a:t>
            </a:r>
            <a:endParaRPr lang="en-US" sz="3600" b="1" dirty="0">
              <a:ln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smtClean="0">
                <a:ln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24SC1204</a:t>
            </a:r>
            <a:endParaRPr lang="en-US" sz="3600" b="1" dirty="0">
              <a:ln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ioRhyme ExtraBold"/>
                <a:cs typeface="Times New Roman" panose="02020603050405020304" pitchFamily="18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40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4000" b="1" cap="all" dirty="0">
                <a:ln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BLACK </a:t>
            </a:r>
            <a:r>
              <a:rPr lang="en-US" sz="4000" b="1" cap="all" dirty="0">
                <a:ln/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en-US" sz="4000" b="1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50162" y="901337"/>
            <a:ext cx="5531402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789621"/>
            <a:ext cx="5753494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BES-1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=""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46663" y="51897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Session - </a:t>
            </a:r>
            <a:r>
              <a:rPr lang="en-US" sz="2400" dirty="0" smtClean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34</a:t>
            </a:r>
            <a:endParaRPr sz="240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375398" y="279508"/>
            <a:ext cx="3441203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1178239" y="790949"/>
            <a:ext cx="10731286" cy="116544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students familiar with the basic concepts of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nodes, parents and Childrens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odes with real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examples and programming syntax.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These knowledge of basic concepts they can construction and demonstrate the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tree.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3978653" y="2037934"/>
            <a:ext cx="4766602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856410" y="2615696"/>
            <a:ext cx="9374945" cy="181588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Constructions with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best, worst and average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cases of time and space complexity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basic terminology  and why it is needed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out the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 ideas about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  and why it is  needed in data structure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structure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constructions and its significance usages in computer science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=""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866" y="916472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=""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" y="3032530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041744" y="4584731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=""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5303059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828800" y="4975429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the concept of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constructions phases, time and space complexity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constructions phases with all possible conditions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 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importance in computer science in cases of storing and managing data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107826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12953" y="202359"/>
            <a:ext cx="5765440" cy="60775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2016193" cy="607753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114269" y="1404195"/>
            <a:ext cx="10379659" cy="4582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Trees are a type of self-balancing binary search tree.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Why they are named as “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32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because each node in the tree is marked with one of two colors, either</a:t>
            </a:r>
            <a:r>
              <a:rPr lang="en-US" sz="32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32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Trees were introduced by Rudolf Bayer and Volker Strassen in 1972.</a:t>
            </a:r>
            <a:endParaRPr lang="en-IN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colours are used to ensure that the tree remains balanced during insertions and deletions.</a:t>
            </a:r>
            <a:endParaRPr lang="en-US" sz="32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7">
            <a:extLst>
              <a:ext uri="{FF2B5EF4-FFF2-40B4-BE49-F238E27FC236}">
                <a16:creationId xmlns="" xmlns:a16="http://schemas.microsoft.com/office/drawing/2014/main" id="{53E0EF95-B724-400A-B1C5-E99C7C9837CC}"/>
              </a:ext>
            </a:extLst>
          </p:cNvPr>
          <p:cNvSpPr/>
          <p:nvPr/>
        </p:nvSpPr>
        <p:spPr>
          <a:xfrm>
            <a:off x="2782061" y="207782"/>
            <a:ext cx="7164371" cy="735459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RED-BLACK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</a:t>
            </a:r>
          </a:p>
        </p:txBody>
      </p:sp>
      <p:pic>
        <p:nvPicPr>
          <p:cNvPr id="3" name="Picture 2" descr="KL Deemed to be University Logo">
            <a:extLst>
              <a:ext uri="{FF2B5EF4-FFF2-40B4-BE49-F238E27FC236}">
                <a16:creationId xmlns="" xmlns:a16="http://schemas.microsoft.com/office/drawing/2014/main" id="{F4094536-8EDF-4AFA-0A3D-F5BF53153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158938" cy="600076"/>
          </a:xfrm>
          <a:prstGeom prst="rect">
            <a:avLst/>
          </a:prstGeom>
          <a:noFill/>
        </p:spPr>
      </p:pic>
      <p:pic>
        <p:nvPicPr>
          <p:cNvPr id="4" name="Picture 2" descr="What is Red-Black Tree? - KK JavaTutorials">
            <a:extLst>
              <a:ext uri="{FF2B5EF4-FFF2-40B4-BE49-F238E27FC236}">
                <a16:creationId xmlns="" xmlns:a16="http://schemas.microsoft.com/office/drawing/2014/main" id="{4B9B3FE2-9D59-9743-C88F-CF3D28E13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7654"/>
            <a:ext cx="12191999" cy="492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8398793-2881-268A-AB6D-75AB1C1E2F85}"/>
              </a:ext>
            </a:extLst>
          </p:cNvPr>
          <p:cNvSpPr txBox="1"/>
          <p:nvPr/>
        </p:nvSpPr>
        <p:spPr>
          <a:xfrm>
            <a:off x="2894029" y="1103060"/>
            <a:ext cx="7903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Constructing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with 10 nodes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683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13538" y="225083"/>
            <a:ext cx="5915684" cy="83071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838200" y="1395167"/>
            <a:ext cx="10515600" cy="5015060"/>
          </a:xfrm>
          <a:prstGeom prst="rect">
            <a:avLst/>
          </a:prstGeo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 is a Binary tree where a particular node has colour as an extra attribute, either red or black.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trees maintain a slightly looser height invariant than AVL trees.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AVL trees, balancing restricts the difference in heights to at most one.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-black </a:t>
            </a:r>
            <a:r>
              <a:rPr lang="en-US" alt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trees, we have a different set of rules related to the colors of the nodes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245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7954" y="1866123"/>
            <a:ext cx="10854179" cy="456124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Root property: 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root is 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None/>
            </a:pP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 External property: 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leaf (Leaf is a NULL child of a node) is 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tree.</a:t>
            </a:r>
          </a:p>
          <a:p>
            <a:pPr marL="0" indent="0" fontAlgn="base">
              <a:buNone/>
            </a:pP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 Internal property: 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children of a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 are 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Hence possible parent of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 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is a 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node.</a:t>
            </a:r>
          </a:p>
          <a:p>
            <a:pPr marL="0" indent="0" fontAlgn="base">
              <a:buNone/>
            </a:pP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 Depth property: 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leaves have the same 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depth.</a:t>
            </a:r>
          </a:p>
          <a:p>
            <a:pPr marL="0" indent="0" fontAlgn="base">
              <a:buNone/>
            </a:pP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 Path property: 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simple path from root to descendant leaf node contains same number of </a:t>
            </a:r>
            <a:r>
              <a:rPr lang="en-US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nodes. 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560456" y="219825"/>
            <a:ext cx="7404638" cy="90917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PROPERTIES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22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009649" y="1283883"/>
            <a:ext cx="10589684" cy="4996921"/>
          </a:xfrm>
        </p:spPr>
        <p:txBody>
          <a:bodyPr lIns="91440" tIns="45720" rIns="91440" bIns="45720" anchor="t"/>
          <a:lstStyle/>
          <a:p>
            <a:r>
              <a:rPr lang="en-US" sz="3000" dirty="0">
                <a:latin typeface="Times New Roman"/>
                <a:ea typeface="Calibri"/>
                <a:cs typeface="Calibri"/>
              </a:rPr>
              <a:t>If the tree is empty, make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newnode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as root and color it with </a:t>
            </a:r>
            <a:r>
              <a:rPr lang="en-US" sz="3000" b="1" dirty="0">
                <a:latin typeface="Times New Roman"/>
                <a:ea typeface="Calibri"/>
                <a:cs typeface="Calibri"/>
              </a:rPr>
              <a:t>black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  <a:endParaRPr lang="en-US" sz="3000">
              <a:latin typeface="Times New Roman"/>
              <a:cs typeface="Calibri"/>
            </a:endParaRPr>
          </a:p>
          <a:p>
            <a:r>
              <a:rPr lang="en-US" sz="3000" dirty="0">
                <a:latin typeface="Times New Roman"/>
                <a:ea typeface="Calibri"/>
                <a:cs typeface="Calibri"/>
              </a:rPr>
              <a:t>If tree is not empty, create </a:t>
            </a:r>
            <a:r>
              <a:rPr lang="en-US" sz="3000" err="1">
                <a:latin typeface="Times New Roman"/>
                <a:ea typeface="Calibri"/>
                <a:cs typeface="Calibri"/>
              </a:rPr>
              <a:t>newnode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as leaf node and color it with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red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.</a:t>
            </a:r>
          </a:p>
          <a:p>
            <a:r>
              <a:rPr lang="en-US" sz="3000" dirty="0">
                <a:latin typeface="Times New Roman"/>
                <a:ea typeface="Calibri"/>
                <a:cs typeface="Calibri"/>
              </a:rPr>
              <a:t>If parent of 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newnode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is </a:t>
            </a:r>
            <a:r>
              <a:rPr lang="en-US" sz="3000" b="1" dirty="0">
                <a:latin typeface="Times New Roman"/>
                <a:ea typeface="Calibri"/>
                <a:cs typeface="Calibri"/>
              </a:rPr>
              <a:t>black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then exit.</a:t>
            </a:r>
          </a:p>
          <a:p>
            <a:r>
              <a:rPr lang="en-US" sz="3000" dirty="0">
                <a:latin typeface="Times New Roman"/>
                <a:ea typeface="Calibri"/>
                <a:cs typeface="Calibri"/>
              </a:rPr>
              <a:t>If parent of </a:t>
            </a:r>
            <a:r>
              <a:rPr lang="en-US" sz="3000" dirty="0" err="1">
                <a:latin typeface="Times New Roman"/>
                <a:ea typeface="Calibri"/>
                <a:cs typeface="Calibri"/>
              </a:rPr>
              <a:t>newnode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is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red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then check the color of parent sibling</a:t>
            </a:r>
          </a:p>
          <a:p>
            <a:pPr marL="0" indent="0">
              <a:buNone/>
            </a:pPr>
            <a:r>
              <a:rPr lang="en-US" sz="3000" dirty="0">
                <a:latin typeface="Times New Roman"/>
                <a:ea typeface="Calibri"/>
                <a:cs typeface="Calibri"/>
              </a:rPr>
              <a:t>     a) If parent sibling color is </a:t>
            </a:r>
            <a:r>
              <a:rPr lang="en-US" sz="3000" b="1" dirty="0">
                <a:latin typeface="Times New Roman"/>
                <a:ea typeface="Calibri"/>
                <a:cs typeface="Calibri"/>
              </a:rPr>
              <a:t>black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 or null rotate and recolor.</a:t>
            </a:r>
          </a:p>
          <a:p>
            <a:pPr marL="0" indent="0">
              <a:buNone/>
            </a:pPr>
            <a:r>
              <a:rPr lang="en-US" sz="3000" dirty="0">
                <a:latin typeface="Times New Roman"/>
                <a:ea typeface="Calibri"/>
                <a:cs typeface="Calibri"/>
              </a:rPr>
              <a:t>     b) If parent sibling color is </a:t>
            </a:r>
            <a:r>
              <a:rPr lang="en-US" sz="3000" b="1" dirty="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red</a:t>
            </a:r>
            <a:r>
              <a:rPr lang="en-US" sz="3000" dirty="0">
                <a:latin typeface="Times New Roman"/>
                <a:ea typeface="Calibri"/>
                <a:cs typeface="Calibri"/>
              </a:rPr>
              <a:t>, then recolor parent and                         parent sibling   </a:t>
            </a:r>
            <a:endParaRPr lang="en-US" sz="3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000" dirty="0">
                <a:latin typeface="Times New Roman"/>
                <a:ea typeface="Calibri"/>
                <a:cs typeface="Calibri"/>
              </a:rPr>
              <a:t>     c) And check parent's parent is not root node. Then recolor and             recheck.</a:t>
            </a:r>
          </a:p>
        </p:txBody>
      </p:sp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169473" y="208777"/>
            <a:ext cx="9627382" cy="81759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en-US" sz="3200" b="1" dirty="0">
                <a:latin typeface="Times New Roman"/>
                <a:cs typeface="Times New Roman"/>
              </a:rPr>
              <a:t>RULES FOR INSERTION OF NODE</a:t>
            </a:r>
            <a:endParaRPr lang="en-US" sz="3200" b="1" dirty="0">
              <a:latin typeface="Times New Roman"/>
              <a:cs typeface="Times New Roman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428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47627" y="1157642"/>
            <a:ext cx="10905574" cy="4542716"/>
          </a:xfrm>
        </p:spPr>
        <p:txBody>
          <a:bodyPr/>
          <a:lstStyle/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13537" y="225084"/>
            <a:ext cx="6759671" cy="770026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RB TREES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pic>
        <p:nvPicPr>
          <p:cNvPr id="1034" name="Picture 10" descr="first node">
            <a:extLst>
              <a:ext uri="{FF2B5EF4-FFF2-40B4-BE49-F238E27FC236}">
                <a16:creationId xmlns="" xmlns:a16="http://schemas.microsoft.com/office/drawing/2014/main" id="{114A9FD1-FF22-B1A6-0B06-2E79A310B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5432"/>
            <a:ext cx="4831205" cy="203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new node">
            <a:extLst>
              <a:ext uri="{FF2B5EF4-FFF2-40B4-BE49-F238E27FC236}">
                <a16:creationId xmlns="" xmlns:a16="http://schemas.microsoft.com/office/drawing/2014/main" id="{A4AF6C0B-9331-791B-CC85-B778A4939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897" y="3419474"/>
            <a:ext cx="5404221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third node">
            <a:extLst>
              <a:ext uri="{FF2B5EF4-FFF2-40B4-BE49-F238E27FC236}">
                <a16:creationId xmlns="" xmlns:a16="http://schemas.microsoft.com/office/drawing/2014/main" id="{34F145B1-8711-7A02-D304-1B24848DF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779" y="3429000"/>
            <a:ext cx="5404221" cy="335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="" xmlns:a16="http://schemas.microsoft.com/office/drawing/2014/main" id="{BDD80F18-5AF9-0228-6B25-4FFD740F3A1D}"/>
              </a:ext>
            </a:extLst>
          </p:cNvPr>
          <p:cNvSpPr/>
          <p:nvPr/>
        </p:nvSpPr>
        <p:spPr>
          <a:xfrm>
            <a:off x="3290074" y="426674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2" name="Arrow: Right 11">
            <a:extLst>
              <a:ext uri="{FF2B5EF4-FFF2-40B4-BE49-F238E27FC236}">
                <a16:creationId xmlns="" xmlns:a16="http://schemas.microsoft.com/office/drawing/2014/main" id="{8B9A539D-2BC0-2251-7552-31D24C927EF3}"/>
              </a:ext>
            </a:extLst>
          </p:cNvPr>
          <p:cNvSpPr/>
          <p:nvPr/>
        </p:nvSpPr>
        <p:spPr>
          <a:xfrm>
            <a:off x="674970" y="426674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3" name="Arrow: Right 12">
            <a:extLst>
              <a:ext uri="{FF2B5EF4-FFF2-40B4-BE49-F238E27FC236}">
                <a16:creationId xmlns="" xmlns:a16="http://schemas.microsoft.com/office/drawing/2014/main" id="{9DDF1839-7575-D0E1-DE3A-943202A273F1}"/>
              </a:ext>
            </a:extLst>
          </p:cNvPr>
          <p:cNvSpPr/>
          <p:nvPr/>
        </p:nvSpPr>
        <p:spPr>
          <a:xfrm>
            <a:off x="6618694" y="43952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FA284178-6116-493F-B17E-B0CECE47350E}"/>
              </a:ext>
            </a:extLst>
          </p:cNvPr>
          <p:cNvSpPr/>
          <p:nvPr/>
        </p:nvSpPr>
        <p:spPr>
          <a:xfrm>
            <a:off x="0" y="5453390"/>
            <a:ext cx="2765897" cy="133929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B50D218-6952-470D-A312-38C0AE19035B}"/>
              </a:ext>
            </a:extLst>
          </p:cNvPr>
          <p:cNvSpPr/>
          <p:nvPr/>
        </p:nvSpPr>
        <p:spPr>
          <a:xfrm>
            <a:off x="2765897" y="6257924"/>
            <a:ext cx="7105891" cy="5273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748F735B-B882-44D7-AA95-7A3538C71D2E}"/>
              </a:ext>
            </a:extLst>
          </p:cNvPr>
          <p:cNvSpPr/>
          <p:nvPr/>
        </p:nvSpPr>
        <p:spPr>
          <a:xfrm>
            <a:off x="2415602" y="5955718"/>
            <a:ext cx="4451729" cy="8285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36F1558B-0361-4D6B-55C8-0D6DE1D50F12}"/>
              </a:ext>
            </a:extLst>
          </p:cNvPr>
          <p:cNvSpPr/>
          <p:nvPr/>
        </p:nvSpPr>
        <p:spPr>
          <a:xfrm>
            <a:off x="0" y="1019152"/>
            <a:ext cx="12192000" cy="2408844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730934E-DFA8-BEB9-88DD-2F089B2CAD65}"/>
              </a:ext>
            </a:extLst>
          </p:cNvPr>
          <p:cNvSpPr txBox="1"/>
          <p:nvPr/>
        </p:nvSpPr>
        <p:spPr>
          <a:xfrm>
            <a:off x="847627" y="1357371"/>
            <a:ext cx="104967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understand the inserting elements with following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-black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properties and rules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red black tree with 1 to 7 numbers.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7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13537" y="202858"/>
            <a:ext cx="5810783" cy="7944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uitable rotation">
            <a:extLst>
              <a:ext uri="{FF2B5EF4-FFF2-40B4-BE49-F238E27FC236}">
                <a16:creationId xmlns="" xmlns:a16="http://schemas.microsoft.com/office/drawing/2014/main" id="{A8912E08-5A51-15A3-8F13-876B3174C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7294"/>
            <a:ext cx="7072604" cy="318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B Tree property">
            <a:extLst>
              <a:ext uri="{FF2B5EF4-FFF2-40B4-BE49-F238E27FC236}">
                <a16:creationId xmlns="" xmlns:a16="http://schemas.microsoft.com/office/drawing/2014/main" id="{AA6407FA-F8ED-3B51-4F8D-CBA59EAB4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604" y="997293"/>
            <a:ext cx="5119396" cy="349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B Tree balance property">
            <a:extLst>
              <a:ext uri="{FF2B5EF4-FFF2-40B4-BE49-F238E27FC236}">
                <a16:creationId xmlns="" xmlns:a16="http://schemas.microsoft.com/office/drawing/2014/main" id="{4DBAE4C5-EC1F-405B-F8B1-95F10AA0D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1294"/>
            <a:ext cx="5029200" cy="276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="" xmlns:a16="http://schemas.microsoft.com/office/drawing/2014/main" id="{E3AD3A6F-B886-EC13-B4A7-9162F8FCC8AE}"/>
              </a:ext>
            </a:extLst>
          </p:cNvPr>
          <p:cNvSpPr/>
          <p:nvPr/>
        </p:nvSpPr>
        <p:spPr>
          <a:xfrm>
            <a:off x="6381217" y="26878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pic>
        <p:nvPicPr>
          <p:cNvPr id="2056" name="Picture 8" descr="insert element 5">
            <a:extLst>
              <a:ext uri="{FF2B5EF4-FFF2-40B4-BE49-F238E27FC236}">
                <a16:creationId xmlns="" xmlns:a16="http://schemas.microsoft.com/office/drawing/2014/main" id="{A4FE4693-095B-5158-E65C-B6CBD3D5F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0597" y="3745165"/>
            <a:ext cx="5538056" cy="303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="" xmlns:a16="http://schemas.microsoft.com/office/drawing/2014/main" id="{F245220D-201D-EFE9-785D-A19139BB30B7}"/>
              </a:ext>
            </a:extLst>
          </p:cNvPr>
          <p:cNvSpPr/>
          <p:nvPr/>
        </p:nvSpPr>
        <p:spPr>
          <a:xfrm>
            <a:off x="4050792" y="492638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3FA12442-CD73-E789-41E4-A934731EBB83}"/>
              </a:ext>
            </a:extLst>
          </p:cNvPr>
          <p:cNvSpPr/>
          <p:nvPr/>
        </p:nvSpPr>
        <p:spPr>
          <a:xfrm>
            <a:off x="10128653" y="4413381"/>
            <a:ext cx="2063347" cy="236733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05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812" y="1439005"/>
            <a:ext cx="11784376" cy="4737958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932856" y="165637"/>
            <a:ext cx="6104220" cy="76221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ibling is NULL">
            <a:extLst>
              <a:ext uri="{FF2B5EF4-FFF2-40B4-BE49-F238E27FC236}">
                <a16:creationId xmlns="" xmlns:a16="http://schemas.microsoft.com/office/drawing/2014/main" id="{BD2C0DA1-086E-A092-35DE-249947B9C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927851"/>
            <a:ext cx="6473525" cy="483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sert element 6">
            <a:extLst>
              <a:ext uri="{FF2B5EF4-FFF2-40B4-BE49-F238E27FC236}">
                <a16:creationId xmlns="" xmlns:a16="http://schemas.microsoft.com/office/drawing/2014/main" id="{E44B0DD5-943B-657A-8BDA-036665A6A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795" y="921686"/>
            <a:ext cx="5861205" cy="438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="" xmlns:a16="http://schemas.microsoft.com/office/drawing/2014/main" id="{DC9099A9-8176-8261-9D63-6D98CF2999A0}"/>
              </a:ext>
            </a:extLst>
          </p:cNvPr>
          <p:cNvSpPr/>
          <p:nvPr/>
        </p:nvSpPr>
        <p:spPr>
          <a:xfrm>
            <a:off x="6018600" y="24368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E51C5F0-530E-8999-D562-D6E5E45F3F10}"/>
              </a:ext>
            </a:extLst>
          </p:cNvPr>
          <p:cNvSpPr/>
          <p:nvPr/>
        </p:nvSpPr>
        <p:spPr>
          <a:xfrm>
            <a:off x="1" y="5302953"/>
            <a:ext cx="12156278" cy="1477759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90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2813538" y="225083"/>
            <a:ext cx="6368170" cy="741887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pic>
        <p:nvPicPr>
          <p:cNvPr id="4" name="Picture 2" descr="recolor parent">
            <a:extLst>
              <a:ext uri="{FF2B5EF4-FFF2-40B4-BE49-F238E27FC236}">
                <a16:creationId xmlns="" xmlns:a16="http://schemas.microsoft.com/office/drawing/2014/main" id="{717C583F-4B45-C7B8-F59F-2B3544CAA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6970"/>
            <a:ext cx="66579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dd last element">
            <a:extLst>
              <a:ext uri="{FF2B5EF4-FFF2-40B4-BE49-F238E27FC236}">
                <a16:creationId xmlns="" xmlns:a16="http://schemas.microsoft.com/office/drawing/2014/main" id="{49994238-8975-AE5E-91B8-95B237453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0" y="966970"/>
            <a:ext cx="6667500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="" xmlns:a16="http://schemas.microsoft.com/office/drawing/2014/main" id="{FA14C467-6B80-5E55-D52D-66797965BEC9}"/>
              </a:ext>
            </a:extLst>
          </p:cNvPr>
          <p:cNvSpPr/>
          <p:nvPr/>
        </p:nvSpPr>
        <p:spPr>
          <a:xfrm>
            <a:off x="5419497" y="244700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D378914-9978-3AC7-7825-3479F145D0DD}"/>
              </a:ext>
            </a:extLst>
          </p:cNvPr>
          <p:cNvSpPr/>
          <p:nvPr/>
        </p:nvSpPr>
        <p:spPr>
          <a:xfrm>
            <a:off x="1" y="5224645"/>
            <a:ext cx="6484775" cy="155606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1CD74A28-FA93-BA5A-A101-D164F2889B55}"/>
              </a:ext>
            </a:extLst>
          </p:cNvPr>
          <p:cNvSpPr/>
          <p:nvPr/>
        </p:nvSpPr>
        <p:spPr>
          <a:xfrm>
            <a:off x="2434513" y="5834245"/>
            <a:ext cx="9757486" cy="9531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715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7">
            <a:extLst>
              <a:ext uri="{FF2B5EF4-FFF2-40B4-BE49-F238E27FC236}">
                <a16:creationId xmlns="" xmlns:a16="http://schemas.microsoft.com/office/drawing/2014/main" id="{FE96A241-DD77-25E3-B0A4-582EE8EF5AF7}"/>
              </a:ext>
            </a:extLst>
          </p:cNvPr>
          <p:cNvSpPr/>
          <p:nvPr/>
        </p:nvSpPr>
        <p:spPr>
          <a:xfrm>
            <a:off x="2960104" y="126378"/>
            <a:ext cx="5863386" cy="8214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of RED-BLACK Tree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="" xmlns:a16="http://schemas.microsoft.com/office/drawing/2014/main" id="{584FE961-AC91-1DDC-A16B-3AAD5B1FE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671" y="126378"/>
            <a:ext cx="1990725" cy="600076"/>
          </a:xfrm>
          <a:prstGeom prst="rect">
            <a:avLst/>
          </a:prstGeom>
          <a:noFill/>
        </p:spPr>
      </p:pic>
      <p:pic>
        <p:nvPicPr>
          <p:cNvPr id="5122" name="Picture 2" descr="RB Tree achieved">
            <a:extLst>
              <a:ext uri="{FF2B5EF4-FFF2-40B4-BE49-F238E27FC236}">
                <a16:creationId xmlns="" xmlns:a16="http://schemas.microsoft.com/office/drawing/2014/main" id="{52A00183-A490-D6B4-F555-0671D7A74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970" y="2065857"/>
            <a:ext cx="7688577" cy="4665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FFE3C9E8-190A-C583-3DF3-B388BD5134FB}"/>
              </a:ext>
            </a:extLst>
          </p:cNvPr>
          <p:cNvSpPr/>
          <p:nvPr/>
        </p:nvSpPr>
        <p:spPr>
          <a:xfrm>
            <a:off x="8823489" y="2065857"/>
            <a:ext cx="3368509" cy="4721564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137DA1CD-25EA-036F-8925-E498A002890A}"/>
              </a:ext>
            </a:extLst>
          </p:cNvPr>
          <p:cNvSpPr/>
          <p:nvPr/>
        </p:nvSpPr>
        <p:spPr>
          <a:xfrm>
            <a:off x="3" y="2037957"/>
            <a:ext cx="3368509" cy="4721564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C34F1D6-1705-F592-7A23-2827AC2FE8B3}"/>
              </a:ext>
            </a:extLst>
          </p:cNvPr>
          <p:cNvSpPr/>
          <p:nvPr/>
        </p:nvSpPr>
        <p:spPr>
          <a:xfrm>
            <a:off x="3264373" y="2065857"/>
            <a:ext cx="5646163" cy="264487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8BF66DE1-28C9-FBF2-3F10-4D886375BEEE}"/>
              </a:ext>
            </a:extLst>
          </p:cNvPr>
          <p:cNvSpPr/>
          <p:nvPr/>
        </p:nvSpPr>
        <p:spPr>
          <a:xfrm>
            <a:off x="1" y="975687"/>
            <a:ext cx="12191996" cy="1164398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F63B0DC-2A93-9702-F49E-0E9F35F09E3E}"/>
              </a:ext>
            </a:extLst>
          </p:cNvPr>
          <p:cNvSpPr txBox="1"/>
          <p:nvPr/>
        </p:nvSpPr>
        <p:spPr>
          <a:xfrm>
            <a:off x="2189833" y="1228385"/>
            <a:ext cx="7909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with 1 to 7 Numbers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21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196" y="1897192"/>
            <a:ext cx="10995582" cy="4351338"/>
          </a:xfrm>
        </p:spPr>
        <p:txBody>
          <a:bodyPr/>
          <a:lstStyle/>
          <a:p>
            <a:pPr fontAlgn="base"/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Trees have a guaranteed time complexity of O(log n) for basic operations like insertion, deletion, and searching.</a:t>
            </a:r>
          </a:p>
          <a:p>
            <a:pPr fontAlgn="base"/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are self-balancing.</a:t>
            </a:r>
          </a:p>
          <a:p>
            <a:pPr fontAlgn="base"/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can be used in a wide range of applications due to their efficient performance and versatility. </a:t>
            </a:r>
          </a:p>
          <a:p>
            <a:pPr fontAlgn="base"/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process which is used to maintain balance in 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is relatively simple and easy to understand.</a:t>
            </a:r>
          </a:p>
          <a:p>
            <a:pPr marL="0"/>
            <a:endParaRPr lang="en-US" sz="32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379122" y="210314"/>
            <a:ext cx="5433756" cy="779524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6538" y="1387786"/>
            <a:ext cx="10515600" cy="4351338"/>
          </a:xfrm>
        </p:spPr>
        <p:txBody>
          <a:bodyPr/>
          <a:lstStyle/>
          <a:p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IN" sz="3200" b="1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IN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trees in a lot of cases is that it is a binary tree and thus lookups are O(log(n)) where as hash tables have a lookup of O(1).</a:t>
            </a:r>
          </a:p>
          <a:p>
            <a:pPr fontAlgn="base"/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require one extra bit of storage for each node to store the color of the node (red or black). </a:t>
            </a:r>
          </a:p>
          <a:p>
            <a:pPr fontAlgn="base"/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Implementation.</a:t>
            </a:r>
          </a:p>
          <a:p>
            <a:pPr fontAlgn="base"/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Although 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Black 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Trees provide efficient performance for basic operations, they may not be the best choice for certain types of data or specific use cases.</a:t>
            </a:r>
          </a:p>
          <a:p>
            <a:pPr marL="0"/>
            <a:endParaRPr lang="en-US" sz="32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812" y="0"/>
            <a:ext cx="1990725" cy="600076"/>
          </a:xfrm>
          <a:prstGeom prst="rect">
            <a:avLst/>
          </a:prstGeom>
          <a:noFill/>
        </p:spPr>
      </p:pic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605389" y="146756"/>
            <a:ext cx="4803321" cy="74879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FBC257-6C1D-62B5-8F7A-9B7523DA9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67" y="1455208"/>
            <a:ext cx="10515600" cy="4690004"/>
          </a:xfrm>
        </p:spPr>
        <p:txBody>
          <a:bodyPr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/>
                <a:cs typeface="Times New Roman"/>
              </a:rPr>
              <a:t>1. Describe 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lang="en-US" sz="3200" dirty="0">
                <a:latin typeface="Times New Roman"/>
                <a:cs typeface="Times New Roman"/>
              </a:rPr>
              <a:t> –</a:t>
            </a:r>
            <a:r>
              <a:rPr lang="en-US" sz="3200" b="1" dirty="0">
                <a:latin typeface="Times New Roman"/>
                <a:cs typeface="Times New Roman"/>
              </a:rPr>
              <a:t>BLACK</a:t>
            </a:r>
            <a:r>
              <a:rPr lang="en-US" sz="3200" dirty="0">
                <a:latin typeface="Times New Roman"/>
                <a:cs typeface="Times New Roman"/>
              </a:rPr>
              <a:t> tree  with proper syntax and                 example</a:t>
            </a:r>
            <a:endParaRPr lang="en-US" dirty="0">
              <a:cs typeface="Calibri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/>
                <a:cs typeface="Times New Roman"/>
              </a:rPr>
              <a:t>2. Construct the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 RED</a:t>
            </a:r>
            <a:r>
              <a:rPr lang="en-US" sz="3200" b="1" dirty="0">
                <a:latin typeface="Times New Roman"/>
                <a:cs typeface="Times New Roman"/>
              </a:rPr>
              <a:t>-BLACK</a:t>
            </a:r>
            <a:r>
              <a:rPr lang="en-US" sz="3200" dirty="0">
                <a:latin typeface="Times New Roman"/>
                <a:cs typeface="Times New Roman"/>
              </a:rPr>
              <a:t> tree with these elements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/>
                <a:cs typeface="Times New Roman"/>
              </a:rPr>
              <a:t>        a) 10,85,15,70,20,60,30,50,65,80,90,40,5,55.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/>
                <a:cs typeface="Times New Roman"/>
              </a:rPr>
              <a:t>        b) 10,18,7,15,16,30,25,40,60,2,1,70.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/>
                <a:cs typeface="Times New Roman"/>
              </a:rPr>
              <a:t>3. List out the time complexities of 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lang="en-US" sz="3200" b="1" dirty="0">
                <a:latin typeface="Times New Roman"/>
                <a:cs typeface="Times New Roman"/>
              </a:rPr>
              <a:t> –BLACK</a:t>
            </a:r>
            <a:r>
              <a:rPr lang="en-US" sz="3200" dirty="0">
                <a:latin typeface="Times New Roman"/>
                <a:cs typeface="Times New Roman"/>
              </a:rPr>
              <a:t>  tree                based on different cases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/>
                <a:cs typeface="Times New Roman"/>
              </a:rPr>
              <a:t>4. Analyze the different cases of 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lang="en-US" sz="3200" b="1" dirty="0">
                <a:latin typeface="Times New Roman"/>
                <a:cs typeface="Times New Roman"/>
              </a:rPr>
              <a:t>-BLACK </a:t>
            </a:r>
            <a:r>
              <a:rPr lang="en-US" sz="3200" dirty="0">
                <a:latin typeface="Times New Roman"/>
                <a:cs typeface="Times New Roman"/>
              </a:rPr>
              <a:t> tree                      operations and example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5" name="Picture 2" descr="KL Deemed to be University Logo">
            <a:extLst>
              <a:ext uri="{FF2B5EF4-FFF2-40B4-BE49-F238E27FC236}">
                <a16:creationId xmlns="" xmlns:a16="http://schemas.microsoft.com/office/drawing/2014/main" id="{2C5CD37A-B948-3584-2608-EB0375B4D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Rectangle: Rounded Corners 8">
            <a:extLst>
              <a:ext uri="{FF2B5EF4-FFF2-40B4-BE49-F238E27FC236}">
                <a16:creationId xmlns="" xmlns:a16="http://schemas.microsoft.com/office/drawing/2014/main" id="{FDDE88A8-FE52-4AF2-1520-88B7A62BF20C}"/>
              </a:ext>
            </a:extLst>
          </p:cNvPr>
          <p:cNvSpPr/>
          <p:nvPr/>
        </p:nvSpPr>
        <p:spPr>
          <a:xfrm>
            <a:off x="3627903" y="252131"/>
            <a:ext cx="4471147" cy="64994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/>
                <a:cs typeface="Calibri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10099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206326" y="891849"/>
            <a:ext cx="54770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/>
              <a:t> 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719000" y="1320898"/>
            <a:ext cx="10715713" cy="30469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Times New Roman"/>
                <a:cs typeface="Times New Roman"/>
              </a:rPr>
              <a:t>The 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Times New Roman"/>
                <a:cs typeface="Times New Roman"/>
              </a:rPr>
              <a:t>Red</a:t>
            </a:r>
            <a:r>
              <a:rPr lang="en-US" sz="3200" b="1" i="0" dirty="0">
                <a:solidFill>
                  <a:srgbClr val="374151"/>
                </a:solidFill>
                <a:effectLst/>
                <a:latin typeface="Times New Roman"/>
                <a:cs typeface="Times New Roman"/>
              </a:rPr>
              <a:t>-Black</a:t>
            </a:r>
            <a:r>
              <a:rPr lang="en-US" sz="3200" b="0" i="0" dirty="0">
                <a:solidFill>
                  <a:srgbClr val="374151"/>
                </a:solidFill>
                <a:effectLst/>
                <a:latin typeface="Times New Roman"/>
                <a:cs typeface="Times New Roman"/>
              </a:rPr>
              <a:t> tree properties ensure a balanced structure, limiting the longest path from the root to any leaf to at most twice the length of the shortest path.</a:t>
            </a:r>
            <a:r>
              <a:rPr lang="en-US" sz="3200" dirty="0">
                <a:solidFill>
                  <a:srgbClr val="374151"/>
                </a:solidFill>
                <a:latin typeface="Times New Roman"/>
                <a:cs typeface="Times New Roman"/>
              </a:rPr>
              <a:t> </a:t>
            </a:r>
            <a:endParaRPr lang="en-US" sz="32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balance guarantees efficient average-case performance for search, insertion, and deletion operations, with a worst-case time complexity of O(log n).</a:t>
            </a:r>
            <a:endParaRPr lang="en-US" sz="3200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823282" y="681585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the </a:t>
            </a:r>
            <a:r>
              <a:rPr lang="en-IN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root node in a Red-Black Tree?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=""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887626" y="1413681"/>
            <a:ext cx="5233296" cy="127106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Black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Alternates between red and black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It has no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686021" y="2706600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worst-case time complexity for searching a key in a Red-Black Tree?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823282" y="3469311"/>
            <a:ext cx="5587853" cy="117677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O(1)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O(log 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O(n)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O(n log n)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="" xmlns:a16="http://schemas.microsoft.com/office/drawing/2014/main" id="{4A029437-3F91-230B-B6B8-0AA8E59B9B49}"/>
              </a:ext>
            </a:extLst>
          </p:cNvPr>
          <p:cNvSpPr/>
          <p:nvPr/>
        </p:nvSpPr>
        <p:spPr>
          <a:xfrm>
            <a:off x="686021" y="4698554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Which self-balancing tree structure is a common alternative to Red-Black Trees?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Rounded Rectangle 17">
            <a:extLst>
              <a:ext uri="{FF2B5EF4-FFF2-40B4-BE49-F238E27FC236}">
                <a16:creationId xmlns="" xmlns:a16="http://schemas.microsoft.com/office/drawing/2014/main" id="{F40F1C73-8B61-62D1-1B18-E99D71FE9B5B}"/>
              </a:ext>
            </a:extLst>
          </p:cNvPr>
          <p:cNvSpPr/>
          <p:nvPr/>
        </p:nvSpPr>
        <p:spPr>
          <a:xfrm>
            <a:off x="819246" y="5461265"/>
            <a:ext cx="5587853" cy="1176776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AVL Trees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B-Trees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Quad Trees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Binary Heaps</a:t>
            </a: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260007" y="187783"/>
            <a:ext cx="6276409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4915" y="2162451"/>
            <a:ext cx="792815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1.What is the color of root in 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lang="en-US" sz="3200" b="1" dirty="0">
                <a:latin typeface="Times New Roman"/>
                <a:cs typeface="Times New Roman"/>
              </a:rPr>
              <a:t> black</a:t>
            </a:r>
            <a:r>
              <a:rPr lang="en-US" sz="3200" dirty="0">
                <a:latin typeface="Times New Roman"/>
                <a:cs typeface="Times New Roman"/>
              </a:rPr>
              <a:t> tree?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/>
                <a:cs typeface="Times New Roman"/>
              </a:rPr>
              <a:t>2.What is the color property of </a:t>
            </a:r>
            <a:r>
              <a:rPr lang="en-US"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red</a:t>
            </a:r>
            <a:r>
              <a:rPr lang="en-US" sz="3200" b="1" dirty="0">
                <a:latin typeface="Times New Roman"/>
                <a:cs typeface="Times New Roman"/>
              </a:rPr>
              <a:t> black</a:t>
            </a:r>
            <a:r>
              <a:rPr lang="en-US" sz="3200" dirty="0">
                <a:latin typeface="Times New Roman"/>
                <a:cs typeface="Times New Roman"/>
              </a:rPr>
              <a:t> tree?</a:t>
            </a:r>
          </a:p>
          <a:p>
            <a:r>
              <a:rPr lang="en-US" sz="3200" dirty="0">
                <a:latin typeface="Times New Roman"/>
                <a:cs typeface="Times New Roman"/>
              </a:rPr>
              <a:t>3.What is the color of null node?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2309228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08718" y="158864"/>
            <a:ext cx="8882743" cy="59667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FOR FURTHER LEARNING OF THE SESSION</a:t>
            </a: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2">
            <a:extLst>
              <a:ext uri="{FF2B5EF4-FFF2-40B4-BE49-F238E27FC236}">
                <a16:creationId xmlns="" xmlns:a16="http://schemas.microsoft.com/office/drawing/2014/main" id="{E5B5C571-3A43-FAC0-56FA-D5E56691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D819F75A-1162-9E61-F7FB-619431DF3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5" y="690563"/>
            <a:ext cx="49213" cy="142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="" xmlns:a16="http://schemas.microsoft.com/office/drawing/2014/main" id="{E0B71DF7-1C35-1050-36BE-FF0850A29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165" y="682982"/>
            <a:ext cx="11193670" cy="569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69752" tIns="103155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927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b="1" dirty="0">
                <a:ea typeface="Times New Roman" panose="02020603050405020304" pitchFamily="18" charset="0"/>
              </a:rPr>
              <a:t>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EXTBOOKS: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dirty="0" smtClean="0"/>
              <a:t>1. Mark </a:t>
            </a:r>
            <a:r>
              <a:rPr lang="en-US" dirty="0"/>
              <a:t>Allen Weiss, Data Structures and Algorithm Analysis in C, 2010, Second Edition, Pearson Education.</a:t>
            </a:r>
          </a:p>
          <a:p>
            <a:pPr lvl="0"/>
            <a:r>
              <a:rPr lang="en-US" dirty="0" smtClean="0"/>
              <a:t>2. Allen </a:t>
            </a:r>
            <a:r>
              <a:rPr lang="en-US" dirty="0"/>
              <a:t>B. Downey, ”Think Python: How to Think Like a Computer Scientist’’, 2nd edition, Updated for Python 3, Shroff/O’Reilly Publishers, 2016 (</a:t>
            </a:r>
            <a:r>
              <a:rPr lang="en-US" u="sng" dirty="0">
                <a:hlinkClick r:id="rId3"/>
              </a:rPr>
              <a:t>http://greenteapress.com/wp/thinkpython/</a:t>
            </a:r>
            <a:r>
              <a:rPr lang="en-US" dirty="0"/>
              <a:t>)</a:t>
            </a:r>
          </a:p>
          <a:p>
            <a:r>
              <a:rPr lang="en-US" dirty="0" smtClean="0"/>
              <a:t>3. Data </a:t>
            </a:r>
            <a:r>
              <a:rPr lang="en-US" dirty="0"/>
              <a:t>Structures and algorithms using python, 2011,Rance D, </a:t>
            </a:r>
            <a:r>
              <a:rPr lang="en-US" dirty="0" err="1"/>
              <a:t>Necaise</a:t>
            </a:r>
            <a:r>
              <a:rPr lang="en-US" dirty="0"/>
              <a:t>, </a:t>
            </a:r>
            <a:r>
              <a:rPr lang="en-US" dirty="0" err="1"/>
              <a:t>himilton</a:t>
            </a:r>
            <a:r>
              <a:rPr lang="en-US" dirty="0"/>
              <a:t> </a:t>
            </a:r>
            <a:r>
              <a:rPr lang="en-US" dirty="0" smtClean="0"/>
              <a:t>printing</a:t>
            </a:r>
          </a:p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REFERENCE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BOOKS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/>
            <a:r>
              <a:rPr lang="en-US" dirty="0" smtClean="0"/>
              <a:t>1. Data </a:t>
            </a:r>
            <a:r>
              <a:rPr lang="en-US" dirty="0"/>
              <a:t>Structures and Algorithm Analysis in PYTHON, 2010, Mark Allen Weiss, Second Edition, Pearson Education.</a:t>
            </a:r>
          </a:p>
          <a:p>
            <a:pPr lvl="0"/>
            <a:r>
              <a:rPr lang="en-US" dirty="0" smtClean="0"/>
              <a:t>2. Data </a:t>
            </a:r>
            <a:r>
              <a:rPr lang="en-US" dirty="0"/>
              <a:t>Structures and Algorithms, </a:t>
            </a:r>
            <a:r>
              <a:rPr lang="en-US" dirty="0" err="1"/>
              <a:t>A.V.Aho</a:t>
            </a:r>
            <a:r>
              <a:rPr lang="en-US" dirty="0"/>
              <a:t>, </a:t>
            </a:r>
            <a:r>
              <a:rPr lang="en-US" dirty="0" err="1"/>
              <a:t>J.E.Hopcroft</a:t>
            </a:r>
            <a:r>
              <a:rPr lang="en-US" dirty="0"/>
              <a:t>, and </a:t>
            </a:r>
            <a:r>
              <a:rPr lang="en-US" dirty="0" err="1"/>
              <a:t>J.D.Ullman</a:t>
            </a:r>
            <a:r>
              <a:rPr lang="en-US" dirty="0"/>
              <a:t>, Pearson Education, First Edition Reprint2003.</a:t>
            </a:r>
          </a:p>
          <a:p>
            <a:pPr lvl="0"/>
            <a:r>
              <a:rPr lang="en-US" dirty="0" smtClean="0"/>
              <a:t>3. Advanced </a:t>
            </a:r>
            <a:r>
              <a:rPr lang="en-US" dirty="0"/>
              <a:t>Guide to Python 3 Programming, John Hunt, 4</a:t>
            </a:r>
            <a:r>
              <a:rPr lang="en-US" baseline="30000" dirty="0"/>
              <a:t>th</a:t>
            </a:r>
            <a:r>
              <a:rPr lang="en-US" dirty="0"/>
              <a:t> Edition, Springer Nature Switzerland AG 2019.</a:t>
            </a:r>
          </a:p>
          <a:p>
            <a:r>
              <a:rPr lang="en-US" dirty="0" smtClean="0"/>
              <a:t>4. Python </a:t>
            </a:r>
            <a:r>
              <a:rPr lang="en-US" dirty="0"/>
              <a:t>Basics: A Practice Introduction to Python 3, David Amos, Dan Bader, Joanna </a:t>
            </a:r>
            <a:r>
              <a:rPr lang="en-US" dirty="0" err="1"/>
              <a:t>Jablonski</a:t>
            </a:r>
            <a:r>
              <a:rPr lang="en-US" dirty="0"/>
              <a:t>, Fletcher </a:t>
            </a:r>
            <a:r>
              <a:rPr lang="en-US" dirty="0" err="1"/>
              <a:t>Heisler</a:t>
            </a:r>
            <a:r>
              <a:rPr lang="en-US" dirty="0"/>
              <a:t>, 4</a:t>
            </a:r>
            <a:r>
              <a:rPr lang="en-US" baseline="30000" dirty="0"/>
              <a:t>th</a:t>
            </a:r>
            <a:r>
              <a:rPr lang="en-US" dirty="0"/>
              <a:t> edition, Real Python.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27100" algn="l"/>
              </a:tabLs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9271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WEB REFERNCES/MOOCS:</a:t>
            </a:r>
          </a:p>
          <a:p>
            <a:pPr lvl="0"/>
            <a:r>
              <a:rPr lang="en-US" u="sng" dirty="0" smtClean="0">
                <a:hlinkClick r:id="rId4"/>
              </a:rPr>
              <a:t>1. https</a:t>
            </a:r>
            <a:r>
              <a:rPr lang="en-US" u="sng" dirty="0">
                <a:hlinkClick r:id="rId4"/>
              </a:rPr>
              <a:t>://docs.python.org/3/tutorial/datastructures.html</a:t>
            </a:r>
            <a:endParaRPr lang="en-US" dirty="0"/>
          </a:p>
          <a:p>
            <a:pPr lvl="0"/>
            <a:r>
              <a:rPr lang="en-US" u="sng" dirty="0" smtClean="0">
                <a:hlinkClick r:id="rId5"/>
              </a:rPr>
              <a:t>2. https</a:t>
            </a:r>
            <a:r>
              <a:rPr lang="en-US" u="sng" dirty="0">
                <a:hlinkClick r:id="rId5"/>
              </a:rPr>
              <a:t>://www.w3schools.com/dsa/dsa_intro.php</a:t>
            </a:r>
            <a:endParaRPr lang="en-US" dirty="0"/>
          </a:p>
          <a:p>
            <a:r>
              <a:rPr lang="en-US" u="sng" dirty="0" smtClean="0">
                <a:hlinkClick r:id="rId6"/>
              </a:rPr>
              <a:t>3. https</a:t>
            </a:r>
            <a:r>
              <a:rPr lang="en-US" u="sng" dirty="0">
                <a:hlinkClick r:id="rId6"/>
              </a:rPr>
              <a:t>://www.geeksforgeeks.org/python-data-structures/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688282"/>
            <a:ext cx="7920111" cy="307996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structure through Python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</TotalTime>
  <Words>876</Words>
  <Application>Microsoft Office PowerPoint</Application>
  <PresentationFormat>Widescreen</PresentationFormat>
  <Paragraphs>134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BioRhyme ExtraBold</vt:lpstr>
      <vt:lpstr>Calibri</vt:lpstr>
      <vt:lpstr>Calibri Light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Microsoft account</cp:lastModifiedBy>
  <cp:revision>297</cp:revision>
  <dcterms:created xsi:type="dcterms:W3CDTF">2020-02-08T09:57:44Z</dcterms:created>
  <dcterms:modified xsi:type="dcterms:W3CDTF">2024-12-13T10:45:04Z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