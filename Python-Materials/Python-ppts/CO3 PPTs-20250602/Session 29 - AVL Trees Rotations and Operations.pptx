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71" r:id="rId5"/>
    <p:sldId id="300" r:id="rId6"/>
    <p:sldId id="258" r:id="rId7"/>
    <p:sldId id="288" r:id="rId8"/>
    <p:sldId id="290" r:id="rId9"/>
    <p:sldId id="305" r:id="rId10"/>
    <p:sldId id="306" r:id="rId11"/>
    <p:sldId id="311" r:id="rId12"/>
    <p:sldId id="307" r:id="rId13"/>
    <p:sldId id="310" r:id="rId14"/>
    <p:sldId id="309" r:id="rId15"/>
    <p:sldId id="314" r:id="rId16"/>
    <p:sldId id="312" r:id="rId17"/>
    <p:sldId id="313" r:id="rId18"/>
    <p:sldId id="316" r:id="rId19"/>
    <p:sldId id="315"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2F33"/>
    <a:srgbClr val="BA2532"/>
    <a:srgbClr val="E3293B"/>
    <a:srgbClr val="FF9900"/>
    <a:srgbClr val="E84845"/>
    <a:srgbClr val="FAD2D2"/>
    <a:srgbClr val="F89E4C"/>
    <a:srgbClr val="A81E24"/>
    <a:srgbClr val="FFF2CC"/>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2949249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val="2500702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s://www.codingninjas.com/studio/library/introduction-to-avl-trees"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205790" y="-10029"/>
            <a:ext cx="6027459" cy="6623931"/>
          </a:xfrm>
          <a:prstGeom prst="rect">
            <a:avLst/>
          </a:prstGeom>
          <a:noFill/>
          <a:ln>
            <a:noFill/>
          </a:ln>
        </p:spPr>
      </p:pic>
      <p:sp>
        <p:nvSpPr>
          <p:cNvPr id="476" name="Google Shape;476;p16"/>
          <p:cNvSpPr txBox="1"/>
          <p:nvPr/>
        </p:nvSpPr>
        <p:spPr>
          <a:xfrm>
            <a:off x="5394455" y="1933408"/>
            <a:ext cx="6902548" cy="3908722"/>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lumMod val="75000"/>
                  </a:schemeClr>
                </a:solidFill>
              </a:rPr>
              <a:t>Data </a:t>
            </a:r>
            <a:r>
              <a:rPr lang="en-US" sz="3200" b="1" dirty="0" smtClean="0">
                <a:solidFill>
                  <a:schemeClr val="accent1">
                    <a:lumMod val="75000"/>
                  </a:schemeClr>
                </a:solidFill>
              </a:rPr>
              <a:t>Structures through Python</a:t>
            </a:r>
            <a:endParaRPr lang="en-IN" sz="3200" b="1" dirty="0">
              <a:solidFill>
                <a:schemeClr val="accent1">
                  <a:lumMod val="75000"/>
                </a:schemeClr>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lumMod val="75000"/>
                  </a:schemeClr>
                </a:solidFill>
              </a:rPr>
              <a:t>24SC1204</a:t>
            </a:r>
            <a:endParaRPr lang="en-IN" sz="3200" b="1" dirty="0">
              <a:solidFill>
                <a:schemeClr val="accent1">
                  <a:lumMod val="75000"/>
                </a:schemeClr>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endParaRPr lang="en-US" sz="4000" b="1" cap="all" dirty="0" smtClean="0">
              <a:ln/>
              <a:solidFill>
                <a:srgbClr val="C00000"/>
              </a:solidFill>
              <a:effectLst/>
              <a:cs typeface="Poppins" panose="00000500000000000000" pitchFamily="2" charset="0"/>
            </a:endParaRPr>
          </a:p>
          <a:p>
            <a:pPr marR="0" lvl="0" indent="0" algn="ctr">
              <a:spcBef>
                <a:spcPts val="0"/>
              </a:spcBef>
              <a:spcAft>
                <a:spcPts val="0"/>
              </a:spcAft>
              <a:buNone/>
            </a:pPr>
            <a:r>
              <a:rPr lang="en-US" sz="4000" b="1" cap="all" dirty="0" smtClean="0">
                <a:ln/>
                <a:solidFill>
                  <a:schemeClr val="accent1">
                    <a:lumMod val="75000"/>
                  </a:schemeClr>
                </a:solidFill>
                <a:cs typeface="Poppins" panose="00000500000000000000" pitchFamily="2" charset="0"/>
              </a:rPr>
              <a:t>AVL TREES</a:t>
            </a:r>
            <a:endParaRPr lang="en-US" sz="4000" b="1" cap="all" dirty="0">
              <a:ln/>
              <a:solidFill>
                <a:schemeClr val="accent1">
                  <a:lumMod val="75000"/>
                </a:schemeClr>
              </a:solidFill>
              <a:effectLst/>
              <a:cs typeface="Poppins" panose="00000500000000000000" pitchFamily="2" charset="0"/>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 xmlns:a16="http://schemas.microsoft.com/office/drawing/2014/main" id="{7153E61F-4441-DBE3-3DFF-6E9EF6C48D23}"/>
              </a:ext>
            </a:extLst>
          </p:cNvPr>
          <p:cNvSpPr/>
          <p:nvPr/>
        </p:nvSpPr>
        <p:spPr>
          <a:xfrm>
            <a:off x="7728171" y="5852159"/>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29</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914400" y="684469"/>
            <a:ext cx="10731286" cy="46166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a:t>
            </a:r>
            <a:r>
              <a:rPr lang="en-US" sz="1600" dirty="0">
                <a:latin typeface="Poppins"/>
                <a:cs typeface="Poppins"/>
              </a:rPr>
              <a:t>o</a:t>
            </a:r>
            <a:r>
              <a:rPr lang="en-US" sz="1600" b="0" i="0" dirty="0" smtClean="0">
                <a:effectLst/>
                <a:latin typeface="Poppins"/>
                <a:cs typeface="Poppins"/>
              </a:rPr>
              <a:t>f AVL Trees</a:t>
            </a:r>
            <a:endParaRPr lang="en-US" sz="1600" b="0" i="0" dirty="0">
              <a:effectLst/>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b="0" i="0" dirty="0" smtClean="0">
                <a:effectLst/>
                <a:latin typeface="Arial" panose="020B0604020202020204" pitchFamily="34" charset="0"/>
              </a:rPr>
              <a:t>the </a:t>
            </a:r>
            <a:r>
              <a:rPr lang="en-US" sz="1600" dirty="0" smtClean="0">
                <a:latin typeface="Arial" panose="020B0604020202020204" pitchFamily="34" charset="0"/>
              </a:rPr>
              <a:t>AVL Trees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List out the operations possible on the AVL </a:t>
            </a:r>
            <a:r>
              <a:rPr lang="en-US" sz="1600" dirty="0" smtClean="0">
                <a:latin typeface="Arial" panose="020B0604020202020204" pitchFamily="34" charset="0"/>
              </a:rPr>
              <a:t>Trees</a:t>
            </a:r>
            <a:r>
              <a:rPr lang="en-US" sz="1600" b="0" i="0" dirty="0" smtClean="0">
                <a:effectLst/>
                <a:latin typeface="Arial" panose="020B0604020202020204" pitchFamily="34" charset="0"/>
              </a:rPr>
              <a:t>.</a:t>
            </a:r>
            <a:endParaRPr lang="en-US" sz="1600" b="0" i="0" dirty="0">
              <a:effectLst/>
              <a:latin typeface="Arial" panose="020B0604020202020204" pitchFamily="34" charset="0"/>
            </a:endParaRPr>
          </a:p>
          <a:p>
            <a:pPr marL="342900" indent="-342900">
              <a:buFontTx/>
              <a:buAutoNum type="arabicPeriod"/>
            </a:pPr>
            <a:r>
              <a:rPr lang="en-US" sz="1600" dirty="0">
                <a:latin typeface="Arial"/>
                <a:cs typeface="Arial"/>
              </a:rPr>
              <a:t>Describe the each operation </a:t>
            </a:r>
          </a:p>
          <a:p>
            <a:pPr marL="342900" indent="-342900">
              <a:buAutoNum type="arabicPeriod"/>
            </a:pPr>
            <a:r>
              <a:rPr lang="en-US" sz="1600" dirty="0" smtClean="0">
                <a:latin typeface="Arial" panose="020B0604020202020204" pitchFamily="34" charset="0"/>
              </a:rPr>
              <a:t>Describe </a:t>
            </a:r>
            <a:r>
              <a:rPr lang="en-US" sz="1600" dirty="0">
                <a:latin typeface="Arial" panose="020B0604020202020204" pitchFamily="34" charset="0"/>
              </a:rPr>
              <a:t>the rotations of AVL Trees</a:t>
            </a:r>
            <a:r>
              <a:rPr lang="en-US" sz="1600" dirty="0" smtClean="0">
                <a:latin typeface="Arial" panose="020B0604020202020204" pitchFamily="34" charset="0"/>
              </a:rPr>
              <a:t>.</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smtClean="0">
                <a:effectLst/>
                <a:latin typeface="Arial" panose="020B0604020202020204" pitchFamily="34" charset="0"/>
              </a:rPr>
              <a:t>Define  AVL Trees</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a:t>
            </a:r>
            <a:r>
              <a:rPr lang="en-US" sz="1600" b="0" i="0" dirty="0" smtClean="0">
                <a:effectLst/>
                <a:latin typeface="Arial" panose="020B0604020202020204" pitchFamily="34" charset="0"/>
              </a:rPr>
              <a:t>four rotations of AVL Trees and </a:t>
            </a:r>
            <a:r>
              <a:rPr lang="en-US" sz="1600" b="0" i="0" dirty="0">
                <a:effectLst/>
                <a:latin typeface="Arial" panose="020B0604020202020204" pitchFamily="34" charset="0"/>
              </a:rPr>
              <a:t>their operations</a:t>
            </a:r>
          </a:p>
          <a:p>
            <a:pPr marL="342900" indent="-342900">
              <a:buAutoNum type="arabicPeriod"/>
            </a:pPr>
            <a:r>
              <a:rPr lang="en-US" sz="1600" dirty="0">
                <a:latin typeface="Arial" panose="020B0604020202020204" pitchFamily="34" charset="0"/>
              </a:rPr>
              <a:t>Summarize definition, types and operations of </a:t>
            </a:r>
            <a:r>
              <a:rPr lang="en-US" sz="1600" dirty="0" smtClean="0">
                <a:latin typeface="Arial" panose="020B0604020202020204" pitchFamily="34" charset="0"/>
              </a:rPr>
              <a:t>AVL Trees </a:t>
            </a:r>
            <a:r>
              <a:rPr lang="en-US" sz="1600" dirty="0">
                <a:latin typeface="Arial" panose="020B0604020202020204" pitchFamily="34" charset="0"/>
              </a:rPr>
              <a:t>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452885" y="150004"/>
            <a:ext cx="4285396" cy="67960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	</a:t>
            </a:r>
            <a:r>
              <a:rPr lang="en-US" sz="2400" dirty="0"/>
              <a:t> </a:t>
            </a:r>
            <a:r>
              <a:rPr lang="en-US" sz="2400" dirty="0" smtClean="0"/>
              <a:t> </a:t>
            </a:r>
          </a:p>
          <a:p>
            <a:r>
              <a:rPr lang="en-US" sz="2400" dirty="0"/>
              <a:t>	</a:t>
            </a:r>
            <a:r>
              <a:rPr lang="en-US" sz="2400" dirty="0" smtClean="0"/>
              <a:t> </a:t>
            </a:r>
            <a:r>
              <a:rPr lang="en-US" sz="3200" b="1" dirty="0" smtClean="0">
                <a:latin typeface="Times New Roman" panose="02020603050405020304" pitchFamily="18" charset="0"/>
                <a:cs typeface="Times New Roman" panose="02020603050405020304" pitchFamily="18" charset="0"/>
              </a:rPr>
              <a:t>AVL TREES</a:t>
            </a:r>
          </a:p>
          <a:p>
            <a:r>
              <a:rPr lang="en-US" sz="2400" dirty="0"/>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314834" y="229530"/>
            <a:ext cx="1990725" cy="600076"/>
          </a:xfrm>
          <a:prstGeom prst="rect">
            <a:avLst/>
          </a:prstGeom>
          <a:noFill/>
        </p:spPr>
      </p:pic>
      <p:sp>
        <p:nvSpPr>
          <p:cNvPr id="53" name="TextBox 52"/>
          <p:cNvSpPr txBox="1"/>
          <p:nvPr/>
        </p:nvSpPr>
        <p:spPr>
          <a:xfrm>
            <a:off x="1" y="1465782"/>
            <a:ext cx="12192000" cy="6340197"/>
          </a:xfrm>
          <a:prstGeom prst="rect">
            <a:avLst/>
          </a:prstGeom>
          <a:noFill/>
        </p:spPr>
        <p:txBody>
          <a:bodyPr wrap="square" rtlCol="0">
            <a:spAutoFit/>
          </a:bodyPr>
          <a:lstStyle/>
          <a:p>
            <a:pPr algn="just"/>
            <a:r>
              <a:rPr lang="en-US" sz="2800" dirty="0" smtClean="0">
                <a:latin typeface="Times New Roman" panose="02020603050405020304" pitchFamily="18" charset="0"/>
                <a:cs typeface="Times New Roman" panose="02020603050405020304" pitchFamily="18" charset="0"/>
              </a:rPr>
              <a:t>INTRODUCTION:</a:t>
            </a:r>
          </a:p>
          <a:p>
            <a:pPr algn="just"/>
            <a:endParaRPr lang="en-US" sz="3200" dirty="0" smtClean="0"/>
          </a:p>
          <a:p>
            <a:pPr marL="457200" indent="-457200" algn="just">
              <a:lnSpc>
                <a:spcPct val="150000"/>
              </a:lnSpc>
              <a:buFont typeface="Wingdings" panose="05000000000000000000" pitchFamily="2" charset="2"/>
              <a:buChar char="Ø"/>
            </a:pPr>
            <a:r>
              <a:rPr lang="en-IN"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AVL Tree is invented by  </a:t>
            </a:r>
            <a:r>
              <a:rPr lang="en-US" sz="2000" b="1" dirty="0">
                <a:latin typeface="Times New Roman" panose="02020603050405020304" pitchFamily="18" charset="0"/>
                <a:cs typeface="Times New Roman" panose="02020603050405020304" pitchFamily="18" charset="0"/>
              </a:rPr>
              <a:t>Adelson - Velsky and Landis</a:t>
            </a:r>
            <a:r>
              <a:rPr lang="en-US" sz="2000" dirty="0">
                <a:latin typeface="Times New Roman" panose="02020603050405020304" pitchFamily="18" charset="0"/>
                <a:cs typeface="Times New Roman" panose="02020603050405020304" pitchFamily="18" charset="0"/>
              </a:rPr>
              <a:t> in 1962. </a:t>
            </a: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tree is named AVL in honour of its inventors</a:t>
            </a:r>
            <a:r>
              <a:rPr lang="en-US" sz="2000" dirty="0" smtClean="0">
                <a:latin typeface="Times New Roman" panose="02020603050405020304" pitchFamily="18" charset="0"/>
                <a:cs typeface="Times New Roman" panose="02020603050405020304" pitchFamily="18" charset="0"/>
              </a:rPr>
              <a:t>. AVL </a:t>
            </a:r>
            <a:r>
              <a:rPr lang="en-US" sz="2000" dirty="0">
                <a:latin typeface="Times New Roman" panose="02020603050405020304" pitchFamily="18" charset="0"/>
                <a:cs typeface="Times New Roman" panose="02020603050405020304" pitchFamily="18" charset="0"/>
              </a:rPr>
              <a:t>trees are nothing but self-balancing binary search trees</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p>
          <a:p>
            <a:pPr>
              <a:lnSpc>
                <a:spcPct val="150000"/>
              </a:lnSpc>
            </a:pPr>
            <a:r>
              <a:rPr lang="en-US" sz="20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Self-balancing </a:t>
            </a:r>
            <a:r>
              <a:rPr lang="en-US" sz="2400" b="1" dirty="0">
                <a:latin typeface="Times New Roman" panose="02020603050405020304" pitchFamily="18" charset="0"/>
                <a:cs typeface="Times New Roman" panose="02020603050405020304" pitchFamily="18" charset="0"/>
              </a:rPr>
              <a:t>tree</a:t>
            </a:r>
            <a:r>
              <a:rPr lang="en-US" sz="2400" b="1"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height of the left and the right </a:t>
            </a:r>
            <a:r>
              <a:rPr lang="en-US" sz="2000" dirty="0" smtClean="0">
                <a:latin typeface="Times New Roman" panose="02020603050405020304" pitchFamily="18" charset="0"/>
                <a:cs typeface="Times New Roman" panose="02020603050405020304" pitchFamily="18" charset="0"/>
              </a:rPr>
              <a:t>sub trees  </a:t>
            </a:r>
            <a:r>
              <a:rPr lang="en-US" sz="2000" dirty="0">
                <a:latin typeface="Times New Roman" panose="02020603050405020304" pitchFamily="18" charset="0"/>
                <a:cs typeface="Times New Roman" panose="02020603050405020304" pitchFamily="18" charset="0"/>
              </a:rPr>
              <a:t>of every node differs by at most 1, which implies the difference between the heights will always be either 1,0 or -1</a:t>
            </a:r>
            <a:r>
              <a:rPr lang="en-US" sz="2000" dirty="0" smtClean="0">
                <a:latin typeface="Times New Roman" panose="02020603050405020304" pitchFamily="18" charset="0"/>
                <a:cs typeface="Times New Roman" panose="02020603050405020304" pitchFamily="18" charset="0"/>
              </a:rPr>
              <a:t>.</a:t>
            </a:r>
          </a:p>
          <a:p>
            <a:pPr algn="just"/>
            <a:r>
              <a:rPr lang="en-US" sz="3200" dirty="0" smtClean="0"/>
              <a:t> </a:t>
            </a:r>
          </a:p>
          <a:p>
            <a:pPr algn="just"/>
            <a:r>
              <a:rPr lang="en-US" sz="3200" dirty="0" smtClean="0">
                <a:solidFill>
                  <a:srgbClr val="FF0000"/>
                </a:solidFill>
              </a:rPr>
              <a:t>   Balance </a:t>
            </a:r>
            <a:r>
              <a:rPr lang="en-US" sz="3200" dirty="0">
                <a:solidFill>
                  <a:srgbClr val="FF0000"/>
                </a:solidFill>
              </a:rPr>
              <a:t>Factor = (Height of Left </a:t>
            </a:r>
            <a:r>
              <a:rPr lang="en-US" sz="3200" dirty="0" smtClean="0">
                <a:solidFill>
                  <a:srgbClr val="FF0000"/>
                </a:solidFill>
              </a:rPr>
              <a:t>Subtree </a:t>
            </a:r>
            <a:r>
              <a:rPr lang="en-US" sz="3200" dirty="0">
                <a:solidFill>
                  <a:srgbClr val="FF0000"/>
                </a:solidFill>
              </a:rPr>
              <a:t>- Height of Right Subtree</a:t>
            </a:r>
            <a:r>
              <a:rPr lang="en-US" sz="3200" dirty="0" smtClean="0">
                <a:solidFill>
                  <a:srgbClr val="FF0000"/>
                </a:solidFill>
              </a:rPr>
              <a:t>)</a:t>
            </a:r>
          </a:p>
          <a:p>
            <a:pPr marL="457200" indent="-457200" algn="just">
              <a:buFont typeface="Wingdings" panose="05000000000000000000" pitchFamily="2" charset="2"/>
              <a:buChar char="Ø"/>
            </a:pPr>
            <a:endParaRPr lang="en-US" sz="3200" dirty="0"/>
          </a:p>
          <a:p>
            <a:pPr algn="just"/>
            <a:endParaRPr lang="en-IN" sz="3200" dirty="0" smtClean="0">
              <a:latin typeface="Times New Roman" pitchFamily="18" charset="0"/>
              <a:cs typeface="Times New Roman" pitchFamily="18" charset="0"/>
            </a:endParaRPr>
          </a:p>
          <a:p>
            <a:pPr algn="just">
              <a:buFont typeface="Wingdings" pitchFamily="2" charset="2"/>
              <a:buChar char="Ø"/>
            </a:pP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200" b="1" dirty="0">
                <a:solidFill>
                  <a:schemeClr val="bg1"/>
                </a:solidFill>
                <a:latin typeface="Times New Roman" pitchFamily="18" charset="0"/>
                <a:cs typeface="Times New Roman" pitchFamily="18" charset="0"/>
              </a:rPr>
              <a:t>Example of </a:t>
            </a:r>
            <a:r>
              <a:rPr lang="en-IN" sz="3200" b="1" dirty="0" smtClean="0">
                <a:solidFill>
                  <a:schemeClr val="bg1"/>
                </a:solidFill>
                <a:latin typeface="Times New Roman" pitchFamily="18" charset="0"/>
                <a:cs typeface="Times New Roman" pitchFamily="18" charset="0"/>
              </a:rPr>
              <a:t>AVL Trees </a:t>
            </a:r>
            <a:endParaRPr lang="en-US" sz="32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 y="4612943"/>
            <a:ext cx="11900848" cy="1631216"/>
          </a:xfrm>
          <a:prstGeom prst="rect">
            <a:avLst/>
          </a:prstGeom>
        </p:spPr>
        <p:txBody>
          <a:bodyPr wrap="square">
            <a:spAutoFit/>
          </a:bodyPr>
          <a:lstStyle/>
          <a:p>
            <a:pPr lvl="1"/>
            <a:r>
              <a:rPr lang="en-US" sz="2000" b="1" dirty="0" smtClean="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tree in figure (a) is an AVL tree. As you can see, for every node, the height difference between its left </a:t>
            </a:r>
            <a:r>
              <a:rPr lang="en-US" sz="2000" dirty="0" smtClean="0">
                <a:latin typeface="Times New Roman" panose="02020603050405020304" pitchFamily="18" charset="0"/>
                <a:cs typeface="Times New Roman" panose="02020603050405020304" pitchFamily="18" charset="0"/>
              </a:rPr>
              <a:t>sub tree </a:t>
            </a:r>
            <a:r>
              <a:rPr lang="en-US" sz="2000" dirty="0">
                <a:latin typeface="Times New Roman" panose="02020603050405020304" pitchFamily="18" charset="0"/>
                <a:cs typeface="Times New Roman" panose="02020603050405020304" pitchFamily="18" charset="0"/>
              </a:rPr>
              <a:t>and right </a:t>
            </a:r>
            <a:r>
              <a:rPr lang="en-US" sz="2000" dirty="0" smtClean="0">
                <a:latin typeface="Times New Roman" panose="02020603050405020304" pitchFamily="18" charset="0"/>
                <a:cs typeface="Times New Roman" panose="02020603050405020304" pitchFamily="18" charset="0"/>
              </a:rPr>
              <a:t>sub tree </a:t>
            </a:r>
            <a:r>
              <a:rPr lang="en-US" sz="2000" dirty="0">
                <a:latin typeface="Times New Roman" panose="02020603050405020304" pitchFamily="18" charset="0"/>
                <a:cs typeface="Times New Roman" panose="02020603050405020304" pitchFamily="18" charset="0"/>
              </a:rPr>
              <a:t>does not exceed mod(1</a:t>
            </a:r>
            <a:r>
              <a:rPr lang="en-US" sz="2000" dirty="0" smtClean="0">
                <a:latin typeface="Times New Roman" panose="02020603050405020304" pitchFamily="18" charset="0"/>
                <a:cs typeface="Times New Roman" panose="02020603050405020304" pitchFamily="18" charset="0"/>
              </a:rPr>
              <a:t>).</a:t>
            </a:r>
          </a:p>
          <a:p>
            <a:pPr lvl="1"/>
            <a:r>
              <a:rPr lang="en-US" sz="2000" b="1" dirty="0" smtClean="0">
                <a:latin typeface="Times New Roman" pitchFamily="18" charset="0"/>
                <a:cs typeface="Times New Roman" pitchFamily="18" charset="0"/>
              </a:rPr>
              <a:t>(b).</a:t>
            </a:r>
            <a:r>
              <a:rPr lang="en-US" sz="2000" dirty="0">
                <a:latin typeface="Times New Roman" panose="02020603050405020304" pitchFamily="18" charset="0"/>
                <a:cs typeface="Times New Roman" panose="02020603050405020304" pitchFamily="18" charset="0"/>
              </a:rPr>
              <a:t> The tree in figure (a) is an AVL tree. As you can see, for every node, the height difference between its left </a:t>
            </a:r>
            <a:r>
              <a:rPr lang="en-US" sz="2000" dirty="0" smtClean="0">
                <a:latin typeface="Times New Roman" panose="02020603050405020304" pitchFamily="18" charset="0"/>
                <a:cs typeface="Times New Roman" panose="02020603050405020304" pitchFamily="18" charset="0"/>
              </a:rPr>
              <a:t>sub tree </a:t>
            </a:r>
            <a:r>
              <a:rPr lang="en-US" sz="2000" dirty="0">
                <a:latin typeface="Times New Roman" panose="02020603050405020304" pitchFamily="18" charset="0"/>
                <a:cs typeface="Times New Roman" panose="02020603050405020304" pitchFamily="18" charset="0"/>
              </a:rPr>
              <a:t>and right </a:t>
            </a:r>
            <a:r>
              <a:rPr lang="en-US" sz="2000" dirty="0" smtClean="0">
                <a:latin typeface="Times New Roman" panose="02020603050405020304" pitchFamily="18" charset="0"/>
                <a:cs typeface="Times New Roman" panose="02020603050405020304" pitchFamily="18" charset="0"/>
              </a:rPr>
              <a:t>sub tree </a:t>
            </a:r>
            <a:r>
              <a:rPr lang="en-US" sz="2000" dirty="0">
                <a:latin typeface="Times New Roman" panose="02020603050405020304" pitchFamily="18" charset="0"/>
                <a:cs typeface="Times New Roman" panose="02020603050405020304" pitchFamily="18" charset="0"/>
              </a:rPr>
              <a:t>does not exceed mod(1).</a:t>
            </a:r>
            <a:r>
              <a:rPr lang="en-IN" sz="2000" b="1" dirty="0">
                <a:latin typeface="Times New Roman" pitchFamily="18" charset="0"/>
                <a:cs typeface="Times New Roman" pitchFamily="18" charset="0"/>
              </a:rPr>
              <a:t/>
            </a:r>
            <a:br>
              <a:rPr lang="en-IN" sz="2000" b="1" dirty="0">
                <a:latin typeface="Times New Roman" pitchFamily="18" charset="0"/>
                <a:cs typeface="Times New Roman" pitchFamily="18" charset="0"/>
              </a:rPr>
            </a:br>
            <a:endParaRPr lang="en-IN" sz="2000" b="1" dirty="0">
              <a:latin typeface="Times New Roman" pitchFamily="18" charset="0"/>
              <a:cs typeface="Times New Roman" pitchFamily="18" charset="0"/>
            </a:endParaRPr>
          </a:p>
        </p:txBody>
      </p:sp>
      <p:pic>
        <p:nvPicPr>
          <p:cNvPr id="9" name="Content Placeholder 8" descr="https://files.codingninjas.in/article_images/introduction-to-avl-trees-0-1635360789.webp"/>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84144" y="1167840"/>
            <a:ext cx="5827594" cy="3089645"/>
          </a:xfrm>
          <a:prstGeom prst="rect">
            <a:avLst/>
          </a:prstGeom>
          <a:noFill/>
          <a:ln>
            <a:noFill/>
          </a:ln>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2697413" y="13161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SESSION DESCRIPTION</a:t>
            </a:r>
            <a:endParaRPr lang="en-US" sz="3200" b="1" dirty="0">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3"/>
          <a:srcRect/>
          <a:stretch>
            <a:fillRect/>
          </a:stretch>
        </p:blipFill>
        <p:spPr bwMode="auto">
          <a:xfrm>
            <a:off x="242321" y="65087"/>
            <a:ext cx="1990725" cy="600076"/>
          </a:xfrm>
          <a:prstGeom prst="rect">
            <a:avLst/>
          </a:prstGeom>
          <a:noFill/>
        </p:spPr>
      </p:pic>
      <p:pic>
        <p:nvPicPr>
          <p:cNvPr id="2" name="Picture 1"/>
          <p:cNvPicPr>
            <a:picLocks noChangeAspect="1"/>
          </p:cNvPicPr>
          <p:nvPr/>
        </p:nvPicPr>
        <p:blipFill>
          <a:blip r:embed="rId4"/>
          <a:stretch>
            <a:fillRect/>
          </a:stretch>
        </p:blipFill>
        <p:spPr>
          <a:xfrm>
            <a:off x="7682055" y="722907"/>
            <a:ext cx="4273384" cy="2921045"/>
          </a:xfrm>
          <a:prstGeom prst="rect">
            <a:avLst/>
          </a:prstGeom>
        </p:spPr>
      </p:pic>
      <p:sp>
        <p:nvSpPr>
          <p:cNvPr id="3" name="Rectangle 2"/>
          <p:cNvSpPr/>
          <p:nvPr/>
        </p:nvSpPr>
        <p:spPr>
          <a:xfrm>
            <a:off x="242321" y="1244762"/>
            <a:ext cx="7233313" cy="1631216"/>
          </a:xfrm>
          <a:prstGeom prst="rect">
            <a:avLst/>
          </a:prstGeom>
        </p:spPr>
        <p:txBody>
          <a:bodyPr wrap="square">
            <a:spAutoFit/>
          </a:bodyPr>
          <a:lstStyle/>
          <a:p>
            <a:r>
              <a:rPr lang="en-US" sz="2000" dirty="0">
                <a:solidFill>
                  <a:srgbClr val="000000"/>
                </a:solidFill>
                <a:latin typeface="Times New Roman" panose="02020603050405020304" pitchFamily="18" charset="0"/>
                <a:cs typeface="Times New Roman" panose="02020603050405020304" pitchFamily="18" charset="0"/>
              </a:rPr>
              <a:t>In </a:t>
            </a:r>
            <a:r>
              <a:rPr lang="en-US" sz="2000" dirty="0" smtClean="0">
                <a:solidFill>
                  <a:srgbClr val="000000"/>
                </a:solidFill>
                <a:latin typeface="Times New Roman" panose="02020603050405020304" pitchFamily="18" charset="0"/>
                <a:cs typeface="Times New Roman" panose="02020603050405020304" pitchFamily="18" charset="0"/>
              </a:rPr>
              <a:t>given </a:t>
            </a:r>
            <a:r>
              <a:rPr lang="en-US" sz="2000" dirty="0">
                <a:solidFill>
                  <a:srgbClr val="000000"/>
                </a:solidFill>
                <a:latin typeface="Times New Roman" panose="02020603050405020304" pitchFamily="18" charset="0"/>
                <a:cs typeface="Times New Roman" panose="02020603050405020304" pitchFamily="18" charset="0"/>
              </a:rPr>
              <a:t>example, the balance factor of every node is between -1 and +1. So, it is an AVL tree</a:t>
            </a:r>
            <a:r>
              <a:rPr lang="en-US" sz="2000" dirty="0" smtClean="0">
                <a:solidFill>
                  <a:srgbClr val="000000"/>
                </a:solidFill>
                <a:latin typeface="Times New Roman" panose="02020603050405020304" pitchFamily="18" charset="0"/>
                <a:cs typeface="Times New Roman" panose="02020603050405020304" pitchFamily="18" charset="0"/>
              </a:rPr>
              <a:t>.</a:t>
            </a:r>
          </a:p>
          <a:p>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smtClean="0">
                <a:solidFill>
                  <a:srgbClr val="000000"/>
                </a:solidFill>
                <a:latin typeface="Times New Roman" panose="02020603050405020304" pitchFamily="18" charset="0"/>
                <a:cs typeface="Times New Roman" panose="02020603050405020304" pitchFamily="18" charset="0"/>
              </a:rPr>
              <a:t>While performing AVL Tree we should follow the balance factor properties..</a:t>
            </a:r>
            <a:endParaRPr lang="en-US" sz="2000" dirty="0">
              <a:solidFill>
                <a:srgbClr val="36393E"/>
              </a:solidFill>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p:nvPr>
        </p:nvSpPr>
        <p:spPr>
          <a:xfrm>
            <a:off x="109182" y="3739219"/>
            <a:ext cx="11846257" cy="2948184"/>
          </a:xfrm>
        </p:spPr>
        <p:txBody>
          <a:bodyPr/>
          <a:lstStyle/>
          <a:p>
            <a:pPr>
              <a:lnSpc>
                <a:spcPct val="100000"/>
              </a:lnSpc>
            </a:pPr>
            <a:r>
              <a:rPr lang="en-US" sz="2000" dirty="0" smtClean="0">
                <a:solidFill>
                  <a:srgbClr val="000000"/>
                </a:solidFill>
                <a:latin typeface="Times New Roman" panose="02020603050405020304" pitchFamily="18" charset="0"/>
                <a:cs typeface="Times New Roman" panose="02020603050405020304" pitchFamily="18" charset="0"/>
              </a:rPr>
              <a:t>If </a:t>
            </a:r>
            <a:r>
              <a:rPr lang="en-US" sz="2000" dirty="0">
                <a:solidFill>
                  <a:srgbClr val="000000"/>
                </a:solidFill>
                <a:latin typeface="Times New Roman" panose="02020603050405020304" pitchFamily="18" charset="0"/>
                <a:cs typeface="Times New Roman" panose="02020603050405020304" pitchFamily="18" charset="0"/>
              </a:rPr>
              <a:t>a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has a </a:t>
            </a:r>
            <a:r>
              <a:rPr lang="en-US" sz="2000" b="1" dirty="0">
                <a:solidFill>
                  <a:srgbClr val="000000"/>
                </a:solidFill>
                <a:latin typeface="Times New Roman" panose="02020603050405020304" pitchFamily="18" charset="0"/>
                <a:cs typeface="Times New Roman" panose="02020603050405020304" pitchFamily="18" charset="0"/>
              </a:rPr>
              <a:t>balance factor&gt;0</a:t>
            </a:r>
            <a:r>
              <a:rPr lang="en-US" sz="2000" dirty="0">
                <a:solidFill>
                  <a:srgbClr val="000000"/>
                </a:solidFill>
                <a:latin typeface="Times New Roman" panose="02020603050405020304" pitchFamily="18" charset="0"/>
                <a:cs typeface="Times New Roman" panose="02020603050405020304" pitchFamily="18" charset="0"/>
              </a:rPr>
              <a:t>, then the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is called </a:t>
            </a:r>
            <a:r>
              <a:rPr lang="en-US" sz="2000" b="1" dirty="0">
                <a:solidFill>
                  <a:srgbClr val="000000"/>
                </a:solidFill>
                <a:latin typeface="Times New Roman" panose="02020603050405020304" pitchFamily="18" charset="0"/>
                <a:cs typeface="Times New Roman" panose="02020603050405020304" pitchFamily="18" charset="0"/>
              </a:rPr>
              <a:t>left-heavy</a:t>
            </a:r>
            <a:r>
              <a:rPr lang="en-US" sz="2000" dirty="0">
                <a:solidFill>
                  <a:srgbClr val="000000"/>
                </a:solidFill>
                <a:latin typeface="Times New Roman" panose="02020603050405020304" pitchFamily="18" charset="0"/>
                <a:cs typeface="Times New Roman" panose="02020603050405020304" pitchFamily="18" charset="0"/>
              </a:rPr>
              <a:t> as the height of the left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is greater than the height of its right </a:t>
            </a:r>
            <a:r>
              <a:rPr lang="en-US" sz="2000" dirty="0" smtClean="0">
                <a:solidFill>
                  <a:srgbClr val="000000"/>
                </a:solidFill>
                <a:latin typeface="Times New Roman" panose="02020603050405020304" pitchFamily="18" charset="0"/>
                <a:cs typeface="Times New Roman" panose="02020603050405020304" pitchFamily="18" charset="0"/>
              </a:rPr>
              <a:t>sub tree</a:t>
            </a:r>
            <a:r>
              <a:rPr lang="en-US" sz="2000" dirty="0">
                <a:solidFill>
                  <a:srgbClr val="000000"/>
                </a:solidFill>
                <a:latin typeface="Times New Roman" panose="02020603050405020304" pitchFamily="18" charset="0"/>
                <a:cs typeface="Times New Roman" panose="02020603050405020304" pitchFamily="18" charset="0"/>
              </a:rPr>
              <a:t>, so the left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has more nodes than the right </a:t>
            </a:r>
            <a:r>
              <a:rPr lang="en-US" sz="2000" dirty="0" smtClean="0">
                <a:solidFill>
                  <a:srgbClr val="000000"/>
                </a:solidFill>
                <a:latin typeface="Times New Roman" panose="02020603050405020304" pitchFamily="18" charset="0"/>
                <a:cs typeface="Times New Roman" panose="02020603050405020304" pitchFamily="18" charset="0"/>
              </a:rPr>
              <a:t>sub tree</a:t>
            </a: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solidFill>
                <a:srgbClr val="36393E"/>
              </a:solidFill>
              <a:latin typeface="Times New Roman" panose="02020603050405020304" pitchFamily="18" charset="0"/>
              <a:cs typeface="Times New Roman" panose="02020603050405020304" pitchFamily="18" charset="0"/>
            </a:endParaRPr>
          </a:p>
          <a:p>
            <a:pPr marL="0" indent="0">
              <a:lnSpc>
                <a:spcPct val="100000"/>
              </a:lnSpc>
              <a:buNone/>
            </a:pPr>
            <a:r>
              <a:rPr lang="en-US" sz="2000" dirty="0" smtClean="0">
                <a:solidFill>
                  <a:srgbClr val="36393E"/>
                </a:solidFill>
                <a:latin typeface="Times New Roman" panose="02020603050405020304" pitchFamily="18" charset="0"/>
                <a:cs typeface="Times New Roman" panose="02020603050405020304" pitchFamily="18" charset="0"/>
              </a:rPr>
              <a:t>   </a:t>
            </a:r>
          </a:p>
          <a:p>
            <a:pPr>
              <a:lnSpc>
                <a:spcPct val="100000"/>
              </a:lnSpc>
            </a:pPr>
            <a:r>
              <a:rPr lang="en-US" sz="2000" dirty="0" smtClean="0">
                <a:solidFill>
                  <a:srgbClr val="000000"/>
                </a:solidFill>
                <a:latin typeface="Times New Roman" panose="02020603050405020304" pitchFamily="18" charset="0"/>
                <a:cs typeface="Times New Roman" panose="02020603050405020304" pitchFamily="18" charset="0"/>
              </a:rPr>
              <a:t>If </a:t>
            </a:r>
            <a:r>
              <a:rPr lang="en-US" sz="2000" dirty="0">
                <a:solidFill>
                  <a:srgbClr val="000000"/>
                </a:solidFill>
                <a:latin typeface="Times New Roman" panose="02020603050405020304" pitchFamily="18" charset="0"/>
                <a:cs typeface="Times New Roman" panose="02020603050405020304" pitchFamily="18" charset="0"/>
              </a:rPr>
              <a:t>a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has a </a:t>
            </a:r>
            <a:r>
              <a:rPr lang="en-US" sz="2000" b="1" dirty="0">
                <a:solidFill>
                  <a:srgbClr val="000000"/>
                </a:solidFill>
                <a:latin typeface="Times New Roman" panose="02020603050405020304" pitchFamily="18" charset="0"/>
                <a:cs typeface="Times New Roman" panose="02020603050405020304" pitchFamily="18" charset="0"/>
              </a:rPr>
              <a:t>balance factor&lt;0</a:t>
            </a:r>
            <a:r>
              <a:rPr lang="en-US" sz="2000" dirty="0">
                <a:solidFill>
                  <a:srgbClr val="000000"/>
                </a:solidFill>
                <a:latin typeface="Times New Roman" panose="02020603050405020304" pitchFamily="18" charset="0"/>
                <a:cs typeface="Times New Roman" panose="02020603050405020304" pitchFamily="18" charset="0"/>
              </a:rPr>
              <a:t>, then the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is called </a:t>
            </a:r>
            <a:r>
              <a:rPr lang="en-US" sz="2000" b="1" dirty="0">
                <a:solidFill>
                  <a:srgbClr val="000000"/>
                </a:solidFill>
                <a:latin typeface="Times New Roman" panose="02020603050405020304" pitchFamily="18" charset="0"/>
                <a:cs typeface="Times New Roman" panose="02020603050405020304" pitchFamily="18" charset="0"/>
              </a:rPr>
              <a:t>right-heavy</a:t>
            </a:r>
            <a:r>
              <a:rPr lang="en-US" sz="2000" dirty="0">
                <a:solidFill>
                  <a:srgbClr val="000000"/>
                </a:solidFill>
                <a:latin typeface="Times New Roman" panose="02020603050405020304" pitchFamily="18" charset="0"/>
                <a:cs typeface="Times New Roman" panose="02020603050405020304" pitchFamily="18" charset="0"/>
              </a:rPr>
              <a:t> as the height of the left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is smaller than the height of its right </a:t>
            </a:r>
            <a:r>
              <a:rPr lang="en-US" sz="2000" dirty="0" smtClean="0">
                <a:solidFill>
                  <a:srgbClr val="000000"/>
                </a:solidFill>
                <a:latin typeface="Times New Roman" panose="02020603050405020304" pitchFamily="18" charset="0"/>
                <a:cs typeface="Times New Roman" panose="02020603050405020304" pitchFamily="18" charset="0"/>
              </a:rPr>
              <a:t>sub tree</a:t>
            </a:r>
            <a:r>
              <a:rPr lang="en-US" sz="2000" dirty="0">
                <a:solidFill>
                  <a:srgbClr val="000000"/>
                </a:solidFill>
                <a:latin typeface="Times New Roman" panose="02020603050405020304" pitchFamily="18" charset="0"/>
                <a:cs typeface="Times New Roman" panose="02020603050405020304" pitchFamily="18" charset="0"/>
              </a:rPr>
              <a:t>, so the right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has more nodes than the left </a:t>
            </a:r>
            <a:r>
              <a:rPr lang="en-US" sz="2000" dirty="0" smtClean="0">
                <a:solidFill>
                  <a:srgbClr val="000000"/>
                </a:solidFill>
                <a:latin typeface="Times New Roman" panose="02020603050405020304" pitchFamily="18" charset="0"/>
                <a:cs typeface="Times New Roman" panose="02020603050405020304" pitchFamily="18" charset="0"/>
              </a:rPr>
              <a:t>sub tree</a:t>
            </a: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solidFill>
                <a:srgbClr val="36393E"/>
              </a:solidFill>
              <a:latin typeface="Times New Roman" panose="02020603050405020304" pitchFamily="18" charset="0"/>
              <a:cs typeface="Times New Roman" panose="02020603050405020304" pitchFamily="18" charset="0"/>
            </a:endParaRPr>
          </a:p>
          <a:p>
            <a:pPr>
              <a:lnSpc>
                <a:spcPct val="100000"/>
              </a:lnSpc>
            </a:pPr>
            <a:endParaRPr lang="en-US" sz="2000" dirty="0">
              <a:solidFill>
                <a:srgbClr val="36393E"/>
              </a:solidFill>
              <a:latin typeface="Times New Roman" panose="02020603050405020304" pitchFamily="18" charset="0"/>
              <a:cs typeface="Times New Roman" panose="02020603050405020304" pitchFamily="18" charset="0"/>
            </a:endParaRPr>
          </a:p>
          <a:p>
            <a:pPr>
              <a:lnSpc>
                <a:spcPct val="100000"/>
              </a:lnSpc>
            </a:pPr>
            <a:r>
              <a:rPr lang="en-US" sz="2000" dirty="0" smtClean="0">
                <a:solidFill>
                  <a:srgbClr val="000000"/>
                </a:solidFill>
                <a:latin typeface="Times New Roman" panose="02020603050405020304" pitchFamily="18" charset="0"/>
                <a:cs typeface="Times New Roman" panose="02020603050405020304" pitchFamily="18" charset="0"/>
              </a:rPr>
              <a:t>If </a:t>
            </a:r>
            <a:r>
              <a:rPr lang="en-US" sz="2000" dirty="0">
                <a:solidFill>
                  <a:srgbClr val="000000"/>
                </a:solidFill>
                <a:latin typeface="Times New Roman" panose="02020603050405020304" pitchFamily="18" charset="0"/>
                <a:cs typeface="Times New Roman" panose="02020603050405020304" pitchFamily="18" charset="0"/>
              </a:rPr>
              <a:t>the </a:t>
            </a:r>
            <a:r>
              <a:rPr lang="en-US" sz="2000" b="1" dirty="0">
                <a:solidFill>
                  <a:srgbClr val="000000"/>
                </a:solidFill>
                <a:latin typeface="Times New Roman" panose="02020603050405020304" pitchFamily="18" charset="0"/>
                <a:cs typeface="Times New Roman" panose="02020603050405020304" pitchFamily="18" charset="0"/>
              </a:rPr>
              <a:t>balance factor=0, </a:t>
            </a:r>
            <a:r>
              <a:rPr lang="en-US" sz="2000" dirty="0">
                <a:solidFill>
                  <a:srgbClr val="000000"/>
                </a:solidFill>
                <a:latin typeface="Times New Roman" panose="02020603050405020304" pitchFamily="18" charset="0"/>
                <a:cs typeface="Times New Roman" panose="02020603050405020304" pitchFamily="18" charset="0"/>
              </a:rPr>
              <a:t>the </a:t>
            </a:r>
            <a:r>
              <a:rPr lang="en-US" sz="2000" dirty="0" smtClean="0">
                <a:solidFill>
                  <a:srgbClr val="000000"/>
                </a:solidFill>
                <a:latin typeface="Times New Roman" panose="02020603050405020304" pitchFamily="18" charset="0"/>
                <a:cs typeface="Times New Roman" panose="02020603050405020304" pitchFamily="18" charset="0"/>
              </a:rPr>
              <a:t>sub tree </a:t>
            </a:r>
            <a:r>
              <a:rPr lang="en-US" sz="2000" dirty="0">
                <a:solidFill>
                  <a:srgbClr val="000000"/>
                </a:solidFill>
                <a:latin typeface="Times New Roman" panose="02020603050405020304" pitchFamily="18" charset="0"/>
                <a:cs typeface="Times New Roman" panose="02020603050405020304" pitchFamily="18" charset="0"/>
              </a:rPr>
              <a:t>is perfectly balanced, with both left and right </a:t>
            </a:r>
            <a:r>
              <a:rPr lang="en-US" sz="2000" dirty="0" smtClean="0">
                <a:solidFill>
                  <a:srgbClr val="000000"/>
                </a:solidFill>
                <a:latin typeface="Times New Roman" panose="02020603050405020304" pitchFamily="18" charset="0"/>
                <a:cs typeface="Times New Roman" panose="02020603050405020304" pitchFamily="18" charset="0"/>
              </a:rPr>
              <a:t>sub trees </a:t>
            </a:r>
            <a:r>
              <a:rPr lang="en-US" sz="2000" dirty="0">
                <a:solidFill>
                  <a:srgbClr val="000000"/>
                </a:solidFill>
                <a:latin typeface="Times New Roman" panose="02020603050405020304" pitchFamily="18" charset="0"/>
                <a:cs typeface="Times New Roman" panose="02020603050405020304" pitchFamily="18" charset="0"/>
              </a:rPr>
              <a:t>having equal heights.</a:t>
            </a:r>
            <a:endParaRPr lang="en-US" sz="2000" dirty="0">
              <a:solidFill>
                <a:srgbClr val="36393E"/>
              </a:solidFill>
              <a:latin typeface="Times New Roman" panose="02020603050405020304" pitchFamily="18" charset="0"/>
              <a:cs typeface="Times New Roman" panose="02020603050405020304" pitchFamily="18" charset="0"/>
            </a:endParaRPr>
          </a:p>
          <a:p>
            <a:pPr>
              <a:lnSpc>
                <a:spcPct val="100000"/>
              </a:lnSpc>
            </a:pPr>
            <a:endParaRPr lang="en-US" sz="3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423081" y="2893325"/>
            <a:ext cx="3318729" cy="984885"/>
          </a:xfrm>
          <a:prstGeom prst="rect">
            <a:avLst/>
          </a:prstGeom>
          <a:noFill/>
        </p:spPr>
        <p:txBody>
          <a:bodyPr wrap="none" rtlCol="0">
            <a:spAutoFit/>
          </a:bodyPr>
          <a:lstStyle/>
          <a:p>
            <a:endParaRPr lang="en-US" b="1" dirty="0" smtClean="0">
              <a:solidFill>
                <a:srgbClr val="000000"/>
              </a:solidFill>
              <a:latin typeface="Muli"/>
            </a:endParaRPr>
          </a:p>
          <a:p>
            <a:r>
              <a:rPr lang="en-US" sz="2000" b="1" dirty="0" smtClean="0">
                <a:solidFill>
                  <a:srgbClr val="000000"/>
                </a:solidFill>
                <a:latin typeface="Times New Roman" panose="02020603050405020304" pitchFamily="18" charset="0"/>
                <a:cs typeface="Times New Roman" panose="02020603050405020304" pitchFamily="18" charset="0"/>
              </a:rPr>
              <a:t>Properties </a:t>
            </a:r>
            <a:r>
              <a:rPr lang="en-US" sz="2000" b="1" dirty="0">
                <a:solidFill>
                  <a:srgbClr val="000000"/>
                </a:solidFill>
                <a:latin typeface="Times New Roman" panose="02020603050405020304" pitchFamily="18" charset="0"/>
                <a:cs typeface="Times New Roman" panose="02020603050405020304" pitchFamily="18" charset="0"/>
              </a:rPr>
              <a:t>of Balance Factor</a:t>
            </a:r>
            <a:endParaRPr lang="en-US" sz="2000" dirty="0">
              <a:solidFill>
                <a:srgbClr val="36393E"/>
              </a:solidFill>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1990725" y="84584"/>
            <a:ext cx="7929349" cy="67131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latin typeface="Times New Roman" panose="02020603050405020304" pitchFamily="18" charset="0"/>
                <a:cs typeface="Times New Roman" panose="02020603050405020304" pitchFamily="18" charset="0"/>
              </a:rPr>
              <a:t>SESSION DESCRIPTION</a:t>
            </a:r>
            <a:r>
              <a:rPr lang="en-US" sz="3200" b="1"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(Cont</a:t>
            </a:r>
            <a:r>
              <a:rPr lang="en-US" sz="3200" dirty="0">
                <a:latin typeface="Times New Roman" panose="02020603050405020304" pitchFamily="18" charset="0"/>
                <a:cs typeface="Times New Roman" panose="02020603050405020304" pitchFamily="18" charset="0"/>
              </a:rPr>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259307" y="138202"/>
            <a:ext cx="1990725" cy="600076"/>
          </a:xfrm>
          <a:prstGeom prst="rect">
            <a:avLst/>
          </a:prstGeom>
          <a:noFill/>
        </p:spPr>
      </p:pic>
      <p:sp>
        <p:nvSpPr>
          <p:cNvPr id="2" name="Rectangle 1"/>
          <p:cNvSpPr/>
          <p:nvPr/>
        </p:nvSpPr>
        <p:spPr>
          <a:xfrm>
            <a:off x="356260" y="1320731"/>
            <a:ext cx="4393162" cy="892552"/>
          </a:xfrm>
          <a:prstGeom prst="rect">
            <a:avLst/>
          </a:prstGeom>
        </p:spPr>
        <p:txBody>
          <a:bodyPr wrap="square">
            <a:spAutoFit/>
          </a:bodyPr>
          <a:lstStyle/>
          <a:p>
            <a:r>
              <a:rPr lang="en-US" sz="2800" dirty="0">
                <a:solidFill>
                  <a:schemeClr val="accent1">
                    <a:lumMod val="75000"/>
                  </a:schemeClr>
                </a:solidFill>
                <a:latin typeface="Times New Roman" panose="02020603050405020304" pitchFamily="18" charset="0"/>
                <a:cs typeface="Times New Roman" panose="02020603050405020304" pitchFamily="18" charset="0"/>
              </a:rPr>
              <a:t>Operations on AVL </a:t>
            </a:r>
            <a:r>
              <a:rPr lang="en-US" sz="2800" dirty="0" smtClean="0">
                <a:solidFill>
                  <a:schemeClr val="accent1">
                    <a:lumMod val="75000"/>
                  </a:schemeClr>
                </a:solidFill>
                <a:latin typeface="Times New Roman" panose="02020603050405020304" pitchFamily="18" charset="0"/>
                <a:cs typeface="Times New Roman" panose="02020603050405020304" pitchFamily="18" charset="0"/>
              </a:rPr>
              <a:t>tree:</a:t>
            </a:r>
            <a:endParaRPr lang="en-US" sz="28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sz="2400" dirty="0"/>
          </a:p>
        </p:txBody>
      </p:sp>
      <p:sp>
        <p:nvSpPr>
          <p:cNvPr id="3" name="TextBox 2"/>
          <p:cNvSpPr txBox="1"/>
          <p:nvPr/>
        </p:nvSpPr>
        <p:spPr>
          <a:xfrm>
            <a:off x="356260" y="1883392"/>
            <a:ext cx="3096624" cy="1200329"/>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1.Insertion</a:t>
            </a:r>
          </a:p>
          <a:p>
            <a:r>
              <a:rPr lang="en-US" sz="2400" dirty="0" smtClean="0">
                <a:latin typeface="Times New Roman" panose="02020603050405020304" pitchFamily="18" charset="0"/>
                <a:cs typeface="Times New Roman" panose="02020603050405020304" pitchFamily="18" charset="0"/>
              </a:rPr>
              <a:t>2.Deletion</a:t>
            </a:r>
          </a:p>
          <a:p>
            <a:r>
              <a:rPr lang="en-US" sz="2400" dirty="0" smtClean="0">
                <a:latin typeface="Times New Roman" panose="02020603050405020304" pitchFamily="18" charset="0"/>
                <a:cs typeface="Times New Roman" panose="02020603050405020304" pitchFamily="18" charset="0"/>
              </a:rPr>
              <a:t>3.Search</a:t>
            </a:r>
            <a:endParaRPr lang="en-US"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56260" y="2995493"/>
            <a:ext cx="11380815" cy="1384995"/>
          </a:xfrm>
          <a:prstGeom prst="rect">
            <a:avLst/>
          </a:prstGeom>
          <a:noFill/>
        </p:spPr>
        <p:txBody>
          <a:bodyPr wrap="square" rtlCol="0">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Insertion</a:t>
            </a:r>
            <a:r>
              <a:rPr lang="en-US" sz="20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Insertion in AVL tree is performed in the same way as it is performed in a binary search tree. However, it may lead to violation in the AVL tree property and therefore the tree may need balancing. The tree can be balanced by applying rotations.</a:t>
            </a:r>
            <a:endParaRPr lang="en-US"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56260" y="4531057"/>
            <a:ext cx="11380815" cy="960328"/>
          </a:xfrm>
          <a:prstGeom prst="rect">
            <a:avLst/>
          </a:prstGeom>
          <a:noFill/>
        </p:spPr>
        <p:txBody>
          <a:bodyPr wrap="square" rtlCol="0">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Deletion</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Deletion </a:t>
            </a:r>
            <a:r>
              <a:rPr lang="en-US" dirty="0">
                <a:latin typeface="Times New Roman" panose="02020603050405020304" pitchFamily="18" charset="0"/>
                <a:cs typeface="Times New Roman" panose="02020603050405020304" pitchFamily="18" charset="0"/>
              </a:rPr>
              <a:t>can also be performed in the same way as it is performed in a binary search tree. Deletion may also disturb the balance of the tree therefore, various types of rotations are used to rebalance the tree.</a:t>
            </a:r>
          </a:p>
        </p:txBody>
      </p:sp>
      <p:sp>
        <p:nvSpPr>
          <p:cNvPr id="7" name="TextBox 6"/>
          <p:cNvSpPr txBox="1"/>
          <p:nvPr/>
        </p:nvSpPr>
        <p:spPr>
          <a:xfrm>
            <a:off x="356260" y="5745707"/>
            <a:ext cx="11380814"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Search: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search operation in the AVL tree is similar to the search operation in a Binary search tree</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t>                     </a:t>
            </a:r>
          </a:p>
          <a:p>
            <a:r>
              <a:rPr lang="en-US" sz="2800" b="1" dirty="0"/>
              <a:t>	</a:t>
            </a:r>
            <a:r>
              <a:rPr lang="en-US" sz="3200" b="1" dirty="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SESSION </a:t>
            </a:r>
            <a:r>
              <a:rPr lang="en-US" sz="3200" dirty="0">
                <a:latin typeface="Times New Roman" panose="02020603050405020304" pitchFamily="18" charset="0"/>
                <a:cs typeface="Times New Roman" panose="02020603050405020304" pitchFamily="18" charset="0"/>
              </a:rPr>
              <a:t>DESCRIPTION</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(Cont..)</a:t>
            </a:r>
          </a:p>
          <a:p>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218365" y="280051"/>
            <a:ext cx="1990725" cy="600076"/>
          </a:xfrm>
          <a:prstGeom prst="rect">
            <a:avLst/>
          </a:prstGeom>
          <a:noFill/>
        </p:spPr>
      </p:pic>
      <p:sp>
        <p:nvSpPr>
          <p:cNvPr id="2" name="Rectangle 1"/>
          <p:cNvSpPr/>
          <p:nvPr/>
        </p:nvSpPr>
        <p:spPr>
          <a:xfrm>
            <a:off x="356259" y="1430430"/>
            <a:ext cx="11542815" cy="769441"/>
          </a:xfrm>
          <a:prstGeom prst="rect">
            <a:avLst/>
          </a:prstGeom>
        </p:spPr>
        <p:txBody>
          <a:bodyPr wrap="square">
            <a:spAutoFit/>
          </a:bodyPr>
          <a:lstStyle/>
          <a:p>
            <a:endParaRPr lang="en-IN" sz="2400" b="1" dirty="0"/>
          </a:p>
          <a:p>
            <a:endParaRPr lang="en-IN" sz="2000" dirty="0"/>
          </a:p>
        </p:txBody>
      </p:sp>
      <p:sp>
        <p:nvSpPr>
          <p:cNvPr id="3" name="Rectangle 2"/>
          <p:cNvSpPr/>
          <p:nvPr/>
        </p:nvSpPr>
        <p:spPr>
          <a:xfrm>
            <a:off x="218365" y="1856095"/>
            <a:ext cx="11680709" cy="1477328"/>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We </a:t>
            </a:r>
            <a:r>
              <a:rPr lang="en-US" sz="2000" dirty="0">
                <a:latin typeface="Times New Roman" panose="02020603050405020304" pitchFamily="18" charset="0"/>
                <a:cs typeface="Times New Roman" panose="02020603050405020304" pitchFamily="18" charset="0"/>
              </a:rPr>
              <a:t>perform rotation in AVL tree only in case if Balance Factor is other than </a:t>
            </a:r>
            <a:r>
              <a:rPr lang="en-US" sz="2000" b="1" dirty="0">
                <a:latin typeface="Times New Roman" panose="02020603050405020304" pitchFamily="18" charset="0"/>
                <a:cs typeface="Times New Roman" panose="02020603050405020304" pitchFamily="18" charset="0"/>
              </a:rPr>
              <a:t>-1, 0, and 1</a:t>
            </a:r>
            <a:r>
              <a:rPr lang="en-US" sz="2000" dirty="0" smtClean="0">
                <a:solidFill>
                  <a:srgbClr val="00B050"/>
                </a:solidFill>
                <a:latin typeface="Times New Roman" panose="02020603050405020304" pitchFamily="18" charset="0"/>
                <a:cs typeface="Times New Roman" panose="02020603050405020304" pitchFamily="18" charset="0"/>
              </a:rPr>
              <a:t>.</a:t>
            </a:r>
          </a:p>
          <a:p>
            <a:pPr algn="just">
              <a:lnSpc>
                <a:spcPct val="150000"/>
              </a:lnSpc>
            </a:pPr>
            <a:r>
              <a:rPr lang="en-US" sz="2000" dirty="0" smtClean="0">
                <a:solidFill>
                  <a:srgbClr val="333333"/>
                </a:solidFill>
                <a:latin typeface="inter-regular"/>
              </a:rPr>
              <a:t> </a:t>
            </a:r>
          </a:p>
          <a:p>
            <a:pPr algn="just">
              <a:lnSpc>
                <a:spcPct val="150000"/>
              </a:lnSpc>
            </a:pPr>
            <a:r>
              <a:rPr lang="en-US" sz="2000" dirty="0" smtClean="0">
                <a:solidFill>
                  <a:srgbClr val="333333"/>
                </a:solidFill>
                <a:latin typeface="inter-regular"/>
              </a:rPr>
              <a:t>There </a:t>
            </a:r>
            <a:r>
              <a:rPr lang="en-US" sz="2000" dirty="0">
                <a:solidFill>
                  <a:srgbClr val="333333"/>
                </a:solidFill>
                <a:latin typeface="inter-regular"/>
              </a:rPr>
              <a:t>are basically four types of rotations which are as follows:</a:t>
            </a:r>
            <a:endParaRPr lang="en-US" sz="2000" dirty="0"/>
          </a:p>
        </p:txBody>
      </p:sp>
      <p:sp>
        <p:nvSpPr>
          <p:cNvPr id="4" name="TextBox 3"/>
          <p:cNvSpPr txBox="1"/>
          <p:nvPr/>
        </p:nvSpPr>
        <p:spPr>
          <a:xfrm>
            <a:off x="342611" y="2462376"/>
            <a:ext cx="8733150" cy="3924151"/>
          </a:xfrm>
          <a:prstGeom prst="rect">
            <a:avLst/>
          </a:prstGeom>
          <a:noFill/>
        </p:spPr>
        <p:txBody>
          <a:bodyPr wrap="square" rtlCol="0">
            <a:spAutoFit/>
          </a:bodyPr>
          <a:lstStyle/>
          <a:p>
            <a:pPr algn="just"/>
            <a:endParaRPr lang="en-US" sz="2400" b="1" dirty="0" smtClean="0">
              <a:solidFill>
                <a:schemeClr val="accent1">
                  <a:lumMod val="75000"/>
                </a:schemeClr>
              </a:solidFill>
            </a:endParaRPr>
          </a:p>
          <a:p>
            <a:pPr algn="just"/>
            <a:endParaRPr lang="en-US" sz="2400" b="1" dirty="0">
              <a:solidFill>
                <a:schemeClr val="accent1">
                  <a:lumMod val="75000"/>
                </a:schemeClr>
              </a:solidFill>
            </a:endParaRPr>
          </a:p>
          <a:p>
            <a:pPr algn="just">
              <a:lnSpc>
                <a:spcPct val="150000"/>
              </a:lnSpc>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AVL ROTATIONS:</a:t>
            </a:r>
          </a:p>
          <a:p>
            <a:pPr algn="just">
              <a:lnSpc>
                <a:spcPct val="150000"/>
              </a:lnSpc>
            </a:pP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sz="2000" b="1" dirty="0" smtClean="0">
                <a:latin typeface="Times New Roman" panose="02020603050405020304" pitchFamily="18" charset="0"/>
                <a:cs typeface="Times New Roman" panose="02020603050405020304" pitchFamily="18" charset="0"/>
              </a:rPr>
              <a:t>Left </a:t>
            </a:r>
            <a:r>
              <a:rPr lang="en-US" sz="2000" b="1" dirty="0">
                <a:latin typeface="Times New Roman" panose="02020603050405020304" pitchFamily="18" charset="0"/>
                <a:cs typeface="Times New Roman" panose="02020603050405020304" pitchFamily="18" charset="0"/>
              </a:rPr>
              <a:t>Rotation (LL - Single Rotation) </a:t>
            </a:r>
            <a:endParaRPr lang="en-US" sz="2000" b="1" dirty="0" smtClean="0">
              <a:latin typeface="Times New Roman" panose="02020603050405020304" pitchFamily="18" charset="0"/>
              <a:cs typeface="Times New Roman" panose="02020603050405020304" pitchFamily="18" charset="0"/>
            </a:endParaRPr>
          </a:p>
          <a:p>
            <a:pPr marL="342900" indent="-342900" algn="just">
              <a:lnSpc>
                <a:spcPct val="150000"/>
              </a:lnSpc>
              <a:buFontTx/>
              <a:buAutoNum type="arabicPeriod"/>
            </a:pPr>
            <a:r>
              <a:rPr lang="en-US" sz="2000" b="1" dirty="0">
                <a:latin typeface="Times New Roman" panose="02020603050405020304" pitchFamily="18" charset="0"/>
                <a:cs typeface="Times New Roman" panose="02020603050405020304" pitchFamily="18" charset="0"/>
              </a:rPr>
              <a:t>Right Rotation (RR - Single Rotation)</a:t>
            </a:r>
          </a:p>
          <a:p>
            <a:pPr marL="342900" indent="-342900" algn="just">
              <a:lnSpc>
                <a:spcPct val="150000"/>
              </a:lnSpc>
              <a:buFontTx/>
              <a:buAutoNum type="arabicPeriod"/>
            </a:pPr>
            <a:r>
              <a:rPr lang="en-US" sz="2000" b="1" dirty="0">
                <a:latin typeface="Times New Roman" panose="02020603050405020304" pitchFamily="18" charset="0"/>
                <a:cs typeface="Times New Roman" panose="02020603050405020304" pitchFamily="18" charset="0"/>
              </a:rPr>
              <a:t>Left-Right Rotation (LR - Double Rotation) </a:t>
            </a:r>
          </a:p>
          <a:p>
            <a:pPr marL="342900" indent="-342900" algn="just">
              <a:lnSpc>
                <a:spcPct val="150000"/>
              </a:lnSpc>
              <a:buFontTx/>
              <a:buAutoNum type="arabicPeriod"/>
            </a:pPr>
            <a:r>
              <a:rPr lang="en-US" sz="2000" b="1" dirty="0">
                <a:latin typeface="Times New Roman" panose="02020603050405020304" pitchFamily="18" charset="0"/>
                <a:cs typeface="Times New Roman" panose="02020603050405020304" pitchFamily="18" charset="0"/>
              </a:rPr>
              <a:t>Right-Left Rotation (RL - Double Rotation)</a:t>
            </a:r>
          </a:p>
          <a:p>
            <a:pPr marL="342900" indent="-342900">
              <a:buAutoNum type="arabicPeriod"/>
            </a:pPr>
            <a:endParaRPr lang="en-US" sz="2000" dirty="0"/>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054522" y="131548"/>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Times New Roman" panose="02020603050405020304" pitchFamily="18" charset="0"/>
                <a:cs typeface="Times New Roman" panose="02020603050405020304" pitchFamily="18" charset="0"/>
              </a:rPr>
              <a:t>ROTATIONS </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3" name="Content Placeholder 2"/>
          <p:cNvPicPr>
            <a:picLocks noGrp="1" noChangeAspect="1"/>
          </p:cNvPicPr>
          <p:nvPr>
            <p:ph idx="1"/>
          </p:nvPr>
        </p:nvPicPr>
        <p:blipFill>
          <a:blip r:embed="rId3"/>
          <a:stretch>
            <a:fillRect/>
          </a:stretch>
        </p:blipFill>
        <p:spPr>
          <a:xfrm>
            <a:off x="6933062" y="1182320"/>
            <a:ext cx="4843036" cy="3181350"/>
          </a:xfrm>
          <a:prstGeom prst="rect">
            <a:avLst/>
          </a:prstGeom>
        </p:spPr>
      </p:pic>
      <p:sp>
        <p:nvSpPr>
          <p:cNvPr id="4" name="Rectangle 3"/>
          <p:cNvSpPr/>
          <p:nvPr/>
        </p:nvSpPr>
        <p:spPr>
          <a:xfrm>
            <a:off x="245660" y="1282890"/>
            <a:ext cx="6455391" cy="5940088"/>
          </a:xfrm>
          <a:prstGeom prst="rect">
            <a:avLst/>
          </a:prstGeom>
        </p:spPr>
        <p:txBody>
          <a:bodyPr wrap="square">
            <a:spAutoFit/>
          </a:bodyPr>
          <a:lstStyle/>
          <a:p>
            <a:pPr algn="just"/>
            <a:r>
              <a:rPr lang="en-US" sz="2000" b="1" dirty="0" smtClean="0">
                <a:solidFill>
                  <a:srgbClr val="000000"/>
                </a:solidFill>
                <a:latin typeface="Times New Roman" panose="02020603050405020304" pitchFamily="18" charset="0"/>
                <a:cs typeface="Times New Roman" panose="02020603050405020304" pitchFamily="18" charset="0"/>
              </a:rPr>
              <a:t>Given elements are 6,8,10.</a:t>
            </a:r>
          </a:p>
          <a:p>
            <a:pPr algn="just"/>
            <a:endParaRPr lang="en-US" sz="2000" b="1" dirty="0" smtClean="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sz="2000" dirty="0" smtClean="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Tree will be looks in the given way here the tree is not balance so we need perform the rotation here.i.e.,</a:t>
            </a:r>
          </a:p>
          <a:p>
            <a:pPr algn="just"/>
            <a:endParaRPr lang="en-US" sz="2000" dirty="0" smtClean="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Left Rotation (LL - Single Rotation)</a:t>
            </a:r>
            <a:r>
              <a:rPr lang="en-US" b="1" dirty="0" smtClean="0"/>
              <a:t> </a:t>
            </a:r>
          </a:p>
          <a:p>
            <a:pPr algn="just"/>
            <a:endParaRPr lang="en-US" b="1" dirty="0"/>
          </a:p>
          <a:p>
            <a:pPr algn="just">
              <a:lnSpc>
                <a:spcPct val="150000"/>
              </a:lnSpc>
            </a:pPr>
            <a:r>
              <a:rPr lang="en-US" sz="2000" dirty="0">
                <a:latin typeface="Times New Roman" panose="02020603050405020304" pitchFamily="18" charset="0"/>
                <a:cs typeface="Times New Roman" panose="02020603050405020304" pitchFamily="18" charset="0"/>
              </a:rPr>
              <a:t>Node </a:t>
            </a:r>
            <a:r>
              <a:rPr lang="en-US" sz="2000" b="1"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has a balance factor of -2 after the insertion of node </a:t>
            </a:r>
            <a:r>
              <a:rPr lang="en-US" sz="2000" b="1"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After a single rotation towards the left, node </a:t>
            </a:r>
            <a:r>
              <a:rPr lang="en-US" sz="2000" b="1" dirty="0">
                <a:latin typeface="Times New Roman" panose="02020603050405020304" pitchFamily="18" charset="0"/>
                <a:cs typeface="Times New Roman" panose="02020603050405020304" pitchFamily="18" charset="0"/>
              </a:rPr>
              <a:t>8 </a:t>
            </a:r>
            <a:r>
              <a:rPr lang="en-US" sz="2000" dirty="0">
                <a:latin typeface="Times New Roman" panose="02020603050405020304" pitchFamily="18" charset="0"/>
                <a:cs typeface="Times New Roman" panose="02020603050405020304" pitchFamily="18" charset="0"/>
              </a:rPr>
              <a:t>becomes the root and node </a:t>
            </a:r>
            <a:r>
              <a:rPr lang="en-US" sz="2000" b="1"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becomes its left child. By doing this, the BST property also remains intact, and the tree becomes height-balanced.</a:t>
            </a:r>
            <a:endParaRPr lang="en-US" sz="2000" b="1" dirty="0" smtClean="0">
              <a:latin typeface="Times New Roman" panose="02020603050405020304" pitchFamily="18" charset="0"/>
              <a:cs typeface="Times New Roman" panose="02020603050405020304" pitchFamily="18" charset="0"/>
            </a:endParaRPr>
          </a:p>
          <a:p>
            <a:endParaRPr lang="en-US" b="1" dirty="0" smtClean="0">
              <a:solidFill>
                <a:srgbClr val="000000"/>
              </a:solidFill>
              <a:latin typeface="Muli"/>
            </a:endParaRPr>
          </a:p>
          <a:p>
            <a:endParaRPr lang="en-US" b="1" i="0" dirty="0">
              <a:solidFill>
                <a:srgbClr val="000000"/>
              </a:solidFill>
              <a:effectLst/>
              <a:latin typeface="Muli"/>
            </a:endParaRPr>
          </a:p>
          <a:p>
            <a:endParaRPr lang="en-US" b="1" dirty="0" smtClean="0">
              <a:solidFill>
                <a:srgbClr val="000000"/>
              </a:solidFill>
              <a:latin typeface="Muli"/>
            </a:endParaRPr>
          </a:p>
          <a:p>
            <a:endParaRPr lang="en-US" b="1" i="0" dirty="0">
              <a:solidFill>
                <a:srgbClr val="616161"/>
              </a:solidFill>
              <a:effectLst/>
              <a:latin typeface="Muli"/>
            </a:endParaRPr>
          </a:p>
        </p:txBody>
      </p:sp>
      <p:sp>
        <p:nvSpPr>
          <p:cNvPr id="7" name="TextBox 6"/>
          <p:cNvSpPr txBox="1"/>
          <p:nvPr/>
        </p:nvSpPr>
        <p:spPr>
          <a:xfrm>
            <a:off x="7137779" y="4406566"/>
            <a:ext cx="4162567" cy="369332"/>
          </a:xfrm>
          <a:prstGeom prst="rect">
            <a:avLst/>
          </a:prstGeom>
          <a:noFill/>
        </p:spPr>
        <p:txBody>
          <a:bodyPr wrap="square" rtlCol="0">
            <a:spAutoFit/>
          </a:bodyPr>
          <a:lstStyle/>
          <a:p>
            <a:r>
              <a:rPr lang="en-US" b="1" dirty="0" smtClean="0"/>
              <a:t>  Left-rotation is applied in given example</a:t>
            </a:r>
            <a:endParaRPr lang="en-US" b="1"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2870987" y="84715"/>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Times New Roman" panose="02020603050405020304" pitchFamily="18" charset="0"/>
                <a:cs typeface="Times New Roman" panose="02020603050405020304" pitchFamily="18" charset="0"/>
              </a:rPr>
              <a:t>ROTATIONS(Cont..)</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252465" y="139360"/>
            <a:ext cx="1990725" cy="600076"/>
          </a:xfrm>
          <a:prstGeom prst="rect">
            <a:avLst/>
          </a:prstGeom>
          <a:noFill/>
        </p:spPr>
      </p:pic>
      <p:sp>
        <p:nvSpPr>
          <p:cNvPr id="2" name="Rectangle 1"/>
          <p:cNvSpPr/>
          <p:nvPr/>
        </p:nvSpPr>
        <p:spPr>
          <a:xfrm>
            <a:off x="356259" y="1320731"/>
            <a:ext cx="11732822" cy="461665"/>
          </a:xfrm>
          <a:prstGeom prst="rect">
            <a:avLst/>
          </a:prstGeom>
        </p:spPr>
        <p:txBody>
          <a:bodyPr wrap="square">
            <a:spAutoFit/>
          </a:bodyPr>
          <a:lstStyle/>
          <a:p>
            <a:endParaRPr lang="en-IN" sz="2400" dirty="0"/>
          </a:p>
        </p:txBody>
      </p:sp>
      <p:pic>
        <p:nvPicPr>
          <p:cNvPr id="3" name="Picture 2"/>
          <p:cNvPicPr>
            <a:picLocks noChangeAspect="1"/>
          </p:cNvPicPr>
          <p:nvPr/>
        </p:nvPicPr>
        <p:blipFill>
          <a:blip r:embed="rId3"/>
          <a:stretch>
            <a:fillRect/>
          </a:stretch>
        </p:blipFill>
        <p:spPr>
          <a:xfrm>
            <a:off x="7165063" y="1210244"/>
            <a:ext cx="4924018" cy="3020562"/>
          </a:xfrm>
          <a:prstGeom prst="rect">
            <a:avLst/>
          </a:prstGeom>
        </p:spPr>
      </p:pic>
      <p:sp>
        <p:nvSpPr>
          <p:cNvPr id="4" name="Rectangle 3"/>
          <p:cNvSpPr/>
          <p:nvPr/>
        </p:nvSpPr>
        <p:spPr>
          <a:xfrm>
            <a:off x="356259" y="1320731"/>
            <a:ext cx="6399383" cy="6724918"/>
          </a:xfrm>
          <a:prstGeom prst="rect">
            <a:avLst/>
          </a:prstGeom>
        </p:spPr>
        <p:txBody>
          <a:bodyPr wrap="square">
            <a:spAutoFit/>
          </a:bodyPr>
          <a:lstStyle/>
          <a:p>
            <a:pPr algn="just"/>
            <a:r>
              <a:rPr lang="en-US" sz="2000" b="1" dirty="0" smtClean="0">
                <a:solidFill>
                  <a:srgbClr val="000000"/>
                </a:solidFill>
                <a:latin typeface="Times New Roman" panose="02020603050405020304" pitchFamily="18" charset="0"/>
                <a:cs typeface="Times New Roman" panose="02020603050405020304" pitchFamily="18" charset="0"/>
              </a:rPr>
              <a:t>Given </a:t>
            </a:r>
            <a:r>
              <a:rPr lang="en-US" sz="2000" b="1" dirty="0">
                <a:solidFill>
                  <a:srgbClr val="000000"/>
                </a:solidFill>
                <a:latin typeface="Times New Roman" panose="02020603050405020304" pitchFamily="18" charset="0"/>
                <a:cs typeface="Times New Roman" panose="02020603050405020304" pitchFamily="18" charset="0"/>
              </a:rPr>
              <a:t>elements are </a:t>
            </a:r>
            <a:r>
              <a:rPr lang="en-US" sz="2000" b="1" dirty="0" smtClean="0">
                <a:solidFill>
                  <a:srgbClr val="000000"/>
                </a:solidFill>
                <a:latin typeface="Times New Roman" panose="02020603050405020304" pitchFamily="18" charset="0"/>
                <a:cs typeface="Times New Roman" panose="02020603050405020304" pitchFamily="18" charset="0"/>
              </a:rPr>
              <a:t>3,2,1.</a:t>
            </a:r>
          </a:p>
          <a:p>
            <a:pPr algn="just"/>
            <a:endParaRPr lang="en-US" sz="2000" b="1"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sz="20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Tree will be looks in the given way here the tree is not balance so we need perform the rotation here.i.e</a:t>
            </a:r>
            <a:r>
              <a:rPr lang="en-US" sz="2000" dirty="0" smtClean="0">
                <a:solidFill>
                  <a:srgbClr val="000000"/>
                </a:solidFill>
                <a:latin typeface="Times New Roman" panose="02020603050405020304" pitchFamily="18" charset="0"/>
                <a:ea typeface="Cambria" panose="02040503050406030204" pitchFamily="18" charset="0"/>
                <a:cs typeface="Times New Roman" panose="02020603050405020304" pitchFamily="18" charset="0"/>
              </a:rPr>
              <a:t>.,</a:t>
            </a:r>
          </a:p>
          <a:p>
            <a:pPr algn="just">
              <a:lnSpc>
                <a:spcPct val="150000"/>
              </a:lnSpc>
            </a:pPr>
            <a:endParaRPr lang="en-US" sz="20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Right Rotation (RR - Single Rotation</a:t>
            </a:r>
            <a:r>
              <a:rPr lang="en-US" sz="2000" b="1" dirty="0" smtClean="0">
                <a:latin typeface="Times New Roman" panose="02020603050405020304" pitchFamily="18" charset="0"/>
                <a:cs typeface="Times New Roman" panose="02020603050405020304" pitchFamily="18" charset="0"/>
              </a:rPr>
              <a:t>)</a:t>
            </a:r>
          </a:p>
          <a:p>
            <a:pPr algn="just"/>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Node </a:t>
            </a:r>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has a balance factor of </a:t>
            </a:r>
            <a:r>
              <a:rPr lang="en-US" sz="2000" b="1"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so it is unbalanced. After a single rotation towards the right, node </a:t>
            </a:r>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becomes the root and node </a:t>
            </a:r>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becomes its right child. And the new root, i.e., node </a:t>
            </a:r>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has a balance factor of </a:t>
            </a:r>
            <a:r>
              <a:rPr lang="en-US" sz="2000" b="1"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Hence,  the tree becomes balanced.</a:t>
            </a:r>
            <a:endParaRPr lang="en-US" sz="2000" b="1" dirty="0">
              <a:latin typeface="Times New Roman" panose="02020603050405020304" pitchFamily="18" charset="0"/>
              <a:cs typeface="Times New Roman" panose="02020603050405020304" pitchFamily="18" charset="0"/>
            </a:endParaRPr>
          </a:p>
          <a:p>
            <a:pPr algn="just">
              <a:lnSpc>
                <a:spcPct val="150000"/>
              </a:lnSpc>
            </a:pPr>
            <a:endParaRPr lang="en-US" sz="20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pPr>
            <a:endParaRPr lang="en-US"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endParaRPr lang="en-US" b="1" dirty="0" smtClean="0">
              <a:solidFill>
                <a:srgbClr val="000000"/>
              </a:solidFill>
              <a:latin typeface="Times New Roman" panose="02020603050405020304" pitchFamily="18" charset="0"/>
              <a:cs typeface="Times New Roman" panose="02020603050405020304" pitchFamily="18" charset="0"/>
            </a:endParaRPr>
          </a:p>
          <a:p>
            <a:pPr algn="just"/>
            <a:endParaRPr lang="en-US" b="1" dirty="0">
              <a:solidFill>
                <a:srgbClr val="000000"/>
              </a:solidFill>
              <a:latin typeface="Times New Roman" panose="02020603050405020304" pitchFamily="18" charset="0"/>
              <a:cs typeface="Times New Roman" panose="02020603050405020304" pitchFamily="18" charset="0"/>
            </a:endParaRPr>
          </a:p>
          <a:p>
            <a:pPr algn="just"/>
            <a:endParaRPr lang="en-US" b="1" dirty="0">
              <a:solidFill>
                <a:srgbClr val="000000"/>
              </a:solidFill>
              <a:latin typeface="Times New Roman" panose="02020603050405020304" pitchFamily="18" charset="0"/>
              <a:cs typeface="Times New Roman" panose="02020603050405020304" pitchFamily="18" charset="0"/>
            </a:endParaRPr>
          </a:p>
        </p:txBody>
      </p:sp>
      <p:sp>
        <p:nvSpPr>
          <p:cNvPr id="8" name="Rectangle 7"/>
          <p:cNvSpPr/>
          <p:nvPr/>
        </p:nvSpPr>
        <p:spPr>
          <a:xfrm flipH="1">
            <a:off x="7165062" y="4259995"/>
            <a:ext cx="4694839" cy="369332"/>
          </a:xfrm>
          <a:prstGeom prst="rect">
            <a:avLst/>
          </a:prstGeom>
        </p:spPr>
        <p:txBody>
          <a:bodyPr wrap="square">
            <a:spAutoFit/>
          </a:bodyPr>
          <a:lstStyle/>
          <a:p>
            <a:r>
              <a:rPr lang="en-US" b="1" dirty="0"/>
              <a:t> </a:t>
            </a:r>
            <a:r>
              <a:rPr lang="en-US" b="1" dirty="0" smtClean="0"/>
              <a:t>Right-rotation </a:t>
            </a:r>
            <a:r>
              <a:rPr lang="en-US" b="1" dirty="0"/>
              <a:t>is applied in given example</a:t>
            </a:r>
            <a:endParaRPr lang="en-US" dirty="0"/>
          </a:p>
        </p:txBody>
      </p:sp>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711906" y="124369"/>
            <a:ext cx="496778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Times New Roman" panose="02020603050405020304" pitchFamily="18" charset="0"/>
                <a:cs typeface="Times New Roman" panose="02020603050405020304" pitchFamily="18" charset="0"/>
              </a:rPr>
              <a:t>ROTATIONS(Cont..)</a:t>
            </a:r>
          </a:p>
        </p:txBody>
      </p:sp>
      <p:pic>
        <p:nvPicPr>
          <p:cNvPr id="12" name="Picture 2" descr="KL Deemed to be University Logo"/>
          <p:cNvPicPr>
            <a:picLocks noChangeAspect="1" noChangeArrowheads="1"/>
          </p:cNvPicPr>
          <p:nvPr/>
        </p:nvPicPr>
        <p:blipFill>
          <a:blip r:embed="rId3"/>
          <a:srcRect/>
          <a:stretch>
            <a:fillRect/>
          </a:stretch>
        </p:blipFill>
        <p:spPr bwMode="auto">
          <a:xfrm>
            <a:off x="245660" y="179014"/>
            <a:ext cx="1990725" cy="600076"/>
          </a:xfrm>
          <a:prstGeom prst="rect">
            <a:avLst/>
          </a:prstGeom>
          <a:noFill/>
        </p:spPr>
      </p:pic>
      <p:sp>
        <p:nvSpPr>
          <p:cNvPr id="2" name="Content Placeholder 1"/>
          <p:cNvSpPr>
            <a:spLocks noGrp="1"/>
          </p:cNvSpPr>
          <p:nvPr>
            <p:ph idx="1"/>
          </p:nvPr>
        </p:nvSpPr>
        <p:spPr>
          <a:xfrm>
            <a:off x="245660" y="1101346"/>
            <a:ext cx="7083188" cy="5449579"/>
          </a:xfrm>
        </p:spPr>
        <p:txBody>
          <a:bodyPr/>
          <a:lstStyle/>
          <a:p>
            <a:pPr marL="0" lvl="0" indent="0" algn="just">
              <a:lnSpc>
                <a:spcPct val="100000"/>
              </a:lnSpc>
              <a:spcBef>
                <a:spcPts val="0"/>
              </a:spcBef>
              <a:buNone/>
            </a:pPr>
            <a:r>
              <a:rPr lang="en-US" sz="2000" b="1" dirty="0">
                <a:solidFill>
                  <a:srgbClr val="000000"/>
                </a:solidFill>
                <a:latin typeface="Times New Roman" panose="02020603050405020304" pitchFamily="18" charset="0"/>
                <a:cs typeface="Times New Roman" panose="02020603050405020304" pitchFamily="18" charset="0"/>
              </a:rPr>
              <a:t>Given elements are </a:t>
            </a:r>
            <a:r>
              <a:rPr lang="en-US" sz="2000" b="1" dirty="0" smtClean="0">
                <a:solidFill>
                  <a:srgbClr val="000000"/>
                </a:solidFill>
                <a:latin typeface="Times New Roman" panose="02020603050405020304" pitchFamily="18" charset="0"/>
                <a:cs typeface="Times New Roman" panose="02020603050405020304" pitchFamily="18" charset="0"/>
              </a:rPr>
              <a:t>5,2,1.</a:t>
            </a:r>
          </a:p>
          <a:p>
            <a:pPr marL="0" lvl="0" indent="0" algn="just">
              <a:lnSpc>
                <a:spcPct val="100000"/>
              </a:lnSpc>
              <a:spcBef>
                <a:spcPts val="0"/>
              </a:spcBef>
              <a:buNone/>
            </a:pPr>
            <a:endParaRPr lang="en-US" sz="2000" b="1" dirty="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spcBef>
                <a:spcPts val="0"/>
              </a:spcBef>
              <a:buNone/>
            </a:pPr>
            <a:r>
              <a:rPr lang="en-US" sz="20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Tree will be looks in the given way here the tree is not balance so we need perform the rotation here.i.e.,</a:t>
            </a:r>
          </a:p>
          <a:p>
            <a:pPr marL="0" lvl="0" indent="0" algn="just">
              <a:lnSpc>
                <a:spcPct val="100000"/>
              </a:lnSpc>
              <a:spcBef>
                <a:spcPts val="0"/>
              </a:spcBef>
              <a:buNone/>
            </a:pPr>
            <a:endParaRPr lang="en-US" sz="2000" b="1"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b="1" dirty="0">
                <a:latin typeface="Times New Roman" panose="02020603050405020304" pitchFamily="18" charset="0"/>
                <a:cs typeface="Times New Roman" panose="02020603050405020304" pitchFamily="18" charset="0"/>
              </a:rPr>
              <a:t>Left-Right Rotation (LR - Double Rotation) </a:t>
            </a:r>
          </a:p>
          <a:p>
            <a:pPr marL="0" lvl="0" indent="0" algn="just">
              <a:lnSpc>
                <a:spcPct val="100000"/>
              </a:lnSpc>
              <a:spcBef>
                <a:spcPts val="0"/>
              </a:spcBef>
              <a:buNone/>
            </a:pPr>
            <a:endParaRPr lang="en-US" sz="2000" b="1" dirty="0" smtClean="0">
              <a:solidFill>
                <a:srgbClr val="000000"/>
              </a:solidFill>
              <a:latin typeface="Times New Roman" panose="02020603050405020304" pitchFamily="18" charset="0"/>
              <a:cs typeface="Times New Roman" panose="02020603050405020304" pitchFamily="18" charset="0"/>
            </a:endParaRPr>
          </a:p>
          <a:p>
            <a:pPr marL="0" lvl="0" indent="0" algn="just">
              <a:lnSpc>
                <a:spcPct val="150000"/>
              </a:lnSpc>
              <a:spcBef>
                <a:spcPts val="0"/>
              </a:spcBef>
              <a:buNone/>
            </a:pPr>
            <a:r>
              <a:rPr lang="en-US" sz="2000" dirty="0">
                <a:latin typeface="Times New Roman" panose="02020603050405020304" pitchFamily="18" charset="0"/>
                <a:cs typeface="Times New Roman" panose="02020603050405020304" pitchFamily="18" charset="0"/>
              </a:rPr>
              <a:t>Node 1 is inserted as the left child of node 2, which is the right child of node 5. See that the balance factor of node 5 becomes 2 after insertion of node 1. Firstly, we do a left rotation, but the tree is still not balanced. If you see carefully, the tree is left heavy after this step, so we need a right rotation. After which node 1, i.e. the newly inserted node, becomes the root.</a:t>
            </a:r>
            <a:endParaRPr lang="en-US" sz="2000" b="1" dirty="0">
              <a:solidFill>
                <a:srgbClr val="000000"/>
              </a:solidFill>
              <a:latin typeface="Times New Roman" panose="02020603050405020304" pitchFamily="18" charset="0"/>
              <a:cs typeface="Times New Roman" panose="02020603050405020304" pitchFamily="18" charset="0"/>
            </a:endParaRPr>
          </a:p>
          <a:p>
            <a:endParaRPr lang="en-US" dirty="0"/>
          </a:p>
        </p:txBody>
      </p:sp>
      <p:pic>
        <p:nvPicPr>
          <p:cNvPr id="3" name="Picture 2"/>
          <p:cNvPicPr>
            <a:picLocks noChangeAspect="1"/>
          </p:cNvPicPr>
          <p:nvPr/>
        </p:nvPicPr>
        <p:blipFill>
          <a:blip r:embed="rId4"/>
          <a:stretch>
            <a:fillRect/>
          </a:stretch>
        </p:blipFill>
        <p:spPr>
          <a:xfrm>
            <a:off x="7328848" y="1101346"/>
            <a:ext cx="4863152" cy="3347824"/>
          </a:xfrm>
          <a:prstGeom prst="rect">
            <a:avLst/>
          </a:prstGeom>
        </p:spPr>
      </p:pic>
      <p:sp>
        <p:nvSpPr>
          <p:cNvPr id="5" name="TextBox 4"/>
          <p:cNvSpPr txBox="1"/>
          <p:nvPr/>
        </p:nvSpPr>
        <p:spPr>
          <a:xfrm>
            <a:off x="7328848" y="4449170"/>
            <a:ext cx="4713535" cy="369332"/>
          </a:xfrm>
          <a:prstGeom prst="rect">
            <a:avLst/>
          </a:prstGeom>
          <a:noFill/>
        </p:spPr>
        <p:txBody>
          <a:bodyPr wrap="square" rtlCol="0">
            <a:spAutoFit/>
          </a:bodyPr>
          <a:lstStyle/>
          <a:p>
            <a:r>
              <a:rPr lang="en-US" b="1" dirty="0" smtClean="0"/>
              <a:t>Left-Right Rotation is applied in given rotation </a:t>
            </a:r>
            <a:endParaRPr lang="en-US" b="1" dirty="0"/>
          </a:p>
        </p:txBody>
      </p:sp>
    </p:spTree>
    <p:extLst>
      <p:ext uri="{BB962C8B-B14F-4D97-AF65-F5344CB8AC3E}">
        <p14:creationId xmlns:p14="http://schemas.microsoft.com/office/powerpoint/2010/main" val="14605683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603008" y="253280"/>
            <a:ext cx="443552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Times New Roman" panose="02020603050405020304" pitchFamily="18" charset="0"/>
                <a:cs typeface="Times New Roman" panose="02020603050405020304" pitchFamily="18" charset="0"/>
              </a:rPr>
              <a:t>ROTATIONS(Cont..)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259307" y="122066"/>
            <a:ext cx="1990725" cy="600076"/>
          </a:xfrm>
          <a:prstGeom prst="rect">
            <a:avLst/>
          </a:prstGeom>
          <a:noFill/>
        </p:spPr>
      </p:pic>
      <p:pic>
        <p:nvPicPr>
          <p:cNvPr id="3" name="Content Placeholder 2"/>
          <p:cNvPicPr>
            <a:picLocks noGrp="1" noChangeAspect="1"/>
          </p:cNvPicPr>
          <p:nvPr>
            <p:ph idx="1"/>
          </p:nvPr>
        </p:nvPicPr>
        <p:blipFill>
          <a:blip r:embed="rId3"/>
          <a:stretch>
            <a:fillRect/>
          </a:stretch>
        </p:blipFill>
        <p:spPr>
          <a:xfrm>
            <a:off x="7165076" y="1010217"/>
            <a:ext cx="4926877" cy="3181350"/>
          </a:xfrm>
          <a:prstGeom prst="rect">
            <a:avLst/>
          </a:prstGeom>
        </p:spPr>
      </p:pic>
      <p:sp>
        <p:nvSpPr>
          <p:cNvPr id="4" name="Rectangle 3"/>
          <p:cNvSpPr/>
          <p:nvPr/>
        </p:nvSpPr>
        <p:spPr>
          <a:xfrm>
            <a:off x="259308" y="1194658"/>
            <a:ext cx="6673756" cy="4524315"/>
          </a:xfrm>
          <a:prstGeom prst="rect">
            <a:avLst/>
          </a:prstGeom>
        </p:spPr>
        <p:txBody>
          <a:bodyPr wrap="square">
            <a:spAutoFit/>
          </a:bodyPr>
          <a:lstStyle/>
          <a:p>
            <a:pPr lvl="0" algn="just"/>
            <a:r>
              <a:rPr lang="en-US" b="1" dirty="0">
                <a:solidFill>
                  <a:srgbClr val="000000"/>
                </a:solidFill>
                <a:latin typeface="Times New Roman" panose="02020603050405020304" pitchFamily="18" charset="0"/>
                <a:cs typeface="Times New Roman" panose="02020603050405020304" pitchFamily="18" charset="0"/>
              </a:rPr>
              <a:t>Given elements are </a:t>
            </a:r>
            <a:r>
              <a:rPr lang="en-US" b="1" dirty="0" smtClean="0">
                <a:solidFill>
                  <a:srgbClr val="000000"/>
                </a:solidFill>
                <a:latin typeface="Times New Roman" panose="02020603050405020304" pitchFamily="18" charset="0"/>
                <a:cs typeface="Times New Roman" panose="02020603050405020304" pitchFamily="18" charset="0"/>
              </a:rPr>
              <a:t>5,8,6.</a:t>
            </a:r>
            <a:endParaRPr lang="en-US" b="1" dirty="0">
              <a:solidFill>
                <a:srgbClr val="000000"/>
              </a:solidFill>
              <a:latin typeface="Times New Roman" panose="02020603050405020304" pitchFamily="18" charset="0"/>
              <a:cs typeface="Times New Roman" panose="02020603050405020304" pitchFamily="18" charset="0"/>
            </a:endParaRPr>
          </a:p>
          <a:p>
            <a:pPr lvl="0" algn="just"/>
            <a:endParaRPr lang="en-US" b="1"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Tree will be looks in the given way here the tree is not balance so we need perform the rotation here.i.e</a:t>
            </a:r>
            <a:r>
              <a:rPr lang="en-US" dirty="0" smtClean="0">
                <a:solidFill>
                  <a:srgbClr val="000000"/>
                </a:solidFill>
                <a:latin typeface="Times New Roman" panose="02020603050405020304" pitchFamily="18" charset="0"/>
                <a:ea typeface="Cambria" panose="02040503050406030204" pitchFamily="18" charset="0"/>
                <a:cs typeface="Times New Roman" panose="02020603050405020304" pitchFamily="18" charset="0"/>
              </a:rPr>
              <a:t>.,</a:t>
            </a:r>
          </a:p>
          <a:p>
            <a:pPr algn="just">
              <a:lnSpc>
                <a:spcPct val="150000"/>
              </a:lnSpc>
            </a:pPr>
            <a:endParaRPr lang="en-US"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Right-Left Rotation (RL - Double Rotation)</a:t>
            </a:r>
          </a:p>
          <a:p>
            <a:pPr algn="just"/>
            <a:endParaRPr lang="en-US" dirty="0" smtClean="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insertion of node </a:t>
            </a:r>
            <a:r>
              <a:rPr lang="en-US" b="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creates an imbalance. Firstly, we perform a right rotation which makes node </a:t>
            </a:r>
            <a:r>
              <a:rPr lang="en-US" b="1"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a parent of node </a:t>
            </a:r>
            <a:r>
              <a:rPr lang="en-US" b="1" dirty="0">
                <a:latin typeface="Times New Roman" panose="02020603050405020304" pitchFamily="18" charset="0"/>
                <a:cs typeface="Times New Roman" panose="02020603050405020304" pitchFamily="18" charset="0"/>
              </a:rPr>
              <a:t>8 </a:t>
            </a:r>
            <a:r>
              <a:rPr lang="en-US" dirty="0">
                <a:latin typeface="Times New Roman" panose="02020603050405020304" pitchFamily="18" charset="0"/>
                <a:cs typeface="Times New Roman" panose="02020603050405020304" pitchFamily="18" charset="0"/>
              </a:rPr>
              <a:t>and node </a:t>
            </a:r>
            <a:r>
              <a:rPr lang="en-US" b="1" dirty="0">
                <a:latin typeface="Times New Roman" panose="02020603050405020304" pitchFamily="18" charset="0"/>
                <a:cs typeface="Times New Roman" panose="02020603050405020304" pitchFamily="18" charset="0"/>
              </a:rPr>
              <a:t>8 </a:t>
            </a:r>
            <a:r>
              <a:rPr lang="en-US" dirty="0">
                <a:latin typeface="Times New Roman" panose="02020603050405020304" pitchFamily="18" charset="0"/>
                <a:cs typeface="Times New Roman" panose="02020603050405020304" pitchFamily="18" charset="0"/>
              </a:rPr>
              <a:t>becomes the right child of node </a:t>
            </a:r>
            <a:r>
              <a:rPr lang="en-US" b="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Next, we perform left rotation on the resulting right-heavy tree and finally, the tree becomes balanced.</a:t>
            </a:r>
            <a:endParaRPr lang="en-US"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TextBox 4"/>
          <p:cNvSpPr txBox="1"/>
          <p:nvPr/>
        </p:nvSpPr>
        <p:spPr>
          <a:xfrm>
            <a:off x="7274257" y="4239139"/>
            <a:ext cx="4918251" cy="369332"/>
          </a:xfrm>
          <a:prstGeom prst="rect">
            <a:avLst/>
          </a:prstGeom>
          <a:noFill/>
        </p:spPr>
        <p:txBody>
          <a:bodyPr wrap="square" rtlCol="0">
            <a:spAutoFit/>
          </a:bodyPr>
          <a:lstStyle/>
          <a:p>
            <a:r>
              <a:rPr lang="en-US" b="1" dirty="0" smtClean="0"/>
              <a:t>Right-Left Rotation is applied in given rotation </a:t>
            </a:r>
            <a:endParaRPr lang="en-US" b="1" dirty="0"/>
          </a:p>
        </p:txBody>
      </p:sp>
    </p:spTree>
    <p:extLst>
      <p:ext uri="{BB962C8B-B14F-4D97-AF65-F5344CB8AC3E}">
        <p14:creationId xmlns:p14="http://schemas.microsoft.com/office/powerpoint/2010/main" val="3892933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F2E30D4-6F86-49D1-9276-85CE0E9B3E3E}"/>
              </a:ext>
            </a:extLst>
          </p:cNvPr>
          <p:cNvSpPr/>
          <p:nvPr/>
        </p:nvSpPr>
        <p:spPr>
          <a:xfrm>
            <a:off x="3589360" y="253280"/>
            <a:ext cx="443552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Times New Roman" panose="02020603050405020304" pitchFamily="18" charset="0"/>
                <a:cs typeface="Times New Roman" panose="02020603050405020304" pitchFamily="18" charset="0"/>
              </a:rPr>
              <a:t>EXAMPLE</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34481" y="365185"/>
            <a:ext cx="1987468" cy="597460"/>
          </a:xfrm>
          <a:prstGeom prst="rect">
            <a:avLst/>
          </a:prstGeom>
        </p:spPr>
      </p:pic>
      <p:sp>
        <p:nvSpPr>
          <p:cNvPr id="6" name="Rectangle 5"/>
          <p:cNvSpPr/>
          <p:nvPr/>
        </p:nvSpPr>
        <p:spPr>
          <a:xfrm>
            <a:off x="586853" y="1610436"/>
            <a:ext cx="11122925" cy="3076291"/>
          </a:xfrm>
          <a:prstGeom prst="rect">
            <a:avLst/>
          </a:prstGeom>
        </p:spPr>
        <p:txBody>
          <a:bodyPr wrap="square">
            <a:spAutoFit/>
          </a:bodyPr>
          <a:lstStyle/>
          <a:p>
            <a:pPr marL="342900" indent="-342900" algn="just">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are tasked with building an AVL tree that maintains the alphabetical order of the months January, February, March, April, May, and June. You need to start with January as the root node and efficiently insert the remaining months while ensuring the tree remains balanced. Describe the sequence of insertions and any necessary rotations, explaining why each rotation is performed and how it restores balance.</a:t>
            </a:r>
          </a:p>
        </p:txBody>
      </p:sp>
    </p:spTree>
    <p:extLst>
      <p:ext uri="{BB962C8B-B14F-4D97-AF65-F5344CB8AC3E}">
        <p14:creationId xmlns:p14="http://schemas.microsoft.com/office/powerpoint/2010/main" val="1775699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86853" y="1160060"/>
            <a:ext cx="11000095" cy="5078313"/>
          </a:xfrm>
          <a:prstGeom prst="rect">
            <a:avLst/>
          </a:prstGeom>
        </p:spPr>
        <p:txBody>
          <a:bodyPr wrap="square">
            <a:spAutoFit/>
          </a:bodyPr>
          <a:lstStyle/>
          <a:p>
            <a:pPr marL="342900" indent="-34290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AVL Tree is a height-balanced BST that maintains its height by performing tree rotations according to a Balancing Criteria.</a:t>
            </a:r>
          </a:p>
          <a:p>
            <a:pPr marL="342900" indent="-34290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Balancing Criteria: For all nodes, the sub tree height difference (balance factor) should be at most </a:t>
            </a:r>
            <a:r>
              <a:rPr lang="en-US" dirty="0" smtClean="0">
                <a:latin typeface="Times New Roman" panose="02020603050405020304" pitchFamily="18" charset="0"/>
                <a:cs typeface="Times New Roman" panose="02020603050405020304" pitchFamily="18" charset="0"/>
              </a:rPr>
              <a:t>1</a:t>
            </a:r>
          </a:p>
          <a:p>
            <a:pPr marL="342900" indent="-342900">
              <a:lnSpc>
                <a:spcPct val="200000"/>
              </a:lnSpc>
              <a:buFont typeface="Arial" panose="020B0604020202020204" pitchFamily="34" charset="0"/>
              <a:buChar char="•"/>
            </a:pPr>
            <a:r>
              <a:rPr lang="en-US" dirty="0"/>
              <a:t>The valid values of the balance factor are -1, 0, and +1.</a:t>
            </a:r>
          </a:p>
          <a:p>
            <a:pPr marL="342900" indent="-342900">
              <a:lnSpc>
                <a:spcPct val="200000"/>
              </a:lnSpc>
              <a:buFont typeface="Arial" panose="020B0604020202020204" pitchFamily="34" charset="0"/>
              <a:buChar char="•"/>
            </a:pPr>
            <a:r>
              <a:rPr lang="en-US" dirty="0"/>
              <a:t>The insert and delete operation require rotations to be performed after violating the balance factor.</a:t>
            </a:r>
          </a:p>
          <a:p>
            <a:pPr marL="342900" indent="-342900">
              <a:lnSpc>
                <a:spcPct val="200000"/>
              </a:lnSpc>
              <a:buFont typeface="Arial" panose="020B0604020202020204" pitchFamily="34" charset="0"/>
              <a:buChar char="•"/>
            </a:pPr>
            <a:r>
              <a:rPr lang="en-US" dirty="0"/>
              <a:t>The balance factor of a node is defined as the difference between the height of the left and right </a:t>
            </a:r>
            <a:r>
              <a:rPr lang="en-US" dirty="0" smtClean="0"/>
              <a:t>sub tree </a:t>
            </a:r>
            <a:r>
              <a:rPr lang="en-US" dirty="0"/>
              <a:t>of that node</a:t>
            </a:r>
            <a:r>
              <a:rPr lang="en-US" dirty="0" smtClean="0"/>
              <a:t>.</a:t>
            </a:r>
            <a:endParaRPr lang="en-US"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Tree </a:t>
            </a:r>
            <a:r>
              <a:rPr lang="en-US" dirty="0">
                <a:latin typeface="Times New Roman" panose="02020603050405020304" pitchFamily="18" charset="0"/>
                <a:cs typeface="Times New Roman" panose="02020603050405020304" pitchFamily="18" charset="0"/>
              </a:rPr>
              <a:t>Rotations are changes in the structure of the tree, done only on 3 nodes without affecting the elements' order</a:t>
            </a:r>
            <a:r>
              <a:rPr lang="en-US" dirty="0" smtClean="0">
                <a:latin typeface="Times New Roman" panose="02020603050405020304" pitchFamily="18" charset="0"/>
                <a:cs typeface="Times New Roman" panose="02020603050405020304" pitchFamily="18" charset="0"/>
              </a:rPr>
              <a:t>.</a:t>
            </a:r>
          </a:p>
          <a:p>
            <a:pPr marL="342900" indent="-342900">
              <a:lnSpc>
                <a:spcPct val="20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 xmlns:a16="http://schemas.microsoft.com/office/drawing/2014/main" id="{0F2E30D4-6F86-49D1-9276-85CE0E9B3E3E}"/>
              </a:ext>
            </a:extLst>
          </p:cNvPr>
          <p:cNvSpPr/>
          <p:nvPr/>
        </p:nvSpPr>
        <p:spPr>
          <a:xfrm>
            <a:off x="3603008" y="253280"/>
            <a:ext cx="443552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Times New Roman" panose="02020603050405020304" pitchFamily="18" charset="0"/>
                <a:cs typeface="Times New Roman" panose="02020603050405020304" pitchFamily="18" charset="0"/>
              </a:rPr>
              <a:t>SUMMARY</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163773" y="253280"/>
            <a:ext cx="1990725" cy="600076"/>
          </a:xfrm>
          <a:prstGeom prst="rect">
            <a:avLst/>
          </a:prstGeom>
          <a:noFill/>
        </p:spPr>
      </p:pic>
    </p:spTree>
    <p:extLst>
      <p:ext uri="{BB962C8B-B14F-4D97-AF65-F5344CB8AC3E}">
        <p14:creationId xmlns:p14="http://schemas.microsoft.com/office/powerpoint/2010/main" val="663808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 xmlns:a16="http://schemas.microsoft.com/office/drawing/2014/main" id="{ED7FD29D-BBDE-078E-D487-E57247CDB50D}"/>
              </a:ext>
            </a:extLst>
          </p:cNvPr>
          <p:cNvSpPr/>
          <p:nvPr/>
        </p:nvSpPr>
        <p:spPr>
          <a:xfrm>
            <a:off x="2647665" y="94783"/>
            <a:ext cx="7028597"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SELF-ASSESSMENT QUESTIONS</a:t>
            </a:r>
          </a:p>
        </p:txBody>
      </p:sp>
      <p:sp>
        <p:nvSpPr>
          <p:cNvPr id="5" name="Rounded Rectangle 17">
            <a:extLst>
              <a:ext uri="{FF2B5EF4-FFF2-40B4-BE49-F238E27FC236}">
                <a16:creationId xmlns="" xmlns:a16="http://schemas.microsoft.com/office/drawing/2014/main" id="{0F2E30D4-6F86-49D1-9276-85CE0E9B3E3E}"/>
              </a:ext>
            </a:extLst>
          </p:cNvPr>
          <p:cNvSpPr/>
          <p:nvPr/>
        </p:nvSpPr>
        <p:spPr>
          <a:xfrm>
            <a:off x="832513" y="1194976"/>
            <a:ext cx="8734568" cy="579234"/>
          </a:xfrm>
          <a:prstGeom prst="roundRect">
            <a:avLst/>
          </a:prstGeom>
          <a:solidFill>
            <a:srgbClr val="CF2F33"/>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Times New Roman" panose="02020603050405020304" pitchFamily="18" charset="0"/>
                <a:cs typeface="Times New Roman" panose="02020603050405020304" pitchFamily="18" charset="0"/>
              </a:rPr>
              <a:t>1.How to calculate the balance factor of a node in an AVL Tree?</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 xmlns:a16="http://schemas.microsoft.com/office/drawing/2014/main" id="{0F2E30D4-6F86-49D1-9276-85CE0E9B3E3E}"/>
              </a:ext>
            </a:extLst>
          </p:cNvPr>
          <p:cNvSpPr/>
          <p:nvPr/>
        </p:nvSpPr>
        <p:spPr>
          <a:xfrm>
            <a:off x="832513" y="1975676"/>
            <a:ext cx="7902055" cy="1804754"/>
          </a:xfrm>
          <a:prstGeom prst="roundRect">
            <a:avLst/>
          </a:prstGeom>
          <a:solidFill>
            <a:schemeClr val="accent5">
              <a:lumMod val="75000"/>
            </a:schemeClr>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prstClr val="white"/>
              </a:solidFill>
            </a:endParaRPr>
          </a:p>
          <a:p>
            <a:endParaRPr lang="en-US" dirty="0">
              <a:solidFill>
                <a:prstClr val="white"/>
              </a:solidFill>
            </a:endParaRPr>
          </a:p>
          <a:p>
            <a:endParaRPr lang="en-US" dirty="0" smtClean="0">
              <a:solidFill>
                <a:prstClr val="white"/>
              </a:solidFill>
            </a:endParaRPr>
          </a:p>
          <a:p>
            <a:endParaRPr lang="en-US" dirty="0">
              <a:solidFill>
                <a:prstClr val="white"/>
              </a:solidFill>
            </a:endParaRPr>
          </a:p>
          <a:p>
            <a:endParaRPr lang="en-US" dirty="0" smtClean="0">
              <a:solidFill>
                <a:prstClr val="white"/>
              </a:solidFill>
            </a:endParaRPr>
          </a:p>
          <a:p>
            <a:pPr>
              <a:lnSpc>
                <a:spcPct val="150000"/>
              </a:lnSpc>
            </a:pPr>
            <a:r>
              <a:rPr lang="en-US" dirty="0" smtClean="0">
                <a:solidFill>
                  <a:prstClr val="white"/>
                </a:solidFill>
                <a:latin typeface="Times New Roman" panose="02020603050405020304" pitchFamily="18" charset="0"/>
                <a:cs typeface="Times New Roman" panose="02020603050405020304" pitchFamily="18" charset="0"/>
              </a:rPr>
              <a:t>a)height </a:t>
            </a:r>
            <a:r>
              <a:rPr lang="en-US" dirty="0">
                <a:solidFill>
                  <a:prstClr val="white"/>
                </a:solidFill>
                <a:latin typeface="Times New Roman" panose="02020603050405020304" pitchFamily="18" charset="0"/>
                <a:cs typeface="Times New Roman" panose="02020603050405020304" pitchFamily="18" charset="0"/>
              </a:rPr>
              <a:t>of the left sub tree - height of the right sub </a:t>
            </a:r>
            <a:r>
              <a:rPr lang="en-US" dirty="0" smtClean="0">
                <a:solidFill>
                  <a:prstClr val="white"/>
                </a:solidFill>
                <a:latin typeface="Times New Roman" panose="02020603050405020304" pitchFamily="18" charset="0"/>
                <a:cs typeface="Times New Roman" panose="02020603050405020304" pitchFamily="18" charset="0"/>
              </a:rPr>
              <a:t>tree</a:t>
            </a:r>
          </a:p>
          <a:p>
            <a:pPr lvl="0">
              <a:lnSpc>
                <a:spcPct val="150000"/>
              </a:lnSpc>
            </a:pPr>
            <a:r>
              <a:rPr lang="en-US" dirty="0" smtClean="0">
                <a:solidFill>
                  <a:prstClr val="white"/>
                </a:solidFill>
                <a:latin typeface="Times New Roman" panose="02020603050405020304" pitchFamily="18" charset="0"/>
                <a:cs typeface="Times New Roman" panose="02020603050405020304" pitchFamily="18" charset="0"/>
              </a:rPr>
              <a:t>b)height </a:t>
            </a:r>
            <a:r>
              <a:rPr lang="en-US" dirty="0">
                <a:solidFill>
                  <a:prstClr val="white"/>
                </a:solidFill>
                <a:latin typeface="Times New Roman" panose="02020603050405020304" pitchFamily="18" charset="0"/>
                <a:cs typeface="Times New Roman" panose="02020603050405020304" pitchFamily="18" charset="0"/>
              </a:rPr>
              <a:t>of the right sub tree - height of the left sub </a:t>
            </a:r>
            <a:r>
              <a:rPr lang="en-US" dirty="0" smtClean="0">
                <a:solidFill>
                  <a:prstClr val="white"/>
                </a:solidFill>
                <a:latin typeface="Times New Roman" panose="02020603050405020304" pitchFamily="18" charset="0"/>
                <a:cs typeface="Times New Roman" panose="02020603050405020304" pitchFamily="18" charset="0"/>
              </a:rPr>
              <a:t>tree</a:t>
            </a:r>
          </a:p>
          <a:p>
            <a:pPr lvl="0">
              <a:lnSpc>
                <a:spcPct val="150000"/>
              </a:lnSpc>
            </a:pPr>
            <a:r>
              <a:rPr lang="en-US" dirty="0" smtClean="0">
                <a:solidFill>
                  <a:prstClr val="white"/>
                </a:solidFill>
                <a:latin typeface="Times New Roman" panose="02020603050405020304" pitchFamily="18" charset="0"/>
                <a:cs typeface="Times New Roman" panose="02020603050405020304" pitchFamily="18" charset="0"/>
              </a:rPr>
              <a:t>c)</a:t>
            </a:r>
            <a:r>
              <a:rPr lang="en-US" dirty="0">
                <a:solidFill>
                  <a:prstClr val="white"/>
                </a:solidFill>
                <a:latin typeface="Times New Roman" panose="02020603050405020304" pitchFamily="18" charset="0"/>
                <a:cs typeface="Times New Roman" panose="02020603050405020304" pitchFamily="18" charset="0"/>
              </a:rPr>
              <a:t> absolute difference between the heights of the left and right sub </a:t>
            </a:r>
            <a:r>
              <a:rPr lang="en-US" dirty="0" smtClean="0">
                <a:solidFill>
                  <a:prstClr val="white"/>
                </a:solidFill>
                <a:latin typeface="Times New Roman" panose="02020603050405020304" pitchFamily="18" charset="0"/>
                <a:cs typeface="Times New Roman" panose="02020603050405020304" pitchFamily="18" charset="0"/>
              </a:rPr>
              <a:t>trees.</a:t>
            </a:r>
          </a:p>
          <a:p>
            <a:pPr lvl="0">
              <a:lnSpc>
                <a:spcPct val="150000"/>
              </a:lnSpc>
            </a:pPr>
            <a:r>
              <a:rPr lang="en-US" dirty="0" smtClean="0">
                <a:solidFill>
                  <a:prstClr val="white"/>
                </a:solidFill>
                <a:latin typeface="Times New Roman" panose="02020603050405020304" pitchFamily="18" charset="0"/>
                <a:cs typeface="Times New Roman" panose="02020603050405020304" pitchFamily="18" charset="0"/>
              </a:rPr>
              <a:t>d)sum </a:t>
            </a:r>
            <a:r>
              <a:rPr lang="en-US" dirty="0">
                <a:solidFill>
                  <a:prstClr val="white"/>
                </a:solidFill>
                <a:latin typeface="Times New Roman" panose="02020603050405020304" pitchFamily="18" charset="0"/>
                <a:cs typeface="Times New Roman" panose="02020603050405020304" pitchFamily="18" charset="0"/>
              </a:rPr>
              <a:t>of the heights of the left and right sub trees.</a:t>
            </a:r>
          </a:p>
          <a:p>
            <a:pPr lvl="0">
              <a:lnSpc>
                <a:spcPct val="150000"/>
              </a:lnSpc>
            </a:pPr>
            <a:endParaRPr lang="en-US" dirty="0">
              <a:solidFill>
                <a:prstClr val="white"/>
              </a:solidFill>
            </a:endParaRPr>
          </a:p>
          <a:p>
            <a:pPr lvl="0">
              <a:lnSpc>
                <a:spcPct val="150000"/>
              </a:lnSpc>
            </a:pPr>
            <a:endParaRPr lang="en-US" dirty="0">
              <a:solidFill>
                <a:prstClr val="white"/>
              </a:solidFill>
            </a:endParaRPr>
          </a:p>
          <a:p>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8" name="Rounded Rectangle 17">
            <a:extLst>
              <a:ext uri="{FF2B5EF4-FFF2-40B4-BE49-F238E27FC236}">
                <a16:creationId xmlns="" xmlns:a16="http://schemas.microsoft.com/office/drawing/2014/main" id="{0F2E30D4-6F86-49D1-9276-85CE0E9B3E3E}"/>
              </a:ext>
            </a:extLst>
          </p:cNvPr>
          <p:cNvSpPr/>
          <p:nvPr/>
        </p:nvSpPr>
        <p:spPr>
          <a:xfrm>
            <a:off x="832513" y="3981897"/>
            <a:ext cx="7328848" cy="576456"/>
          </a:xfrm>
          <a:prstGeom prst="roundRect">
            <a:avLst/>
          </a:prstGeom>
          <a:solidFill>
            <a:srgbClr val="CF2F33"/>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Times New Roman" panose="02020603050405020304" pitchFamily="18" charset="0"/>
                <a:cs typeface="Times New Roman" panose="02020603050405020304" pitchFamily="18" charset="0"/>
              </a:rPr>
              <a:t>2.What </a:t>
            </a:r>
            <a:r>
              <a:rPr lang="en-US" sz="2400" dirty="0">
                <a:solidFill>
                  <a:schemeClr val="bg1"/>
                </a:solidFill>
                <a:latin typeface="Times New Roman" panose="02020603050405020304" pitchFamily="18" charset="0"/>
                <a:cs typeface="Times New Roman" panose="02020603050405020304" pitchFamily="18" charset="0"/>
              </a:rPr>
              <a:t>is the primary purpose of rotations in AVL Trees?</a:t>
            </a: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 xmlns:a16="http://schemas.microsoft.com/office/drawing/2014/main" id="{0F2E30D4-6F86-49D1-9276-85CE0E9B3E3E}"/>
              </a:ext>
            </a:extLst>
          </p:cNvPr>
          <p:cNvSpPr/>
          <p:nvPr/>
        </p:nvSpPr>
        <p:spPr>
          <a:xfrm>
            <a:off x="832513" y="4759820"/>
            <a:ext cx="7902055" cy="1832049"/>
          </a:xfrm>
          <a:prstGeom prst="roundRect">
            <a:avLst/>
          </a:prstGeom>
          <a:solidFill>
            <a:schemeClr val="accent5">
              <a:lumMod val="75000"/>
            </a:schemeClr>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smtClean="0">
                <a:latin typeface="Times New Roman" panose="02020603050405020304" pitchFamily="18" charset="0"/>
                <a:cs typeface="Times New Roman" panose="02020603050405020304" pitchFamily="18" charset="0"/>
              </a:rPr>
              <a:t>a)To </a:t>
            </a:r>
            <a:r>
              <a:rPr lang="en-US" dirty="0">
                <a:latin typeface="Times New Roman" panose="02020603050405020304" pitchFamily="18" charset="0"/>
                <a:cs typeface="Times New Roman" panose="02020603050405020304" pitchFamily="18" charset="0"/>
              </a:rPr>
              <a:t>increase the overall height of the tree.</a:t>
            </a:r>
          </a:p>
          <a:p>
            <a:pPr>
              <a:lnSpc>
                <a:spcPct val="150000"/>
              </a:lnSpc>
            </a:pPr>
            <a:r>
              <a:rPr lang="en-US" dirty="0" smtClean="0">
                <a:latin typeface="Times New Roman" panose="02020603050405020304" pitchFamily="18" charset="0"/>
                <a:cs typeface="Times New Roman" panose="02020603050405020304" pitchFamily="18" charset="0"/>
              </a:rPr>
              <a:t>b)To </a:t>
            </a:r>
            <a:r>
              <a:rPr lang="en-US" dirty="0">
                <a:latin typeface="Times New Roman" panose="02020603050405020304" pitchFamily="18" charset="0"/>
                <a:cs typeface="Times New Roman" panose="02020603050405020304" pitchFamily="18" charset="0"/>
              </a:rPr>
              <a:t>maintain a balanced structure and ensure efficient operations.</a:t>
            </a:r>
          </a:p>
          <a:p>
            <a:pPr>
              <a:lnSpc>
                <a:spcPct val="150000"/>
              </a:lnSpc>
            </a:pPr>
            <a:r>
              <a:rPr lang="en-US" dirty="0" smtClean="0">
                <a:latin typeface="Times New Roman" panose="02020603050405020304" pitchFamily="18" charset="0"/>
                <a:cs typeface="Times New Roman" panose="02020603050405020304" pitchFamily="18" charset="0"/>
              </a:rPr>
              <a:t>c)To </a:t>
            </a:r>
            <a:r>
              <a:rPr lang="en-US" dirty="0">
                <a:latin typeface="Times New Roman" panose="02020603050405020304" pitchFamily="18" charset="0"/>
                <a:cs typeface="Times New Roman" panose="02020603050405020304" pitchFamily="18" charset="0"/>
              </a:rPr>
              <a:t>create a perfectly symmetrical tree shape.</a:t>
            </a:r>
          </a:p>
          <a:p>
            <a:pPr>
              <a:lnSpc>
                <a:spcPct val="150000"/>
              </a:lnSpc>
            </a:pPr>
            <a:r>
              <a:rPr lang="en-US" dirty="0" smtClean="0">
                <a:latin typeface="Times New Roman" panose="02020603050405020304" pitchFamily="18" charset="0"/>
                <a:cs typeface="Times New Roman" panose="02020603050405020304" pitchFamily="18" charset="0"/>
              </a:rPr>
              <a:t>d)To </a:t>
            </a:r>
            <a:r>
              <a:rPr lang="en-US" dirty="0">
                <a:latin typeface="Times New Roman" panose="02020603050405020304" pitchFamily="18" charset="0"/>
                <a:cs typeface="Times New Roman" panose="02020603050405020304" pitchFamily="18" charset="0"/>
              </a:rPr>
              <a:t>sort the nodes in ascending or descending order.</a:t>
            </a:r>
            <a:endParaRPr lang="en-US" sz="3200" dirty="0">
              <a:latin typeface="Times New Roman" panose="02020603050405020304" pitchFamily="18" charset="0"/>
              <a:cs typeface="Times New Roman" panose="02020603050405020304" pitchFamily="18" charset="0"/>
            </a:endParaRPr>
          </a:p>
        </p:txBody>
      </p:sp>
      <p:pic>
        <p:nvPicPr>
          <p:cNvPr id="11" name="Picture 2" descr="KL Deemed to be University Logo"/>
          <p:cNvPicPr>
            <a:picLocks noChangeAspect="1" noChangeArrowheads="1"/>
          </p:cNvPicPr>
          <p:nvPr/>
        </p:nvPicPr>
        <p:blipFill>
          <a:blip r:embed="rId2"/>
          <a:srcRect/>
          <a:stretch>
            <a:fillRect/>
          </a:stretch>
        </p:blipFill>
        <p:spPr bwMode="auto">
          <a:xfrm>
            <a:off x="163773" y="94783"/>
            <a:ext cx="1990725" cy="600076"/>
          </a:xfrm>
          <a:prstGeom prst="rect">
            <a:avLst/>
          </a:prstGeom>
          <a:noFill/>
        </p:spPr>
      </p:pic>
    </p:spTree>
    <p:extLst>
      <p:ext uri="{BB962C8B-B14F-4D97-AF65-F5344CB8AC3E}">
        <p14:creationId xmlns:p14="http://schemas.microsoft.com/office/powerpoint/2010/main" val="3673951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 xmlns:a16="http://schemas.microsoft.com/office/drawing/2014/main" id="{ED7FD29D-BBDE-078E-D487-E57247CDB50D}"/>
              </a:ext>
            </a:extLst>
          </p:cNvPr>
          <p:cNvSpPr/>
          <p:nvPr/>
        </p:nvSpPr>
        <p:spPr>
          <a:xfrm>
            <a:off x="2756848" y="94783"/>
            <a:ext cx="7028597"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latin typeface="Times New Roman" panose="02020603050405020304" pitchFamily="18" charset="0"/>
                <a:cs typeface="Times New Roman" panose="02020603050405020304" pitchFamily="18" charset="0"/>
              </a:rPr>
              <a:t>TERMINAL QUESTIONS</a:t>
            </a:r>
            <a:endParaRPr lang="en-US" sz="3200" dirty="0">
              <a:latin typeface="Times New Roman" panose="02020603050405020304" pitchFamily="18" charset="0"/>
              <a:cs typeface="Times New Roman" panose="02020603050405020304" pitchFamily="18" charset="0"/>
            </a:endParaRPr>
          </a:p>
        </p:txBody>
      </p:sp>
      <p:pic>
        <p:nvPicPr>
          <p:cNvPr id="3" name="Picture 2" descr="KL Deemed to be University Logo"/>
          <p:cNvPicPr>
            <a:picLocks noChangeAspect="1" noChangeArrowheads="1"/>
          </p:cNvPicPr>
          <p:nvPr/>
        </p:nvPicPr>
        <p:blipFill>
          <a:blip r:embed="rId2"/>
          <a:srcRect/>
          <a:stretch>
            <a:fillRect/>
          </a:stretch>
        </p:blipFill>
        <p:spPr bwMode="auto">
          <a:xfrm>
            <a:off x="163773" y="94783"/>
            <a:ext cx="1990725" cy="600076"/>
          </a:xfrm>
          <a:prstGeom prst="rect">
            <a:avLst/>
          </a:prstGeom>
          <a:noFill/>
        </p:spPr>
      </p:pic>
      <p:sp>
        <p:nvSpPr>
          <p:cNvPr id="4" name="Rectangle 3"/>
          <p:cNvSpPr/>
          <p:nvPr/>
        </p:nvSpPr>
        <p:spPr>
          <a:xfrm>
            <a:off x="518615" y="1351129"/>
            <a:ext cx="11150221" cy="5355312"/>
          </a:xfrm>
          <a:prstGeom prst="rect">
            <a:avLst/>
          </a:prstGeom>
        </p:spPr>
        <p:txBody>
          <a:bodyPr wrap="square">
            <a:spAutoFit/>
          </a:bodyPr>
          <a:lstStyle/>
          <a:p>
            <a:pPr marL="342900" indent="-342900">
              <a:lnSpc>
                <a:spcPct val="250000"/>
              </a:lnSpc>
              <a:buAutoNum type="arabicPeriod"/>
            </a:pPr>
            <a:r>
              <a:rPr lang="en-US" dirty="0">
                <a:latin typeface="Times New Roman" panose="02020603050405020304" pitchFamily="18" charset="0"/>
                <a:cs typeface="Times New Roman" panose="02020603050405020304" pitchFamily="18" charset="0"/>
              </a:rPr>
              <a:t>Describe About AVL Trees</a:t>
            </a:r>
            <a:r>
              <a:rPr lang="en-US" dirty="0" smtClean="0">
                <a:latin typeface="Times New Roman" panose="02020603050405020304" pitchFamily="18" charset="0"/>
                <a:cs typeface="Times New Roman" panose="02020603050405020304" pitchFamily="18" charset="0"/>
              </a:rPr>
              <a:t>?</a:t>
            </a:r>
          </a:p>
          <a:p>
            <a:pPr marL="342900" indent="-342900">
              <a:lnSpc>
                <a:spcPct val="250000"/>
              </a:lnSpc>
              <a:buFontTx/>
              <a:buAutoNum type="arabicPeriod"/>
            </a:pPr>
            <a:r>
              <a:rPr lang="en-US" dirty="0">
                <a:latin typeface="Times New Roman" panose="02020603050405020304" pitchFamily="18" charset="0"/>
                <a:cs typeface="Times New Roman" panose="02020603050405020304" pitchFamily="18" charset="0"/>
              </a:rPr>
              <a:t>Explain the concept of balance factor in an AVL tree. What are the acceptable values for a node's balance factor</a:t>
            </a:r>
            <a:r>
              <a:rPr lang="en-US" dirty="0" smtClean="0">
                <a:latin typeface="Times New Roman" panose="02020603050405020304" pitchFamily="18" charset="0"/>
                <a:cs typeface="Times New Roman" panose="02020603050405020304" pitchFamily="18" charset="0"/>
              </a:rPr>
              <a:t>?</a:t>
            </a:r>
          </a:p>
          <a:p>
            <a:pPr marL="342900" indent="-342900">
              <a:lnSpc>
                <a:spcPct val="250000"/>
              </a:lnSpc>
              <a:buFontTx/>
              <a:buAutoNum type="arabicPeriod"/>
            </a:pPr>
            <a:r>
              <a:rPr lang="en-US" dirty="0">
                <a:latin typeface="Times New Roman" panose="02020603050405020304" pitchFamily="18" charset="0"/>
                <a:cs typeface="Times New Roman" panose="02020603050405020304" pitchFamily="18" charset="0"/>
              </a:rPr>
              <a:t>Describe the four different types of rotations in an AVL tree (left, right, double left, double right). When is each type of rotation used?</a:t>
            </a:r>
          </a:p>
          <a:p>
            <a:pPr marL="342900" indent="-342900">
              <a:lnSpc>
                <a:spcPct val="250000"/>
              </a:lnSpc>
              <a:buFontTx/>
              <a:buAutoNum type="arabicPeriod"/>
            </a:pPr>
            <a:r>
              <a:rPr lang="en-US" dirty="0">
                <a:latin typeface="Times New Roman" panose="02020603050405020304" pitchFamily="18" charset="0"/>
                <a:cs typeface="Times New Roman" panose="02020603050405020304" pitchFamily="18" charset="0"/>
              </a:rPr>
              <a:t>Given a sequence of elements, construct an AVL tree by inserting them one by one. Explain your choices for insertion order and justify any performed rotations.</a:t>
            </a:r>
          </a:p>
          <a:p>
            <a:pPr>
              <a:lnSpc>
                <a:spcPct val="200000"/>
              </a:lnSpc>
            </a:pPr>
            <a:endParaRPr lang="en-US" dirty="0"/>
          </a:p>
          <a:p>
            <a:pPr marL="342900" indent="-342900">
              <a:lnSpc>
                <a:spcPct val="200000"/>
              </a:lnSpc>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53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34" y="504967"/>
            <a:ext cx="12096466" cy="4524315"/>
          </a:xfrm>
          <a:prstGeom prst="rect">
            <a:avLst/>
          </a:prstGeom>
        </p:spPr>
        <p:txBody>
          <a:bodyPr wrap="square">
            <a:spAutoFit/>
          </a:bodyPr>
          <a:lstStyle/>
          <a:p>
            <a:pPr>
              <a:lnSpc>
                <a:spcPct val="150000"/>
              </a:lnSpc>
            </a:pPr>
            <a:endParaRPr lang="en-US" sz="2400" b="1" dirty="0" smtClean="0"/>
          </a:p>
          <a:p>
            <a:pPr>
              <a:lnSpc>
                <a:spcPct val="150000"/>
              </a:lnSpc>
            </a:pPr>
            <a:endParaRPr lang="en-US" sz="2400" b="1" dirty="0"/>
          </a:p>
          <a:p>
            <a:pPr>
              <a:lnSpc>
                <a:spcPct val="150000"/>
              </a:lnSpc>
            </a:pPr>
            <a:r>
              <a:rPr lang="en-US" sz="2400" b="1" dirty="0" smtClean="0"/>
              <a:t>Reference </a:t>
            </a:r>
            <a:r>
              <a:rPr lang="en-US" sz="2400" b="1" dirty="0"/>
              <a:t>Books:</a:t>
            </a:r>
            <a:endParaRPr lang="en-US" sz="2400" dirty="0"/>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endParaRPr lang="en-US" b="1" dirty="0"/>
          </a:p>
          <a:p>
            <a:pPr>
              <a:lnSpc>
                <a:spcPct val="150000"/>
              </a:lnSpc>
            </a:pPr>
            <a:r>
              <a:rPr lang="en-US" sz="2400" b="1" dirty="0"/>
              <a:t>Sites and Web links</a:t>
            </a:r>
            <a:r>
              <a:rPr lang="en-US" sz="2400" b="1" dirty="0" smtClean="0"/>
              <a:t>:</a:t>
            </a:r>
            <a:endParaRPr lang="en-US" sz="2400" b="1" dirty="0"/>
          </a:p>
          <a:p>
            <a:pPr lvl="0"/>
            <a:r>
              <a:rPr lang="en-US" dirty="0"/>
              <a:t>1.</a:t>
            </a:r>
            <a:r>
              <a:rPr lang="en-US" dirty="0">
                <a:hlinkClick r:id="rId2"/>
              </a:rPr>
              <a:t> </a:t>
            </a:r>
            <a:r>
              <a:rPr lang="en-US" u="sng" dirty="0">
                <a:hlinkClick r:id="rId3"/>
              </a:rPr>
              <a:t>https://docs.python.org/3/tutorial/datastructures.html</a:t>
            </a:r>
            <a:endParaRPr lang="en-US" dirty="0"/>
          </a:p>
          <a:p>
            <a:pPr lvl="0"/>
            <a:r>
              <a:rPr lang="en-US" u="sng" dirty="0" smtClean="0">
                <a:hlinkClick r:id="rId4"/>
              </a:rPr>
              <a:t>2. https</a:t>
            </a:r>
            <a:r>
              <a:rPr lang="en-US" u="sng" dirty="0">
                <a:hlinkClick r:id="rId4"/>
              </a:rPr>
              <a:t>://www.w3schools.com/dsa/dsa_intro.php</a:t>
            </a:r>
            <a:endParaRPr lang="en-US" dirty="0"/>
          </a:p>
          <a:p>
            <a:r>
              <a:rPr lang="en-US" u="sng" dirty="0" smtClean="0">
                <a:hlinkClick r:id="rId5"/>
              </a:rPr>
              <a:t>3. https</a:t>
            </a:r>
            <a:r>
              <a:rPr lang="en-US" u="sng" dirty="0">
                <a:hlinkClick r:id="rId5"/>
              </a:rPr>
              <a:t>://www.geeksforgeeks.org/python-data-structures/</a:t>
            </a:r>
            <a:endParaRPr lang="en-US" dirty="0"/>
          </a:p>
        </p:txBody>
      </p:sp>
      <p:sp>
        <p:nvSpPr>
          <p:cNvPr id="3" name="Rounded Rectangle 17">
            <a:extLst>
              <a:ext uri="{FF2B5EF4-FFF2-40B4-BE49-F238E27FC236}">
                <a16:creationId xmlns="" xmlns:a16="http://schemas.microsoft.com/office/drawing/2014/main" id="{ED7FD29D-BBDE-078E-D487-E57247CDB50D}"/>
              </a:ext>
            </a:extLst>
          </p:cNvPr>
          <p:cNvSpPr/>
          <p:nvPr/>
        </p:nvSpPr>
        <p:spPr>
          <a:xfrm>
            <a:off x="2347415" y="94783"/>
            <a:ext cx="8843749" cy="72408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400" dirty="0">
                <a:solidFill>
                  <a:prstClr val="white"/>
                </a:solidFill>
                <a:latin typeface="Times New Roman" panose="02020603050405020304" pitchFamily="18" charset="0"/>
                <a:cs typeface="Times New Roman" panose="02020603050405020304" pitchFamily="18" charset="0"/>
              </a:rPr>
              <a:t>REFERENCES FOR FURTHER LEARNING OF THE SESSION</a:t>
            </a:r>
          </a:p>
        </p:txBody>
      </p:sp>
      <p:pic>
        <p:nvPicPr>
          <p:cNvPr id="4" name="Picture 2" descr="KL Deemed to be University Logo"/>
          <p:cNvPicPr>
            <a:picLocks noChangeAspect="1" noChangeArrowheads="1"/>
          </p:cNvPicPr>
          <p:nvPr/>
        </p:nvPicPr>
        <p:blipFill>
          <a:blip r:embed="rId6"/>
          <a:srcRect/>
          <a:stretch>
            <a:fillRect/>
          </a:stretch>
        </p:blipFill>
        <p:spPr bwMode="auto">
          <a:xfrm>
            <a:off x="163773" y="94783"/>
            <a:ext cx="1990725" cy="600076"/>
          </a:xfrm>
          <a:prstGeom prst="rect">
            <a:avLst/>
          </a:prstGeom>
          <a:noFill/>
        </p:spPr>
      </p:pic>
    </p:spTree>
    <p:extLst>
      <p:ext uri="{BB962C8B-B14F-4D97-AF65-F5344CB8AC3E}">
        <p14:creationId xmlns:p14="http://schemas.microsoft.com/office/powerpoint/2010/main" val="2222597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6040" y="1463040"/>
            <a:ext cx="7916594" cy="3277771"/>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endParaRPr lang="en-US" sz="3200" b="1" dirty="0" smtClean="0">
              <a:latin typeface="Poppins" pitchFamily="2" charset="77"/>
              <a:cs typeface="Poppins" pitchFamily="2" charset="77"/>
            </a:endParaRPr>
          </a:p>
          <a:p>
            <a:pPr algn="ctr"/>
            <a:r>
              <a:rPr lang="en-US" sz="3200" b="1" dirty="0" smtClean="0">
                <a:latin typeface="Poppins" pitchFamily="2" charset="77"/>
                <a:cs typeface="Poppins" pitchFamily="2" charset="77"/>
              </a:rPr>
              <a:t>THANK </a:t>
            </a:r>
            <a:r>
              <a:rPr lang="en-US" sz="3200" b="1" dirty="0">
                <a:latin typeface="Poppins" pitchFamily="2" charset="77"/>
                <a:cs typeface="Poppins" pitchFamily="2" charset="77"/>
              </a:rPr>
              <a:t>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3600" b="1" dirty="0" smtClean="0">
              <a:latin typeface="Poppins" pitchFamily="2" charset="77"/>
              <a:cs typeface="Poppins" pitchFamily="2" charset="77"/>
            </a:endParaRPr>
          </a:p>
          <a:p>
            <a:pPr algn="ctr"/>
            <a:r>
              <a:rPr lang="en-US" sz="3600" b="1" dirty="0" smtClean="0">
                <a:latin typeface="Poppins" pitchFamily="2" charset="77"/>
                <a:cs typeface="Poppins" pitchFamily="2" charset="77"/>
              </a:rPr>
              <a:t>Team </a:t>
            </a:r>
            <a:r>
              <a:rPr lang="en-US" sz="3600" b="1" dirty="0">
                <a:latin typeface="Poppins" pitchFamily="2" charset="77"/>
                <a:cs typeface="Poppins" pitchFamily="2" charset="77"/>
              </a:rPr>
              <a:t>– Data </a:t>
            </a:r>
            <a:r>
              <a:rPr lang="en-US" sz="3600" b="1" dirty="0" smtClean="0">
                <a:latin typeface="Poppins" pitchFamily="2" charset="77"/>
                <a:cs typeface="Poppins" pitchFamily="2" charset="77"/>
              </a:rPr>
              <a:t>Structures through Python</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purl.org/dc/terms/"/>
    <ds:schemaRef ds:uri="http://purl.org/dc/dcmitype/"/>
    <ds:schemaRef ds:uri="http://schemas.openxmlformats.org/package/2006/metadata/core-properties"/>
    <ds:schemaRef ds:uri="0125a647-8023-46ae-ae6e-85cf36d841bd"/>
    <ds:schemaRef ds:uri="d43ee83c-3e71-4748-8ebc-8eaadf793425"/>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2697</TotalTime>
  <Words>986</Words>
  <Application>Microsoft Office PowerPoint</Application>
  <PresentationFormat>Widescreen</PresentationFormat>
  <Paragraphs>165</Paragraphs>
  <Slides>17</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BioRhyme ExtraBold</vt:lpstr>
      <vt:lpstr>Calibri</vt:lpstr>
      <vt:lpstr>Calibri Light</vt:lpstr>
      <vt:lpstr>Cambria</vt:lpstr>
      <vt:lpstr>inter-regular</vt:lpstr>
      <vt:lpstr>Muli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117</cp:revision>
  <dcterms:created xsi:type="dcterms:W3CDTF">2020-02-08T09:57:44Z</dcterms:created>
  <dcterms:modified xsi:type="dcterms:W3CDTF">2024-12-13T07:39:09Z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