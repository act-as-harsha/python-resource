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1"/>
  </p:notesMasterIdLst>
  <p:sldIdLst>
    <p:sldId id="271" r:id="rId5"/>
    <p:sldId id="300" r:id="rId6"/>
    <p:sldId id="258" r:id="rId7"/>
    <p:sldId id="288" r:id="rId8"/>
    <p:sldId id="290" r:id="rId9"/>
    <p:sldId id="305" r:id="rId10"/>
    <p:sldId id="306" r:id="rId11"/>
    <p:sldId id="318" r:id="rId12"/>
    <p:sldId id="319" r:id="rId13"/>
    <p:sldId id="317" r:id="rId14"/>
    <p:sldId id="320" r:id="rId15"/>
    <p:sldId id="321" r:id="rId16"/>
    <p:sldId id="307" r:id="rId17"/>
    <p:sldId id="308" r:id="rId18"/>
    <p:sldId id="309" r:id="rId19"/>
    <p:sldId id="310" r:id="rId20"/>
    <p:sldId id="287" r:id="rId21"/>
    <p:sldId id="322" r:id="rId22"/>
    <p:sldId id="301" r:id="rId23"/>
    <p:sldId id="313" r:id="rId24"/>
    <p:sldId id="314" r:id="rId25"/>
    <p:sldId id="315" r:id="rId26"/>
    <p:sldId id="316" r:id="rId27"/>
    <p:sldId id="302" r:id="rId28"/>
    <p:sldId id="303" r:id="rId29"/>
    <p:sldId id="30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CF4"/>
    <a:srgbClr val="FF9900"/>
    <a:srgbClr val="E84845"/>
    <a:srgbClr val="FAD2D2"/>
    <a:srgbClr val="F89E4C"/>
    <a:srgbClr val="A81E24"/>
    <a:srgbClr val="FFF2CC"/>
    <a:srgbClr val="CF2F33"/>
    <a:srgbClr val="BA2532"/>
    <a:srgbClr val="E3293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44340-2984-A275-3E87-CBF64B6EFCB7}" v="4" dt="2023-12-28T07:25:59.396"/>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0"/>
    <p:restoredTop sz="94689"/>
  </p:normalViewPr>
  <p:slideViewPr>
    <p:cSldViewPr snapToGrid="0">
      <p:cViewPr varScale="1">
        <p:scale>
          <a:sx n="61" d="100"/>
          <a:sy n="61" d="100"/>
        </p:scale>
        <p:origin x="-760" y="-5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ANUSHA" userId="S::anushaaa9@kluniversity.in::31576902-587f-4416-b184-62b5dd11a3e8" providerId="AD" clId="Web-{B9044340-2984-A275-3E87-CBF64B6EFCB7}"/>
    <pc:docChg chg="modSld">
      <pc:chgData name="M ANUSHA" userId="S::anushaaa9@kluniversity.in::31576902-587f-4416-b184-62b5dd11a3e8" providerId="AD" clId="Web-{B9044340-2984-A275-3E87-CBF64B6EFCB7}" dt="2023-12-28T07:25:59.396" v="3" actId="20577"/>
      <pc:docMkLst>
        <pc:docMk/>
      </pc:docMkLst>
      <pc:sldChg chg="modSp">
        <pc:chgData name="M ANUSHA" userId="S::anushaaa9@kluniversity.in::31576902-587f-4416-b184-62b5dd11a3e8" providerId="AD" clId="Web-{B9044340-2984-A275-3E87-CBF64B6EFCB7}" dt="2023-12-28T07:25:59.396" v="3" actId="20577"/>
        <pc:sldMkLst>
          <pc:docMk/>
          <pc:sldMk cId="0" sldId="271"/>
        </pc:sldMkLst>
        <pc:spChg chg="mod">
          <ac:chgData name="M ANUSHA" userId="S::anushaaa9@kluniversity.in::31576902-587f-4416-b184-62b5dd11a3e8" providerId="AD" clId="Web-{B9044340-2984-A275-3E87-CBF64B6EFCB7}" dt="2023-12-28T07:25:59.396" v="3" actId="20577"/>
          <ac:spMkLst>
            <pc:docMk/>
            <pc:sldMk cId="0" sldId="271"/>
            <ac:spMk id="8" creationId="{7153E61F-4441-DBE3-3DFF-6E9EF6C48D2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13</a:t>
            </a:fld>
            <a:endParaRPr lang="en-US"/>
          </a:p>
        </p:txBody>
      </p:sp>
    </p:spTree>
    <p:extLst>
      <p:ext uri="{BB962C8B-B14F-4D97-AF65-F5344CB8AC3E}">
        <p14:creationId xmlns="" xmlns:p14="http://schemas.microsoft.com/office/powerpoint/2010/main" val="225042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pPr/>
              <a:t>19</a:t>
            </a:fld>
            <a:endParaRPr lang="en-US"/>
          </a:p>
        </p:txBody>
      </p:sp>
    </p:spTree>
    <p:extLst>
      <p:ext uri="{BB962C8B-B14F-4D97-AF65-F5344CB8AC3E}">
        <p14:creationId xmlns="" xmlns:p14="http://schemas.microsoft.com/office/powerpoint/2010/main" val="66416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hyperlink" Target="http://greenteapress.com/wp/thinkpython/"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geeksforgeeks.org/python-data-structures/" TargetMode="External"/><Relationship Id="rId4" Type="http://schemas.openxmlformats.org/officeDocument/2006/relationships/hyperlink" Target="https://www.w3schools.com/dsa/dsa_intro.php"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677616"/>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DATA STRUTURES </a:t>
            </a: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24SC1204</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800" b="1" dirty="0">
                <a:solidFill>
                  <a:srgbClr val="FF0000"/>
                </a:solidFill>
                <a:ea typeface="BioRhyme ExtraBold"/>
                <a:cs typeface="Poppins" panose="00000500000000000000" pitchFamily="2" charset="0"/>
                <a:sym typeface="BioRhyme ExtraBold"/>
              </a:rPr>
              <a:t>Topic:</a:t>
            </a:r>
          </a:p>
          <a:p>
            <a:pPr marR="0" lvl="0" indent="0" algn="ctr">
              <a:spcBef>
                <a:spcPts val="0"/>
              </a:spcBef>
              <a:spcAft>
                <a:spcPts val="0"/>
              </a:spcAft>
              <a:buNone/>
            </a:pPr>
            <a:r>
              <a:rPr lang="en-US" sz="2800" b="1" dirty="0" smtClean="0">
                <a:solidFill>
                  <a:srgbClr val="FF0000"/>
                </a:solidFill>
                <a:ea typeface="BioRhyme ExtraBold"/>
                <a:cs typeface="Poppins" panose="00000500000000000000" pitchFamily="2" charset="0"/>
                <a:sym typeface="BioRhyme ExtraBold"/>
              </a:rPr>
              <a:t>BINARY HEAP, HEAP SORT ANAYSIS &amp; IMPLEMENTATION</a:t>
            </a:r>
            <a:endParaRPr lang="en-US" sz="2800" b="1" dirty="0">
              <a:solidFill>
                <a:srgbClr val="FF0000"/>
              </a:solidFill>
              <a:ea typeface="BioRhyme ExtraBold"/>
              <a:cs typeface="Poppins" panose="00000500000000000000" pitchFamily="2" charset="0"/>
              <a:sym typeface="BioRhyme ExtraBold"/>
            </a:endParaRPr>
          </a:p>
        </p:txBody>
      </p:sp>
      <p:sp>
        <p:nvSpPr>
          <p:cNvPr id="19" name="Rectangle: Rounded Corners 18">
            <a:extLst>
              <a:ext uri="{FF2B5EF4-FFF2-40B4-BE49-F238E27FC236}">
                <a16:creationId xmlns=""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p>
        </p:txBody>
      </p:sp>
      <p:sp>
        <p:nvSpPr>
          <p:cNvPr id="8" name="Google Shape;502;p17">
            <a:extLst>
              <a:ext uri="{FF2B5EF4-FFF2-40B4-BE49-F238E27FC236}">
                <a16:creationId xmlns=""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a:sym typeface="Calibri"/>
              </a:rPr>
              <a:t>Session - </a:t>
            </a:r>
            <a:r>
              <a:rPr lang="en-US" sz="2400" dirty="0" smtClean="0">
                <a:solidFill>
                  <a:schemeClr val="lt1"/>
                </a:solidFill>
                <a:ea typeface="Calibri"/>
                <a:cs typeface="Poppins"/>
                <a:sym typeface="Calibri"/>
              </a:rPr>
              <a:t>31</a:t>
            </a:r>
            <a:endParaRPr sz="2400" dirty="0">
              <a:solidFill>
                <a:schemeClr val="lt1"/>
              </a:solidFill>
              <a:ea typeface="Calibri"/>
              <a:cs typeface="Poppins"/>
              <a:sym typeface="Calibri"/>
            </a:endParaRPr>
          </a:p>
        </p:txBody>
      </p:sp>
      <p:sp>
        <p:nvSpPr>
          <p:cNvPr id="33" name="Rectangle 32">
            <a:extLst>
              <a:ext uri="{FF2B5EF4-FFF2-40B4-BE49-F238E27FC236}">
                <a16:creationId xmlns=""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 xmlns:a16="http://schemas.microsoft.com/office/drawing/2014/main" id="{D7C61438-200D-827A-D4DD-5B5127AFA187}"/>
              </a:ext>
            </a:extLst>
          </p:cNvPr>
          <p:cNvSpPr txBox="1"/>
          <p:nvPr/>
        </p:nvSpPr>
        <p:spPr>
          <a:xfrm>
            <a:off x="1371600" y="733044"/>
            <a:ext cx="10731286" cy="1200329"/>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2400" b="0" i="0" dirty="0">
                <a:effectLst/>
                <a:latin typeface="Times New Roman" panose="02020603050405020304" pitchFamily="18" charset="0"/>
                <a:cs typeface="Times New Roman" panose="02020603050405020304" pitchFamily="18" charset="0"/>
              </a:rPr>
              <a:t>To familiarize students with the basic concept </a:t>
            </a:r>
            <a:r>
              <a:rPr lang="en-US" sz="2400" b="0" i="0" dirty="0" smtClean="0">
                <a:effectLst/>
                <a:latin typeface="Times New Roman" panose="02020603050405020304" pitchFamily="18" charset="0"/>
                <a:cs typeface="Times New Roman" panose="02020603050405020304" pitchFamily="18" charset="0"/>
              </a:rPr>
              <a:t>of Binary ,Heap </a:t>
            </a:r>
            <a:r>
              <a:rPr lang="en-US" sz="2400" dirty="0">
                <a:latin typeface="Times New Roman" panose="02020603050405020304" pitchFamily="18" charset="0"/>
                <a:cs typeface="Times New Roman" panose="02020603050405020304" pitchFamily="18" charset="0"/>
              </a:rPr>
              <a:t>heap sort and its implementation</a:t>
            </a:r>
            <a:endParaRPr lang="en-US" sz="2400" b="0" i="0" dirty="0">
              <a:effectLst/>
              <a:latin typeface="Times New Roman" panose="02020603050405020304" pitchFamily="18" charset="0"/>
              <a:cs typeface="Times New Roman" panose="02020603050405020304" pitchFamily="18" charset="0"/>
            </a:endParaRP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 xmlns:a16="http://schemas.microsoft.com/office/drawing/2014/main" id="{2B5EAD4E-C007-9DE7-A40A-12802D3C9611}"/>
              </a:ext>
            </a:extLst>
          </p:cNvPr>
          <p:cNvSpPr txBox="1"/>
          <p:nvPr/>
        </p:nvSpPr>
        <p:spPr>
          <a:xfrm>
            <a:off x="1752600" y="2438605"/>
            <a:ext cx="8791575" cy="147732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dirty="0">
                <a:latin typeface="Times New Roman" panose="02020603050405020304" pitchFamily="18" charset="0"/>
                <a:cs typeface="Times New Roman" panose="02020603050405020304" pitchFamily="18" charset="0"/>
              </a:rPr>
              <a:t>This</a:t>
            </a:r>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Session</a:t>
            </a:r>
            <a:r>
              <a:rPr lang="en-US" b="0" i="0" dirty="0">
                <a:effectLst/>
                <a:latin typeface="Times New Roman" panose="02020603050405020304" pitchFamily="18" charset="0"/>
                <a:cs typeface="Times New Roman" panose="02020603050405020304" pitchFamily="18" charset="0"/>
              </a:rPr>
              <a:t> is designed to:</a:t>
            </a:r>
          </a:p>
          <a:p>
            <a:pPr marL="342900" indent="-342900">
              <a:buAutoNum type="arabicPeriod"/>
            </a:pPr>
            <a:r>
              <a:rPr lang="en-US" b="0" i="0" dirty="0">
                <a:effectLst/>
                <a:latin typeface="Times New Roman" panose="02020603050405020304" pitchFamily="18" charset="0"/>
                <a:cs typeface="Times New Roman" panose="02020603050405020304" pitchFamily="18" charset="0"/>
              </a:rPr>
              <a:t>DEMONSTRATE THE </a:t>
            </a:r>
            <a:r>
              <a:rPr lang="en-US" b="0" i="0" dirty="0" smtClean="0">
                <a:effectLst/>
                <a:latin typeface="Times New Roman" panose="02020603050405020304" pitchFamily="18" charset="0"/>
                <a:cs typeface="Times New Roman" panose="02020603050405020304" pitchFamily="18" charset="0"/>
              </a:rPr>
              <a:t> BINARY HEAP, HEAP </a:t>
            </a:r>
            <a:r>
              <a:rPr lang="en-US" b="0" i="0" dirty="0">
                <a:effectLst/>
                <a:latin typeface="Times New Roman" panose="02020603050405020304" pitchFamily="18" charset="0"/>
                <a:cs typeface="Times New Roman" panose="02020603050405020304" pitchFamily="18" charset="0"/>
              </a:rPr>
              <a:t>SORT</a:t>
            </a:r>
          </a:p>
          <a:p>
            <a:pPr marL="342900" indent="-342900">
              <a:buAutoNum type="arabicPeriod"/>
            </a:pPr>
            <a:r>
              <a:rPr lang="en-US" b="0" i="0" dirty="0">
                <a:effectLst/>
                <a:latin typeface="Times New Roman" panose="02020603050405020304" pitchFamily="18" charset="0"/>
                <a:cs typeface="Times New Roman" panose="02020603050405020304" pitchFamily="18" charset="0"/>
              </a:rPr>
              <a:t>DESCRIBE THE HEAPIFYING</a:t>
            </a:r>
          </a:p>
          <a:p>
            <a:pPr marL="342900" indent="-342900">
              <a:buAutoNum type="arabicPeriod"/>
            </a:pPr>
            <a:r>
              <a:rPr lang="en-US" b="0" i="0" dirty="0">
                <a:effectLst/>
                <a:latin typeface="Times New Roman" panose="02020603050405020304" pitchFamily="18" charset="0"/>
                <a:cs typeface="Times New Roman" panose="02020603050405020304" pitchFamily="18" charset="0"/>
              </a:rPr>
              <a:t>LIST OUT THE TYPES OF HEAPIFYING</a:t>
            </a:r>
          </a:p>
        </p:txBody>
      </p:sp>
      <p:pic>
        <p:nvPicPr>
          <p:cNvPr id="11"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 xmlns:a16="http://schemas.microsoft.com/office/drawing/2014/main" id="{B0BB8E68-8B73-12DE-615E-1091F19A9A9A}"/>
              </a:ext>
            </a:extLst>
          </p:cNvPr>
          <p:cNvSpPr txBox="1"/>
          <p:nvPr/>
        </p:nvSpPr>
        <p:spPr>
          <a:xfrm>
            <a:off x="1752600" y="4772230"/>
            <a:ext cx="8791575" cy="147732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b="0" i="0" dirty="0">
                <a:effectLst/>
                <a:latin typeface="Times New Roman" panose="02020603050405020304" pitchFamily="18" charset="0"/>
                <a:cs typeface="Times New Roman" panose="02020603050405020304" pitchFamily="18" charset="0"/>
              </a:rPr>
              <a:t>At the end of this </a:t>
            </a:r>
            <a:r>
              <a:rPr lang="en-US" dirty="0">
                <a:latin typeface="Times New Roman" panose="02020603050405020304" pitchFamily="18" charset="0"/>
                <a:cs typeface="Times New Roman" panose="02020603050405020304" pitchFamily="18" charset="0"/>
              </a:rPr>
              <a:t>session</a:t>
            </a:r>
            <a:r>
              <a:rPr lang="en-US" b="0" i="0" dirty="0">
                <a:effectLst/>
                <a:latin typeface="Times New Roman" panose="02020603050405020304" pitchFamily="18" charset="0"/>
                <a:cs typeface="Times New Roman" panose="02020603050405020304" pitchFamily="18" charset="0"/>
              </a:rPr>
              <a:t>, you should be able to:</a:t>
            </a:r>
          </a:p>
          <a:p>
            <a:pPr marL="342900" indent="-342900">
              <a:buAutoNum type="arabicPeriod"/>
            </a:pPr>
            <a:r>
              <a:rPr lang="en-US" b="0" i="0" dirty="0">
                <a:effectLst/>
                <a:latin typeface="Times New Roman" panose="02020603050405020304" pitchFamily="18" charset="0"/>
                <a:cs typeface="Times New Roman" panose="02020603050405020304" pitchFamily="18" charset="0"/>
              </a:rPr>
              <a:t>DEFINE MAX HEAP AND MIN HEAP</a:t>
            </a:r>
          </a:p>
          <a:p>
            <a:pPr marL="342900" indent="-342900">
              <a:buAutoNum type="arabicPeriod"/>
            </a:pPr>
            <a:r>
              <a:rPr lang="en-US" b="0" i="0" dirty="0">
                <a:effectLst/>
                <a:latin typeface="Times New Roman" panose="02020603050405020304" pitchFamily="18" charset="0"/>
                <a:cs typeface="Times New Roman" panose="02020603050405020304" pitchFamily="18" charset="0"/>
              </a:rPr>
              <a:t>DESCRIBE HEAPIFYING</a:t>
            </a: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b="0" i="0" dirty="0">
                <a:effectLst/>
                <a:latin typeface="Times New Roman" panose="02020603050405020304" pitchFamily="18" charset="0"/>
                <a:cs typeface="Times New Roman" panose="02020603050405020304" pitchFamily="18" charset="0"/>
              </a:rPr>
              <a:t>SUMMARIZE</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 xmlns:p14="http://schemas.microsoft.com/office/powerpoint/2010/main" val="1388607984"/>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INTRODUCTION TO HEAP SORT</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566057" y="914401"/>
            <a:ext cx="11419114" cy="5262979"/>
          </a:xfrm>
          <a:prstGeom prst="rect">
            <a:avLst/>
          </a:prstGeom>
          <a:noFill/>
        </p:spPr>
        <p:txBody>
          <a:bodyPr wrap="square" rtlCol="0">
            <a:spAutoFit/>
          </a:bodyPr>
          <a:lstStyle/>
          <a:p>
            <a:pPr algn="just"/>
            <a:r>
              <a:rPr lang="en-US" sz="2400" u="sng"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 binary heap is a Complete Binary Tree where items are stored in a special order such that value in a parent node is greater (Max Heap or smaller Min Heap) than the values in its two child nodes.​</a:t>
            </a:r>
          </a:p>
          <a:p>
            <a:pPr algn="just" rtl="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complete binary tree is a binary tree in which all the levels are completely filled except possibly the lowest one, which is filled from the left.​</a:t>
            </a:r>
          </a:p>
          <a:p>
            <a:pPr algn="just" rtl="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Heap divided into two types</a:t>
            </a:r>
          </a:p>
          <a:p>
            <a:pPr algn="just" rtl="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Max heap and min heap</a:t>
            </a:r>
          </a:p>
          <a:p>
            <a:pPr algn="just" rtl="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Max heap is root is large when compared to children.</a:t>
            </a:r>
          </a:p>
          <a:p>
            <a:pPr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Min heap is root is smaller when compared to children.</a:t>
            </a:r>
          </a:p>
          <a:p>
            <a:pPr algn="just"/>
            <a:r>
              <a:rPr lang="en-US" sz="2400" u="sng" dirty="0">
                <a:latin typeface="Times New Roman" panose="02020603050405020304" pitchFamily="18" charset="0"/>
                <a:cs typeface="Times New Roman" panose="02020603050405020304" pitchFamily="18" charset="0"/>
              </a:rPr>
              <a:t>Applications</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 Heaps have an average time complexity of O(log n) for inserting and deleting elements, making them efficient for large datasets.</a:t>
            </a:r>
          </a:p>
          <a:p>
            <a:pPr algn="just"/>
            <a:r>
              <a:rPr lang="en-US" sz="2400" dirty="0">
                <a:latin typeface="Times New Roman" panose="02020603050405020304" pitchFamily="18" charset="0"/>
                <a:cs typeface="Times New Roman" panose="02020603050405020304" pitchFamily="18" charset="0"/>
              </a:rPr>
              <a:t>• Heaps can be implemented as either a max-heap or a min-heap, making them flexible to use for different types of applications, such as priority queues or sorting algorithms.	</a:t>
            </a:r>
          </a:p>
        </p:txBody>
      </p:sp>
    </p:spTree>
    <p:extLst>
      <p:ext uri="{BB962C8B-B14F-4D97-AF65-F5344CB8AC3E}">
        <p14:creationId xmlns="" xmlns:p14="http://schemas.microsoft.com/office/powerpoint/2010/main" val="4069052342"/>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Heap Construction Algorithm</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337457" y="856356"/>
            <a:ext cx="5625111" cy="378565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Step 1: Create a new node at the end of heap.</a:t>
            </a:r>
          </a:p>
          <a:p>
            <a:r>
              <a:rPr lang="en-US" sz="2400" dirty="0">
                <a:latin typeface="Times New Roman" panose="02020603050405020304" pitchFamily="18" charset="0"/>
                <a:cs typeface="Times New Roman" panose="02020603050405020304" pitchFamily="18" charset="0"/>
              </a:rPr>
              <a:t>Step 2: Assign new value to the node.</a:t>
            </a:r>
          </a:p>
          <a:p>
            <a:r>
              <a:rPr lang="en-US" sz="2400" dirty="0">
                <a:latin typeface="Times New Roman" panose="02020603050405020304" pitchFamily="18" charset="0"/>
                <a:cs typeface="Times New Roman" panose="02020603050405020304" pitchFamily="18" charset="0"/>
              </a:rPr>
              <a:t>Step 3: Compare the value of this child node with its parent</a:t>
            </a:r>
          </a:p>
          <a:p>
            <a:r>
              <a:rPr lang="en-US" sz="2400" dirty="0">
                <a:latin typeface="Times New Roman" panose="02020603050405020304" pitchFamily="18" charset="0"/>
                <a:cs typeface="Times New Roman" panose="02020603050405020304" pitchFamily="18" charset="0"/>
              </a:rPr>
              <a:t>Step 4: If value of parent is less than child, then swap them                    </a:t>
            </a:r>
          </a:p>
          <a:p>
            <a:r>
              <a:rPr lang="en-US" sz="2400" dirty="0">
                <a:latin typeface="Times New Roman" panose="02020603050405020304" pitchFamily="18" charset="0"/>
                <a:cs typeface="Times New Roman" panose="02020603050405020304" pitchFamily="18" charset="0"/>
              </a:rPr>
              <a:t>Step 5: Repeat step 3 &amp; 4 until Heap property holds.</a:t>
            </a:r>
          </a:p>
          <a:p>
            <a:endParaRPr lang="en-US" sz="2400" dirty="0">
              <a:latin typeface="Times New Roman" panose="02020603050405020304" pitchFamily="18" charset="0"/>
              <a:cs typeface="Times New Roman" panose="02020603050405020304" pitchFamily="18" charset="0"/>
            </a:endParaRPr>
          </a:p>
        </p:txBody>
      </p:sp>
      <p:pic>
        <p:nvPicPr>
          <p:cNvPr id="1026" name="Picture 2" descr="Heap Sort - Online Government Exam computer all notes | onlinegovtexam.com">
            <a:extLst>
              <a:ext uri="{FF2B5EF4-FFF2-40B4-BE49-F238E27FC236}">
                <a16:creationId xmlns="" xmlns:a16="http://schemas.microsoft.com/office/drawing/2014/main" id="{FBA9DE0A-915B-B343-B31D-88AB7F888BA0}"/>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195694" y="631371"/>
            <a:ext cx="5789477" cy="535577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680355262"/>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Construction of max heap tree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360219" y="1252025"/>
            <a:ext cx="7550726" cy="461665"/>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 xmlns:a16="http://schemas.microsoft.com/office/drawing/2014/main" id="{18D951AE-2DB9-DB5F-6789-4B32B03DEA7B}"/>
              </a:ext>
            </a:extLst>
          </p:cNvPr>
          <p:cNvPicPr>
            <a:picLocks noChangeAspect="1"/>
          </p:cNvPicPr>
          <p:nvPr/>
        </p:nvPicPr>
        <p:blipFill rotWithShape="1">
          <a:blip r:embed="rId3"/>
          <a:srcRect l="26305" t="23720" r="32935" b="17730"/>
          <a:stretch/>
        </p:blipFill>
        <p:spPr>
          <a:xfrm>
            <a:off x="228600" y="733214"/>
            <a:ext cx="11364686" cy="5877898"/>
          </a:xfrm>
          <a:prstGeom prst="rect">
            <a:avLst/>
          </a:prstGeom>
        </p:spPr>
      </p:pic>
    </p:spTree>
    <p:extLst>
      <p:ext uri="{BB962C8B-B14F-4D97-AF65-F5344CB8AC3E}">
        <p14:creationId xmlns="" xmlns:p14="http://schemas.microsoft.com/office/powerpoint/2010/main" val="3385424300"/>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Construction of max heap tree(Cont..)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13" name="Content Placeholder 12">
            <a:extLst>
              <a:ext uri="{FF2B5EF4-FFF2-40B4-BE49-F238E27FC236}">
                <a16:creationId xmlns="" xmlns:a16="http://schemas.microsoft.com/office/drawing/2014/main" id="{B364C04A-F46C-CFFC-02A1-C793B5862DFE}"/>
              </a:ext>
            </a:extLst>
          </p:cNvPr>
          <p:cNvPicPr>
            <a:picLocks noGrp="1" noChangeAspect="1"/>
          </p:cNvPicPr>
          <p:nvPr>
            <p:ph idx="1"/>
          </p:nvPr>
        </p:nvPicPr>
        <p:blipFill>
          <a:blip r:embed="rId3">
            <a:extLst>
              <a:ext uri="{28A0092B-C50C-407E-A947-70E740481C1C}">
                <a14:useLocalDpi xmlns="" xmlns:a14="http://schemas.microsoft.com/office/drawing/2010/main" val="0"/>
              </a:ext>
            </a:extLst>
          </a:blip>
          <a:srcRect/>
          <a:stretch>
            <a:fillRect/>
          </a:stretch>
        </p:blipFill>
        <p:spPr bwMode="auto">
          <a:xfrm>
            <a:off x="1175657" y="1243584"/>
            <a:ext cx="10101943" cy="4917730"/>
          </a:xfrm>
          <a:prstGeom prst="rect">
            <a:avLst/>
          </a:prstGeom>
          <a:noFill/>
        </p:spPr>
      </p:pic>
    </p:spTree>
    <p:extLst>
      <p:ext uri="{BB962C8B-B14F-4D97-AF65-F5344CB8AC3E}">
        <p14:creationId xmlns="" xmlns:p14="http://schemas.microsoft.com/office/powerpoint/2010/main" val="3385424300"/>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49396" y="1"/>
            <a:ext cx="6232348"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Algorithm for sorting in decreasing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576943" y="1045029"/>
            <a:ext cx="10983685" cy="3508653"/>
          </a:xfrm>
          <a:prstGeom prst="rect">
            <a:avLst/>
          </a:prstGeom>
        </p:spPr>
        <p:txBody>
          <a:bodyPr wrap="square">
            <a:spAutoFit/>
          </a:bodyPr>
          <a:lstStyle/>
          <a:p>
            <a:pPr lvl="0" algn="just"/>
            <a:r>
              <a:rPr lang="en-US" b="1" dirty="0" smtClean="0"/>
              <a:t>1. Build a Max Heap</a:t>
            </a:r>
            <a:r>
              <a:rPr lang="en-US" dirty="0" smtClean="0"/>
              <a:t>:</a:t>
            </a:r>
            <a:endParaRPr lang="en-US" sz="1600" dirty="0" smtClean="0"/>
          </a:p>
          <a:p>
            <a:pPr lvl="1" algn="just"/>
            <a:r>
              <a:rPr lang="en-US" dirty="0" smtClean="0"/>
              <a:t>Convert the given array into a </a:t>
            </a:r>
            <a:r>
              <a:rPr lang="en-US" b="1" dirty="0" smtClean="0"/>
              <a:t>max heap</a:t>
            </a:r>
            <a:r>
              <a:rPr lang="en-US" dirty="0" smtClean="0"/>
              <a:t>, which is a binary tree where each parent node is greater than or equal to its child nodes. This ensures that the largest element is at the root of the heap.</a:t>
            </a:r>
            <a:endParaRPr lang="en-US" sz="1600" dirty="0" smtClean="0"/>
          </a:p>
          <a:p>
            <a:pPr lvl="0" algn="just"/>
            <a:r>
              <a:rPr lang="en-US" b="1" dirty="0" smtClean="0"/>
              <a:t>2. Extract Elements from the Heap</a:t>
            </a:r>
            <a:r>
              <a:rPr lang="en-US" dirty="0" smtClean="0"/>
              <a:t>:</a:t>
            </a:r>
            <a:endParaRPr lang="en-US" sz="1600" dirty="0" smtClean="0"/>
          </a:p>
          <a:p>
            <a:pPr lvl="1" algn="just"/>
            <a:r>
              <a:rPr lang="en-US" dirty="0" smtClean="0"/>
              <a:t>Once the max heap is built, the root element will always be the maximum. We repeatedly swap the root (the maximum element) with the last element of the heap. This will move the maximum element to its correct position in the sorted array.</a:t>
            </a:r>
            <a:endParaRPr lang="en-US" sz="1600" dirty="0" smtClean="0"/>
          </a:p>
          <a:p>
            <a:pPr lvl="1" algn="just"/>
            <a:r>
              <a:rPr lang="en-US" dirty="0" smtClean="0"/>
              <a:t>After swapping, reduce the size of the heap by one and </a:t>
            </a:r>
            <a:r>
              <a:rPr lang="en-US" dirty="0" err="1" smtClean="0"/>
              <a:t>heapify</a:t>
            </a:r>
            <a:r>
              <a:rPr lang="en-US" dirty="0" smtClean="0"/>
              <a:t> the root to maintain the heap property.</a:t>
            </a:r>
            <a:endParaRPr lang="en-US" sz="1600" dirty="0" smtClean="0"/>
          </a:p>
          <a:p>
            <a:pPr lvl="0" algn="just"/>
            <a:r>
              <a:rPr lang="en-US" b="1" dirty="0" smtClean="0"/>
              <a:t>3. Repeat</a:t>
            </a:r>
            <a:r>
              <a:rPr lang="en-US" dirty="0" smtClean="0"/>
              <a:t>:</a:t>
            </a:r>
            <a:endParaRPr lang="en-US" sz="1600" dirty="0" smtClean="0"/>
          </a:p>
          <a:p>
            <a:pPr lvl="1" algn="just"/>
            <a:r>
              <a:rPr lang="en-US" dirty="0" smtClean="0"/>
              <a:t>Continue the process of swapping the root and the last element, followed by </a:t>
            </a:r>
            <a:r>
              <a:rPr lang="en-US" dirty="0" err="1" smtClean="0"/>
              <a:t>heapifying</a:t>
            </a:r>
            <a:r>
              <a:rPr lang="en-US" dirty="0" smtClean="0"/>
              <a:t> the root, until the heap is empty. This will produce the sorted array in decreasing order.</a:t>
            </a:r>
            <a:endParaRPr lang="en-US" sz="1600" dirty="0" smtClean="0"/>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790020189"/>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49396" y="1"/>
            <a:ext cx="6232348"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t>
            </a:r>
            <a:r>
              <a:rPr lang="en-US" sz="2400" b="1" dirty="0" smtClean="0">
                <a:solidFill>
                  <a:srgbClr val="FFFCF4"/>
                </a:solidFill>
                <a:latin typeface="urw-din"/>
              </a:rPr>
              <a:t>coding for </a:t>
            </a:r>
            <a:r>
              <a:rPr lang="en-US" sz="2400" b="1" dirty="0">
                <a:solidFill>
                  <a:srgbClr val="FFFCF4"/>
                </a:solidFill>
                <a:latin typeface="urw-din"/>
              </a:rPr>
              <a:t>sorting in decreasing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566057" y="729344"/>
            <a:ext cx="11179629" cy="5632311"/>
          </a:xfrm>
          <a:prstGeom prst="rect">
            <a:avLst/>
          </a:prstGeom>
        </p:spPr>
        <p:txBody>
          <a:bodyPr wrap="square">
            <a:spAutoFit/>
          </a:bodyPr>
          <a:lstStyle/>
          <a:p>
            <a:pPr lvl="0" algn="just"/>
            <a:r>
              <a:rPr lang="en-US" sz="2400" dirty="0" smtClean="0">
                <a:latin typeface="Times New Roman" panose="02020603050405020304" pitchFamily="18" charset="0"/>
                <a:cs typeface="Times New Roman" panose="02020603050405020304" pitchFamily="18" charset="0"/>
              </a:rPr>
              <a:t># Function to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 a </a:t>
            </a:r>
            <a:r>
              <a:rPr lang="en-US" sz="2400" dirty="0" err="1" smtClean="0">
                <a:latin typeface="Times New Roman" panose="02020603050405020304" pitchFamily="18" charset="0"/>
                <a:cs typeface="Times New Roman" panose="02020603050405020304" pitchFamily="18" charset="0"/>
              </a:rPr>
              <a:t>subtree</a:t>
            </a:r>
            <a:r>
              <a:rPr lang="en-US" sz="2400" dirty="0" smtClean="0">
                <a:latin typeface="Times New Roman" panose="02020603050405020304" pitchFamily="18" charset="0"/>
                <a:cs typeface="Times New Roman" panose="02020603050405020304" pitchFamily="18" charset="0"/>
              </a:rPr>
              <a:t> rooted at index </a:t>
            </a:r>
            <a:r>
              <a:rPr lang="en-US" sz="2400" dirty="0" err="1" smtClean="0">
                <a:latin typeface="Times New Roman" panose="02020603050405020304" pitchFamily="18" charset="0"/>
                <a:cs typeface="Times New Roman" panose="02020603050405020304" pitchFamily="18" charset="0"/>
              </a:rPr>
              <a:t>i</a:t>
            </a:r>
            <a:endParaRPr lang="en-US"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def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n,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a:t>
            </a:r>
          </a:p>
          <a:p>
            <a:pPr lvl="0" algn="just"/>
            <a:r>
              <a:rPr lang="en-US" sz="2400" dirty="0" smtClean="0">
                <a:latin typeface="Times New Roman" panose="02020603050405020304" pitchFamily="18" charset="0"/>
                <a:cs typeface="Times New Roman" panose="02020603050405020304" pitchFamily="18" charset="0"/>
              </a:rPr>
              <a:t>    largest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Initialize largest as root</a:t>
            </a:r>
          </a:p>
          <a:p>
            <a:pPr lvl="0" algn="just"/>
            <a:r>
              <a:rPr lang="en-US" sz="2400" dirty="0" smtClean="0">
                <a:latin typeface="Times New Roman" panose="02020603050405020304" pitchFamily="18" charset="0"/>
                <a:cs typeface="Times New Roman" panose="02020603050405020304" pitchFamily="18" charset="0"/>
              </a:rPr>
              <a:t>    left = 2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+ 1  				# Left child</a:t>
            </a:r>
          </a:p>
          <a:p>
            <a:pPr lvl="0" algn="just"/>
            <a:r>
              <a:rPr lang="en-US" sz="2400" dirty="0" smtClean="0">
                <a:latin typeface="Times New Roman" panose="02020603050405020304" pitchFamily="18" charset="0"/>
                <a:cs typeface="Times New Roman" panose="02020603050405020304" pitchFamily="18" charset="0"/>
              </a:rPr>
              <a:t>    right = 2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+ 2  				# Right child</a:t>
            </a:r>
          </a:p>
          <a:p>
            <a:pPr algn="just"/>
            <a:r>
              <a:rPr lang="en-US" sz="2400" dirty="0" smtClean="0">
                <a:latin typeface="Times New Roman" panose="02020603050405020304" pitchFamily="18" charset="0"/>
                <a:cs typeface="Times New Roman" panose="02020603050405020304" pitchFamily="18" charset="0"/>
              </a:rPr>
              <a:t>if left &lt; n and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[left] &gt;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		 # If left child is larger than root</a:t>
            </a:r>
          </a:p>
          <a:p>
            <a:pPr lvl="0" algn="just"/>
            <a:r>
              <a:rPr lang="en-US" sz="2400" dirty="0" smtClean="0">
                <a:latin typeface="Times New Roman" panose="02020603050405020304" pitchFamily="18" charset="0"/>
                <a:cs typeface="Times New Roman" panose="02020603050405020304" pitchFamily="18" charset="0"/>
              </a:rPr>
              <a:t>        	largest = left</a:t>
            </a:r>
          </a:p>
          <a:p>
            <a:pPr lvl="0" algn="just"/>
            <a:r>
              <a:rPr lang="en-US" sz="2400" dirty="0" smtClean="0">
                <a:latin typeface="Times New Roman" panose="02020603050405020304" pitchFamily="18" charset="0"/>
                <a:cs typeface="Times New Roman" panose="02020603050405020304" pitchFamily="18" charset="0"/>
              </a:rPr>
              <a:t>if right &lt; n and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[right] &gt;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 	 # If right child is larger than largest so far</a:t>
            </a:r>
          </a:p>
          <a:p>
            <a:pPr lvl="0" algn="just"/>
            <a:r>
              <a:rPr lang="en-US" sz="2400" dirty="0" smtClean="0">
                <a:latin typeface="Times New Roman" panose="02020603050405020304" pitchFamily="18" charset="0"/>
                <a:cs typeface="Times New Roman" panose="02020603050405020304" pitchFamily="18" charset="0"/>
              </a:rPr>
              <a:t>        largest = right</a:t>
            </a:r>
          </a:p>
          <a:p>
            <a:pPr lvl="0" algn="just"/>
            <a:r>
              <a:rPr lang="en-US" sz="2400" dirty="0" smtClean="0">
                <a:latin typeface="Times New Roman" panose="02020603050405020304" pitchFamily="18" charset="0"/>
                <a:cs typeface="Times New Roman" panose="02020603050405020304" pitchFamily="18" charset="0"/>
              </a:rPr>
              <a:t>     if largest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If largest is not root</a:t>
            </a:r>
          </a:p>
          <a:p>
            <a:pPr lvl="0" algn="just"/>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 =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Swap</a:t>
            </a:r>
          </a:p>
          <a:p>
            <a:pPr lvl="0" algn="just"/>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n, largest)  			# Recursively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 the affected </a:t>
            </a:r>
            <a:r>
              <a:rPr lang="en-US" sz="2400" dirty="0" err="1" smtClean="0">
                <a:latin typeface="Times New Roman" panose="02020603050405020304" pitchFamily="18" charset="0"/>
                <a:cs typeface="Times New Roman" panose="02020603050405020304" pitchFamily="18" charset="0"/>
              </a:rPr>
              <a:t>subtree</a:t>
            </a:r>
            <a:endParaRPr lang="en-US" sz="2400" dirty="0" smtClean="0">
              <a:latin typeface="Times New Roman" panose="02020603050405020304" pitchFamily="18" charset="0"/>
              <a:cs typeface="Times New Roman" panose="02020603050405020304" pitchFamily="18" charset="0"/>
            </a:endParaRPr>
          </a:p>
          <a:p>
            <a:pPr lvl="0" algn="just"/>
            <a:endParaRPr lang="en-US" sz="2400" dirty="0" smtClean="0">
              <a:latin typeface="Times New Roman" panose="02020603050405020304" pitchFamily="18" charset="0"/>
              <a:cs typeface="Times New Roman" panose="02020603050405020304" pitchFamily="18" charset="0"/>
            </a:endParaRPr>
          </a:p>
          <a:p>
            <a:pPr lvl="0" algn="just"/>
            <a:endParaRPr lang="en-US" sz="2400" dirty="0" smtClean="0">
              <a:latin typeface="Times New Roman" panose="02020603050405020304" pitchFamily="18" charset="0"/>
              <a:cs typeface="Times New Roman" panose="02020603050405020304" pitchFamily="18" charset="0"/>
            </a:endParaRPr>
          </a:p>
          <a:p>
            <a:pPr lvl="0" algn="just"/>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790020189"/>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49396" y="1"/>
            <a:ext cx="6232348"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Algorithm for sorting in decreasing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576943" y="838200"/>
            <a:ext cx="11342914" cy="5632311"/>
          </a:xfrm>
          <a:prstGeom prst="rect">
            <a:avLst/>
          </a:prstGeom>
        </p:spPr>
        <p:txBody>
          <a:bodyPr wrap="square">
            <a:spAutoFit/>
          </a:bodyPr>
          <a:lstStyle/>
          <a:p>
            <a:pPr lvl="0" algn="just"/>
            <a:r>
              <a:rPr lang="en-US" sz="2400" dirty="0" smtClean="0">
                <a:latin typeface="Times New Roman" panose="02020603050405020304" pitchFamily="18" charset="0"/>
                <a:cs typeface="Times New Roman" panose="02020603050405020304" pitchFamily="18" charset="0"/>
              </a:rPr>
              <a:t># Function to implement Heap Sort</a:t>
            </a:r>
          </a:p>
          <a:p>
            <a:pPr lvl="0" algn="just"/>
            <a:r>
              <a:rPr lang="en-US" sz="2400" dirty="0" smtClean="0">
                <a:latin typeface="Times New Roman" panose="02020603050405020304" pitchFamily="18" charset="0"/>
                <a:cs typeface="Times New Roman" panose="02020603050405020304" pitchFamily="18" charset="0"/>
              </a:rPr>
              <a:t>def </a:t>
            </a:r>
            <a:r>
              <a:rPr lang="en-US" sz="2400" dirty="0" err="1" smtClean="0">
                <a:latin typeface="Times New Roman" panose="02020603050405020304" pitchFamily="18" charset="0"/>
                <a:cs typeface="Times New Roman" panose="02020603050405020304" pitchFamily="18" charset="0"/>
              </a:rPr>
              <a:t>heap_sort</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pPr lvl="0" algn="just"/>
            <a:r>
              <a:rPr lang="en-US" sz="2400" dirty="0" smtClean="0">
                <a:latin typeface="Times New Roman" panose="02020603050405020304" pitchFamily="18" charset="0"/>
                <a:cs typeface="Times New Roman" panose="02020603050405020304" pitchFamily="18" charset="0"/>
              </a:rPr>
              <a:t>    n = </a:t>
            </a:r>
            <a:r>
              <a:rPr lang="en-US" sz="2400" dirty="0" err="1" smtClean="0">
                <a:latin typeface="Times New Roman" panose="02020603050405020304" pitchFamily="18" charset="0"/>
                <a:cs typeface="Times New Roman" panose="02020603050405020304" pitchFamily="18" charset="0"/>
              </a:rPr>
              <a:t>len</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pPr lvl="0" algn="just"/>
            <a:r>
              <a:rPr lang="en-US" sz="2400" dirty="0" smtClean="0">
                <a:latin typeface="Times New Roman" panose="02020603050405020304" pitchFamily="18" charset="0"/>
                <a:cs typeface="Times New Roman" panose="02020603050405020304" pitchFamily="18" charset="0"/>
              </a:rPr>
              <a:t>for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in range(n // 2 - 1, -1, -1):	 # Build a max heap (rearrange the array)</a:t>
            </a:r>
          </a:p>
          <a:p>
            <a:pPr lvl="0" algn="just"/>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n,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a:t>
            </a:r>
          </a:p>
          <a:p>
            <a:pPr lvl="0" algn="just"/>
            <a:r>
              <a:rPr lang="en-US" sz="2400" dirty="0" smtClean="0">
                <a:latin typeface="Times New Roman" panose="02020603050405020304" pitchFamily="18" charset="0"/>
                <a:cs typeface="Times New Roman" panose="02020603050405020304" pitchFamily="18" charset="0"/>
              </a:rPr>
              <a:t>for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in range(n - 1, 0, -1):		 # One by one extract elements from the heap</a:t>
            </a:r>
          </a:p>
          <a:p>
            <a:pPr lvl="0" algn="just"/>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[0] =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[0],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Swap the root (max element) with the last element</a:t>
            </a:r>
          </a:p>
          <a:p>
            <a:pPr lvl="0" algn="just"/>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0)  		#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 the root element</a:t>
            </a:r>
          </a:p>
          <a:p>
            <a:pPr lvl="0" algn="just"/>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 [12, 11, 13, 5, 6, 7]</a:t>
            </a:r>
          </a:p>
          <a:p>
            <a:pPr lvl="0" algn="just"/>
            <a:r>
              <a:rPr lang="en-US" sz="2400" dirty="0" err="1" smtClean="0">
                <a:latin typeface="Times New Roman" panose="02020603050405020304" pitchFamily="18" charset="0"/>
                <a:cs typeface="Times New Roman" panose="02020603050405020304" pitchFamily="18" charset="0"/>
              </a:rPr>
              <a:t>heap_sort</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pPr lvl="0" algn="just"/>
            <a:r>
              <a:rPr lang="en-US" sz="2400" dirty="0" smtClean="0">
                <a:latin typeface="Times New Roman" panose="02020603050405020304" pitchFamily="18" charset="0"/>
                <a:cs typeface="Times New Roman" panose="02020603050405020304" pitchFamily="18" charset="0"/>
              </a:rPr>
              <a:t>print("Sorted array in decreasing order is:",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pPr lvl="0" algn="just"/>
            <a:endParaRPr lang="en-US" sz="2400" dirty="0" smtClean="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OUTPUT :</a:t>
            </a:r>
          </a:p>
          <a:p>
            <a:pPr lvl="0" algn="just"/>
            <a:r>
              <a:rPr lang="en-US" sz="2400" dirty="0" smtClean="0">
                <a:latin typeface="Times New Roman" panose="02020603050405020304" pitchFamily="18" charset="0"/>
                <a:cs typeface="Times New Roman" panose="02020603050405020304" pitchFamily="18" charset="0"/>
              </a:rPr>
              <a:t>Sorted array in decreasing order is: [5, 6, 7, 11, 12, 13]</a:t>
            </a:r>
          </a:p>
          <a:p>
            <a:pPr lvl="0" algn="just"/>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790020189"/>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49396" y="1"/>
            <a:ext cx="6232348"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Algorithm for sorting in increasing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 xmlns:a16="http://schemas.microsoft.com/office/drawing/2014/main" id="{E65E3206-C2FC-66B1-C0B6-5E8CFEA03678}"/>
              </a:ext>
            </a:extLst>
          </p:cNvPr>
          <p:cNvSpPr txBox="1"/>
          <p:nvPr/>
        </p:nvSpPr>
        <p:spPr>
          <a:xfrm>
            <a:off x="500743" y="829181"/>
            <a:ext cx="11223171" cy="4062651"/>
          </a:xfrm>
          <a:prstGeom prst="rect">
            <a:avLst/>
          </a:prstGeom>
          <a:noFill/>
        </p:spPr>
        <p:txBody>
          <a:bodyPr wrap="square">
            <a:spAutoFit/>
          </a:bodyPr>
          <a:lstStyle/>
          <a:p>
            <a:pPr algn="just"/>
            <a:r>
              <a:rPr lang="en-US" b="1" dirty="0" smtClean="0"/>
              <a:t>Heap Sort Algorithm Steps (for Increasing Order)</a:t>
            </a:r>
          </a:p>
          <a:p>
            <a:pPr algn="just"/>
            <a:endParaRPr lang="en-US" b="1" dirty="0" smtClean="0"/>
          </a:p>
          <a:p>
            <a:pPr algn="just"/>
            <a:r>
              <a:rPr lang="en-US" b="1" dirty="0" smtClean="0"/>
              <a:t>1. Build a Max Heap</a:t>
            </a:r>
            <a:r>
              <a:rPr lang="en-US" dirty="0" smtClean="0"/>
              <a:t>:</a:t>
            </a:r>
          </a:p>
          <a:p>
            <a:pPr lvl="1" algn="just"/>
            <a:r>
              <a:rPr lang="en-US" dirty="0" smtClean="0"/>
              <a:t>Convert the given array into a </a:t>
            </a:r>
            <a:r>
              <a:rPr lang="en-US" b="1" dirty="0" smtClean="0"/>
              <a:t>max-heap</a:t>
            </a:r>
            <a:r>
              <a:rPr lang="en-US" dirty="0" smtClean="0"/>
              <a:t> (binary tree where each parent node is greater than or equal to its child nodes). The largest element will be at the root of the heap.</a:t>
            </a:r>
          </a:p>
          <a:p>
            <a:pPr algn="just"/>
            <a:r>
              <a:rPr lang="en-US" b="1" dirty="0" smtClean="0"/>
              <a:t>2. Extract Elements from the Heap</a:t>
            </a:r>
            <a:r>
              <a:rPr lang="en-US" dirty="0" smtClean="0"/>
              <a:t>:</a:t>
            </a:r>
          </a:p>
          <a:p>
            <a:pPr lvl="1" algn="just"/>
            <a:r>
              <a:rPr lang="en-US" dirty="0" smtClean="0"/>
              <a:t>The root of the heap contains the maximum element. Swap the root (maximum element) with the last element of the heap. This places the maximum element in its correct position.</a:t>
            </a:r>
          </a:p>
          <a:p>
            <a:pPr lvl="1" algn="just"/>
            <a:r>
              <a:rPr lang="en-US" dirty="0" smtClean="0"/>
              <a:t>After the swap, reduce the heap size by 1 (exclude the last element, as it’s now in the correct position) and </a:t>
            </a:r>
            <a:r>
              <a:rPr lang="en-US" dirty="0" err="1" smtClean="0"/>
              <a:t>heapify</a:t>
            </a:r>
            <a:r>
              <a:rPr lang="en-US" dirty="0" smtClean="0"/>
              <a:t> the root to restore the max-heap property.</a:t>
            </a:r>
          </a:p>
          <a:p>
            <a:pPr algn="just"/>
            <a:r>
              <a:rPr lang="en-US" b="1" dirty="0" smtClean="0"/>
              <a:t>3. Repeat</a:t>
            </a:r>
            <a:r>
              <a:rPr lang="en-US" dirty="0" smtClean="0"/>
              <a:t>:</a:t>
            </a:r>
          </a:p>
          <a:p>
            <a:pPr lvl="1" algn="just"/>
            <a:r>
              <a:rPr lang="en-US" dirty="0" smtClean="0"/>
              <a:t>Continue the process of swapping the root and the last element, followed by </a:t>
            </a:r>
            <a:r>
              <a:rPr lang="en-US" dirty="0" err="1" smtClean="0"/>
              <a:t>heapifying</a:t>
            </a:r>
            <a:r>
              <a:rPr lang="en-US" dirty="0" smtClean="0"/>
              <a:t> the root, until the heap is reduced to a size of 1. This process will produce a sorted array in </a:t>
            </a:r>
            <a:r>
              <a:rPr lang="en-US" b="1" dirty="0" smtClean="0"/>
              <a:t>increasing order</a:t>
            </a:r>
            <a:r>
              <a:rPr lang="en-US" dirty="0" smtClean="0"/>
              <a: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878987080"/>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49396" y="1"/>
            <a:ext cx="6232348"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Algorithm for sorting in increasing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 xmlns:a16="http://schemas.microsoft.com/office/drawing/2014/main" id="{E65E3206-C2FC-66B1-C0B6-5E8CFEA03678}"/>
              </a:ext>
            </a:extLst>
          </p:cNvPr>
          <p:cNvSpPr txBox="1"/>
          <p:nvPr/>
        </p:nvSpPr>
        <p:spPr>
          <a:xfrm>
            <a:off x="315687" y="829181"/>
            <a:ext cx="11571514" cy="5632311"/>
          </a:xfrm>
          <a:prstGeom prst="rect">
            <a:avLst/>
          </a:prstGeom>
          <a:noFill/>
        </p:spPr>
        <p:txBody>
          <a:bodyPr wrap="square">
            <a:spAutoFit/>
          </a:bodyPr>
          <a:lstStyle/>
          <a:p>
            <a:r>
              <a:rPr lang="en-US" sz="2400" dirty="0" smtClean="0">
                <a:latin typeface="Times New Roman" panose="02020603050405020304" pitchFamily="18" charset="0"/>
                <a:cs typeface="Times New Roman" panose="02020603050405020304" pitchFamily="18" charset="0"/>
              </a:rPr>
              <a:t>def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n,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largest = </a:t>
            </a:r>
            <a:r>
              <a:rPr lang="en-US" sz="2400" dirty="0" err="1" smtClean="0">
                <a:latin typeface="Times New Roman" panose="02020603050405020304" pitchFamily="18" charset="0"/>
                <a:cs typeface="Times New Roman" panose="02020603050405020304" pitchFamily="18" charset="0"/>
              </a:rPr>
              <a:t>i</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left = 2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+ 1</a:t>
            </a:r>
          </a:p>
          <a:p>
            <a:r>
              <a:rPr lang="en-US" sz="2400" dirty="0" smtClean="0">
                <a:latin typeface="Times New Roman" panose="02020603050405020304" pitchFamily="18" charset="0"/>
                <a:cs typeface="Times New Roman" panose="02020603050405020304" pitchFamily="18" charset="0"/>
              </a:rPr>
              <a:t>    right = 2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+ 2</a:t>
            </a:r>
          </a:p>
          <a:p>
            <a:r>
              <a:rPr lang="en-US" sz="2400" dirty="0" smtClean="0">
                <a:latin typeface="Times New Roman" panose="02020603050405020304" pitchFamily="18" charset="0"/>
                <a:cs typeface="Times New Roman" panose="02020603050405020304" pitchFamily="18" charset="0"/>
              </a:rPr>
              <a:t>        # Check if left child is larger than root</a:t>
            </a:r>
          </a:p>
          <a:p>
            <a:r>
              <a:rPr lang="en-US" sz="2400" dirty="0" smtClean="0">
                <a:latin typeface="Times New Roman" panose="02020603050405020304" pitchFamily="18" charset="0"/>
                <a:cs typeface="Times New Roman" panose="02020603050405020304" pitchFamily="18" charset="0"/>
              </a:rPr>
              <a:t>    if left &lt; n and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[left] &gt;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a:t>
            </a:r>
          </a:p>
          <a:p>
            <a:r>
              <a:rPr lang="en-US" sz="2400" dirty="0" smtClean="0">
                <a:latin typeface="Times New Roman" panose="02020603050405020304" pitchFamily="18" charset="0"/>
                <a:cs typeface="Times New Roman" panose="02020603050405020304" pitchFamily="18" charset="0"/>
              </a:rPr>
              <a:t>        largest = left</a:t>
            </a:r>
          </a:p>
          <a:p>
            <a:r>
              <a:rPr lang="en-US" sz="2400" dirty="0" smtClean="0">
                <a:latin typeface="Times New Roman" panose="02020603050405020304" pitchFamily="18" charset="0"/>
                <a:cs typeface="Times New Roman" panose="02020603050405020304" pitchFamily="18" charset="0"/>
              </a:rPr>
              <a:t>    </a:t>
            </a:r>
          </a:p>
          <a:p>
            <a:r>
              <a:rPr lang="en-US" sz="2400" dirty="0" smtClean="0">
                <a:latin typeface="Times New Roman" panose="02020603050405020304" pitchFamily="18" charset="0"/>
                <a:cs typeface="Times New Roman" panose="02020603050405020304" pitchFamily="18" charset="0"/>
              </a:rPr>
              <a:t>    # Check if right child is larger than largest</a:t>
            </a:r>
          </a:p>
          <a:p>
            <a:r>
              <a:rPr lang="en-US" sz="2400" dirty="0" smtClean="0">
                <a:latin typeface="Times New Roman" panose="02020603050405020304" pitchFamily="18" charset="0"/>
                <a:cs typeface="Times New Roman" panose="02020603050405020304" pitchFamily="18" charset="0"/>
              </a:rPr>
              <a:t>    if right &lt; n and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[right] &gt;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a:t>
            </a:r>
          </a:p>
          <a:p>
            <a:r>
              <a:rPr lang="en-US" sz="2400" dirty="0" smtClean="0">
                <a:latin typeface="Times New Roman" panose="02020603050405020304" pitchFamily="18" charset="0"/>
                <a:cs typeface="Times New Roman" panose="02020603050405020304" pitchFamily="18" charset="0"/>
              </a:rPr>
              <a:t>        largest = right</a:t>
            </a:r>
          </a:p>
          <a:p>
            <a:r>
              <a:rPr lang="en-US" sz="2400" dirty="0" smtClean="0">
                <a:latin typeface="Times New Roman" panose="02020603050405020304" pitchFamily="18" charset="0"/>
                <a:cs typeface="Times New Roman" panose="02020603050405020304" pitchFamily="18" charset="0"/>
              </a:rPr>
              <a:t>        # If largest is not root, swap and continue </a:t>
            </a:r>
            <a:r>
              <a:rPr lang="en-US" sz="2400" dirty="0" err="1" smtClean="0">
                <a:latin typeface="Times New Roman" panose="02020603050405020304" pitchFamily="18" charset="0"/>
                <a:cs typeface="Times New Roman" panose="02020603050405020304" pitchFamily="18" charset="0"/>
              </a:rPr>
              <a:t>heapifying</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if largest !=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 =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[largest],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n, largest)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878987080"/>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49396" y="1"/>
            <a:ext cx="6232348"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Algorithm for sorting in increasing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 xmlns:a16="http://schemas.microsoft.com/office/drawing/2014/main" id="{E65E3206-C2FC-66B1-C0B6-5E8CFEA03678}"/>
              </a:ext>
            </a:extLst>
          </p:cNvPr>
          <p:cNvSpPr txBox="1"/>
          <p:nvPr/>
        </p:nvSpPr>
        <p:spPr>
          <a:xfrm>
            <a:off x="315687" y="718457"/>
            <a:ext cx="11571514" cy="6370975"/>
          </a:xfrm>
          <a:prstGeom prst="rect">
            <a:avLst/>
          </a:prstGeom>
          <a:noFill/>
        </p:spPr>
        <p:txBody>
          <a:bodyPr wrap="square">
            <a:spAutoFit/>
          </a:bodyPr>
          <a:lstStyle/>
          <a:p>
            <a:r>
              <a:rPr lang="en-US" sz="2400" dirty="0" smtClean="0">
                <a:latin typeface="Times New Roman" panose="02020603050405020304" pitchFamily="18" charset="0"/>
                <a:cs typeface="Times New Roman" panose="02020603050405020304" pitchFamily="18" charset="0"/>
              </a:rPr>
              <a:t>def </a:t>
            </a:r>
            <a:r>
              <a:rPr lang="en-US" sz="2400" dirty="0" err="1" smtClean="0">
                <a:latin typeface="Times New Roman" panose="02020603050405020304" pitchFamily="18" charset="0"/>
                <a:cs typeface="Times New Roman" panose="02020603050405020304" pitchFamily="18" charset="0"/>
              </a:rPr>
              <a:t>heapSort</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n = </a:t>
            </a:r>
            <a:r>
              <a:rPr lang="en-US" sz="2400" dirty="0" err="1" smtClean="0">
                <a:latin typeface="Times New Roman" panose="02020603050405020304" pitchFamily="18" charset="0"/>
                <a:cs typeface="Times New Roman" panose="02020603050405020304" pitchFamily="18" charset="0"/>
              </a:rPr>
              <a:t>len</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for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in range(n // 2 - 1, -1, -1):	# Build a max heap</a:t>
            </a:r>
          </a:p>
          <a:p>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n,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for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in range(n-1, 0, -1):		 # Extract elements from heap one by one</a:t>
            </a:r>
          </a:p>
          <a:p>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[0] =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[0],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 Swap the root (largest) element with the last element</a:t>
            </a:r>
          </a:p>
          <a:p>
            <a:r>
              <a:rPr lang="en-US" sz="2400" dirty="0" smtClean="0">
                <a:latin typeface="Times New Roman" panose="02020603050405020304" pitchFamily="18" charset="0"/>
                <a:cs typeface="Times New Roman" panose="02020603050405020304" pitchFamily="18" charset="0"/>
              </a:rPr>
              <a:t>        </a:t>
            </a:r>
          </a:p>
          <a:p>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 0)			 # Call </a:t>
            </a:r>
            <a:r>
              <a:rPr lang="en-US" sz="2400" dirty="0" err="1" smtClean="0">
                <a:latin typeface="Times New Roman" panose="02020603050405020304" pitchFamily="18" charset="0"/>
                <a:cs typeface="Times New Roman" panose="02020603050405020304" pitchFamily="18" charset="0"/>
              </a:rPr>
              <a:t>heapify</a:t>
            </a:r>
            <a:r>
              <a:rPr lang="en-US" sz="2400" dirty="0" smtClean="0">
                <a:latin typeface="Times New Roman" panose="02020603050405020304" pitchFamily="18" charset="0"/>
                <a:cs typeface="Times New Roman" panose="02020603050405020304" pitchFamily="18" charset="0"/>
              </a:rPr>
              <a:t> on the reduced heap</a:t>
            </a:r>
          </a:p>
          <a:p>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 = [4, 10, 3, 5, 1]</a:t>
            </a:r>
          </a:p>
          <a:p>
            <a:r>
              <a:rPr lang="en-US" sz="2400" dirty="0" smtClean="0">
                <a:latin typeface="Times New Roman" panose="02020603050405020304" pitchFamily="18" charset="0"/>
                <a:cs typeface="Times New Roman" panose="02020603050405020304" pitchFamily="18" charset="0"/>
              </a:rPr>
              <a:t>print("Original Array:",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r>
              <a:rPr lang="en-US" sz="2400" dirty="0" err="1" smtClean="0">
                <a:latin typeface="Times New Roman" panose="02020603050405020304" pitchFamily="18" charset="0"/>
                <a:cs typeface="Times New Roman" panose="02020603050405020304" pitchFamily="18" charset="0"/>
              </a:rPr>
              <a:t>heapSort</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print("Sorted Array in Increasing Order:", </a:t>
            </a:r>
            <a:r>
              <a:rPr lang="en-US" sz="2400" dirty="0" err="1" smtClean="0">
                <a:latin typeface="Times New Roman" panose="02020603050405020304" pitchFamily="18" charset="0"/>
                <a:cs typeface="Times New Roman" panose="02020603050405020304" pitchFamily="18" charset="0"/>
              </a:rPr>
              <a:t>arr</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OUTPUT :</a:t>
            </a:r>
          </a:p>
          <a:p>
            <a:r>
              <a:rPr lang="en-US" sz="2400" dirty="0" smtClean="0">
                <a:latin typeface="Times New Roman" panose="02020603050405020304" pitchFamily="18" charset="0"/>
                <a:cs typeface="Times New Roman" panose="02020603050405020304" pitchFamily="18" charset="0"/>
              </a:rPr>
              <a:t>Original Array: [4, 10, 3, 5, 1]</a:t>
            </a:r>
          </a:p>
          <a:p>
            <a:r>
              <a:rPr lang="en-US" sz="2400" dirty="0" smtClean="0">
                <a:latin typeface="Times New Roman" panose="02020603050405020304" pitchFamily="18" charset="0"/>
                <a:cs typeface="Times New Roman" panose="02020603050405020304" pitchFamily="18" charset="0"/>
              </a:rPr>
              <a:t>Sorted Array in Increasing Order: [1, 3, 4, 5, 10]</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878987080"/>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Max heap(Cont..)</a:t>
            </a:r>
          </a:p>
        </p:txBody>
      </p:sp>
      <p:pic>
        <p:nvPicPr>
          <p:cNvPr id="1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678872" y="3128845"/>
            <a:ext cx="7592291"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We start from A, and </a:t>
            </a:r>
            <a:r>
              <a:rPr lang="en-US" sz="2400" dirty="0" err="1">
                <a:latin typeface="Times New Roman" panose="02020603050405020304" pitchFamily="18" charset="0"/>
                <a:cs typeface="Times New Roman" panose="02020603050405020304" pitchFamily="18" charset="0"/>
              </a:rPr>
              <a:t>followi</a:t>
            </a:r>
            <a:endParaRPr lang="en-US" sz="2400" dirty="0">
              <a:latin typeface="Times New Roman" panose="02020603050405020304" pitchFamily="18" charset="0"/>
              <a:cs typeface="Times New Roman" panose="02020603050405020304" pitchFamily="18" charset="0"/>
            </a:endParaRPr>
          </a:p>
        </p:txBody>
      </p:sp>
      <p:pic>
        <p:nvPicPr>
          <p:cNvPr id="7" name="Content Placeholder 5">
            <a:extLst>
              <a:ext uri="{FF2B5EF4-FFF2-40B4-BE49-F238E27FC236}">
                <a16:creationId xmlns="" xmlns:a16="http://schemas.microsoft.com/office/drawing/2014/main" id="{86DC5D3D-FA29-362C-D4BB-5B3B74A4FA46}"/>
              </a:ext>
            </a:extLst>
          </p:cNvPr>
          <p:cNvPicPr>
            <a:picLocks noGrp="1" noChangeAspect="1"/>
          </p:cNvPicPr>
          <p:nvPr>
            <p:ph idx="1"/>
          </p:nvPr>
        </p:nvPicPr>
        <p:blipFill rotWithShape="1">
          <a:blip r:embed="rId4"/>
          <a:srcRect l="58152" t="33768" r="24239" b="24107"/>
          <a:stretch/>
        </p:blipFill>
        <p:spPr>
          <a:xfrm>
            <a:off x="120804" y="517857"/>
            <a:ext cx="4262353" cy="3994508"/>
          </a:xfrm>
          <a:prstGeom prst="rect">
            <a:avLst/>
          </a:prstGeom>
        </p:spPr>
      </p:pic>
      <p:sp>
        <p:nvSpPr>
          <p:cNvPr id="8" name="Arrow: Right 7">
            <a:extLst>
              <a:ext uri="{FF2B5EF4-FFF2-40B4-BE49-F238E27FC236}">
                <a16:creationId xmlns="" xmlns:a16="http://schemas.microsoft.com/office/drawing/2014/main" id="{2C8E629D-B2E6-4088-73EC-1A8CDB6BCDB0}"/>
              </a:ext>
            </a:extLst>
          </p:cNvPr>
          <p:cNvSpPr/>
          <p:nvPr/>
        </p:nvSpPr>
        <p:spPr>
          <a:xfrm>
            <a:off x="4388711" y="2015699"/>
            <a:ext cx="1358348" cy="695739"/>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 xmlns:a16="http://schemas.microsoft.com/office/drawing/2014/main" id="{BC1564E6-048B-7853-F742-658CF7299AA0}"/>
              </a:ext>
            </a:extLst>
          </p:cNvPr>
          <p:cNvPicPr>
            <a:picLocks noChangeAspect="1"/>
          </p:cNvPicPr>
          <p:nvPr/>
        </p:nvPicPr>
        <p:blipFill rotWithShape="1">
          <a:blip r:embed="rId5"/>
          <a:srcRect l="34167" t="35507" r="47935" b="28046"/>
          <a:stretch/>
        </p:blipFill>
        <p:spPr>
          <a:xfrm>
            <a:off x="5767193" y="517857"/>
            <a:ext cx="3556066" cy="4073100"/>
          </a:xfrm>
          <a:prstGeom prst="rect">
            <a:avLst/>
          </a:prstGeom>
        </p:spPr>
      </p:pic>
      <p:sp>
        <p:nvSpPr>
          <p:cNvPr id="10" name="TextBox 9">
            <a:extLst>
              <a:ext uri="{FF2B5EF4-FFF2-40B4-BE49-F238E27FC236}">
                <a16:creationId xmlns="" xmlns:a16="http://schemas.microsoft.com/office/drawing/2014/main" id="{787D4C95-7667-EBFF-C638-B4BD7C24C4C4}"/>
              </a:ext>
            </a:extLst>
          </p:cNvPr>
          <p:cNvSpPr txBox="1"/>
          <p:nvPr/>
        </p:nvSpPr>
        <p:spPr>
          <a:xfrm>
            <a:off x="708990" y="4641574"/>
            <a:ext cx="7511557" cy="1200329"/>
          </a:xfrm>
          <a:prstGeom prst="rect">
            <a:avLst/>
          </a:prstGeom>
          <a:noFill/>
        </p:spPr>
        <p:txBody>
          <a:bodyPr wrap="square" rtlCol="0">
            <a:spAutoFit/>
          </a:bodyPr>
          <a:lstStyle/>
          <a:p>
            <a:r>
              <a:rPr lang="en-US" dirty="0"/>
              <a:t>Remove the root element (70)and replace with last leaf node(15).  That removing element store in Array a[]    </a:t>
            </a:r>
          </a:p>
          <a:p>
            <a:endParaRPr lang="en-IN" sz="1800" b="0" i="0" u="none" strike="noStrike" dirty="0">
              <a:effectLst/>
              <a:latin typeface="Arial" panose="020B0604020202020204" pitchFamily="34" charset="0"/>
            </a:endParaRPr>
          </a:p>
          <a:p>
            <a:endParaRPr lang="en-US" dirty="0"/>
          </a:p>
        </p:txBody>
      </p:sp>
      <p:pic>
        <p:nvPicPr>
          <p:cNvPr id="13" name="Picture 12">
            <a:extLst>
              <a:ext uri="{FF2B5EF4-FFF2-40B4-BE49-F238E27FC236}">
                <a16:creationId xmlns="" xmlns:a16="http://schemas.microsoft.com/office/drawing/2014/main" id="{D3F400B2-1E2A-1E1D-DC9B-49E44D891601}"/>
              </a:ext>
            </a:extLst>
          </p:cNvPr>
          <p:cNvPicPr>
            <a:picLocks noChangeAspect="1"/>
          </p:cNvPicPr>
          <p:nvPr/>
        </p:nvPicPr>
        <p:blipFill>
          <a:blip r:embed="rId6"/>
          <a:stretch>
            <a:fillRect/>
          </a:stretch>
        </p:blipFill>
        <p:spPr>
          <a:xfrm>
            <a:off x="853174" y="5380413"/>
            <a:ext cx="6133108" cy="493819"/>
          </a:xfrm>
          <a:prstGeom prst="rect">
            <a:avLst/>
          </a:prstGeom>
        </p:spPr>
      </p:pic>
    </p:spTree>
    <p:extLst>
      <p:ext uri="{BB962C8B-B14F-4D97-AF65-F5344CB8AC3E}">
        <p14:creationId xmlns="" xmlns:p14="http://schemas.microsoft.com/office/powerpoint/2010/main" val="2582341866"/>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Max heap(Cont..)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4" name="Picture 3">
            <a:extLst>
              <a:ext uri="{FF2B5EF4-FFF2-40B4-BE49-F238E27FC236}">
                <a16:creationId xmlns="" xmlns:a16="http://schemas.microsoft.com/office/drawing/2014/main" id="{71B97E81-06ED-04B9-D6CE-2EEC274A4BBF}"/>
              </a:ext>
            </a:extLst>
          </p:cNvPr>
          <p:cNvPicPr>
            <a:picLocks noChangeAspect="1"/>
          </p:cNvPicPr>
          <p:nvPr/>
        </p:nvPicPr>
        <p:blipFill rotWithShape="1">
          <a:blip r:embed="rId3"/>
          <a:srcRect l="15979" t="34542" r="14022" b="20241"/>
          <a:stretch/>
        </p:blipFill>
        <p:spPr>
          <a:xfrm>
            <a:off x="388233" y="600076"/>
            <a:ext cx="8935026" cy="4459357"/>
          </a:xfrm>
          <a:prstGeom prst="rect">
            <a:avLst/>
          </a:prstGeom>
        </p:spPr>
      </p:pic>
      <p:sp>
        <p:nvSpPr>
          <p:cNvPr id="7" name="TextBox 6">
            <a:extLst>
              <a:ext uri="{FF2B5EF4-FFF2-40B4-BE49-F238E27FC236}">
                <a16:creationId xmlns="" xmlns:a16="http://schemas.microsoft.com/office/drawing/2014/main" id="{A3E9BECB-9D38-6672-555C-EAACE719C37F}"/>
              </a:ext>
            </a:extLst>
          </p:cNvPr>
          <p:cNvSpPr txBox="1"/>
          <p:nvPr/>
        </p:nvSpPr>
        <p:spPr>
          <a:xfrm>
            <a:off x="388233" y="5474843"/>
            <a:ext cx="608463" cy="369332"/>
          </a:xfrm>
          <a:prstGeom prst="rect">
            <a:avLst/>
          </a:prstGeom>
          <a:noFill/>
        </p:spPr>
        <p:txBody>
          <a:bodyPr wrap="square">
            <a:spAutoFit/>
          </a:bodyPr>
          <a:lstStyle/>
          <a:p>
            <a:r>
              <a:rPr lang="en-US" dirty="0"/>
              <a:t>A[ ]</a:t>
            </a:r>
          </a:p>
        </p:txBody>
      </p:sp>
      <p:graphicFrame>
        <p:nvGraphicFramePr>
          <p:cNvPr id="8" name="Table 13">
            <a:extLst>
              <a:ext uri="{FF2B5EF4-FFF2-40B4-BE49-F238E27FC236}">
                <a16:creationId xmlns="" xmlns:a16="http://schemas.microsoft.com/office/drawing/2014/main" id="{23D12BB5-C121-47E0-8ADD-21243D520FF0}"/>
              </a:ext>
            </a:extLst>
          </p:cNvPr>
          <p:cNvGraphicFramePr>
            <a:graphicFrameLocks noGrp="1"/>
          </p:cNvGraphicFramePr>
          <p:nvPr>
            <p:extLst>
              <p:ext uri="{D42A27DB-BD31-4B8C-83A1-F6EECF244321}">
                <p14:modId xmlns="" xmlns:p14="http://schemas.microsoft.com/office/powerpoint/2010/main" val="1962309360"/>
              </p:ext>
            </p:extLst>
          </p:nvPr>
        </p:nvGraphicFramePr>
        <p:xfrm>
          <a:off x="1487148" y="5474843"/>
          <a:ext cx="6096000" cy="370840"/>
        </p:xfrm>
        <a:graphic>
          <a:graphicData uri="http://schemas.openxmlformats.org/drawingml/2006/table">
            <a:tbl>
              <a:tblPr firstRow="1" bandRow="1"/>
              <a:tblGrid>
                <a:gridCol w="1016000">
                  <a:extLst>
                    <a:ext uri="{9D8B030D-6E8A-4147-A177-3AD203B41FA5}">
                      <a16:colId xmlns="" xmlns:a16="http://schemas.microsoft.com/office/drawing/2014/main" val="1375431978"/>
                    </a:ext>
                  </a:extLst>
                </a:gridCol>
                <a:gridCol w="1016000">
                  <a:extLst>
                    <a:ext uri="{9D8B030D-6E8A-4147-A177-3AD203B41FA5}">
                      <a16:colId xmlns="" xmlns:a16="http://schemas.microsoft.com/office/drawing/2014/main" val="2442708940"/>
                    </a:ext>
                  </a:extLst>
                </a:gridCol>
                <a:gridCol w="1016000">
                  <a:extLst>
                    <a:ext uri="{9D8B030D-6E8A-4147-A177-3AD203B41FA5}">
                      <a16:colId xmlns="" xmlns:a16="http://schemas.microsoft.com/office/drawing/2014/main" val="1119165675"/>
                    </a:ext>
                  </a:extLst>
                </a:gridCol>
                <a:gridCol w="1016000">
                  <a:extLst>
                    <a:ext uri="{9D8B030D-6E8A-4147-A177-3AD203B41FA5}">
                      <a16:colId xmlns="" xmlns:a16="http://schemas.microsoft.com/office/drawing/2014/main" val="2191118362"/>
                    </a:ext>
                  </a:extLst>
                </a:gridCol>
                <a:gridCol w="1016000">
                  <a:extLst>
                    <a:ext uri="{9D8B030D-6E8A-4147-A177-3AD203B41FA5}">
                      <a16:colId xmlns="" xmlns:a16="http://schemas.microsoft.com/office/drawing/2014/main" val="450242415"/>
                    </a:ext>
                  </a:extLst>
                </a:gridCol>
                <a:gridCol w="1016000">
                  <a:extLst>
                    <a:ext uri="{9D8B030D-6E8A-4147-A177-3AD203B41FA5}">
                      <a16:colId xmlns="" xmlns:a16="http://schemas.microsoft.com/office/drawing/2014/main" val="2979493059"/>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a:solidFill>
                            <a:schemeClr val="tx1"/>
                          </a:solidFill>
                        </a:rPr>
                        <a:t>70</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extLst>
                  <a:ext uri="{0D108BD9-81ED-4DB2-BD59-A6C34878D82A}">
                    <a16:rowId xmlns="" xmlns:a16="http://schemas.microsoft.com/office/drawing/2014/main" val="634859093"/>
                  </a:ext>
                </a:extLst>
              </a:tr>
            </a:tbl>
          </a:graphicData>
        </a:graphic>
      </p:graphicFrame>
    </p:spTree>
    <p:extLst>
      <p:ext uri="{BB962C8B-B14F-4D97-AF65-F5344CB8AC3E}">
        <p14:creationId xmlns="" xmlns:p14="http://schemas.microsoft.com/office/powerpoint/2010/main" val="131832154"/>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Max heap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a:extLst>
              <a:ext uri="{FF2B5EF4-FFF2-40B4-BE49-F238E27FC236}">
                <a16:creationId xmlns="" xmlns:a16="http://schemas.microsoft.com/office/drawing/2014/main" id="{330C8BD8-5A1F-EDE4-7EFB-05D1C604A894}"/>
              </a:ext>
            </a:extLst>
          </p:cNvPr>
          <p:cNvPicPr>
            <a:picLocks noChangeAspect="1"/>
          </p:cNvPicPr>
          <p:nvPr/>
        </p:nvPicPr>
        <p:blipFill rotWithShape="1">
          <a:blip r:embed="rId3"/>
          <a:srcRect l="30521" t="42271" r="17206" b="22963"/>
          <a:stretch/>
        </p:blipFill>
        <p:spPr>
          <a:xfrm>
            <a:off x="1440190" y="600076"/>
            <a:ext cx="8695923" cy="4511012"/>
          </a:xfrm>
          <a:prstGeom prst="rect">
            <a:avLst/>
          </a:prstGeom>
        </p:spPr>
      </p:pic>
      <p:sp>
        <p:nvSpPr>
          <p:cNvPr id="7" name="TextBox 6">
            <a:extLst>
              <a:ext uri="{FF2B5EF4-FFF2-40B4-BE49-F238E27FC236}">
                <a16:creationId xmlns="" xmlns:a16="http://schemas.microsoft.com/office/drawing/2014/main" id="{49730653-0895-AF79-7098-DBF7E21B6368}"/>
              </a:ext>
            </a:extLst>
          </p:cNvPr>
          <p:cNvSpPr txBox="1"/>
          <p:nvPr/>
        </p:nvSpPr>
        <p:spPr>
          <a:xfrm>
            <a:off x="1154430" y="5526498"/>
            <a:ext cx="601218" cy="369332"/>
          </a:xfrm>
          <a:prstGeom prst="rect">
            <a:avLst/>
          </a:prstGeom>
          <a:noFill/>
        </p:spPr>
        <p:txBody>
          <a:bodyPr wrap="square">
            <a:spAutoFit/>
          </a:bodyPr>
          <a:lstStyle/>
          <a:p>
            <a:r>
              <a:rPr lang="en-US" dirty="0"/>
              <a:t>A[ ]</a:t>
            </a:r>
          </a:p>
        </p:txBody>
      </p:sp>
      <p:graphicFrame>
        <p:nvGraphicFramePr>
          <p:cNvPr id="8" name="Table 13">
            <a:extLst>
              <a:ext uri="{FF2B5EF4-FFF2-40B4-BE49-F238E27FC236}">
                <a16:creationId xmlns="" xmlns:a16="http://schemas.microsoft.com/office/drawing/2014/main" id="{A6EC6E71-1493-C2F0-3C2F-AF0116C661BD}"/>
              </a:ext>
            </a:extLst>
          </p:cNvPr>
          <p:cNvGraphicFramePr>
            <a:graphicFrameLocks noGrp="1"/>
          </p:cNvGraphicFramePr>
          <p:nvPr>
            <p:extLst>
              <p:ext uri="{D42A27DB-BD31-4B8C-83A1-F6EECF244321}">
                <p14:modId xmlns="" xmlns:p14="http://schemas.microsoft.com/office/powerpoint/2010/main" val="1736952937"/>
              </p:ext>
            </p:extLst>
          </p:nvPr>
        </p:nvGraphicFramePr>
        <p:xfrm>
          <a:off x="2456412" y="5512612"/>
          <a:ext cx="6096000" cy="370840"/>
        </p:xfrm>
        <a:graphic>
          <a:graphicData uri="http://schemas.openxmlformats.org/drawingml/2006/table">
            <a:tbl>
              <a:tblPr firstRow="1" bandRow="1"/>
              <a:tblGrid>
                <a:gridCol w="1016000">
                  <a:extLst>
                    <a:ext uri="{9D8B030D-6E8A-4147-A177-3AD203B41FA5}">
                      <a16:colId xmlns="" xmlns:a16="http://schemas.microsoft.com/office/drawing/2014/main" val="1375431978"/>
                    </a:ext>
                  </a:extLst>
                </a:gridCol>
                <a:gridCol w="1016000">
                  <a:extLst>
                    <a:ext uri="{9D8B030D-6E8A-4147-A177-3AD203B41FA5}">
                      <a16:colId xmlns="" xmlns:a16="http://schemas.microsoft.com/office/drawing/2014/main" val="2442708940"/>
                    </a:ext>
                  </a:extLst>
                </a:gridCol>
                <a:gridCol w="1016000">
                  <a:extLst>
                    <a:ext uri="{9D8B030D-6E8A-4147-A177-3AD203B41FA5}">
                      <a16:colId xmlns="" xmlns:a16="http://schemas.microsoft.com/office/drawing/2014/main" val="1119165675"/>
                    </a:ext>
                  </a:extLst>
                </a:gridCol>
                <a:gridCol w="1016000">
                  <a:extLst>
                    <a:ext uri="{9D8B030D-6E8A-4147-A177-3AD203B41FA5}">
                      <a16:colId xmlns="" xmlns:a16="http://schemas.microsoft.com/office/drawing/2014/main" val="2191118362"/>
                    </a:ext>
                  </a:extLst>
                </a:gridCol>
                <a:gridCol w="1016000">
                  <a:extLst>
                    <a:ext uri="{9D8B030D-6E8A-4147-A177-3AD203B41FA5}">
                      <a16:colId xmlns="" xmlns:a16="http://schemas.microsoft.com/office/drawing/2014/main" val="450242415"/>
                    </a:ext>
                  </a:extLst>
                </a:gridCol>
                <a:gridCol w="1016000">
                  <a:extLst>
                    <a:ext uri="{9D8B030D-6E8A-4147-A177-3AD203B41FA5}">
                      <a16:colId xmlns="" xmlns:a16="http://schemas.microsoft.com/office/drawing/2014/main" val="2979493059"/>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a:solidFill>
                            <a:schemeClr val="tx1"/>
                          </a:solidFill>
                        </a:rPr>
                        <a:t>70</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dirty="0">
                          <a:solidFill>
                            <a:schemeClr val="tx1"/>
                          </a:solidFill>
                        </a:rPr>
                        <a:t>40</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extLst>
                  <a:ext uri="{0D108BD9-81ED-4DB2-BD59-A6C34878D82A}">
                    <a16:rowId xmlns="" xmlns:a16="http://schemas.microsoft.com/office/drawing/2014/main" val="634859093"/>
                  </a:ext>
                </a:extLst>
              </a:tr>
            </a:tbl>
          </a:graphicData>
        </a:graphic>
      </p:graphicFrame>
    </p:spTree>
    <p:extLst>
      <p:ext uri="{BB962C8B-B14F-4D97-AF65-F5344CB8AC3E}">
        <p14:creationId xmlns="" xmlns:p14="http://schemas.microsoft.com/office/powerpoint/2010/main" val="490283340"/>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BINARY TREE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09599" y="903836"/>
            <a:ext cx="8866909" cy="830997"/>
          </a:xfrm>
          <a:prstGeom prst="rect">
            <a:avLst/>
          </a:prstGeom>
        </p:spPr>
        <p:txBody>
          <a:bodyPr wrap="square">
            <a:sp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4DEAFD94-4649-3271-6623-0E0335651A5E}"/>
              </a:ext>
            </a:extLst>
          </p:cNvPr>
          <p:cNvPicPr>
            <a:picLocks noChangeAspect="1"/>
          </p:cNvPicPr>
          <p:nvPr/>
        </p:nvPicPr>
        <p:blipFill rotWithShape="1">
          <a:blip r:embed="rId3"/>
          <a:srcRect l="31597" t="20079" r="17206" b="30555"/>
          <a:stretch/>
        </p:blipFill>
        <p:spPr>
          <a:xfrm>
            <a:off x="1122025" y="600077"/>
            <a:ext cx="9947950" cy="4758308"/>
          </a:xfrm>
          <a:prstGeom prst="rect">
            <a:avLst/>
          </a:prstGeom>
        </p:spPr>
      </p:pic>
      <p:sp>
        <p:nvSpPr>
          <p:cNvPr id="7" name="TextBox 6">
            <a:extLst>
              <a:ext uri="{FF2B5EF4-FFF2-40B4-BE49-F238E27FC236}">
                <a16:creationId xmlns="" xmlns:a16="http://schemas.microsoft.com/office/drawing/2014/main" id="{AD091EC7-C384-EB07-2B73-16A114AA5BD5}"/>
              </a:ext>
            </a:extLst>
          </p:cNvPr>
          <p:cNvSpPr txBox="1"/>
          <p:nvPr/>
        </p:nvSpPr>
        <p:spPr>
          <a:xfrm>
            <a:off x="277710" y="5541008"/>
            <a:ext cx="536106" cy="369332"/>
          </a:xfrm>
          <a:prstGeom prst="rect">
            <a:avLst/>
          </a:prstGeom>
          <a:noFill/>
        </p:spPr>
        <p:txBody>
          <a:bodyPr wrap="square" rtlCol="0">
            <a:spAutoFit/>
          </a:bodyPr>
          <a:lstStyle/>
          <a:p>
            <a:r>
              <a:rPr lang="en-US" dirty="0"/>
              <a:t>A[ ]</a:t>
            </a:r>
          </a:p>
        </p:txBody>
      </p:sp>
      <p:sp>
        <p:nvSpPr>
          <p:cNvPr id="8" name="TextBox 7">
            <a:extLst>
              <a:ext uri="{FF2B5EF4-FFF2-40B4-BE49-F238E27FC236}">
                <a16:creationId xmlns="" xmlns:a16="http://schemas.microsoft.com/office/drawing/2014/main" id="{B6741A57-FE6F-722B-D699-EBD2D1869039}"/>
              </a:ext>
            </a:extLst>
          </p:cNvPr>
          <p:cNvSpPr txBox="1"/>
          <p:nvPr/>
        </p:nvSpPr>
        <p:spPr>
          <a:xfrm>
            <a:off x="277710" y="5541008"/>
            <a:ext cx="1288540" cy="461665"/>
          </a:xfrm>
          <a:prstGeom prst="rect">
            <a:avLst/>
          </a:prstGeom>
          <a:noFill/>
        </p:spPr>
        <p:txBody>
          <a:bodyPr wrap="square" rtlCol="0">
            <a:spAutoFit/>
          </a:bodyPr>
          <a:lstStyle/>
          <a:p>
            <a:r>
              <a:rPr lang="en-US" dirty="0"/>
              <a:t>A[ ]</a:t>
            </a:r>
          </a:p>
        </p:txBody>
      </p:sp>
      <p:graphicFrame>
        <p:nvGraphicFramePr>
          <p:cNvPr id="10" name="Table 13">
            <a:extLst>
              <a:ext uri="{FF2B5EF4-FFF2-40B4-BE49-F238E27FC236}">
                <a16:creationId xmlns="" xmlns:a16="http://schemas.microsoft.com/office/drawing/2014/main" id="{B7C2E50E-65CB-7125-5EB2-52F85821F7C3}"/>
              </a:ext>
            </a:extLst>
          </p:cNvPr>
          <p:cNvGraphicFramePr>
            <a:graphicFrameLocks noGrp="1"/>
          </p:cNvGraphicFramePr>
          <p:nvPr>
            <p:extLst>
              <p:ext uri="{D42A27DB-BD31-4B8C-83A1-F6EECF244321}">
                <p14:modId xmlns="" xmlns:p14="http://schemas.microsoft.com/office/powerpoint/2010/main" val="1511743777"/>
              </p:ext>
            </p:extLst>
          </p:nvPr>
        </p:nvGraphicFramePr>
        <p:xfrm>
          <a:off x="1990068" y="5635598"/>
          <a:ext cx="6096000" cy="370840"/>
        </p:xfrm>
        <a:graphic>
          <a:graphicData uri="http://schemas.openxmlformats.org/drawingml/2006/table">
            <a:tbl>
              <a:tblPr firstRow="1" bandRow="1">
                <a:tableStyleId>{93296810-A885-4BE3-A3E7-6D5BEEA58F35}</a:tableStyleId>
              </a:tblPr>
              <a:tblGrid>
                <a:gridCol w="1016000">
                  <a:extLst>
                    <a:ext uri="{9D8B030D-6E8A-4147-A177-3AD203B41FA5}">
                      <a16:colId xmlns="" xmlns:a16="http://schemas.microsoft.com/office/drawing/2014/main" val="1375431978"/>
                    </a:ext>
                  </a:extLst>
                </a:gridCol>
                <a:gridCol w="1016000">
                  <a:extLst>
                    <a:ext uri="{9D8B030D-6E8A-4147-A177-3AD203B41FA5}">
                      <a16:colId xmlns="" xmlns:a16="http://schemas.microsoft.com/office/drawing/2014/main" val="2442708940"/>
                    </a:ext>
                  </a:extLst>
                </a:gridCol>
                <a:gridCol w="1016000">
                  <a:extLst>
                    <a:ext uri="{9D8B030D-6E8A-4147-A177-3AD203B41FA5}">
                      <a16:colId xmlns="" xmlns:a16="http://schemas.microsoft.com/office/drawing/2014/main" val="1119165675"/>
                    </a:ext>
                  </a:extLst>
                </a:gridCol>
                <a:gridCol w="1016000">
                  <a:extLst>
                    <a:ext uri="{9D8B030D-6E8A-4147-A177-3AD203B41FA5}">
                      <a16:colId xmlns="" xmlns:a16="http://schemas.microsoft.com/office/drawing/2014/main" val="2191118362"/>
                    </a:ext>
                  </a:extLst>
                </a:gridCol>
                <a:gridCol w="1016000">
                  <a:extLst>
                    <a:ext uri="{9D8B030D-6E8A-4147-A177-3AD203B41FA5}">
                      <a16:colId xmlns="" xmlns:a16="http://schemas.microsoft.com/office/drawing/2014/main" val="450242415"/>
                    </a:ext>
                  </a:extLst>
                </a:gridCol>
                <a:gridCol w="1016000">
                  <a:extLst>
                    <a:ext uri="{9D8B030D-6E8A-4147-A177-3AD203B41FA5}">
                      <a16:colId xmlns="" xmlns:a16="http://schemas.microsoft.com/office/drawing/2014/main" val="2979493059"/>
                    </a:ext>
                  </a:extLst>
                </a:gridCol>
              </a:tblGrid>
              <a:tr h="370840">
                <a:tc>
                  <a:txBody>
                    <a:bodyPr/>
                    <a:lstStyle/>
                    <a:p>
                      <a:r>
                        <a:rPr lang="en-US" dirty="0">
                          <a:solidFill>
                            <a:schemeClr val="tx1"/>
                          </a:solidFill>
                        </a:rPr>
                        <a:t>70</a:t>
                      </a:r>
                    </a:p>
                  </a:txBody>
                  <a:tcPr/>
                </a:tc>
                <a:tc>
                  <a:txBody>
                    <a:bodyPr/>
                    <a:lstStyle/>
                    <a:p>
                      <a:r>
                        <a:rPr lang="en-US" dirty="0">
                          <a:solidFill>
                            <a:schemeClr val="tx1"/>
                          </a:solidFill>
                        </a:rPr>
                        <a:t>40</a:t>
                      </a:r>
                    </a:p>
                  </a:txBody>
                  <a:tcPr/>
                </a:tc>
                <a:tc>
                  <a:txBody>
                    <a:bodyPr/>
                    <a:lstStyle/>
                    <a:p>
                      <a:r>
                        <a:rPr lang="en-US" dirty="0">
                          <a:solidFill>
                            <a:schemeClr val="tx1"/>
                          </a:solidFill>
                        </a:rPr>
                        <a:t>35</a:t>
                      </a:r>
                    </a:p>
                  </a:txBody>
                  <a:tcPr/>
                </a:tc>
                <a:tc>
                  <a:txBody>
                    <a:bodyPr/>
                    <a:lstStyle/>
                    <a:p>
                      <a:r>
                        <a:rPr lang="en-US" dirty="0">
                          <a:solidFill>
                            <a:schemeClr val="tx1"/>
                          </a:solidFill>
                        </a:rPr>
                        <a:t>33</a:t>
                      </a:r>
                    </a:p>
                  </a:txBody>
                  <a:tcPr/>
                </a:tc>
                <a:tc>
                  <a:txBody>
                    <a:bodyPr/>
                    <a:lstStyle/>
                    <a:p>
                      <a:r>
                        <a:rPr lang="en-US" dirty="0">
                          <a:solidFill>
                            <a:schemeClr val="tx1"/>
                          </a:solidFill>
                        </a:rPr>
                        <a:t>15</a:t>
                      </a:r>
                    </a:p>
                  </a:txBody>
                  <a:tcPr/>
                </a:tc>
                <a:tc>
                  <a:txBody>
                    <a:bodyPr/>
                    <a:lstStyle/>
                    <a:p>
                      <a:r>
                        <a:rPr lang="en-US" dirty="0">
                          <a:solidFill>
                            <a:schemeClr val="tx1"/>
                          </a:solidFill>
                        </a:rPr>
                        <a:t>10</a:t>
                      </a:r>
                    </a:p>
                  </a:txBody>
                  <a:tcPr/>
                </a:tc>
                <a:extLst>
                  <a:ext uri="{0D108BD9-81ED-4DB2-BD59-A6C34878D82A}">
                    <a16:rowId xmlns="" xmlns:a16="http://schemas.microsoft.com/office/drawing/2014/main" val="634859093"/>
                  </a:ext>
                </a:extLst>
              </a:tr>
            </a:tbl>
          </a:graphicData>
        </a:graphic>
      </p:graphicFrame>
      <p:cxnSp>
        <p:nvCxnSpPr>
          <p:cNvPr id="11" name="Straight Arrow Connector 10">
            <a:extLst>
              <a:ext uri="{FF2B5EF4-FFF2-40B4-BE49-F238E27FC236}">
                <a16:creationId xmlns="" xmlns:a16="http://schemas.microsoft.com/office/drawing/2014/main" id="{506D43C7-EC04-371A-C4ED-5D4D3CABAA26}"/>
              </a:ext>
            </a:extLst>
          </p:cNvPr>
          <p:cNvCxnSpPr/>
          <p:nvPr/>
        </p:nvCxnSpPr>
        <p:spPr>
          <a:xfrm flipH="1" flipV="1">
            <a:off x="7944546" y="6002673"/>
            <a:ext cx="734253" cy="460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757835AA-17F7-179E-5878-72EECD3D1FE5}"/>
              </a:ext>
            </a:extLst>
          </p:cNvPr>
          <p:cNvSpPr txBox="1"/>
          <p:nvPr/>
        </p:nvSpPr>
        <p:spPr>
          <a:xfrm>
            <a:off x="8761095" y="6139664"/>
            <a:ext cx="1781937" cy="646331"/>
          </a:xfrm>
          <a:prstGeom prst="rect">
            <a:avLst/>
          </a:prstGeom>
          <a:noFill/>
        </p:spPr>
        <p:txBody>
          <a:bodyPr wrap="square" rtlCol="0">
            <a:spAutoFit/>
          </a:bodyPr>
          <a:lstStyle/>
          <a:p>
            <a:r>
              <a:rPr lang="en-US" dirty="0"/>
              <a:t>Final sorted array</a:t>
            </a:r>
          </a:p>
        </p:txBody>
      </p:sp>
    </p:spTree>
    <p:extLst>
      <p:ext uri="{BB962C8B-B14F-4D97-AF65-F5344CB8AC3E}">
        <p14:creationId xmlns="" xmlns:p14="http://schemas.microsoft.com/office/powerpoint/2010/main" val="2243616616"/>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Application of Heap Binary and Heap Sort</a:t>
            </a:r>
            <a:endParaRPr lang="en-US" sz="2400" dirty="0"/>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272143" y="892630"/>
            <a:ext cx="11604171" cy="4154984"/>
          </a:xfrm>
          <a:prstGeom prst="rect">
            <a:avLst/>
          </a:prstGeom>
          <a:noFill/>
        </p:spPr>
        <p:txBody>
          <a:bodyPr wrap="square" rtlCol="0">
            <a:spAutoFit/>
          </a:bodyPr>
          <a:lstStyle/>
          <a:p>
            <a:r>
              <a:rPr lang="en-US" sz="2400" dirty="0" smtClean="0"/>
              <a:t>Heap Sort and Binary Heaps are widely used in applications such as </a:t>
            </a:r>
          </a:p>
          <a:p>
            <a:pPr>
              <a:buFont typeface="Wingdings" pitchFamily="2" charset="2"/>
              <a:buChar char="q"/>
            </a:pPr>
            <a:r>
              <a:rPr lang="en-US" sz="2400" dirty="0" smtClean="0"/>
              <a:t>Priority queues, </a:t>
            </a:r>
          </a:p>
          <a:p>
            <a:pPr>
              <a:buFont typeface="Wingdings" pitchFamily="2" charset="2"/>
              <a:buChar char="q"/>
            </a:pPr>
            <a:r>
              <a:rPr lang="en-US" sz="2400" dirty="0" smtClean="0"/>
              <a:t>Heap-based data structures,</a:t>
            </a:r>
          </a:p>
          <a:p>
            <a:pPr>
              <a:buFont typeface="Wingdings" pitchFamily="2" charset="2"/>
              <a:buChar char="q"/>
            </a:pPr>
            <a:r>
              <a:rPr lang="en-US" sz="2400" dirty="0" smtClean="0"/>
              <a:t>Scheduling algorithms, </a:t>
            </a:r>
          </a:p>
          <a:p>
            <a:pPr>
              <a:buFont typeface="Wingdings" pitchFamily="2" charset="2"/>
              <a:buChar char="q"/>
            </a:pPr>
            <a:r>
              <a:rPr lang="en-US" sz="2400" dirty="0" smtClean="0"/>
              <a:t>External sorting.</a:t>
            </a:r>
          </a:p>
          <a:p>
            <a:endParaRPr lang="en-US" sz="2400" dirty="0" smtClean="0"/>
          </a:p>
          <a:p>
            <a:r>
              <a:rPr lang="en-US" sz="2400" dirty="0" smtClean="0"/>
              <a:t>Python provides a built-in library (</a:t>
            </a:r>
            <a:r>
              <a:rPr lang="en-US" sz="2400" dirty="0" err="1" smtClean="0"/>
              <a:t>heapq</a:t>
            </a:r>
            <a:r>
              <a:rPr lang="en-US" sz="2400" dirty="0" smtClean="0"/>
              <a:t>) that implements a </a:t>
            </a:r>
            <a:r>
              <a:rPr lang="en-US" sz="2400" b="1" dirty="0" smtClean="0"/>
              <a:t>Min-Heap</a:t>
            </a:r>
            <a:r>
              <a:rPr lang="en-US" sz="2400" dirty="0" smtClean="0"/>
              <a:t> by default, and it can be adapted for a </a:t>
            </a:r>
            <a:r>
              <a:rPr lang="en-US" sz="2400" b="1" dirty="0" smtClean="0"/>
              <a:t>Max-Heap</a:t>
            </a:r>
            <a:r>
              <a:rPr lang="en-US" sz="2400" dirty="0" smtClean="0"/>
              <a:t> by negating the values.</a:t>
            </a:r>
          </a:p>
          <a:p>
            <a:endParaRPr lang="en-US" sz="2400" b="1" dirty="0" smtClean="0">
              <a:latin typeface="Times New Roman" panose="02020603050405020304" pitchFamily="18" charset="0"/>
              <a:cs typeface="Times New Roman" panose="02020603050405020304" pitchFamily="18" charset="0"/>
            </a:endParaRPr>
          </a:p>
          <a:p>
            <a:endParaRPr lang="en-US" sz="2400" b="1" dirty="0" smtClean="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254978408"/>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272143" y="805543"/>
            <a:ext cx="11734800" cy="6001643"/>
          </a:xfrm>
          <a:prstGeom prst="rect">
            <a:avLst/>
          </a:prstGeom>
          <a:noFill/>
        </p:spPr>
        <p:txBody>
          <a:bodyPr wrap="square" rtlCol="0">
            <a:spAutoFit/>
          </a:bodyPr>
          <a:lstStyle/>
          <a:p>
            <a:r>
              <a:rPr lang="en-US" sz="2400" b="1" dirty="0" smtClean="0"/>
              <a:t>Key Properties of Binary Heap:</a:t>
            </a:r>
          </a:p>
          <a:p>
            <a:pPr lvl="0">
              <a:buFont typeface="Wingdings" pitchFamily="2" charset="2"/>
              <a:buChar char="Ø"/>
            </a:pPr>
            <a:r>
              <a:rPr lang="en-US" sz="2400" b="1" dirty="0" smtClean="0"/>
              <a:t>Complete Binary Tree</a:t>
            </a:r>
            <a:r>
              <a:rPr lang="en-US" sz="2400" dirty="0" smtClean="0"/>
              <a:t>: Every level of the tree is fully filled except possibly the last level, which is filled from left to right.</a:t>
            </a:r>
          </a:p>
          <a:p>
            <a:pPr lvl="0">
              <a:buFont typeface="Wingdings" pitchFamily="2" charset="2"/>
              <a:buChar char="Ø"/>
            </a:pPr>
            <a:r>
              <a:rPr lang="en-US" sz="2400" b="1" dirty="0" smtClean="0"/>
              <a:t>Heap Property</a:t>
            </a:r>
            <a:r>
              <a:rPr lang="en-US" sz="2400" dirty="0" smtClean="0"/>
              <a:t>: In a max-heap, the key of a parent node is always greater than or equal to the keys of its children; for a min-heap, the key of a parent node is always less than or equal to the keys of its children.</a:t>
            </a:r>
          </a:p>
          <a:p>
            <a:pPr lvl="0"/>
            <a:endParaRPr lang="en-US" sz="2400" dirty="0" smtClean="0"/>
          </a:p>
          <a:p>
            <a:r>
              <a:rPr lang="en-US" sz="2400" b="1" dirty="0" smtClean="0"/>
              <a:t>Heap Operations:</a:t>
            </a:r>
          </a:p>
          <a:p>
            <a:pPr>
              <a:buFont typeface="Wingdings" pitchFamily="2" charset="2"/>
              <a:buChar char="Ø"/>
            </a:pPr>
            <a:r>
              <a:rPr lang="en-US" sz="2400" dirty="0" smtClean="0"/>
              <a:t>The main operations on a heap are:</a:t>
            </a:r>
          </a:p>
          <a:p>
            <a:pPr>
              <a:buFont typeface="Wingdings" pitchFamily="2" charset="2"/>
              <a:buChar char="Ø"/>
            </a:pPr>
            <a:r>
              <a:rPr lang="en-US" sz="2400" b="1" dirty="0" smtClean="0"/>
              <a:t>Insert</a:t>
            </a:r>
            <a:r>
              <a:rPr lang="en-US" sz="2400" dirty="0" smtClean="0"/>
              <a:t>: Add an element while maintaining the heap property.</a:t>
            </a:r>
          </a:p>
          <a:p>
            <a:pPr>
              <a:buFont typeface="Wingdings" pitchFamily="2" charset="2"/>
              <a:buChar char="Ø"/>
            </a:pPr>
            <a:r>
              <a:rPr lang="en-US" sz="2400" b="1" dirty="0" smtClean="0"/>
              <a:t>Extract (or Remove)</a:t>
            </a:r>
            <a:r>
              <a:rPr lang="en-US" sz="2400" dirty="0" smtClean="0"/>
              <a:t>: Remove the root element (max in a max-heap, min in a min-heap) and restore the heap property.</a:t>
            </a:r>
          </a:p>
          <a:p>
            <a:pPr>
              <a:buFont typeface="Wingdings" pitchFamily="2" charset="2"/>
              <a:buChar char="Ø"/>
            </a:pPr>
            <a:r>
              <a:rPr lang="en-US" sz="2400" b="1" dirty="0" err="1" smtClean="0"/>
              <a:t>Heapify</a:t>
            </a:r>
            <a:r>
              <a:rPr lang="en-US" sz="2400" dirty="0" smtClean="0"/>
              <a:t>: Rearrange the elements to maintain the heap property after an insertion or removal .  </a:t>
            </a:r>
            <a:r>
              <a:rPr lang="en-US" sz="2400" b="1" dirty="0" smtClean="0">
                <a:latin typeface="Times New Roman" panose="02020603050405020304" pitchFamily="18" charset="0"/>
                <a:cs typeface="Times New Roman" panose="02020603050405020304" pitchFamily="18" charset="0"/>
              </a:rPr>
              <a:t> </a:t>
            </a:r>
          </a:p>
          <a:p>
            <a:pPr>
              <a:buFont typeface="Wingdings" pitchFamily="2" charset="2"/>
              <a:buChar char="Ø"/>
            </a:pPr>
            <a:r>
              <a:rPr lang="en-US" sz="2400" b="1" dirty="0" smtClean="0"/>
              <a:t>Heap Sort</a:t>
            </a:r>
            <a:r>
              <a:rPr lang="en-US" sz="2400" dirty="0" smtClean="0"/>
              <a:t> is an efficient, in-place sorting algorithm that can be used for both ascending and descending order sorting.</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254978408"/>
      </p:ext>
    </p:extLst>
  </p:cSld>
  <p:clrMapOvr>
    <a:masterClrMapping/>
  </p:clrMapOvr>
  <mc:AlternateContent xmlns:mc="http://schemas.openxmlformats.org/markup-compatibility/2006">
    <mc:Choice xmlns=""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1026828" y="796685"/>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solidFill>
                  <a:schemeClr val="bg1"/>
                </a:solidFill>
              </a:rPr>
              <a:t>On which algorithm is heap sort based on?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1026828" y="1608892"/>
            <a:ext cx="1000139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solidFill>
                  <a:srgbClr val="FFC000"/>
                </a:solidFill>
              </a:rPr>
              <a:t>Fibonacci heap</a:t>
            </a:r>
          </a:p>
          <a:p>
            <a:pPr marL="342900" indent="-342900">
              <a:lnSpc>
                <a:spcPct val="150000"/>
              </a:lnSpc>
              <a:buAutoNum type="alphaLcParenBoth"/>
            </a:pPr>
            <a:r>
              <a:rPr lang="en-US" sz="1600" dirty="0">
                <a:solidFill>
                  <a:srgbClr val="FFC000"/>
                </a:solidFill>
              </a:rPr>
              <a:t>Binary tree</a:t>
            </a:r>
          </a:p>
          <a:p>
            <a:pPr marL="342900" indent="-342900">
              <a:lnSpc>
                <a:spcPct val="150000"/>
              </a:lnSpc>
              <a:buAutoNum type="alphaLcParenBoth"/>
            </a:pPr>
            <a:r>
              <a:rPr lang="en-US" sz="1600" dirty="0">
                <a:solidFill>
                  <a:srgbClr val="FFC000"/>
                </a:solidFill>
              </a:rPr>
              <a:t>Priority queue</a:t>
            </a:r>
          </a:p>
          <a:p>
            <a:pPr marL="342900" indent="-342900">
              <a:lnSpc>
                <a:spcPct val="150000"/>
              </a:lnSpc>
              <a:buAutoNum type="alphaLcParenBoth"/>
            </a:pPr>
            <a:r>
              <a:rPr lang="en-US" sz="1600" dirty="0">
                <a:solidFill>
                  <a:srgbClr val="FFC000"/>
                </a:solidFill>
              </a:rPr>
              <a:t>FIFO</a:t>
            </a:r>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941418" y="3325130"/>
            <a:ext cx="10172210" cy="1898587"/>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dirty="0"/>
              <a:t>2.Consider the following heap after build heap phase. What will be its corresponding array?</a:t>
            </a:r>
          </a:p>
          <a:p>
            <a:pPr lvl="0"/>
            <a:endParaRPr lang="en-US" dirty="0"/>
          </a:p>
          <a:p>
            <a:pPr lvl="0"/>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1026828" y="5294126"/>
            <a:ext cx="10172210" cy="1508561"/>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t>26,53,41,97,58,59,31</a:t>
            </a:r>
          </a:p>
          <a:p>
            <a:pPr marL="342900" indent="-342900">
              <a:lnSpc>
                <a:spcPct val="150000"/>
              </a:lnSpc>
              <a:buAutoNum type="alphaLcParenBoth"/>
            </a:pPr>
            <a:r>
              <a:rPr lang="en-US" sz="1600" dirty="0"/>
              <a:t>26,31,41,53,58,59,97</a:t>
            </a:r>
          </a:p>
          <a:p>
            <a:pPr marL="342900" indent="-342900">
              <a:lnSpc>
                <a:spcPct val="150000"/>
              </a:lnSpc>
              <a:buAutoNum type="alphaLcParenBoth"/>
            </a:pPr>
            <a:r>
              <a:rPr lang="en-US" sz="1600" dirty="0"/>
              <a:t>26,41,53,97,31,58,59</a:t>
            </a:r>
          </a:p>
          <a:p>
            <a:pPr marL="342900" indent="-342900">
              <a:lnSpc>
                <a:spcPct val="150000"/>
              </a:lnSpc>
              <a:buAutoNum type="alphaLcParenBoth"/>
            </a:pPr>
            <a:r>
              <a:rPr lang="en-US" sz="1600" dirty="0"/>
              <a:t>97,53,59,26,41,58,31</a:t>
            </a:r>
          </a:p>
        </p:txBody>
      </p:sp>
      <p:pic>
        <p:nvPicPr>
          <p:cNvPr id="8"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pic>
        <p:nvPicPr>
          <p:cNvPr id="1026" name="Picture 2">
            <a:extLst>
              <a:ext uri="{FF2B5EF4-FFF2-40B4-BE49-F238E27FC236}">
                <a16:creationId xmlns="" xmlns:a16="http://schemas.microsoft.com/office/drawing/2014/main" id="{923CA2EE-9B39-25AC-B114-D9DA0F53222D}"/>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4282747" y="4156135"/>
            <a:ext cx="2703269" cy="9919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192766172"/>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1009895" y="796686"/>
            <a:ext cx="10172210" cy="100671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3. Which one of the following array elements represents a binary min heap?</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1026828" y="1977905"/>
            <a:ext cx="980742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solidFill>
                  <a:srgbClr val="FFC000"/>
                </a:solidFill>
                <a:latin typeface="Arial" panose="020B0604020202020204" pitchFamily="34" charset="0"/>
              </a:rPr>
              <a:t> 12 10 8 25 14 17</a:t>
            </a:r>
          </a:p>
          <a:p>
            <a:pPr marL="342900" indent="-342900">
              <a:lnSpc>
                <a:spcPct val="150000"/>
              </a:lnSpc>
              <a:buAutoNum type="alphaLcParenBoth"/>
            </a:pPr>
            <a:r>
              <a:rPr lang="en-US" sz="1600" dirty="0">
                <a:solidFill>
                  <a:srgbClr val="FFC000"/>
                </a:solidFill>
                <a:latin typeface="Arial" panose="020B0604020202020204" pitchFamily="34" charset="0"/>
              </a:rPr>
              <a:t> 8 10 12 25 14 17</a:t>
            </a:r>
          </a:p>
          <a:p>
            <a:pPr marL="342900" indent="-342900">
              <a:lnSpc>
                <a:spcPct val="150000"/>
              </a:lnSpc>
              <a:buAutoNum type="alphaLcParenBoth"/>
            </a:pPr>
            <a:r>
              <a:rPr lang="en-US" sz="1600" dirty="0">
                <a:solidFill>
                  <a:srgbClr val="FFC000"/>
                </a:solidFill>
                <a:latin typeface="Arial" panose="020B0604020202020204" pitchFamily="34" charset="0"/>
              </a:rPr>
              <a:t> 25 17 14 12 10 8</a:t>
            </a:r>
          </a:p>
          <a:p>
            <a:pPr marL="342900" indent="-342900">
              <a:lnSpc>
                <a:spcPct val="150000"/>
              </a:lnSpc>
              <a:buAutoNum type="alphaLcParenBoth"/>
            </a:pPr>
            <a:r>
              <a:rPr lang="en-US" sz="1600" dirty="0">
                <a:solidFill>
                  <a:srgbClr val="FFC000"/>
                </a:solidFill>
                <a:latin typeface="Arial" panose="020B0604020202020204" pitchFamily="34" charset="0"/>
              </a:rPr>
              <a:t> 14 17 25 10 12 8</a:t>
            </a:r>
            <a:endParaRPr lang="en-US" sz="1600" dirty="0"/>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4. In which heap the root node must be greatest among the keys present at all of it’s children?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1026828" y="4658402"/>
            <a:ext cx="9824360" cy="196454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Tx/>
              <a:buAutoNum type="alphaLcParenBoth"/>
            </a:pPr>
            <a:r>
              <a:rPr lang="en-US" dirty="0"/>
              <a:t>min-heap</a:t>
            </a:r>
          </a:p>
          <a:p>
            <a:pPr marL="342900" indent="-342900">
              <a:lnSpc>
                <a:spcPct val="150000"/>
              </a:lnSpc>
              <a:buFontTx/>
              <a:buAutoNum type="alphaLcParenBoth"/>
            </a:pPr>
            <a:r>
              <a:rPr lang="en-US" dirty="0"/>
              <a:t> max-heap</a:t>
            </a:r>
          </a:p>
          <a:p>
            <a:pPr marL="342900" indent="-342900">
              <a:lnSpc>
                <a:spcPct val="150000"/>
              </a:lnSpc>
              <a:buFontTx/>
              <a:buAutoNum type="alphaLcParenBoth"/>
            </a:pPr>
            <a:r>
              <a:rPr lang="en-US" dirty="0"/>
              <a:t> Both A and B</a:t>
            </a:r>
          </a:p>
          <a:p>
            <a:pPr marL="342900" indent="-342900">
              <a:lnSpc>
                <a:spcPct val="150000"/>
              </a:lnSpc>
              <a:buFontTx/>
              <a:buAutoNum type="alphaLcParenBoth"/>
            </a:pPr>
            <a:r>
              <a:rPr lang="en-US" dirty="0"/>
              <a:t>None of the above</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 xmlns:p14="http://schemas.microsoft.com/office/powerpoint/2010/main" val="3203480701"/>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1009895" y="88736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5. How many type of heap are there?</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1026828" y="1783172"/>
            <a:ext cx="982128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2</a:t>
            </a:r>
          </a:p>
          <a:p>
            <a:pPr marL="342900" indent="-342900">
              <a:lnSpc>
                <a:spcPct val="150000"/>
              </a:lnSpc>
              <a:buAutoNum type="alphaLcParenBoth"/>
            </a:pPr>
            <a:r>
              <a:rPr lang="en-US" sz="1600" dirty="0">
                <a:latin typeface="Arial" panose="020B0604020202020204" pitchFamily="34" charset="0"/>
              </a:rPr>
              <a:t>3</a:t>
            </a:r>
          </a:p>
          <a:p>
            <a:pPr marL="342900" indent="-342900">
              <a:lnSpc>
                <a:spcPct val="150000"/>
              </a:lnSpc>
              <a:buAutoNum type="alphaLcParenBoth"/>
            </a:pPr>
            <a:r>
              <a:rPr lang="en-US" sz="1600" dirty="0">
                <a:latin typeface="Arial" panose="020B0604020202020204" pitchFamily="34" charset="0"/>
              </a:rPr>
              <a:t>4</a:t>
            </a:r>
          </a:p>
          <a:p>
            <a:pPr marL="342900" indent="-342900">
              <a:lnSpc>
                <a:spcPct val="150000"/>
              </a:lnSpc>
              <a:buAutoNum type="alphaLcParenBoth"/>
            </a:pPr>
            <a:r>
              <a:rPr lang="en-US" sz="1600" dirty="0">
                <a:latin typeface="Arial" panose="020B0604020202020204" pitchFamily="34" charset="0"/>
              </a:rPr>
              <a:t>5</a:t>
            </a:r>
            <a:endParaRPr lang="en-US" sz="1600" dirty="0"/>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1026828" y="3797040"/>
            <a:ext cx="10172210" cy="885796"/>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6. What is its wort case time complexity of Heap sort?</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1009895" y="4753767"/>
            <a:ext cx="9838214"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pt-BR" dirty="0"/>
              <a:t>O(nlogn)</a:t>
            </a:r>
          </a:p>
          <a:p>
            <a:pPr marL="342900" indent="-342900">
              <a:lnSpc>
                <a:spcPct val="150000"/>
              </a:lnSpc>
              <a:buAutoNum type="alphaLcParenBoth"/>
            </a:pPr>
            <a:r>
              <a:rPr lang="pt-BR" dirty="0"/>
              <a:t> O(n2logn)</a:t>
            </a:r>
          </a:p>
          <a:p>
            <a:pPr marL="342900" indent="-342900">
              <a:lnSpc>
                <a:spcPct val="150000"/>
              </a:lnSpc>
              <a:buAutoNum type="alphaLcParenBoth"/>
            </a:pPr>
            <a:r>
              <a:rPr lang="pt-BR" dirty="0"/>
              <a:t> O(n2)</a:t>
            </a:r>
          </a:p>
          <a:p>
            <a:pPr marL="342900" indent="-342900">
              <a:lnSpc>
                <a:spcPct val="150000"/>
              </a:lnSpc>
              <a:buAutoNum type="alphaLcParenBoth"/>
            </a:pPr>
            <a:r>
              <a:rPr lang="pt-BR" dirty="0"/>
              <a:t>O(n3)</a:t>
            </a:r>
            <a:endParaRPr lang="en-US" sz="1600" dirty="0">
              <a:solidFill>
                <a:srgbClr val="FFC000"/>
              </a:solidFill>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 xmlns:p14="http://schemas.microsoft.com/office/powerpoint/2010/main" val="2295854207"/>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7. What is the time taken to perform a delete min operation?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pt-BR" sz="1600" dirty="0">
                <a:latin typeface="Arial" panose="020B0604020202020204" pitchFamily="34" charset="0"/>
              </a:rPr>
              <a:t>O(N)</a:t>
            </a:r>
          </a:p>
          <a:p>
            <a:pPr marL="342900" indent="-342900">
              <a:lnSpc>
                <a:spcPct val="150000"/>
              </a:lnSpc>
              <a:buAutoNum type="alphaLcParenBoth"/>
            </a:pPr>
            <a:r>
              <a:rPr lang="pt-BR" sz="1600" dirty="0">
                <a:latin typeface="Arial" panose="020B0604020202020204" pitchFamily="34" charset="0"/>
              </a:rPr>
              <a:t>O(N log N)</a:t>
            </a:r>
          </a:p>
          <a:p>
            <a:pPr marL="342900" indent="-342900">
              <a:lnSpc>
                <a:spcPct val="150000"/>
              </a:lnSpc>
              <a:buAutoNum type="alphaLcParenBoth"/>
            </a:pPr>
            <a:r>
              <a:rPr lang="pt-BR" sz="1600" dirty="0">
                <a:latin typeface="Arial" panose="020B0604020202020204" pitchFamily="34" charset="0"/>
              </a:rPr>
              <a:t>O(log N)</a:t>
            </a:r>
          </a:p>
          <a:p>
            <a:pPr marL="342900" indent="-342900">
              <a:lnSpc>
                <a:spcPct val="150000"/>
              </a:lnSpc>
              <a:buAutoNum type="alphaLcParenBoth"/>
            </a:pPr>
            <a:r>
              <a:rPr lang="pt-BR" sz="1600" dirty="0">
                <a:latin typeface="Arial" panose="020B0604020202020204" pitchFamily="34" charset="0"/>
              </a:rPr>
              <a:t>O(N2)</a:t>
            </a:r>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8. How many arrays are required to perform deletion operation in a heap?</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pl-PL" dirty="0"/>
              <a:t>1</a:t>
            </a:r>
          </a:p>
          <a:p>
            <a:pPr marL="342900" indent="-342900">
              <a:lnSpc>
                <a:spcPct val="150000"/>
              </a:lnSpc>
              <a:buAutoNum type="alphaLcParenBoth"/>
            </a:pPr>
            <a:r>
              <a:rPr lang="pl-PL" dirty="0"/>
              <a:t> 2</a:t>
            </a:r>
          </a:p>
          <a:p>
            <a:pPr marL="342900" indent="-342900">
              <a:lnSpc>
                <a:spcPct val="150000"/>
              </a:lnSpc>
              <a:buAutoNum type="alphaLcParenBoth"/>
            </a:pPr>
            <a:r>
              <a:rPr lang="pl-PL" dirty="0"/>
              <a:t> 3</a:t>
            </a:r>
          </a:p>
          <a:p>
            <a:pPr marL="342900" indent="-342900">
              <a:lnSpc>
                <a:spcPct val="150000"/>
              </a:lnSpc>
              <a:buAutoNum type="alphaLcParenBoth"/>
            </a:pPr>
            <a:r>
              <a:rPr lang="pl-PL" dirty="0"/>
              <a:t> 4</a:t>
            </a:r>
            <a:endParaRPr lang="en-US" sz="1600" dirty="0">
              <a:solidFill>
                <a:srgbClr val="FFC000"/>
              </a:solidFill>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 xmlns:p14="http://schemas.microsoft.com/office/powerpoint/2010/main" val="1761999789"/>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9. What is the typical running time of a heap sort algorithm?</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 xmlns:a16="http://schemas.microsoft.com/office/drawing/2014/main" id="{5D8B791C-9B35-CF16-C192-D202E0DB9A60}"/>
              </a:ext>
            </a:extLst>
          </p:cNvPr>
          <p:cNvSpPr/>
          <p:nvPr/>
        </p:nvSpPr>
        <p:spPr>
          <a:xfrm>
            <a:off x="1026828" y="1977905"/>
            <a:ext cx="9904408"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pt-BR" sz="1600" dirty="0">
                <a:latin typeface="Arial" panose="020B0604020202020204" pitchFamily="34" charset="0"/>
              </a:rPr>
              <a:t> O(N)</a:t>
            </a:r>
          </a:p>
          <a:p>
            <a:pPr marL="342900" indent="-342900">
              <a:lnSpc>
                <a:spcPct val="150000"/>
              </a:lnSpc>
              <a:buAutoNum type="alphaLcParenBoth"/>
            </a:pPr>
            <a:r>
              <a:rPr lang="pt-BR" sz="1600" dirty="0">
                <a:latin typeface="Arial" panose="020B0604020202020204" pitchFamily="34" charset="0"/>
              </a:rPr>
              <a:t>b) O(N log N)</a:t>
            </a:r>
          </a:p>
          <a:p>
            <a:pPr marL="342900" indent="-342900">
              <a:lnSpc>
                <a:spcPct val="150000"/>
              </a:lnSpc>
              <a:buAutoNum type="alphaLcParenBoth"/>
            </a:pPr>
            <a:r>
              <a:rPr lang="pt-BR" sz="1600" dirty="0">
                <a:latin typeface="Arial" panose="020B0604020202020204" pitchFamily="34" charset="0"/>
              </a:rPr>
              <a:t>c) O(log N)</a:t>
            </a:r>
          </a:p>
          <a:p>
            <a:pPr marL="342900" indent="-342900">
              <a:lnSpc>
                <a:spcPct val="150000"/>
              </a:lnSpc>
              <a:buAutoNum type="alphaLcParenBoth"/>
            </a:pPr>
            <a:r>
              <a:rPr lang="pt-BR" sz="1600" dirty="0">
                <a:latin typeface="Arial" panose="020B0604020202020204" pitchFamily="34" charset="0"/>
              </a:rPr>
              <a:t>d) O(N2)</a:t>
            </a:r>
            <a:endParaRPr lang="en-US" sz="1600" dirty="0"/>
          </a:p>
        </p:txBody>
      </p:sp>
      <p:sp>
        <p:nvSpPr>
          <p:cNvPr id="13" name="Google Shape;502;p17">
            <a:extLst>
              <a:ext uri="{FF2B5EF4-FFF2-40B4-BE49-F238E27FC236}">
                <a16:creationId xmlns=""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10. In heap sort, after deleting the last minimum element, the array will contain elements in?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 xmlns:a16="http://schemas.microsoft.com/office/drawing/2014/main" id="{7E00138C-2256-5D01-E821-A57ADA3BBCB0}"/>
              </a:ext>
            </a:extLst>
          </p:cNvPr>
          <p:cNvSpPr/>
          <p:nvPr/>
        </p:nvSpPr>
        <p:spPr>
          <a:xfrm>
            <a:off x="1009895" y="4727197"/>
            <a:ext cx="992134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increasing sorting order</a:t>
            </a:r>
          </a:p>
          <a:p>
            <a:pPr marL="342900" indent="-342900">
              <a:lnSpc>
                <a:spcPct val="150000"/>
              </a:lnSpc>
              <a:buAutoNum type="alphaLcParenBoth"/>
            </a:pPr>
            <a:r>
              <a:rPr lang="en-US" dirty="0"/>
              <a:t> decreasing sorting order</a:t>
            </a:r>
          </a:p>
          <a:p>
            <a:pPr marL="342900" indent="-342900">
              <a:lnSpc>
                <a:spcPct val="150000"/>
              </a:lnSpc>
              <a:buAutoNum type="alphaLcParenBoth"/>
            </a:pPr>
            <a:r>
              <a:rPr lang="en-US" dirty="0"/>
              <a:t>tree </a:t>
            </a:r>
            <a:r>
              <a:rPr lang="en-US" dirty="0" err="1"/>
              <a:t>inorder</a:t>
            </a:r>
            <a:endParaRPr lang="en-US" dirty="0"/>
          </a:p>
          <a:p>
            <a:pPr marL="342900" indent="-342900">
              <a:lnSpc>
                <a:spcPct val="150000"/>
              </a:lnSpc>
              <a:buAutoNum type="alphaLcParenBoth"/>
            </a:pPr>
            <a:r>
              <a:rPr lang="en-US" dirty="0"/>
              <a:t> tree preorder</a:t>
            </a:r>
            <a:endParaRPr lang="en-US" sz="1600" dirty="0">
              <a:solidFill>
                <a:srgbClr val="FF9900"/>
              </a:solidFill>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 xmlns:p14="http://schemas.microsoft.com/office/powerpoint/2010/main" val="2922560382"/>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1935093" y="1333873"/>
            <a:ext cx="9608234" cy="2934458"/>
          </a:xfrm>
          <a:prstGeom prst="rect">
            <a:avLst/>
          </a:prstGeom>
          <a:noFill/>
        </p:spPr>
        <p:txBody>
          <a:bodyPr wrap="square" rtlCol="0">
            <a:spAutoFit/>
          </a:bodyPr>
          <a:lstStyle/>
          <a:p>
            <a:pPr>
              <a:lnSpc>
                <a:spcPct val="200000"/>
              </a:lnSpc>
            </a:pPr>
            <a:r>
              <a:rPr lang="en-US" b="1" dirty="0"/>
              <a:t>1</a:t>
            </a:r>
            <a:r>
              <a:rPr lang="en-US" sz="2400" b="1" dirty="0">
                <a:latin typeface="Times New Roman" panose="02020603050405020304" pitchFamily="18" charset="0"/>
                <a:cs typeface="Times New Roman" panose="02020603050405020304" pitchFamily="18" charset="0"/>
              </a:rPr>
              <a:t>. Describe heap sort and </a:t>
            </a:r>
            <a:r>
              <a:rPr lang="en-US" sz="2400" b="1" dirty="0" err="1">
                <a:latin typeface="Times New Roman" panose="02020603050405020304" pitchFamily="18" charset="0"/>
                <a:cs typeface="Times New Roman" panose="02020603050405020304" pitchFamily="18" charset="0"/>
              </a:rPr>
              <a:t>heapifying</a:t>
            </a:r>
            <a:r>
              <a:rPr lang="en-US" sz="2400" b="1" dirty="0">
                <a:latin typeface="Times New Roman" panose="02020603050405020304" pitchFamily="18" charset="0"/>
                <a:cs typeface="Times New Roman" panose="02020603050405020304" pitchFamily="18" charset="0"/>
              </a:rPr>
              <a:t> with examples</a:t>
            </a:r>
          </a:p>
          <a:p>
            <a:pPr>
              <a:lnSpc>
                <a:spcPct val="200000"/>
              </a:lnSpc>
            </a:pPr>
            <a:r>
              <a:rPr lang="en-US" sz="2400" b="1" dirty="0">
                <a:latin typeface="Times New Roman" panose="02020603050405020304" pitchFamily="18" charset="0"/>
                <a:cs typeface="Times New Roman" panose="02020603050405020304" pitchFamily="18" charset="0"/>
              </a:rPr>
              <a:t>2. List out the applications of heapsort</a:t>
            </a:r>
          </a:p>
          <a:p>
            <a:pPr marL="342900" indent="-342900">
              <a:lnSpc>
                <a:spcPct val="200000"/>
              </a:lnSpc>
            </a:pPr>
            <a:r>
              <a:rPr lang="en-US" sz="2400" b="1" dirty="0">
                <a:latin typeface="Times New Roman" panose="02020603050405020304" pitchFamily="18" charset="0"/>
                <a:cs typeface="Times New Roman" panose="02020603050405020304" pitchFamily="18" charset="0"/>
              </a:rPr>
              <a:t>3. Analyze  the time complexity of heap sort</a:t>
            </a:r>
          </a:p>
          <a:p>
            <a:pPr marL="342900" indent="-342900">
              <a:lnSpc>
                <a:spcPct val="200000"/>
              </a:lnSpc>
            </a:pPr>
            <a:endParaRPr lang="en-US" sz="2400" b="1" dirty="0">
              <a:latin typeface="Times New Roman" panose="02020603050405020304" pitchFamily="18"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 xmlns:p14="http://schemas.microsoft.com/office/powerpoint/2010/main" val="2602073769"/>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5355312"/>
          </a:xfrm>
          <a:prstGeom prst="rect">
            <a:avLst/>
          </a:prstGeom>
          <a:noFill/>
        </p:spPr>
        <p:txBody>
          <a:bodyPr wrap="square" rtlCol="0">
            <a:spAutoFit/>
          </a:bodyPr>
          <a:lstStyle/>
          <a:p>
            <a:r>
              <a:rPr lang="en-US" b="1" dirty="0" smtClean="0"/>
              <a:t>Textbooks:</a:t>
            </a:r>
            <a:endParaRPr lang="en-US" dirty="0" smtClean="0"/>
          </a:p>
          <a:p>
            <a:pPr lvl="0"/>
            <a:r>
              <a:rPr lang="en-US" dirty="0" smtClean="0"/>
              <a:t>Mark Allen Weiss, Data Structures and Algorithm Analysis in C, 2010, Second Edition, Pearson Education.</a:t>
            </a:r>
          </a:p>
          <a:p>
            <a:pPr lvl="0"/>
            <a:r>
              <a:rPr lang="en-US" dirty="0" smtClean="0"/>
              <a:t>Allen B. Downey, ”Think Python: How to Think Like a Computer Scientist’’, 2nd edition, Updated for Python 3, </a:t>
            </a:r>
            <a:r>
              <a:rPr lang="en-US" dirty="0" err="1" smtClean="0"/>
              <a:t>Shroff</a:t>
            </a:r>
            <a:r>
              <a:rPr lang="en-US" dirty="0" smtClean="0"/>
              <a:t>/O’Reilly Publishers, 2016 (</a:t>
            </a:r>
            <a:r>
              <a:rPr lang="en-US" u="sng" dirty="0" smtClean="0">
                <a:hlinkClick r:id="rId2"/>
              </a:rPr>
              <a:t>http://greenteapress.com/wp/thinkpython/</a:t>
            </a:r>
            <a:r>
              <a:rPr lang="en-US" dirty="0" smtClean="0"/>
              <a:t>)</a:t>
            </a:r>
          </a:p>
          <a:p>
            <a:pPr lvl="0"/>
            <a:r>
              <a:rPr lang="en-US" dirty="0" smtClean="0"/>
              <a:t>Data Structures and algorithms using python, 2011,Rance D, </a:t>
            </a:r>
            <a:r>
              <a:rPr lang="en-US" dirty="0" err="1" smtClean="0"/>
              <a:t>Necaise</a:t>
            </a:r>
            <a:r>
              <a:rPr lang="en-US" dirty="0" smtClean="0"/>
              <a:t>, </a:t>
            </a:r>
            <a:r>
              <a:rPr lang="en-US" dirty="0" err="1" smtClean="0"/>
              <a:t>himilton</a:t>
            </a:r>
            <a:r>
              <a:rPr lang="en-US" dirty="0" smtClean="0"/>
              <a:t> printing</a:t>
            </a:r>
          </a:p>
          <a:p>
            <a:r>
              <a:rPr lang="en-US" b="1" dirty="0" err="1" smtClean="0"/>
              <a:t>ReferenceBooks</a:t>
            </a:r>
            <a:r>
              <a:rPr lang="en-US" b="1" dirty="0" smtClean="0"/>
              <a:t>:</a:t>
            </a:r>
            <a:endParaRPr lang="en-US" dirty="0" smtClean="0"/>
          </a:p>
          <a:p>
            <a:pPr lvl="0"/>
            <a:r>
              <a:rPr lang="en-US" dirty="0" smtClean="0"/>
              <a:t>Data Structures and Algorithm Analysis in PYTHON, 2010, Mark Allen Weiss, Second Edition, Pearson Education.</a:t>
            </a:r>
          </a:p>
          <a:p>
            <a:pPr lvl="0"/>
            <a:r>
              <a:rPr lang="en-US" dirty="0" smtClean="0"/>
              <a:t>Data Structures and Algorithms, </a:t>
            </a:r>
            <a:r>
              <a:rPr lang="en-US" dirty="0" err="1" smtClean="0"/>
              <a:t>A.V.Aho</a:t>
            </a:r>
            <a:r>
              <a:rPr lang="en-US" dirty="0" smtClean="0"/>
              <a:t>, </a:t>
            </a:r>
            <a:r>
              <a:rPr lang="en-US" dirty="0" err="1" smtClean="0"/>
              <a:t>J.E.Hopcroft</a:t>
            </a:r>
            <a:r>
              <a:rPr lang="en-US" dirty="0" smtClean="0"/>
              <a:t>, and </a:t>
            </a:r>
            <a:r>
              <a:rPr lang="en-US" dirty="0" err="1" smtClean="0"/>
              <a:t>J.D.Ullman</a:t>
            </a:r>
            <a:r>
              <a:rPr lang="en-US" dirty="0" smtClean="0"/>
              <a:t>, Pearson Education, First Edition Reprint2003.</a:t>
            </a:r>
          </a:p>
          <a:p>
            <a:pPr lvl="0"/>
            <a:r>
              <a:rPr lang="en-US" dirty="0" smtClean="0"/>
              <a:t>Advanced Guide to Python 3 Programming, John Hunt, 4</a:t>
            </a:r>
            <a:r>
              <a:rPr lang="en-US" baseline="30000" dirty="0" smtClean="0"/>
              <a:t>th</a:t>
            </a:r>
            <a:r>
              <a:rPr lang="en-US" dirty="0" smtClean="0"/>
              <a:t> Edition, Springer Nature Switzerland AG 2019.</a:t>
            </a:r>
          </a:p>
          <a:p>
            <a:pPr lvl="0"/>
            <a:r>
              <a:rPr lang="en-US" dirty="0" smtClean="0"/>
              <a:t>Python Basics: A Practice Introduction to Python 3, David Amos, Dan Bader, Joanna </a:t>
            </a:r>
            <a:r>
              <a:rPr lang="en-US" dirty="0" err="1" smtClean="0"/>
              <a:t>Jablonski</a:t>
            </a:r>
            <a:r>
              <a:rPr lang="en-US" dirty="0" smtClean="0"/>
              <a:t>, Fletcher </a:t>
            </a:r>
            <a:r>
              <a:rPr lang="en-US" dirty="0" err="1" smtClean="0"/>
              <a:t>Heisler</a:t>
            </a:r>
            <a:r>
              <a:rPr lang="en-US" dirty="0" smtClean="0"/>
              <a:t>, 4</a:t>
            </a:r>
            <a:r>
              <a:rPr lang="en-US" baseline="30000" dirty="0" smtClean="0"/>
              <a:t>th</a:t>
            </a:r>
            <a:r>
              <a:rPr lang="en-US" dirty="0" smtClean="0"/>
              <a:t> edition, Real Python.</a:t>
            </a:r>
          </a:p>
          <a:p>
            <a:r>
              <a:rPr lang="en-US" b="1" dirty="0" err="1" smtClean="0"/>
              <a:t>WebLinks</a:t>
            </a:r>
            <a:r>
              <a:rPr lang="en-US" b="1" dirty="0" smtClean="0"/>
              <a:t>:</a:t>
            </a:r>
            <a:endParaRPr lang="en-US" dirty="0" smtClean="0"/>
          </a:p>
          <a:p>
            <a:pPr lvl="0"/>
            <a:r>
              <a:rPr lang="en-US" u="sng" dirty="0" smtClean="0">
                <a:hlinkClick r:id="rId3"/>
              </a:rPr>
              <a:t>https://docs.python.org/3/tutorial/datastructures.html</a:t>
            </a:r>
            <a:endParaRPr lang="en-US" dirty="0" smtClean="0"/>
          </a:p>
          <a:p>
            <a:pPr lvl="0"/>
            <a:r>
              <a:rPr lang="en-US" u="sng" dirty="0" smtClean="0">
                <a:hlinkClick r:id="rId4"/>
              </a:rPr>
              <a:t>https://www.w3schools.com/dsa/dsa_intro.php</a:t>
            </a:r>
            <a:endParaRPr lang="en-US" dirty="0" smtClean="0"/>
          </a:p>
          <a:p>
            <a:pPr lvl="0"/>
            <a:r>
              <a:rPr lang="en-US" u="sng" dirty="0" smtClean="0">
                <a:hlinkClick r:id="rId5"/>
              </a:rPr>
              <a:t>https://</a:t>
            </a:r>
            <a:r>
              <a:rPr lang="en-US" u="sng" smtClean="0">
                <a:hlinkClick r:id="rId5"/>
              </a:rPr>
              <a:t>www.geeksforgeeks.org/python-data-structures</a:t>
            </a:r>
            <a:r>
              <a:rPr lang="en-US" u="sng" smtClean="0">
                <a:hlinkClick r:id="rId5"/>
              </a:rPr>
              <a:t>/</a:t>
            </a:r>
            <a:endParaRPr lang="en-US" dirty="0"/>
          </a:p>
        </p:txBody>
      </p:sp>
      <p:pic>
        <p:nvPicPr>
          <p:cNvPr id="5" name="Picture 2" descr="KL Deemed to be University Logo"/>
          <p:cNvPicPr>
            <a:picLocks noChangeAspect="1" noChangeArrowheads="1"/>
          </p:cNvPicPr>
          <p:nvPr/>
        </p:nvPicPr>
        <p:blipFill>
          <a:blip r:embed="rId6"/>
          <a:srcRect/>
          <a:stretch>
            <a:fillRect/>
          </a:stretch>
        </p:blipFill>
        <p:spPr bwMode="auto">
          <a:xfrm>
            <a:off x="0" y="0"/>
            <a:ext cx="1990725" cy="600076"/>
          </a:xfrm>
          <a:prstGeom prst="rect">
            <a:avLst/>
          </a:prstGeom>
          <a:noFill/>
        </p:spPr>
      </p:pic>
    </p:spTree>
    <p:extLst>
      <p:ext uri="{BB962C8B-B14F-4D97-AF65-F5344CB8AC3E}">
        <p14:creationId xmlns="" xmlns:p14="http://schemas.microsoft.com/office/powerpoint/2010/main" val="2602073769"/>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Course Name</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920</TotalTime>
  <Words>1524</Words>
  <Application>Microsoft Office PowerPoint</Application>
  <PresentationFormat>Custom</PresentationFormat>
  <Paragraphs>242</Paragraphs>
  <Slides>26</Slides>
  <Notes>4</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1_Office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Administrator</cp:lastModifiedBy>
  <cp:revision>89</cp:revision>
  <dcterms:created xsi:type="dcterms:W3CDTF">2020-02-08T09:57:44Z</dcterms:created>
  <dcterms:modified xsi:type="dcterms:W3CDTF">2024-12-14T06:44:15Z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