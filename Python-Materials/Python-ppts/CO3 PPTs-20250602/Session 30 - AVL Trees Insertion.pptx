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71" r:id="rId5"/>
    <p:sldId id="300" r:id="rId6"/>
    <p:sldId id="312" r:id="rId7"/>
    <p:sldId id="313" r:id="rId8"/>
    <p:sldId id="314" r:id="rId9"/>
    <p:sldId id="316" r:id="rId10"/>
    <p:sldId id="317" r:id="rId11"/>
    <p:sldId id="320" r:id="rId12"/>
    <p:sldId id="299" r:id="rId13"/>
    <p:sldId id="287" r:id="rId14"/>
    <p:sldId id="301" r:id="rId15"/>
    <p:sldId id="302" r:id="rId16"/>
    <p:sldId id="303"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83" d="100"/>
          <a:sy n="83" d="100"/>
        </p:scale>
        <p:origin x="629"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hyperlink" Target="https://www.codingninjas.com/studio/library/introduction-to-avl-trees"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geeksforgeeks.org/python-data-structures/" TargetMode="External"/><Relationship Id="rId4" Type="http://schemas.openxmlformats.org/officeDocument/2006/relationships/hyperlink" Target="https://www.w3schools.com/dsa/dsa_intro.php"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205790" y="-10029"/>
            <a:ext cx="6027459" cy="6623931"/>
          </a:xfrm>
          <a:prstGeom prst="rect">
            <a:avLst/>
          </a:prstGeom>
          <a:noFill/>
          <a:ln>
            <a:noFill/>
          </a:ln>
        </p:spPr>
      </p:pic>
      <p:sp>
        <p:nvSpPr>
          <p:cNvPr id="476" name="Google Shape;476;p16"/>
          <p:cNvSpPr txBox="1"/>
          <p:nvPr/>
        </p:nvSpPr>
        <p:spPr>
          <a:xfrm>
            <a:off x="5202936" y="2048256"/>
            <a:ext cx="7094067" cy="3785611"/>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lumMod val="75000"/>
                  </a:schemeClr>
                </a:solidFill>
              </a:rPr>
              <a:t>Data </a:t>
            </a:r>
            <a:r>
              <a:rPr lang="en-US" sz="3200" b="1" dirty="0" smtClean="0">
                <a:solidFill>
                  <a:schemeClr val="accent1">
                    <a:lumMod val="75000"/>
                  </a:schemeClr>
                </a:solidFill>
              </a:rPr>
              <a:t>Structures through Python</a:t>
            </a:r>
            <a:endParaRPr lang="en-IN" sz="3200" b="1" dirty="0">
              <a:solidFill>
                <a:schemeClr val="accent1">
                  <a:lumMod val="75000"/>
                </a:schemeClr>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smtClean="0">
                <a:solidFill>
                  <a:schemeClr val="accent1">
                    <a:lumMod val="75000"/>
                  </a:schemeClr>
                </a:solidFill>
              </a:rPr>
              <a:t>24SC1204</a:t>
            </a:r>
            <a:endParaRPr lang="en-IN" sz="3200" b="1" dirty="0">
              <a:solidFill>
                <a:schemeClr val="accent1">
                  <a:lumMod val="75000"/>
                </a:schemeClr>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endParaRPr lang="en-US" sz="4000" b="1" cap="all" dirty="0" smtClean="0">
              <a:ln/>
              <a:solidFill>
                <a:srgbClr val="C00000"/>
              </a:solidFill>
              <a:effectLst/>
              <a:cs typeface="Poppins" panose="00000500000000000000" pitchFamily="2" charset="0"/>
            </a:endParaRPr>
          </a:p>
          <a:p>
            <a:pPr marR="0" lvl="0" indent="0" algn="ctr">
              <a:spcBef>
                <a:spcPts val="0"/>
              </a:spcBef>
              <a:spcAft>
                <a:spcPts val="0"/>
              </a:spcAft>
              <a:buNone/>
            </a:pPr>
            <a:r>
              <a:rPr lang="en-US" sz="3200" b="1" cap="all" dirty="0" smtClean="0">
                <a:ln/>
                <a:solidFill>
                  <a:schemeClr val="accent1">
                    <a:lumMod val="75000"/>
                  </a:schemeClr>
                </a:solidFill>
                <a:cs typeface="Poppins" panose="00000500000000000000" pitchFamily="2" charset="0"/>
              </a:rPr>
              <a:t>AVL TREES INSERTION</a:t>
            </a:r>
            <a:endParaRPr lang="en-US" sz="3200" b="1" cap="all" dirty="0">
              <a:ln/>
              <a:solidFill>
                <a:schemeClr val="accent1">
                  <a:lumMod val="75000"/>
                </a:schemeClr>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312740" y="572771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28</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914400" y="684469"/>
            <a:ext cx="10731286" cy="41601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a:t>
            </a:r>
            <a:r>
              <a:rPr lang="en-US" sz="1600" b="0" i="0" dirty="0" smtClean="0">
                <a:effectLst/>
                <a:latin typeface="Poppins"/>
                <a:cs typeface="Poppins"/>
              </a:rPr>
              <a:t>the insertion and implementation </a:t>
            </a:r>
            <a:r>
              <a:rPr lang="en-US" sz="1600" dirty="0" smtClean="0">
                <a:latin typeface="Poppins"/>
                <a:cs typeface="Poppins"/>
              </a:rPr>
              <a:t>o</a:t>
            </a:r>
            <a:r>
              <a:rPr lang="en-US" sz="1600" b="0" i="0" dirty="0" smtClean="0">
                <a:effectLst/>
                <a:latin typeface="Poppins"/>
                <a:cs typeface="Poppins"/>
              </a:rPr>
              <a:t>f AVL Trees</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b="0" i="0" dirty="0" smtClean="0">
                <a:effectLst/>
                <a:latin typeface="Arial" panose="020B0604020202020204" pitchFamily="34" charset="0"/>
              </a:rPr>
              <a:t>insertion </a:t>
            </a:r>
            <a:r>
              <a:rPr lang="en-US" sz="1600" dirty="0" smtClean="0">
                <a:latin typeface="Arial" panose="020B0604020202020204" pitchFamily="34" charset="0"/>
              </a:rPr>
              <a:t>AVL Trees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List out the operations possible </a:t>
            </a:r>
            <a:r>
              <a:rPr lang="en-US" sz="1600" dirty="0" smtClean="0">
                <a:latin typeface="Arial" panose="020B0604020202020204" pitchFamily="34" charset="0"/>
              </a:rPr>
              <a:t>of insertion in </a:t>
            </a:r>
            <a:r>
              <a:rPr lang="en-US" sz="1600" dirty="0">
                <a:latin typeface="Arial" panose="020B0604020202020204" pitchFamily="34" charset="0"/>
              </a:rPr>
              <a:t>AVL </a:t>
            </a:r>
            <a:r>
              <a:rPr lang="en-US" sz="1600" dirty="0" smtClean="0">
                <a:latin typeface="Arial" panose="020B0604020202020204" pitchFamily="34" charset="0"/>
              </a:rPr>
              <a:t>Trees</a:t>
            </a:r>
            <a:r>
              <a:rPr lang="en-US" sz="1600" b="0" i="0" dirty="0" smtClean="0">
                <a:effectLst/>
                <a:latin typeface="Arial" panose="020B0604020202020204" pitchFamily="34" charset="0"/>
              </a:rPr>
              <a:t>.</a:t>
            </a:r>
            <a:endParaRPr lang="en-US" sz="1600" b="0" i="0" dirty="0">
              <a:effectLst/>
              <a:latin typeface="Arial" panose="020B0604020202020204" pitchFamily="34" charset="0"/>
            </a:endParaRPr>
          </a:p>
          <a:p>
            <a:pPr marL="342900" indent="-342900">
              <a:buFontTx/>
              <a:buAutoNum type="arabicPeriod"/>
            </a:pPr>
            <a:r>
              <a:rPr lang="en-US" sz="1600" dirty="0">
                <a:latin typeface="Arial"/>
                <a:cs typeface="Arial"/>
              </a:rPr>
              <a:t>Describe the each operation </a:t>
            </a:r>
          </a:p>
          <a:p>
            <a:pPr marL="342900" indent="-342900">
              <a:buAutoNum type="arabicPeriod"/>
            </a:pPr>
            <a:r>
              <a:rPr lang="en-US" sz="1600" dirty="0" smtClean="0">
                <a:latin typeface="Arial" panose="020B0604020202020204" pitchFamily="34" charset="0"/>
              </a:rPr>
              <a:t>Describe </a:t>
            </a:r>
            <a:r>
              <a:rPr lang="en-US" sz="1600" dirty="0">
                <a:latin typeface="Arial" panose="020B0604020202020204" pitchFamily="34" charset="0"/>
              </a:rPr>
              <a:t>the rotations </a:t>
            </a:r>
            <a:r>
              <a:rPr lang="en-US" sz="1600" dirty="0" smtClean="0">
                <a:latin typeface="Arial" panose="020B0604020202020204" pitchFamily="34" charset="0"/>
              </a:rPr>
              <a:t>to be taken while insertion a new node in  </a:t>
            </a:r>
            <a:r>
              <a:rPr lang="en-US" sz="1600" dirty="0">
                <a:latin typeface="Arial" panose="020B0604020202020204" pitchFamily="34" charset="0"/>
              </a:rPr>
              <a:t>AVL Trees.</a:t>
            </a:r>
            <a:endParaRPr lang="en-US" sz="1600" b="0" i="0" dirty="0">
              <a:effectLst/>
              <a:latin typeface="Arial" panose="020B0604020202020204" pitchFamily="34" charset="0"/>
            </a:endParaRPr>
          </a:p>
          <a:p>
            <a:pPr marL="342900" indent="-342900">
              <a:buAutoNum type="arabicPeriod"/>
            </a:pPr>
            <a:r>
              <a:rPr lang="en-US" sz="1600" dirty="0" smtClean="0">
                <a:latin typeface="Arial"/>
                <a:cs typeface="Arial"/>
              </a:rPr>
              <a:t>List </a:t>
            </a:r>
            <a:r>
              <a:rPr lang="en-US" sz="1600" dirty="0">
                <a:latin typeface="Arial"/>
                <a:cs typeface="Arial"/>
              </a:rPr>
              <a:t>out the advantages and applications of </a:t>
            </a:r>
            <a:r>
              <a:rPr lang="en-US" sz="1600" dirty="0" smtClean="0">
                <a:latin typeface="Arial"/>
                <a:cs typeface="Arial"/>
              </a:rPr>
              <a:t>AVL Trees.</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a:t>
            </a:r>
            <a:r>
              <a:rPr lang="en-US" sz="1600" b="0" i="0" dirty="0" smtClean="0">
                <a:effectLst/>
                <a:latin typeface="Arial"/>
                <a:cs typeface="Arial"/>
              </a:rPr>
              <a:t>to:</a:t>
            </a:r>
            <a:endParaRPr lang="en-US" sz="1600" b="0" i="0" dirty="0" smtClean="0">
              <a:effectLst/>
              <a:latin typeface="Arial" panose="020B0604020202020204" pitchFamily="34" charset="0"/>
            </a:endParaRPr>
          </a:p>
          <a:p>
            <a:pPr marL="342900" indent="-342900">
              <a:buAutoNum type="arabicPeriod"/>
            </a:pPr>
            <a:r>
              <a:rPr lang="en-US" sz="1600" b="0" i="0" dirty="0" smtClean="0">
                <a:effectLst/>
                <a:latin typeface="Arial" panose="020B0604020202020204" pitchFamily="34" charset="0"/>
              </a:rPr>
              <a:t>Describe four rotations of AVL Trees during Insertion and </a:t>
            </a:r>
            <a:r>
              <a:rPr lang="en-US" sz="1600" b="0" i="0" dirty="0">
                <a:effectLst/>
                <a:latin typeface="Arial" panose="020B0604020202020204" pitchFamily="34" charset="0"/>
              </a:rPr>
              <a:t>their </a:t>
            </a:r>
            <a:r>
              <a:rPr lang="en-US" sz="1600" b="0" i="0" dirty="0" smtClean="0">
                <a:effectLst/>
                <a:latin typeface="Arial" panose="020B0604020202020204" pitchFamily="34" charset="0"/>
              </a:rPr>
              <a:t>operations.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Summarize definition, types and operations of </a:t>
            </a:r>
            <a:r>
              <a:rPr lang="en-US" sz="1600" dirty="0" smtClean="0">
                <a:latin typeface="Arial" panose="020B0604020202020204" pitchFamily="34" charset="0"/>
              </a:rPr>
              <a:t>AVL Trees </a:t>
            </a:r>
            <a:r>
              <a:rPr lang="en-US" sz="1600" dirty="0">
                <a:latin typeface="Arial" panose="020B0604020202020204" pitchFamily="34" charset="0"/>
              </a:rPr>
              <a:t>and its </a:t>
            </a:r>
            <a:r>
              <a:rPr lang="en-US" sz="1600" dirty="0" smtClean="0">
                <a:latin typeface="Arial" panose="020B0604020202020204" pitchFamily="34" charset="0"/>
              </a:rPr>
              <a:t>applications.</a:t>
            </a:r>
          </a:p>
          <a:p>
            <a:pPr marL="342900" indent="-342900">
              <a:buAutoNum type="arabicPeriod"/>
            </a:pPr>
            <a:r>
              <a:rPr lang="en-US" sz="1600" dirty="0" smtClean="0">
                <a:latin typeface="Arial" panose="020B0604020202020204" pitchFamily="34" charset="0"/>
                <a:cs typeface="Poppins" panose="00000500000000000000" pitchFamily="2" charset="0"/>
              </a:rPr>
              <a:t>Discuss about the time complexity of AVL Tree during insertion in 3 cases.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225829" y="245393"/>
            <a:ext cx="5426852"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Times New Roman" panose="02020603050405020304" pitchFamily="18" charset="0"/>
                <a:cs typeface="Times New Roman" panose="02020603050405020304" pitchFamily="18" charset="0"/>
              </a:rPr>
              <a:t>INSERTION </a:t>
            </a: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395785" y="245393"/>
            <a:ext cx="1990725" cy="600076"/>
          </a:xfrm>
          <a:prstGeom prst="rect">
            <a:avLst/>
          </a:prstGeom>
          <a:noFill/>
        </p:spPr>
      </p:pic>
      <p:sp>
        <p:nvSpPr>
          <p:cNvPr id="2" name="Content Placeholder 1"/>
          <p:cNvSpPr>
            <a:spLocks noGrp="1"/>
          </p:cNvSpPr>
          <p:nvPr>
            <p:ph idx="1"/>
          </p:nvPr>
        </p:nvSpPr>
        <p:spPr>
          <a:xfrm>
            <a:off x="395785" y="1105469"/>
            <a:ext cx="10890913" cy="3098041"/>
          </a:xfrm>
        </p:spPr>
        <p:txBody>
          <a:bodyPr/>
          <a:lstStyle/>
          <a:p>
            <a:pPr marL="0" indent="0">
              <a:buNone/>
            </a:pPr>
            <a:r>
              <a:rPr lang="en-US" sz="2400" dirty="0" smtClean="0">
                <a:latin typeface="Times New Roman" panose="02020603050405020304" pitchFamily="18" charset="0"/>
                <a:cs typeface="Times New Roman" panose="02020603050405020304" pitchFamily="18" charset="0"/>
              </a:rPr>
              <a:t>Example :</a:t>
            </a:r>
            <a:r>
              <a:rPr lang="en-US" sz="2400" dirty="0">
                <a:latin typeface="Times New Roman" panose="02020603050405020304" pitchFamily="18" charset="0"/>
                <a:cs typeface="Times New Roman" panose="02020603050405020304" pitchFamily="18" charset="0"/>
              </a:rPr>
              <a:t>Construct an AVL Tree by inserting numbers from 1 to 8</a:t>
            </a:r>
            <a:r>
              <a:rPr lang="en-US" sz="2400" b="1" dirty="0">
                <a:latin typeface="Times New Roman" panose="02020603050405020304" pitchFamily="18" charset="0"/>
                <a:cs typeface="Times New Roman" panose="02020603050405020304" pitchFamily="18" charset="0"/>
              </a:rPr>
              <a:t>.</a:t>
            </a:r>
          </a:p>
          <a:p>
            <a:pPr marL="0" indent="0">
              <a:buNone/>
            </a:pP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785" y="2198054"/>
            <a:ext cx="5294955" cy="3561301"/>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4485" y="2086024"/>
            <a:ext cx="5461521" cy="3673331"/>
          </a:xfrm>
          <a:prstGeom prst="rect">
            <a:avLst/>
          </a:prstGeom>
        </p:spPr>
      </p:pic>
    </p:spTree>
    <p:extLst>
      <p:ext uri="{BB962C8B-B14F-4D97-AF65-F5344CB8AC3E}">
        <p14:creationId xmlns:p14="http://schemas.microsoft.com/office/powerpoint/2010/main" val="62459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412202" y="97979"/>
            <a:ext cx="4558090" cy="78395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smtClean="0">
              <a:solidFill>
                <a:schemeClr val="bg1"/>
              </a:solidFill>
            </a:endParaRPr>
          </a:p>
          <a:p>
            <a:pPr algn="ctr"/>
            <a:r>
              <a:rPr lang="en-US" sz="3200" dirty="0" smtClean="0">
                <a:solidFill>
                  <a:schemeClr val="bg1"/>
                </a:solidFill>
                <a:latin typeface="Times New Roman" panose="02020603050405020304" pitchFamily="18" charset="0"/>
                <a:cs typeface="Times New Roman" panose="02020603050405020304" pitchFamily="18" charset="0"/>
              </a:rPr>
              <a:t>EXAMPLE(Cont..)</a:t>
            </a:r>
          </a:p>
          <a:p>
            <a:pPr algn="ctr"/>
            <a:endParaRPr lang="en-US" sz="24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163782"/>
            <a:ext cx="11649692" cy="5557652"/>
          </a:xfrm>
        </p:spPr>
        <p:txBody>
          <a:bodyPr/>
          <a:lstStyle/>
          <a:p>
            <a:pPr marL="0" indent="0">
              <a:buNone/>
            </a:pPr>
            <a:endParaRPr lang="en-IN" sz="2000" dirty="0"/>
          </a:p>
          <a:p>
            <a:endParaRPr lang="en-IN" sz="20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855" y="1445635"/>
            <a:ext cx="5932694" cy="4202809"/>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8925" y="1445635"/>
            <a:ext cx="5553075" cy="3971925"/>
          </a:xfrm>
          <a:prstGeom prst="rect">
            <a:avLst/>
          </a:prstGeom>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967" y="887104"/>
            <a:ext cx="11395881" cy="641444"/>
          </a:xfrm>
        </p:spPr>
        <p:txBody>
          <a:bodyPr/>
          <a:lstStyle/>
          <a:p>
            <a:pPr lvl="0">
              <a:spcBef>
                <a:spcPts val="1000"/>
              </a:spcBef>
            </a:pPr>
            <a:r>
              <a:rPr lang="en-US" sz="2400" b="1" dirty="0">
                <a:solidFill>
                  <a:srgbClr val="000000"/>
                </a:solidFill>
                <a:latin typeface="Times New Roman" panose="02020603050405020304" pitchFamily="18" charset="0"/>
                <a:cs typeface="Times New Roman" panose="02020603050405020304" pitchFamily="18" charset="0"/>
              </a:rPr>
              <a:t>Deletion </a:t>
            </a:r>
            <a:r>
              <a:rPr lang="en-US" sz="2400" b="1" dirty="0" smtClean="0">
                <a:solidFill>
                  <a:srgbClr val="000000"/>
                </a:solidFill>
                <a:latin typeface="Times New Roman" panose="02020603050405020304" pitchFamily="18" charset="0"/>
                <a:cs typeface="Times New Roman" panose="02020603050405020304" pitchFamily="18" charset="0"/>
              </a:rPr>
              <a:t>operation</a:t>
            </a:r>
            <a:r>
              <a:rPr lang="en-US" sz="2800" b="1" dirty="0" smtClean="0">
                <a:solidFill>
                  <a:srgbClr val="000000"/>
                </a:solidFill>
                <a:latin typeface="Times New Roman" panose="02020603050405020304" pitchFamily="18" charset="0"/>
                <a:cs typeface="Times New Roman" panose="02020603050405020304" pitchFamily="18" charset="0"/>
              </a:rPr>
              <a:t>:-</a:t>
            </a:r>
            <a:r>
              <a:rPr lang="en-US" sz="2000" dirty="0" smtClean="0">
                <a:solidFill>
                  <a:prstClr val="black"/>
                </a:solidFill>
                <a:latin typeface="Times New Roman" panose="02020603050405020304" pitchFamily="18" charset="0"/>
                <a:cs typeface="Times New Roman" panose="02020603050405020304" pitchFamily="18" charset="0"/>
              </a:rPr>
              <a:t>Deletion in the AVL Trees take place in three different scenarios </a:t>
            </a:r>
            <a:r>
              <a:rPr lang="en-US" sz="2800" dirty="0">
                <a:solidFill>
                  <a:prstClr val="black"/>
                </a:solidFill>
                <a:latin typeface="Calibri"/>
              </a:rPr>
              <a:t/>
            </a:r>
            <a:br>
              <a:rPr lang="en-US" sz="2800" dirty="0">
                <a:solidFill>
                  <a:prstClr val="black"/>
                </a:solidFill>
                <a:latin typeface="Calibri"/>
              </a:rPr>
            </a:br>
            <a:endParaRPr lang="en-US" dirty="0"/>
          </a:p>
        </p:txBody>
      </p:sp>
      <p:sp>
        <p:nvSpPr>
          <p:cNvPr id="3" name="Content Placeholder 2"/>
          <p:cNvSpPr>
            <a:spLocks noGrp="1"/>
          </p:cNvSpPr>
          <p:nvPr>
            <p:ph idx="1"/>
          </p:nvPr>
        </p:nvSpPr>
        <p:spPr>
          <a:xfrm>
            <a:off x="368490" y="1651379"/>
            <a:ext cx="11668835" cy="4525584"/>
          </a:xfrm>
        </p:spPr>
        <p:txBody>
          <a:bodyPr/>
          <a:lstStyle/>
          <a:p>
            <a:pPr marL="0" indent="0" algn="just">
              <a:lnSpc>
                <a:spcPct val="150000"/>
              </a:lnSpc>
              <a:buNone/>
            </a:pPr>
            <a:r>
              <a:rPr lang="en-US" sz="2000" b="1" dirty="0" smtClean="0">
                <a:latin typeface="Times New Roman" panose="02020603050405020304" pitchFamily="18" charset="0"/>
                <a:cs typeface="Times New Roman" panose="02020603050405020304" pitchFamily="18" charset="0"/>
              </a:rPr>
              <a:t>Scenario </a:t>
            </a:r>
            <a:r>
              <a:rPr lang="en-US" sz="2000" b="1" dirty="0">
                <a:latin typeface="Times New Roman" panose="02020603050405020304" pitchFamily="18" charset="0"/>
                <a:cs typeface="Times New Roman" panose="02020603050405020304" pitchFamily="18" charset="0"/>
              </a:rPr>
              <a:t>1 (Deletion of a leaf node) </a:t>
            </a:r>
            <a:r>
              <a:rPr lang="en-US" sz="2000" dirty="0">
                <a:latin typeface="Times New Roman" panose="02020603050405020304" pitchFamily="18" charset="0"/>
                <a:cs typeface="Times New Roman" panose="02020603050405020304" pitchFamily="18" charset="0"/>
              </a:rPr>
              <a:t>− If the node to be deleted is a leaf node, then it is deleted without any replacement as it does not disturb the binary search tree property. However, the balance factor may get disturbed, so rotations are applied to restore it.</a:t>
            </a:r>
          </a:p>
          <a:p>
            <a:pPr marL="0" indent="0" algn="just">
              <a:lnSpc>
                <a:spcPct val="150000"/>
              </a:lnSpc>
              <a:buNone/>
            </a:pPr>
            <a:r>
              <a:rPr lang="en-US" sz="2000" b="1" dirty="0" smtClean="0">
                <a:latin typeface="Times New Roman" panose="02020603050405020304" pitchFamily="18" charset="0"/>
                <a:cs typeface="Times New Roman" panose="02020603050405020304" pitchFamily="18" charset="0"/>
              </a:rPr>
              <a:t>Scenario </a:t>
            </a:r>
            <a:r>
              <a:rPr lang="en-US" sz="2000" b="1" dirty="0">
                <a:latin typeface="Times New Roman" panose="02020603050405020304" pitchFamily="18" charset="0"/>
                <a:cs typeface="Times New Roman" panose="02020603050405020304" pitchFamily="18" charset="0"/>
              </a:rPr>
              <a:t>2 (Deletion of a node with one child) </a:t>
            </a:r>
            <a:r>
              <a:rPr lang="en-US" sz="2000" dirty="0">
                <a:latin typeface="Times New Roman" panose="02020603050405020304" pitchFamily="18" charset="0"/>
                <a:cs typeface="Times New Roman" panose="02020603050405020304" pitchFamily="18" charset="0"/>
              </a:rPr>
              <a:t>− If the node to be deleted has one child, replace the value in that node with the value in its child node. Then delete the child node. If the balance factor is disturbed, rotations are applied.</a:t>
            </a:r>
          </a:p>
          <a:p>
            <a:pPr marL="0" indent="0" algn="just">
              <a:lnSpc>
                <a:spcPct val="150000"/>
              </a:lnSpc>
              <a:buNone/>
            </a:pPr>
            <a:r>
              <a:rPr lang="en-US" sz="2000" b="1" dirty="0" smtClean="0">
                <a:latin typeface="Times New Roman" panose="02020603050405020304" pitchFamily="18" charset="0"/>
                <a:cs typeface="Times New Roman" panose="02020603050405020304" pitchFamily="18" charset="0"/>
              </a:rPr>
              <a:t>Scenario </a:t>
            </a:r>
            <a:r>
              <a:rPr lang="en-US" sz="2000" b="1" dirty="0">
                <a:latin typeface="Times New Roman" panose="02020603050405020304" pitchFamily="18" charset="0"/>
                <a:cs typeface="Times New Roman" panose="02020603050405020304" pitchFamily="18" charset="0"/>
              </a:rPr>
              <a:t>3 (Deletion of a node with two child nodes) </a:t>
            </a:r>
            <a:r>
              <a:rPr lang="en-US" sz="2000" dirty="0">
                <a:latin typeface="Times New Roman" panose="02020603050405020304" pitchFamily="18" charset="0"/>
                <a:cs typeface="Times New Roman" panose="02020603050405020304" pitchFamily="18" charset="0"/>
              </a:rPr>
              <a:t>− If the node to be deleted has two child nodes, find the </a:t>
            </a:r>
            <a:r>
              <a:rPr lang="en-US" sz="2000" dirty="0" smtClean="0">
                <a:latin typeface="Times New Roman" panose="02020603050405020304" pitchFamily="18" charset="0"/>
                <a:cs typeface="Times New Roman" panose="02020603050405020304" pitchFamily="18" charset="0"/>
              </a:rPr>
              <a:t>in-order </a:t>
            </a:r>
            <a:r>
              <a:rPr lang="en-US" sz="2000" dirty="0">
                <a:latin typeface="Times New Roman" panose="02020603050405020304" pitchFamily="18" charset="0"/>
                <a:cs typeface="Times New Roman" panose="02020603050405020304" pitchFamily="18" charset="0"/>
              </a:rPr>
              <a:t>successor of that node and replace its value with the </a:t>
            </a:r>
            <a:r>
              <a:rPr lang="en-US" sz="2000" dirty="0" smtClean="0">
                <a:latin typeface="Times New Roman" panose="02020603050405020304" pitchFamily="18" charset="0"/>
                <a:cs typeface="Times New Roman" panose="02020603050405020304" pitchFamily="18" charset="0"/>
              </a:rPr>
              <a:t>in-order </a:t>
            </a:r>
            <a:r>
              <a:rPr lang="en-US" sz="2000" dirty="0">
                <a:latin typeface="Times New Roman" panose="02020603050405020304" pitchFamily="18" charset="0"/>
                <a:cs typeface="Times New Roman" panose="02020603050405020304" pitchFamily="18" charset="0"/>
              </a:rPr>
              <a:t>successor value. Then try to delete the </a:t>
            </a:r>
            <a:r>
              <a:rPr lang="en-US" sz="2000" dirty="0" smtClean="0">
                <a:latin typeface="Times New Roman" panose="02020603050405020304" pitchFamily="18" charset="0"/>
                <a:cs typeface="Times New Roman" panose="02020603050405020304" pitchFamily="18" charset="0"/>
              </a:rPr>
              <a:t>in-order </a:t>
            </a:r>
            <a:r>
              <a:rPr lang="en-US" sz="2000" dirty="0">
                <a:latin typeface="Times New Roman" panose="02020603050405020304" pitchFamily="18" charset="0"/>
                <a:cs typeface="Times New Roman" panose="02020603050405020304" pitchFamily="18" charset="0"/>
              </a:rPr>
              <a:t>successor node. If the balance factor exceeds 1 after deletion, apply balance algorithms.</a:t>
            </a:r>
          </a:p>
        </p:txBody>
      </p:sp>
      <p:sp>
        <p:nvSpPr>
          <p:cNvPr id="4" name="Rounded Rectangle 17">
            <a:extLst>
              <a:ext uri="{FF2B5EF4-FFF2-40B4-BE49-F238E27FC236}">
                <a16:creationId xmlns:a16="http://schemas.microsoft.com/office/drawing/2014/main" xmlns="" id="{0F2E30D4-6F86-49D1-9276-85CE0E9B3E3E}"/>
              </a:ext>
            </a:extLst>
          </p:cNvPr>
          <p:cNvSpPr/>
          <p:nvPr/>
        </p:nvSpPr>
        <p:spPr>
          <a:xfrm>
            <a:off x="3412202" y="97979"/>
            <a:ext cx="4599034" cy="66629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smtClean="0">
              <a:solidFill>
                <a:schemeClr val="bg1"/>
              </a:solidFill>
            </a:endParaRPr>
          </a:p>
          <a:p>
            <a:pPr algn="ctr"/>
            <a:r>
              <a:rPr lang="en-US" sz="3200" dirty="0" smtClean="0">
                <a:solidFill>
                  <a:schemeClr val="bg1"/>
                </a:solidFill>
                <a:latin typeface="Times New Roman" panose="02020603050405020304" pitchFamily="18" charset="0"/>
                <a:cs typeface="Times New Roman" panose="02020603050405020304" pitchFamily="18" charset="0"/>
              </a:rPr>
              <a:t>DELETION</a:t>
            </a:r>
          </a:p>
          <a:p>
            <a:pPr algn="ctr"/>
            <a:endParaRPr lang="en-US" sz="2400" dirty="0">
              <a:solidFill>
                <a:schemeClr val="bg1"/>
              </a:solidFill>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150126" y="164197"/>
            <a:ext cx="1990725" cy="600076"/>
          </a:xfrm>
          <a:prstGeom prst="rect">
            <a:avLst/>
          </a:prstGeom>
          <a:noFill/>
        </p:spPr>
      </p:pic>
    </p:spTree>
    <p:extLst>
      <p:ext uri="{BB962C8B-B14F-4D97-AF65-F5344CB8AC3E}">
        <p14:creationId xmlns:p14="http://schemas.microsoft.com/office/powerpoint/2010/main" val="21456117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162" y="683231"/>
            <a:ext cx="10617957" cy="6080078"/>
          </a:xfrm>
          <a:prstGeom prst="rect">
            <a:avLst/>
          </a:prstGeom>
        </p:spPr>
      </p:pic>
      <p:sp>
        <p:nvSpPr>
          <p:cNvPr id="7" name="TextBox 6"/>
          <p:cNvSpPr txBox="1"/>
          <p:nvPr/>
        </p:nvSpPr>
        <p:spPr>
          <a:xfrm>
            <a:off x="846162" y="313899"/>
            <a:ext cx="6810232" cy="461665"/>
          </a:xfrm>
          <a:prstGeom prst="rect">
            <a:avLst/>
          </a:prstGeom>
          <a:noFill/>
        </p:spPr>
        <p:txBody>
          <a:bodyPr wrap="square" rtlCol="0">
            <a:spAutoFit/>
          </a:bodyPr>
          <a:lstStyle/>
          <a:p>
            <a:r>
              <a:rPr lang="en-US" sz="2400" dirty="0" smtClean="0">
                <a:solidFill>
                  <a:schemeClr val="accent1">
                    <a:lumMod val="75000"/>
                  </a:schemeClr>
                </a:solidFill>
                <a:latin typeface="Times New Roman" panose="02020603050405020304" pitchFamily="18" charset="0"/>
                <a:cs typeface="Times New Roman" panose="02020603050405020304" pitchFamily="18" charset="0"/>
              </a:rPr>
              <a:t>                Example for deletion element from the tree: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Picture 2" descr="KL Deemed to be University Logo"/>
          <p:cNvPicPr>
            <a:picLocks noChangeAspect="1" noChangeArrowheads="1"/>
          </p:cNvPicPr>
          <p:nvPr/>
        </p:nvPicPr>
        <p:blipFill>
          <a:blip r:embed="rId3"/>
          <a:srcRect/>
          <a:stretch>
            <a:fillRect/>
          </a:stretch>
        </p:blipFill>
        <p:spPr bwMode="auto">
          <a:xfrm>
            <a:off x="0" y="83155"/>
            <a:ext cx="1990725" cy="600076"/>
          </a:xfrm>
          <a:prstGeom prst="rect">
            <a:avLst/>
          </a:prstGeom>
          <a:noFill/>
        </p:spPr>
      </p:pic>
    </p:spTree>
    <p:extLst>
      <p:ext uri="{BB962C8B-B14F-4D97-AF65-F5344CB8AC3E}">
        <p14:creationId xmlns:p14="http://schemas.microsoft.com/office/powerpoint/2010/main" val="41743168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xmlns="" id="{0F2E30D4-6F86-49D1-9276-85CE0E9B3E3E}"/>
              </a:ext>
            </a:extLst>
          </p:cNvPr>
          <p:cNvSpPr/>
          <p:nvPr/>
        </p:nvSpPr>
        <p:spPr>
          <a:xfrm>
            <a:off x="3412202" y="97979"/>
            <a:ext cx="4599034" cy="66629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solidFill>
                <a:latin typeface="Times New Roman" panose="02020603050405020304" pitchFamily="18" charset="0"/>
                <a:cs typeface="Times New Roman" panose="02020603050405020304" pitchFamily="18" charset="0"/>
              </a:rPr>
              <a:t>TIME COMPLEXITY</a:t>
            </a:r>
          </a:p>
        </p:txBody>
      </p:sp>
      <p:sp>
        <p:nvSpPr>
          <p:cNvPr id="4" name="Rectangle 3"/>
          <p:cNvSpPr/>
          <p:nvPr/>
        </p:nvSpPr>
        <p:spPr>
          <a:xfrm>
            <a:off x="559557" y="1201003"/>
            <a:ext cx="11259403" cy="3323987"/>
          </a:xfrm>
          <a:prstGeom prst="rect">
            <a:avLst/>
          </a:prstGeom>
        </p:spPr>
        <p:txBody>
          <a:bodyPr wrap="square">
            <a:spAutoFit/>
          </a:bodyPr>
          <a:lstStyle/>
          <a:p>
            <a:pPr>
              <a:lnSpc>
                <a:spcPct val="250000"/>
              </a:lnSpc>
            </a:pPr>
            <a:r>
              <a:rPr lang="pt-BR" sz="2800" dirty="0" smtClean="0">
                <a:latin typeface="Times New Roman" panose="02020603050405020304" pitchFamily="18" charset="0"/>
                <a:cs typeface="Times New Roman" panose="02020603050405020304" pitchFamily="18" charset="0"/>
              </a:rPr>
              <a:t>		BEST CASE	AVERAGE CASE		WORST CASE</a:t>
            </a:r>
          </a:p>
          <a:p>
            <a:pPr>
              <a:lnSpc>
                <a:spcPct val="250000"/>
              </a:lnSpc>
            </a:pPr>
            <a:r>
              <a:rPr lang="pt-BR" sz="2800" dirty="0" smtClean="0">
                <a:latin typeface="Times New Roman" panose="02020603050405020304" pitchFamily="18" charset="0"/>
                <a:cs typeface="Times New Roman" panose="02020603050405020304" pitchFamily="18" charset="0"/>
              </a:rPr>
              <a:t>Insert		O (log n)    		       O (log n)	                 O (log n)</a:t>
            </a:r>
          </a:p>
          <a:p>
            <a:pPr>
              <a:lnSpc>
                <a:spcPct val="250000"/>
              </a:lnSpc>
            </a:pPr>
            <a:r>
              <a:rPr lang="pt-BR" sz="2800" dirty="0" smtClean="0">
                <a:latin typeface="Times New Roman" panose="02020603050405020304" pitchFamily="18" charset="0"/>
                <a:cs typeface="Times New Roman" panose="02020603050405020304" pitchFamily="18" charset="0"/>
              </a:rPr>
              <a:t>Delete	O (log n)	                 O (log n)	                 O (log n)</a:t>
            </a:r>
            <a:endParaRPr lang="en-US" sz="2800" dirty="0">
              <a:latin typeface="Times New Roman" panose="02020603050405020304" pitchFamily="18" charset="0"/>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150126" y="131088"/>
            <a:ext cx="1990725" cy="600076"/>
          </a:xfrm>
          <a:prstGeom prst="rect">
            <a:avLst/>
          </a:prstGeom>
          <a:noFill/>
        </p:spPr>
      </p:pic>
    </p:spTree>
    <p:extLst>
      <p:ext uri="{BB962C8B-B14F-4D97-AF65-F5344CB8AC3E}">
        <p14:creationId xmlns:p14="http://schemas.microsoft.com/office/powerpoint/2010/main" val="3229035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xmlns="" id="{0F2E30D4-6F86-49D1-9276-85CE0E9B3E3E}"/>
              </a:ext>
            </a:extLst>
          </p:cNvPr>
          <p:cNvSpPr/>
          <p:nvPr/>
        </p:nvSpPr>
        <p:spPr>
          <a:xfrm>
            <a:off x="3412202" y="97979"/>
            <a:ext cx="4599034" cy="66629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solidFill>
                <a:latin typeface="Times New Roman" panose="02020603050405020304" pitchFamily="18" charset="0"/>
                <a:cs typeface="Times New Roman" panose="02020603050405020304" pitchFamily="18" charset="0"/>
              </a:rPr>
              <a:t>EXAMPLE</a:t>
            </a:r>
          </a:p>
        </p:txBody>
      </p:sp>
      <p:pic>
        <p:nvPicPr>
          <p:cNvPr id="3" name="Picture 2" descr="KL Deemed to be University Logo"/>
          <p:cNvPicPr>
            <a:picLocks noChangeAspect="1" noChangeArrowheads="1"/>
          </p:cNvPicPr>
          <p:nvPr/>
        </p:nvPicPr>
        <p:blipFill>
          <a:blip r:embed="rId2"/>
          <a:srcRect/>
          <a:stretch>
            <a:fillRect/>
          </a:stretch>
        </p:blipFill>
        <p:spPr bwMode="auto">
          <a:xfrm>
            <a:off x="109182" y="131088"/>
            <a:ext cx="1990725" cy="600076"/>
          </a:xfrm>
          <a:prstGeom prst="rect">
            <a:avLst/>
          </a:prstGeom>
          <a:noFill/>
        </p:spPr>
      </p:pic>
      <p:sp>
        <p:nvSpPr>
          <p:cNvPr id="4" name="Rectangle 3"/>
          <p:cNvSpPr/>
          <p:nvPr/>
        </p:nvSpPr>
        <p:spPr>
          <a:xfrm>
            <a:off x="477671" y="1364776"/>
            <a:ext cx="11491415" cy="2057615"/>
          </a:xfrm>
          <a:prstGeom prst="rect">
            <a:avLst/>
          </a:prstGeom>
        </p:spPr>
        <p:txBody>
          <a:bodyPr wrap="square">
            <a:spAutoFit/>
          </a:bodyPr>
          <a:lstStyle/>
          <a:p>
            <a:pPr marL="285750" indent="-285750" algn="just">
              <a:lnSpc>
                <a:spcPct val="250000"/>
              </a:lnSpc>
              <a:buFont typeface="Arial" panose="020B0604020202020204" pitchFamily="34" charset="0"/>
              <a:buChar char="•"/>
            </a:pPr>
            <a:r>
              <a:rPr lang="en-US" dirty="0" smtClean="0"/>
              <a:t> </a:t>
            </a:r>
            <a:r>
              <a:rPr lang="en-US" dirty="0"/>
              <a:t>Explain the concept of AVL trees and their self-balancing property. Given the AVL tree with elements 15, 10, 25, 5, 12, 20, and 30 in sequential order, detail the rotations required after each insertion to maintain balance. Illustrate the resulting AVL tree at each step.</a:t>
            </a:r>
          </a:p>
        </p:txBody>
      </p:sp>
    </p:spTree>
    <p:extLst>
      <p:ext uri="{BB962C8B-B14F-4D97-AF65-F5344CB8AC3E}">
        <p14:creationId xmlns:p14="http://schemas.microsoft.com/office/powerpoint/2010/main" val="2823194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300250" y="966052"/>
            <a:ext cx="11586949" cy="6370975"/>
          </a:xfrm>
          <a:prstGeom prst="rect">
            <a:avLst/>
          </a:prstGeom>
          <a:noFill/>
        </p:spPr>
        <p:txBody>
          <a:bodyPr wrap="square" rtlCol="0">
            <a:spAutoFit/>
          </a:bodyPr>
          <a:lstStyle/>
          <a:p>
            <a:r>
              <a:rPr lang="en-IN" sz="2400" b="1" dirty="0"/>
              <a:t>Advantages of a </a:t>
            </a:r>
            <a:r>
              <a:rPr lang="en-IN" sz="2400" b="1" dirty="0" smtClean="0"/>
              <a:t>AVL Trees</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AVL tree is always height-balanced, and its height is always </a:t>
            </a:r>
            <a:r>
              <a:rPr lang="en-US" sz="2000" b="1" dirty="0">
                <a:latin typeface="Times New Roman" panose="02020603050405020304" pitchFamily="18" charset="0"/>
                <a:cs typeface="Times New Roman" panose="02020603050405020304" pitchFamily="18" charset="0"/>
              </a:rPr>
              <a:t>O(log N</a:t>
            </a:r>
            <a:r>
              <a:rPr lang="en-US" sz="2000" b="1"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AVL </a:t>
            </a:r>
            <a:r>
              <a:rPr lang="en-US" sz="2000" dirty="0">
                <a:latin typeface="Times New Roman" panose="02020603050405020304" pitchFamily="18" charset="0"/>
                <a:cs typeface="Times New Roman" panose="02020603050405020304" pitchFamily="18" charset="0"/>
              </a:rPr>
              <a:t>trees have self-balancing </a:t>
            </a:r>
            <a:r>
              <a:rPr lang="en-US" sz="2000" dirty="0" smtClean="0">
                <a:latin typeface="Times New Roman" panose="02020603050405020304" pitchFamily="18" charset="0"/>
                <a:cs typeface="Times New Roman" panose="02020603050405020304" pitchFamily="18" charset="0"/>
              </a:rPr>
              <a:t>properties.</a:t>
            </a:r>
          </a:p>
          <a:p>
            <a:pPr marL="800100" lvl="1"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AVL </a:t>
            </a:r>
            <a:r>
              <a:rPr lang="en-US" sz="2000" dirty="0">
                <a:latin typeface="Times New Roman" panose="02020603050405020304" pitchFamily="18" charset="0"/>
                <a:cs typeface="Times New Roman" panose="02020603050405020304" pitchFamily="18" charset="0"/>
              </a:rPr>
              <a:t>trees perform better searching operations than Red-Black Trees</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shows better search time complexity.</a:t>
            </a:r>
          </a:p>
          <a:p>
            <a:r>
              <a:rPr lang="en-IN" sz="2400" b="1" dirty="0" smtClean="0"/>
              <a:t>Disadvantages </a:t>
            </a:r>
            <a:r>
              <a:rPr lang="en-IN" sz="2400" b="1" dirty="0"/>
              <a:t>of </a:t>
            </a:r>
            <a:r>
              <a:rPr lang="en-IN" sz="2400" b="1" dirty="0" smtClean="0"/>
              <a:t>AVL Trees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specific operations, AVL trees show relatively high constant factors.</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Insertion and deletion are slow in AVL </a:t>
            </a:r>
            <a:r>
              <a:rPr lang="en-US" sz="2000" dirty="0" smtClean="0">
                <a:latin typeface="Times New Roman" panose="02020603050405020304" pitchFamily="18" charset="0"/>
                <a:cs typeface="Times New Roman" panose="02020603050405020304" pitchFamily="18" charset="0"/>
              </a:rPr>
              <a:t>trees.</a:t>
            </a:r>
          </a:p>
          <a:p>
            <a:pPr marL="800100" lvl="1"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AVL Tree applies rotations and the balancing factor, which causes it to have a complicated data structure</a:t>
            </a:r>
            <a:r>
              <a:rPr lang="en-US" sz="2400" dirty="0"/>
              <a:t>.</a:t>
            </a:r>
          </a:p>
          <a:p>
            <a:r>
              <a:rPr lang="en-IN" sz="2400" b="1" dirty="0" smtClean="0"/>
              <a:t>Applications/Uses </a:t>
            </a:r>
            <a:r>
              <a:rPr lang="en-IN" sz="2400" b="1" dirty="0"/>
              <a:t>of </a:t>
            </a:r>
            <a:r>
              <a:rPr lang="en-IN" sz="2400" b="1" dirty="0" smtClean="0"/>
              <a:t>AVL Trees.</a:t>
            </a:r>
          </a:p>
          <a:p>
            <a:pPr marL="800100" lvl="1"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Its application is in in-memory and dictionaries to store data.</a:t>
            </a:r>
          </a:p>
          <a:p>
            <a:pPr marL="800100" lvl="1"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Database </a:t>
            </a:r>
            <a:r>
              <a:rPr lang="en-US" sz="2000" dirty="0">
                <a:latin typeface="Times New Roman" panose="02020603050405020304" pitchFamily="18" charset="0"/>
                <a:cs typeface="Times New Roman" panose="02020603050405020304" pitchFamily="18" charset="0"/>
              </a:rPr>
              <a:t>systems frequently use AVL trees as indexes to allow quick data searching and recovery of data functions.</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AVL trees operate in networking routing algorithms.</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AVL trees encounter applications in interactive storytelling games.</a:t>
            </a:r>
          </a:p>
          <a:p>
            <a:endParaRPr lang="en-IN" sz="2400" b="1" dirty="0"/>
          </a:p>
          <a:p>
            <a:endParaRPr lang="en-IN" sz="2400" b="1" dirty="0" smtClean="0"/>
          </a:p>
          <a:p>
            <a:endParaRPr lang="en-IN" sz="2400" b="1" dirty="0"/>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776651" y="124375"/>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300250" y="84408"/>
            <a:ext cx="1990725" cy="600076"/>
          </a:xfrm>
          <a:prstGeom prst="rect">
            <a:avLst/>
          </a:prstGeom>
          <a:noFill/>
        </p:spPr>
      </p:pic>
      <p:sp>
        <p:nvSpPr>
          <p:cNvPr id="18" name="TextBox 17"/>
          <p:cNvSpPr txBox="1"/>
          <p:nvPr/>
        </p:nvSpPr>
        <p:spPr>
          <a:xfrm>
            <a:off x="450376" y="848264"/>
            <a:ext cx="11650580" cy="6001643"/>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AVL </a:t>
            </a:r>
            <a:r>
              <a:rPr lang="en-US" sz="2000" dirty="0">
                <a:latin typeface="Times New Roman" panose="02020603050405020304" pitchFamily="18" charset="0"/>
                <a:cs typeface="Times New Roman" panose="02020603050405020304" pitchFamily="18" charset="0"/>
              </a:rPr>
              <a:t>Tree height is always O(log n) i.e., it has logarithmic time complexity for all the operations.</a:t>
            </a:r>
          </a:p>
          <a:p>
            <a:pPr marL="342900" indent="-342900">
              <a:lnSpc>
                <a:spcPct val="2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All</a:t>
            </a:r>
            <a:r>
              <a:rPr lang="en-US" sz="2000" dirty="0">
                <a:latin typeface="Times New Roman" panose="02020603050405020304" pitchFamily="18" charset="0"/>
                <a:cs typeface="Times New Roman" panose="02020603050405020304" pitchFamily="18" charset="0"/>
              </a:rPr>
              <a:t> AVL Tree operations are similar to BST except insertion and deletion.</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N is large, AVL provides faster and reliable search operation than </a:t>
            </a:r>
            <a:r>
              <a:rPr lang="en-US" sz="2000" dirty="0" smtClean="0">
                <a:latin typeface="Times New Roman" panose="02020603050405020304" pitchFamily="18" charset="0"/>
                <a:cs typeface="Times New Roman" panose="02020603050405020304" pitchFamily="18" charset="0"/>
              </a:rPr>
              <a:t>BST.</a:t>
            </a:r>
          </a:p>
          <a:p>
            <a:pPr marL="342900" indent="-342900">
              <a:lnSpc>
                <a:spcPct val="200000"/>
              </a:lnSpc>
              <a:buFont typeface="Arial" panose="020B0604020202020204" pitchFamily="34" charset="0"/>
              <a:buChar char="•"/>
            </a:pPr>
            <a:r>
              <a:rPr lang="en-US" sz="2000" dirty="0" smtClean="0"/>
              <a:t>The </a:t>
            </a:r>
            <a:r>
              <a:rPr lang="en-US" sz="2000" dirty="0"/>
              <a:t>left </a:t>
            </a:r>
            <a:r>
              <a:rPr lang="en-US" sz="2000" dirty="0" smtClean="0"/>
              <a:t>sub tree </a:t>
            </a:r>
            <a:r>
              <a:rPr lang="en-US" sz="2000" dirty="0"/>
              <a:t>has nodes that are lesser than the root node. The right </a:t>
            </a:r>
            <a:r>
              <a:rPr lang="en-US" sz="2000" dirty="0" smtClean="0"/>
              <a:t>sub tree </a:t>
            </a:r>
            <a:r>
              <a:rPr lang="en-US" sz="2000" dirty="0"/>
              <a:t>has nodes that are always greater than the root </a:t>
            </a:r>
            <a:r>
              <a:rPr lang="en-US" sz="2000" dirty="0" smtClean="0"/>
              <a:t>node.</a:t>
            </a:r>
          </a:p>
          <a:p>
            <a:pPr marL="342900" indent="-342900">
              <a:lnSpc>
                <a:spcPct val="200000"/>
              </a:lnSpc>
              <a:buFont typeface="Arial" panose="020B0604020202020204" pitchFamily="34" charset="0"/>
              <a:buChar char="•"/>
            </a:pPr>
            <a:r>
              <a:rPr lang="en-US" sz="2000" dirty="0" smtClean="0"/>
              <a:t>During deletion operation in AVL Trees balance factor should be verified weather to check the tree is balanced or not.</a:t>
            </a:r>
          </a:p>
          <a:p>
            <a:pPr marL="342900" indent="-342900">
              <a:lnSpc>
                <a:spcPct val="200000"/>
              </a:lnSpc>
              <a:buFont typeface="Arial" panose="020B0604020202020204" pitchFamily="34" charset="0"/>
              <a:buChar char="•"/>
            </a:pPr>
            <a:r>
              <a:rPr lang="en-US" sz="2000" dirty="0" smtClean="0"/>
              <a:t>AVL </a:t>
            </a:r>
            <a:r>
              <a:rPr lang="en-US" sz="2000" dirty="0"/>
              <a:t>trees are used where search operation is more frequent compared to insert and delete operations.</a:t>
            </a:r>
          </a:p>
          <a:p>
            <a:pPr marL="342900" indent="-342900">
              <a:lnSpc>
                <a:spcPct val="20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2647665" y="94783"/>
            <a:ext cx="7028597"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1009895" y="928049"/>
            <a:ext cx="10157677" cy="763518"/>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latin typeface="Times New Roman" panose="02020603050405020304" pitchFamily="18" charset="0"/>
                <a:cs typeface="Times New Roman" panose="02020603050405020304" pitchFamily="18" charset="0"/>
              </a:rPr>
              <a:t>How many nodes are involved in a single rotation?</a:t>
            </a:r>
            <a:endParaRPr lang="en-US" sz="2400" dirty="0" smtClean="0">
              <a:latin typeface="Times New Roman" panose="02020603050405020304" pitchFamily="18" charset="0"/>
              <a:cs typeface="Times New Roman" panose="02020603050405020304" pitchFamily="18" charset="0"/>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1119115" y="1888177"/>
            <a:ext cx="7506269" cy="2083321"/>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smtClean="0">
                <a:latin typeface="Times New Roman" panose="02020603050405020304" pitchFamily="18" charset="0"/>
                <a:cs typeface="Times New Roman" panose="02020603050405020304" pitchFamily="18" charset="0"/>
              </a:rPr>
              <a:t>a)   One</a:t>
            </a:r>
            <a:endParaRPr lang="en-US" dirty="0">
              <a:latin typeface="Times New Roman" panose="02020603050405020304" pitchFamily="18" charset="0"/>
              <a:cs typeface="Times New Roman" panose="02020603050405020304" pitchFamily="18" charset="0"/>
            </a:endParaRPr>
          </a:p>
          <a:p>
            <a:pPr>
              <a:lnSpc>
                <a:spcPct val="150000"/>
              </a:lnSpc>
            </a:pPr>
            <a:r>
              <a:rPr lang="en-US" dirty="0" smtClean="0">
                <a:latin typeface="Times New Roman" panose="02020603050405020304" pitchFamily="18" charset="0"/>
                <a:cs typeface="Times New Roman" panose="02020603050405020304" pitchFamily="18" charset="0"/>
              </a:rPr>
              <a:t>b)   Two</a:t>
            </a:r>
            <a:endParaRPr lang="en-US" dirty="0">
              <a:latin typeface="Times New Roman" panose="02020603050405020304" pitchFamily="18" charset="0"/>
              <a:cs typeface="Times New Roman" panose="02020603050405020304" pitchFamily="18" charset="0"/>
            </a:endParaRPr>
          </a:p>
          <a:p>
            <a:pPr>
              <a:lnSpc>
                <a:spcPct val="150000"/>
              </a:lnSpc>
            </a:pPr>
            <a:r>
              <a:rPr lang="en-US" dirty="0" smtClean="0">
                <a:latin typeface="Times New Roman" panose="02020603050405020304" pitchFamily="18" charset="0"/>
                <a:cs typeface="Times New Roman" panose="02020603050405020304" pitchFamily="18" charset="0"/>
              </a:rPr>
              <a:t>c)   Three</a:t>
            </a:r>
            <a:endParaRPr lang="en-US" dirty="0">
              <a:latin typeface="Times New Roman" panose="02020603050405020304" pitchFamily="18" charset="0"/>
              <a:cs typeface="Times New Roman" panose="02020603050405020304" pitchFamily="18" charset="0"/>
            </a:endParaRPr>
          </a:p>
          <a:p>
            <a:pPr>
              <a:lnSpc>
                <a:spcPct val="150000"/>
              </a:lnSpc>
            </a:pPr>
            <a:r>
              <a:rPr lang="en-US" dirty="0" smtClean="0">
                <a:latin typeface="Times New Roman" panose="02020603050405020304" pitchFamily="18" charset="0"/>
                <a:cs typeface="Times New Roman" panose="02020603050405020304" pitchFamily="18" charset="0"/>
              </a:rPr>
              <a:t>d)   Four</a:t>
            </a:r>
            <a:endParaRPr lang="en-US" dirty="0">
              <a:latin typeface="Times New Roman" panose="02020603050405020304" pitchFamily="18" charset="0"/>
              <a:cs typeface="Times New Roman" panose="02020603050405020304" pitchFamily="18" charset="0"/>
            </a:endParaRPr>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1009895" y="4168107"/>
            <a:ext cx="10157677" cy="622257"/>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2400" dirty="0" smtClean="0">
                <a:latin typeface="Times New Roman" panose="02020603050405020304" pitchFamily="18" charset="0"/>
                <a:cs typeface="Times New Roman" panose="02020603050405020304" pitchFamily="18" charset="0"/>
              </a:rPr>
              <a:t>2.Time </a:t>
            </a:r>
            <a:r>
              <a:rPr lang="en-US" sz="2400" dirty="0">
                <a:latin typeface="Times New Roman" panose="02020603050405020304" pitchFamily="18" charset="0"/>
                <a:cs typeface="Times New Roman" panose="02020603050405020304" pitchFamily="18" charset="0"/>
              </a:rPr>
              <a:t>complexity of </a:t>
            </a:r>
            <a:r>
              <a:rPr lang="en-US" sz="2400" dirty="0" smtClean="0">
                <a:latin typeface="Times New Roman" panose="02020603050405020304" pitchFamily="18" charset="0"/>
                <a:cs typeface="Times New Roman" panose="02020603050405020304" pitchFamily="18" charset="0"/>
              </a:rPr>
              <a:t>AVL Tree</a:t>
            </a:r>
            <a:endParaRPr lang="en-IN" sz="2400" dirty="0">
              <a:latin typeface="Times New Roman" panose="02020603050405020304" pitchFamily="18" charset="0"/>
              <a:cs typeface="Times New Roman" panose="02020603050405020304" pitchFamily="18" charset="0"/>
            </a:endParaRPr>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119115" y="4923805"/>
            <a:ext cx="7506269" cy="1790893"/>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IN" dirty="0" smtClean="0">
                <a:latin typeface="Times New Roman" panose="02020603050405020304" pitchFamily="18" charset="0"/>
                <a:cs typeface="Times New Roman" panose="02020603050405020304" pitchFamily="18" charset="0"/>
              </a:rPr>
              <a:t>O(n log n)</a:t>
            </a:r>
          </a:p>
          <a:p>
            <a:pPr marL="342900" indent="-342900">
              <a:lnSpc>
                <a:spcPct val="150000"/>
              </a:lnSpc>
              <a:buAutoNum type="alphaLcParenR"/>
            </a:pPr>
            <a:r>
              <a:rPr lang="en-IN" dirty="0" smtClean="0">
                <a:latin typeface="Times New Roman" panose="02020603050405020304" pitchFamily="18" charset="0"/>
                <a:cs typeface="Times New Roman" panose="02020603050405020304" pitchFamily="18" charset="0"/>
              </a:rPr>
              <a:t>O(log n)</a:t>
            </a:r>
          </a:p>
          <a:p>
            <a:pPr marL="342900" indent="-342900">
              <a:lnSpc>
                <a:spcPct val="150000"/>
              </a:lnSpc>
              <a:buAutoNum type="alphaLcParenR"/>
            </a:pPr>
            <a:r>
              <a:rPr lang="en-IN" dirty="0" smtClean="0">
                <a:latin typeface="Times New Roman" panose="02020603050405020304" pitchFamily="18" charset="0"/>
                <a:cs typeface="Times New Roman" panose="02020603050405020304" pitchFamily="18" charset="0"/>
              </a:rPr>
              <a:t>O(n)</a:t>
            </a:r>
          </a:p>
          <a:p>
            <a:pPr marL="342900" indent="-342900">
              <a:lnSpc>
                <a:spcPct val="150000"/>
              </a:lnSpc>
              <a:buAutoNum type="alphaLcParenR"/>
            </a:pPr>
            <a:r>
              <a:rPr lang="en-IN" dirty="0" smtClean="0">
                <a:latin typeface="Times New Roman" panose="02020603050405020304" pitchFamily="18" charset="0"/>
                <a:cs typeface="Times New Roman" panose="02020603050405020304" pitchFamily="18" charset="0"/>
              </a:rPr>
              <a:t>O(n2)</a:t>
            </a:r>
            <a:endParaRPr lang="en-IN" dirty="0">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499818" y="187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TERMINAL QUESTIONS</a:t>
            </a:r>
          </a:p>
        </p:txBody>
      </p:sp>
      <p:sp>
        <p:nvSpPr>
          <p:cNvPr id="9" name="TextBox 8"/>
          <p:cNvSpPr txBox="1"/>
          <p:nvPr/>
        </p:nvSpPr>
        <p:spPr>
          <a:xfrm>
            <a:off x="900332" y="1167618"/>
            <a:ext cx="9608234" cy="3807261"/>
          </a:xfrm>
          <a:prstGeom prst="rect">
            <a:avLst/>
          </a:prstGeom>
          <a:noFill/>
        </p:spPr>
        <p:txBody>
          <a:bodyPr wrap="square" rtlCol="0">
            <a:spAutoFit/>
          </a:bodyPr>
          <a:lstStyle/>
          <a:p>
            <a:pPr>
              <a:lnSpc>
                <a:spcPct val="250000"/>
              </a:lnSpc>
            </a:pPr>
            <a:r>
              <a:rPr lang="en-US" sz="2000" dirty="0" smtClean="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Show step-by-step AVL tree insertion in the terminal</a:t>
            </a:r>
            <a:endParaRPr lang="en-US" sz="2000" dirty="0" smtClean="0">
              <a:latin typeface="Times New Roman" panose="02020603050405020304" pitchFamily="18" charset="0"/>
              <a:cs typeface="Times New Roman" panose="02020603050405020304" pitchFamily="18" charset="0"/>
            </a:endParaRPr>
          </a:p>
          <a:p>
            <a:pPr>
              <a:lnSpc>
                <a:spcPct val="250000"/>
              </a:lnSpc>
            </a:pPr>
            <a:r>
              <a:rPr lang="en-US" sz="2000" dirty="0" smtClean="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Explain rebalancing after AVL tree deletion in the </a:t>
            </a:r>
            <a:r>
              <a:rPr lang="en-US" sz="2000" dirty="0" smtClean="0">
                <a:latin typeface="Times New Roman" panose="02020603050405020304" pitchFamily="18" charset="0"/>
                <a:cs typeface="Times New Roman" panose="02020603050405020304" pitchFamily="18" charset="0"/>
              </a:rPr>
              <a:t>terminal?</a:t>
            </a:r>
          </a:p>
          <a:p>
            <a:pPr>
              <a:lnSpc>
                <a:spcPct val="250000"/>
              </a:lnSpc>
            </a:pPr>
            <a:r>
              <a:rPr lang="en-US" sz="2000" dirty="0" smtClean="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Determine the balance factor of each node in a given AVL tree. Identify any potential imbalances and suggest the type of rotations needed to restore </a:t>
            </a:r>
            <a:r>
              <a:rPr lang="en-US" sz="2000" dirty="0" smtClean="0">
                <a:latin typeface="Times New Roman" panose="02020603050405020304" pitchFamily="18" charset="0"/>
                <a:cs typeface="Times New Roman" panose="02020603050405020304" pitchFamily="18" charset="0"/>
              </a:rPr>
              <a:t>balance.</a:t>
            </a:r>
          </a:p>
          <a:p>
            <a:pPr>
              <a:lnSpc>
                <a:spcPct val="250000"/>
              </a:lnSpc>
            </a:pPr>
            <a:r>
              <a:rPr lang="en-US" sz="2000" dirty="0" smtClean="0">
                <a:latin typeface="Times New Roman" panose="02020603050405020304" pitchFamily="18" charset="0"/>
                <a:cs typeface="Times New Roman" panose="02020603050405020304" pitchFamily="18" charset="0"/>
              </a:rPr>
              <a:t>4.Discuss </a:t>
            </a:r>
            <a:r>
              <a:rPr lang="en-US" sz="2000" dirty="0">
                <a:latin typeface="Times New Roman" panose="02020603050405020304" pitchFamily="18" charset="0"/>
                <a:cs typeface="Times New Roman" panose="02020603050405020304" pitchFamily="18" charset="0"/>
              </a:rPr>
              <a:t>the advantages and disadvantages of using AVL </a:t>
            </a:r>
            <a:r>
              <a:rPr lang="en-US" sz="2000" dirty="0" smtClean="0">
                <a:latin typeface="Times New Roman" panose="02020603050405020304" pitchFamily="18" charset="0"/>
                <a:cs typeface="Times New Roman" panose="02020603050405020304" pitchFamily="18" charset="0"/>
              </a:rPr>
              <a:t>trees?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2292822" y="93891"/>
            <a:ext cx="9157650" cy="50618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anose="02020603050405020304" pitchFamily="18" charset="0"/>
                <a:cs typeface="Times New Roman" panose="02020603050405020304" pitchFamily="18" charset="0"/>
              </a:rPr>
              <a:t>REFERENCES </a:t>
            </a:r>
            <a:r>
              <a:rPr lang="en-US" sz="2400" dirty="0">
                <a:latin typeface="Times New Roman" panose="02020603050405020304" pitchFamily="18" charset="0"/>
                <a:cs typeface="Times New Roman" panose="02020603050405020304" pitchFamily="18" charset="0"/>
              </a:rPr>
              <a:t>FOR FURTHER LEARNING OF THE SESSION</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437195" y="1013239"/>
            <a:ext cx="11509382" cy="3416320"/>
          </a:xfrm>
          <a:prstGeom prst="rect">
            <a:avLst/>
          </a:prstGeom>
          <a:noFill/>
        </p:spPr>
        <p:txBody>
          <a:bodyPr wrap="square" rtlCol="0">
            <a:spAutoFit/>
          </a:bodyPr>
          <a:lstStyle/>
          <a:p>
            <a:pPr>
              <a:lnSpc>
                <a:spcPct val="150000"/>
              </a:lnSpc>
            </a:pPr>
            <a:r>
              <a:rPr lang="en-US" sz="2400" b="1" dirty="0"/>
              <a:t>Reference Books:</a:t>
            </a:r>
            <a:endParaRPr lang="en-US" sz="2400" dirty="0"/>
          </a:p>
          <a:p>
            <a:pPr lvl="0"/>
            <a:r>
              <a:rPr lang="en-US" dirty="0" smtClean="0"/>
              <a:t>1. Data </a:t>
            </a:r>
            <a:r>
              <a:rPr lang="en-US" dirty="0"/>
              <a:t>Structures and Algorithm Analysis in PYTHON, 2010, Mark Allen Weiss, Second Edition, Pearson Education.</a:t>
            </a:r>
          </a:p>
          <a:p>
            <a:pPr lvl="0"/>
            <a:r>
              <a:rPr lang="en-US" dirty="0" smtClean="0"/>
              <a:t>2. Data </a:t>
            </a:r>
            <a:r>
              <a:rPr lang="en-US" dirty="0"/>
              <a:t>Structures and Algorithms, </a:t>
            </a:r>
            <a:r>
              <a:rPr lang="en-US" dirty="0" err="1"/>
              <a:t>A.V.Aho</a:t>
            </a:r>
            <a:r>
              <a:rPr lang="en-US" dirty="0"/>
              <a:t>, </a:t>
            </a:r>
            <a:r>
              <a:rPr lang="en-US" dirty="0" err="1"/>
              <a:t>J.E.Hopcroft</a:t>
            </a:r>
            <a:r>
              <a:rPr lang="en-US" dirty="0"/>
              <a:t>, and </a:t>
            </a:r>
            <a:r>
              <a:rPr lang="en-US" dirty="0" err="1"/>
              <a:t>J.D.Ullman</a:t>
            </a:r>
            <a:r>
              <a:rPr lang="en-US" dirty="0"/>
              <a:t>, Pearson Education, First Edition Reprint2003.</a:t>
            </a:r>
          </a:p>
          <a:p>
            <a:pPr lvl="0"/>
            <a:r>
              <a:rPr lang="en-US" dirty="0" smtClean="0"/>
              <a:t>3. Advanced </a:t>
            </a:r>
            <a:r>
              <a:rPr lang="en-US" dirty="0"/>
              <a:t>Guide to Python 3 Programming, John Hunt, 4</a:t>
            </a:r>
            <a:r>
              <a:rPr lang="en-US" baseline="30000" dirty="0"/>
              <a:t>th</a:t>
            </a:r>
            <a:r>
              <a:rPr lang="en-US" dirty="0"/>
              <a:t> Edition, Springer Nature Switzerland AG 2019.</a:t>
            </a:r>
          </a:p>
          <a:p>
            <a:r>
              <a:rPr lang="en-US" dirty="0" smtClean="0"/>
              <a:t>4. Python </a:t>
            </a:r>
            <a:r>
              <a:rPr lang="en-US" dirty="0"/>
              <a:t>Basics: A Practice Introduction to Python 3, David Amos, Dan Bader, Joanna </a:t>
            </a:r>
            <a:r>
              <a:rPr lang="en-US" dirty="0" err="1"/>
              <a:t>Jablonski</a:t>
            </a:r>
            <a:r>
              <a:rPr lang="en-US" dirty="0"/>
              <a:t>, Fletcher </a:t>
            </a:r>
            <a:r>
              <a:rPr lang="en-US" dirty="0" err="1"/>
              <a:t>Heisler</a:t>
            </a:r>
            <a:r>
              <a:rPr lang="en-US" dirty="0"/>
              <a:t>, 4</a:t>
            </a:r>
            <a:r>
              <a:rPr lang="en-US" baseline="30000" dirty="0"/>
              <a:t>th</a:t>
            </a:r>
            <a:r>
              <a:rPr lang="en-US" dirty="0"/>
              <a:t> edition, Real Python</a:t>
            </a:r>
            <a:endParaRPr lang="en-US" b="1" dirty="0"/>
          </a:p>
          <a:p>
            <a:pPr>
              <a:lnSpc>
                <a:spcPct val="150000"/>
              </a:lnSpc>
            </a:pPr>
            <a:r>
              <a:rPr lang="en-US" sz="2400" b="1" dirty="0"/>
              <a:t>Sites and Web links:</a:t>
            </a:r>
          </a:p>
          <a:p>
            <a:pPr lvl="0"/>
            <a:r>
              <a:rPr lang="en-US" dirty="0"/>
              <a:t>1</a:t>
            </a:r>
            <a:r>
              <a:rPr lang="en-US" dirty="0" smtClean="0"/>
              <a:t>.</a:t>
            </a:r>
            <a:r>
              <a:rPr lang="en-US" dirty="0">
                <a:hlinkClick r:id="rId2"/>
              </a:rPr>
              <a:t> </a:t>
            </a:r>
            <a:r>
              <a:rPr lang="en-US" u="sng" dirty="0">
                <a:hlinkClick r:id="rId3"/>
              </a:rPr>
              <a:t>https://docs.python.org/3/tutorial/datastructures.html</a:t>
            </a:r>
            <a:endParaRPr lang="en-US" dirty="0"/>
          </a:p>
          <a:p>
            <a:pPr lvl="0"/>
            <a:r>
              <a:rPr lang="en-US" u="sng" dirty="0" smtClean="0">
                <a:hlinkClick r:id="rId4"/>
              </a:rPr>
              <a:t>2. https</a:t>
            </a:r>
            <a:r>
              <a:rPr lang="en-US" u="sng" dirty="0">
                <a:hlinkClick r:id="rId4"/>
              </a:rPr>
              <a:t>://www.w3schools.com/dsa/dsa_intro.php</a:t>
            </a:r>
            <a:endParaRPr lang="en-US" dirty="0"/>
          </a:p>
          <a:p>
            <a:r>
              <a:rPr lang="en-US" u="sng" dirty="0" smtClean="0">
                <a:hlinkClick r:id="rId5"/>
              </a:rPr>
              <a:t>3. https</a:t>
            </a:r>
            <a:r>
              <a:rPr lang="en-US" u="sng" dirty="0">
                <a:hlinkClick r:id="rId5"/>
              </a:rPr>
              <a:t>://www.geeksforgeeks.org/python-data-structures/</a:t>
            </a:r>
            <a:endParaRPr lang="en-US" dirty="0"/>
          </a:p>
        </p:txBody>
      </p:sp>
      <p:pic>
        <p:nvPicPr>
          <p:cNvPr id="5" name="Picture 2" descr="KL Deemed to be University Logo"/>
          <p:cNvPicPr>
            <a:picLocks noChangeAspect="1" noChangeArrowheads="1"/>
          </p:cNvPicPr>
          <p:nvPr/>
        </p:nvPicPr>
        <p:blipFill>
          <a:blip r:embed="rId6"/>
          <a:srcRect/>
          <a:stretch>
            <a:fillRect/>
          </a:stretch>
        </p:blipFill>
        <p:spPr bwMode="auto">
          <a:xfrm>
            <a:off x="177421" y="93891"/>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39099" y="1875222"/>
            <a:ext cx="7876501" cy="3181410"/>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endParaRPr lang="en-US" sz="3200" b="1" dirty="0" smtClean="0">
              <a:latin typeface="Poppins" pitchFamily="2" charset="77"/>
              <a:cs typeface="Poppins" pitchFamily="2" charset="77"/>
            </a:endParaRPr>
          </a:p>
          <a:p>
            <a:pPr algn="ctr"/>
            <a:r>
              <a:rPr lang="en-US" sz="3200" b="1" dirty="0" smtClean="0">
                <a:latin typeface="Poppins" pitchFamily="2" charset="77"/>
                <a:cs typeface="Poppins" pitchFamily="2" charset="77"/>
              </a:rPr>
              <a:t>THANK </a:t>
            </a:r>
            <a:r>
              <a:rPr lang="en-US" sz="3200" b="1" dirty="0">
                <a:latin typeface="Poppins" pitchFamily="2" charset="77"/>
                <a:cs typeface="Poppins" pitchFamily="2" charset="77"/>
              </a:rPr>
              <a:t>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smtClean="0">
                <a:latin typeface="Poppins" pitchFamily="2" charset="77"/>
                <a:cs typeface="Poppins" pitchFamily="2" charset="77"/>
              </a:rPr>
              <a:t>Structures through Python</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BD0A98-E68B-4DAA-8964-2F739D6D4075}">
  <ds:schemaRefs>
    <ds:schemaRef ds:uri="0125a647-8023-46ae-ae6e-85cf36d841bd"/>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d43ee83c-3e71-4748-8ebc-8eaadf793425"/>
    <ds:schemaRef ds:uri="http://www.w3.org/XML/1998/namespace"/>
    <ds:schemaRef ds:uri="http://purl.org/dc/dcmitype/"/>
  </ds:schemaRefs>
</ds:datastoreItem>
</file>

<file path=customXml/itemProps2.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2181</TotalTime>
  <Words>681</Words>
  <Application>Microsoft Office PowerPoint</Application>
  <PresentationFormat>Widescreen</PresentationFormat>
  <Paragraphs>99</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BioRhyme ExtraBold</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Deletion operation:-Deletion in the AVL Trees take place in three different scenarios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Microsoft account</cp:lastModifiedBy>
  <cp:revision>109</cp:revision>
  <dcterms:created xsi:type="dcterms:W3CDTF">2020-02-08T09:57:44Z</dcterms:created>
  <dcterms:modified xsi:type="dcterms:W3CDTF">2024-12-13T07:53:48Z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