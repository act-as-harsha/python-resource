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3"/>
  </p:notesMasterIdLst>
  <p:sldIdLst>
    <p:sldId id="271" r:id="rId5"/>
    <p:sldId id="300" r:id="rId6"/>
    <p:sldId id="258" r:id="rId7"/>
    <p:sldId id="288" r:id="rId8"/>
    <p:sldId id="290" r:id="rId9"/>
    <p:sldId id="305" r:id="rId10"/>
    <p:sldId id="285" r:id="rId11"/>
    <p:sldId id="310" r:id="rId12"/>
    <p:sldId id="311" r:id="rId13"/>
    <p:sldId id="312" r:id="rId14"/>
    <p:sldId id="313" r:id="rId15"/>
    <p:sldId id="314" r:id="rId16"/>
    <p:sldId id="315" r:id="rId17"/>
    <p:sldId id="287" r:id="rId18"/>
    <p:sldId id="301" r:id="rId19"/>
    <p:sldId id="302" r:id="rId20"/>
    <p:sldId id="303" r:id="rId21"/>
    <p:sldId id="30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880A04-25C7-2112-5611-F7054392C8F9}" v="124" dt="2023-12-30T02:59:12.910"/>
    <p1510:client id="{97DB8250-6295-C353-38C6-A4D685CE3B6C}" v="2" dt="2023-12-28T07:31:10.21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3" d="100"/>
          <a:sy n="83" d="100"/>
        </p:scale>
        <p:origin x="629"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ANUSHA" userId="S::anushaaa9@kluniversity.in::31576902-587f-4416-b184-62b5dd11a3e8" providerId="AD" clId="Web-{97DB8250-6295-C353-38C6-A4D685CE3B6C}"/>
    <pc:docChg chg="modSld">
      <pc:chgData name="M ANUSHA" userId="S::anushaaa9@kluniversity.in::31576902-587f-4416-b184-62b5dd11a3e8" providerId="AD" clId="Web-{97DB8250-6295-C353-38C6-A4D685CE3B6C}" dt="2023-12-28T07:31:10.217" v="1" actId="14100"/>
      <pc:docMkLst>
        <pc:docMk/>
      </pc:docMkLst>
      <pc:sldChg chg="modSp">
        <pc:chgData name="M ANUSHA" userId="S::anushaaa9@kluniversity.in::31576902-587f-4416-b184-62b5dd11a3e8" providerId="AD" clId="Web-{97DB8250-6295-C353-38C6-A4D685CE3B6C}" dt="2023-12-28T07:31:10.217" v="1" actId="14100"/>
        <pc:sldMkLst>
          <pc:docMk/>
          <pc:sldMk cId="4069052342" sldId="258"/>
        </pc:sldMkLst>
        <pc:spChg chg="mod">
          <ac:chgData name="M ANUSHA" userId="S::anushaaa9@kluniversity.in::31576902-587f-4416-b184-62b5dd11a3e8" providerId="AD" clId="Web-{97DB8250-6295-C353-38C6-A4D685CE3B6C}" dt="2023-12-28T07:31:10.217" v="1" actId="14100"/>
          <ac:spMkLst>
            <pc:docMk/>
            <pc:sldMk cId="4069052342" sldId="258"/>
            <ac:spMk id="6" creationId="{D502CC38-9E8E-4F3E-97F8-CE08BF2DDB15}"/>
          </ac:spMkLst>
        </pc:spChg>
      </pc:sldChg>
    </pc:docChg>
  </pc:docChgLst>
  <pc:docChgLst>
    <pc:chgData name="Guest User" userId="S::urn:spo:anon#041d050716007d72e933769838f51bced52d97ace154e39de1e0ee92a489812d::" providerId="AD" clId="Web-{07880A04-25C7-2112-5611-F7054392C8F9}"/>
    <pc:docChg chg="addSld modSld">
      <pc:chgData name="Guest User" userId="S::urn:spo:anon#041d050716007d72e933769838f51bced52d97ace154e39de1e0ee92a489812d::" providerId="AD" clId="Web-{07880A04-25C7-2112-5611-F7054392C8F9}" dt="2023-12-30T02:59:11.941" v="70" actId="20577"/>
      <pc:docMkLst>
        <pc:docMk/>
      </pc:docMkLst>
      <pc:sldChg chg="addSp delSp modSp add replId">
        <pc:chgData name="Guest User" userId="S::urn:spo:anon#041d050716007d72e933769838f51bced52d97ace154e39de1e0ee92a489812d::" providerId="AD" clId="Web-{07880A04-25C7-2112-5611-F7054392C8F9}" dt="2023-12-30T02:59:11.941" v="70" actId="20577"/>
        <pc:sldMkLst>
          <pc:docMk/>
          <pc:sldMk cId="823908750" sldId="315"/>
        </pc:sldMkLst>
        <pc:spChg chg="mod">
          <ac:chgData name="Guest User" userId="S::urn:spo:anon#041d050716007d72e933769838f51bced52d97ace154e39de1e0ee92a489812d::" providerId="AD" clId="Web-{07880A04-25C7-2112-5611-F7054392C8F9}" dt="2023-12-30T02:58:37.659" v="66" actId="20577"/>
          <ac:spMkLst>
            <pc:docMk/>
            <pc:sldMk cId="823908750" sldId="315"/>
            <ac:spMk id="4" creationId="{C6E4685B-6DE9-DF8D-84D0-9BD8AE14B931}"/>
          </ac:spMkLst>
        </pc:spChg>
        <pc:spChg chg="add del mod">
          <ac:chgData name="Guest User" userId="S::urn:spo:anon#041d050716007d72e933769838f51bced52d97ace154e39de1e0ee92a489812d::" providerId="AD" clId="Web-{07880A04-25C7-2112-5611-F7054392C8F9}" dt="2023-12-30T02:59:11.941" v="70" actId="20577"/>
          <ac:spMkLst>
            <pc:docMk/>
            <pc:sldMk cId="823908750" sldId="315"/>
            <ac:spMk id="13" creationId="{85164541-08A5-EABE-C8CA-4FB2D60B0670}"/>
          </ac:spMkLst>
        </pc:spChg>
        <pc:picChg chg="add del">
          <ac:chgData name="Guest User" userId="S::urn:spo:anon#041d050716007d72e933769838f51bced52d97ace154e39de1e0ee92a489812d::" providerId="AD" clId="Web-{07880A04-25C7-2112-5611-F7054392C8F9}" dt="2023-12-30T02:57:44.080" v="53"/>
          <ac:picMkLst>
            <pc:docMk/>
            <pc:sldMk cId="823908750" sldId="315"/>
            <ac:picMk id="6148" creationId="{B9FFB281-B72A-E2DB-89E0-B36529ABDCCE}"/>
          </ac:picMkLst>
        </pc:picChg>
      </pc:sldChg>
    </pc:docChg>
  </pc:docChgLst>
  <pc:docChgLst>
    <pc:chgData name="brahmam ch" userId="e3782531df52b7a9" providerId="LiveId" clId="{B17CD6BB-7A08-47A6-8BBA-C0C408CA9399}"/>
    <pc:docChg chg="delSld">
      <pc:chgData name="brahmam ch" userId="e3782531df52b7a9" providerId="LiveId" clId="{B17CD6BB-7A08-47A6-8BBA-C0C408CA9399}" dt="2023-12-27T03:16:52.346" v="3" actId="2696"/>
      <pc:docMkLst>
        <pc:docMk/>
      </pc:docMkLst>
      <pc:sldChg chg="del">
        <pc:chgData name="brahmam ch" userId="e3782531df52b7a9" providerId="LiveId" clId="{B17CD6BB-7A08-47A6-8BBA-C0C408CA9399}" dt="2023-12-27T03:16:40.940" v="0" actId="2696"/>
        <pc:sldMkLst>
          <pc:docMk/>
          <pc:sldMk cId="1300146341" sldId="299"/>
        </pc:sldMkLst>
      </pc:sldChg>
      <pc:sldChg chg="del">
        <pc:chgData name="brahmam ch" userId="e3782531df52b7a9" providerId="LiveId" clId="{B17CD6BB-7A08-47A6-8BBA-C0C408CA9399}" dt="2023-12-27T03:16:45.544" v="1" actId="2696"/>
        <pc:sldMkLst>
          <pc:docMk/>
          <pc:sldMk cId="0" sldId="306"/>
        </pc:sldMkLst>
      </pc:sldChg>
      <pc:sldChg chg="del">
        <pc:chgData name="brahmam ch" userId="e3782531df52b7a9" providerId="LiveId" clId="{B17CD6BB-7A08-47A6-8BBA-C0C408CA9399}" dt="2023-12-27T03:16:48.879" v="2" actId="2696"/>
        <pc:sldMkLst>
          <pc:docMk/>
          <pc:sldMk cId="0" sldId="307"/>
        </pc:sldMkLst>
      </pc:sldChg>
      <pc:sldChg chg="del">
        <pc:chgData name="brahmam ch" userId="e3782531df52b7a9" providerId="LiveId" clId="{B17CD6BB-7A08-47A6-8BBA-C0C408CA9399}" dt="2023-12-27T03:16:52.346" v="3" actId="2696"/>
        <pc:sldMkLst>
          <pc:docMk/>
          <pc:sldMk cId="0"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cstate="print">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cstate="print">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w3schools.com/dsa/dsa_intro.php"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geeksforgeeks.org/python-data-structures/"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20161"/>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80072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Course: </a:t>
            </a:r>
            <a:r>
              <a:rPr lang="en-US" sz="3200" b="1" cap="all" dirty="0" smtClean="0">
                <a:ln/>
                <a:solidFill>
                  <a:srgbClr val="C00000"/>
                </a:solidFill>
                <a:cs typeface="Poppins" panose="00000500000000000000" pitchFamily="2" charset="0"/>
                <a:sym typeface="BioRhyme ExtraBold"/>
              </a:rPr>
              <a:t>DATA STRUCTURES through Python</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smtClean="0">
                <a:ln/>
                <a:solidFill>
                  <a:srgbClr val="C00000"/>
                </a:solidFill>
                <a:cs typeface="Poppins" panose="00000500000000000000" pitchFamily="2" charset="0"/>
                <a:sym typeface="BioRhyme ExtraBold"/>
              </a:rPr>
              <a:t>24SC1204</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SPLAY TREES</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BES-1</a:t>
            </a: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33</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cstate="print"/>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54973"/>
            <a:ext cx="10731286" cy="65883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2800" b="0" i="0" dirty="0">
                <a:effectLst/>
                <a:latin typeface="Poppins"/>
                <a:cs typeface="Poppins"/>
              </a:rPr>
              <a:t>To familiarize students with the basic concept of Splay Trees</a:t>
            </a: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60059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158393"/>
            <a:ext cx="8791575" cy="193899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dirty="0">
                <a:latin typeface="Poppins"/>
                <a:cs typeface="Poppins"/>
              </a:rPr>
              <a:t>This</a:t>
            </a:r>
            <a:r>
              <a:rPr lang="en-US" sz="2000" b="0" i="0" dirty="0">
                <a:effectLst/>
                <a:latin typeface="Poppins"/>
                <a:cs typeface="Poppins"/>
              </a:rPr>
              <a:t> </a:t>
            </a:r>
            <a:r>
              <a:rPr lang="en-US" sz="2000" dirty="0">
                <a:latin typeface="Poppins"/>
                <a:cs typeface="Poppins"/>
              </a:rPr>
              <a:t>Session</a:t>
            </a:r>
            <a:r>
              <a:rPr lang="en-US" sz="2000" b="0" i="0" dirty="0">
                <a:effectLst/>
                <a:latin typeface="Poppins"/>
                <a:cs typeface="Poppins"/>
              </a:rPr>
              <a:t> is designed to:</a:t>
            </a:r>
          </a:p>
          <a:p>
            <a:pPr marL="342900" indent="-342900">
              <a:buAutoNum type="arabicPeriod"/>
            </a:pPr>
            <a:r>
              <a:rPr lang="en-US" sz="2000" b="0" i="0" dirty="0">
                <a:effectLst/>
                <a:latin typeface="Arial" panose="020B0604020202020204" pitchFamily="34" charset="0"/>
              </a:rPr>
              <a:t>Demonstrate Splay Tree</a:t>
            </a:r>
          </a:p>
          <a:p>
            <a:pPr marL="342900" indent="-342900">
              <a:buAutoNum type="arabicPeriod"/>
            </a:pPr>
            <a:r>
              <a:rPr lang="en-US" sz="2000" b="0" i="0" dirty="0">
                <a:effectLst/>
                <a:latin typeface="Arial" panose="020B0604020202020204" pitchFamily="34" charset="0"/>
              </a:rPr>
              <a:t>Describe the different</a:t>
            </a:r>
            <a:r>
              <a:rPr lang="en-US" sz="2000" dirty="0">
                <a:latin typeface="Arial" panose="020B0604020202020204" pitchFamily="34" charset="0"/>
              </a:rPr>
              <a:t> types of rotations performed on the splay tree</a:t>
            </a:r>
          </a:p>
          <a:p>
            <a:pPr marL="342900" indent="-342900">
              <a:buAutoNum type="arabicPeriod"/>
            </a:pPr>
            <a:r>
              <a:rPr lang="en-US" sz="2000" b="0" i="0" dirty="0">
                <a:effectLst/>
                <a:latin typeface="Arial" panose="020B0604020202020204" pitchFamily="34" charset="0"/>
              </a:rPr>
              <a:t>List out the advantages of Splay Trees</a:t>
            </a:r>
          </a:p>
          <a:p>
            <a:pPr marL="342900" indent="-342900">
              <a:buAutoNum type="arabicPeriod"/>
            </a:pPr>
            <a:r>
              <a:rPr lang="en-US" sz="2000" b="0" i="0" dirty="0">
                <a:effectLst/>
                <a:latin typeface="Arial"/>
                <a:cs typeface="Arial"/>
              </a:rPr>
              <a:t>Describe the Time Complexities of Splay Trees</a:t>
            </a:r>
            <a:endParaRPr lang="en-US" sz="2000" dirty="0">
              <a:latin typeface="Arial"/>
              <a:cs typeface="Arial"/>
            </a:endParaRP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8200" y="2055157"/>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6312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2000" b="0" i="0" dirty="0">
                <a:effectLst/>
                <a:latin typeface="Arial"/>
                <a:cs typeface="Arial"/>
              </a:rPr>
              <a:t>At the end of this </a:t>
            </a:r>
            <a:r>
              <a:rPr lang="en-US" sz="2000" dirty="0">
                <a:latin typeface="Arial"/>
                <a:cs typeface="Arial"/>
              </a:rPr>
              <a:t>session</a:t>
            </a:r>
            <a:r>
              <a:rPr lang="en-US" sz="2000" b="0" i="0" dirty="0">
                <a:effectLst/>
                <a:latin typeface="Arial"/>
                <a:cs typeface="Arial"/>
              </a:rPr>
              <a:t>, you should be able to:</a:t>
            </a:r>
          </a:p>
          <a:p>
            <a:pPr marL="342900" indent="-342900">
              <a:buAutoNum type="arabicPeriod"/>
            </a:pPr>
            <a:r>
              <a:rPr lang="en-US" sz="2000" b="0" i="0" dirty="0">
                <a:effectLst/>
                <a:latin typeface="Arial" panose="020B0604020202020204" pitchFamily="34" charset="0"/>
              </a:rPr>
              <a:t>Define Splay Tree. </a:t>
            </a:r>
          </a:p>
          <a:p>
            <a:pPr marL="342900" indent="-342900">
              <a:buAutoNum type="arabicPeriod"/>
            </a:pPr>
            <a:r>
              <a:rPr lang="en-US" sz="2000" b="0" i="0" dirty="0">
                <a:effectLst/>
                <a:latin typeface="Arial" panose="020B0604020202020204" pitchFamily="34" charset="0"/>
              </a:rPr>
              <a:t>Describe the Advantages of using the Splay Trees in Real Time</a:t>
            </a:r>
          </a:p>
          <a:p>
            <a:pPr marL="342900" indent="-342900">
              <a:buAutoNum type="arabicPeriod"/>
            </a:pPr>
            <a:r>
              <a:rPr lang="en-US" sz="2000" dirty="0">
                <a:latin typeface="Arial" panose="020B0604020202020204" pitchFamily="34" charset="0"/>
              </a:rPr>
              <a:t>Summarize the Splay Tree Concept</a:t>
            </a:r>
            <a:endParaRPr lang="en-US" sz="20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cstate="print"/>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xmlns="" id="{FF62E82C-F1B1-4837-9CA1-88F8C9571DBD}"/>
              </a:ext>
            </a:extLst>
          </p:cNvPr>
          <p:cNvSpPr txBox="1"/>
          <p:nvPr/>
        </p:nvSpPr>
        <p:spPr>
          <a:xfrm>
            <a:off x="449420" y="391256"/>
            <a:ext cx="9719815" cy="1015663"/>
          </a:xfrm>
          <a:prstGeom prst="rect">
            <a:avLst/>
          </a:prstGeom>
          <a:noFill/>
        </p:spPr>
        <p:txBody>
          <a:bodyPr wrap="square">
            <a:spAutoFit/>
          </a:bodyPr>
          <a:lstStyle/>
          <a:p>
            <a:r>
              <a:rPr lang="en-US" altLang="en-US" sz="6000" b="1" dirty="0">
                <a:solidFill>
                  <a:srgbClr val="A50021"/>
                </a:solidFill>
                <a:latin typeface="Times New Roman" panose="02020603050405020304" pitchFamily="18" charset="0"/>
                <a:ea typeface="+mj-ea"/>
                <a:cs typeface="Times New Roman" panose="02020603050405020304" pitchFamily="18" charset="0"/>
              </a:rPr>
              <a:t>What is Splay Tree?</a:t>
            </a:r>
          </a:p>
        </p:txBody>
      </p:sp>
      <p:sp>
        <p:nvSpPr>
          <p:cNvPr id="6" name="Rectangle 3">
            <a:extLst>
              <a:ext uri="{FF2B5EF4-FFF2-40B4-BE49-F238E27FC236}">
                <a16:creationId xmlns:a16="http://schemas.microsoft.com/office/drawing/2014/main" xmlns="" id="{D502CC38-9E8E-4F3E-97F8-CE08BF2DDB15}"/>
              </a:ext>
            </a:extLst>
          </p:cNvPr>
          <p:cNvSpPr txBox="1">
            <a:spLocks noChangeArrowheads="1"/>
          </p:cNvSpPr>
          <p:nvPr/>
        </p:nvSpPr>
        <p:spPr>
          <a:xfrm>
            <a:off x="107985" y="1336964"/>
            <a:ext cx="11903905" cy="5354781"/>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altLang="zh-TW" sz="2800" b="1" dirty="0">
                <a:solidFill>
                  <a:schemeClr val="folHlink"/>
                </a:solidFill>
                <a:ea typeface="PMingLiU"/>
              </a:rPr>
              <a:t>Splay trees are the self-balancing or self-adjusted binary search trees</a:t>
            </a:r>
            <a:endParaRPr lang="en-US" altLang="zh-TW" sz="2800" b="1" dirty="0">
              <a:solidFill>
                <a:schemeClr val="folHlink"/>
              </a:solidFill>
              <a:ea typeface="PMingLiU"/>
              <a:cs typeface="Calibri"/>
            </a:endParaRPr>
          </a:p>
          <a:p>
            <a:pPr lvl="2" algn="just">
              <a:lnSpc>
                <a:spcPct val="160000"/>
              </a:lnSpc>
              <a:spcAft>
                <a:spcPts val="600"/>
              </a:spcAft>
            </a:pPr>
            <a:r>
              <a:rPr lang="en-US" altLang="zh-TW" sz="2400" dirty="0"/>
              <a:t>A splay tree is a self-balancing tree, like AVL and Red-Black Trees.</a:t>
            </a:r>
          </a:p>
          <a:p>
            <a:pPr lvl="2" algn="just">
              <a:lnSpc>
                <a:spcPct val="160000"/>
              </a:lnSpc>
              <a:spcAft>
                <a:spcPts val="600"/>
              </a:spcAft>
            </a:pPr>
            <a:r>
              <a:rPr lang="en-US" sz="2400" dirty="0"/>
              <a:t>Splay Tree has one extra property that makes it unique is splaying.</a:t>
            </a:r>
          </a:p>
          <a:p>
            <a:pPr lvl="2" algn="just">
              <a:lnSpc>
                <a:spcPct val="160000"/>
              </a:lnSpc>
              <a:spcAft>
                <a:spcPts val="600"/>
              </a:spcAft>
            </a:pPr>
            <a:r>
              <a:rPr lang="en-US" sz="2400" dirty="0"/>
              <a:t>A splay tree contains the same operations as a Binary Search Tree, i.e., Insertion, Deletion and Searching, but it also contains one more operation, i.e., Splaying. So, all the operations in the splay tree are followed by splaying.</a:t>
            </a:r>
          </a:p>
          <a:p>
            <a:pPr lvl="2" algn="just">
              <a:lnSpc>
                <a:spcPct val="160000"/>
              </a:lnSpc>
              <a:spcAft>
                <a:spcPts val="600"/>
              </a:spcAft>
            </a:pPr>
            <a:r>
              <a:rPr lang="en-US" sz="2400" dirty="0"/>
              <a:t>The splay tree can be defined as the self-adjusted tree in which any operation performed on the element would rearrange the tree so that the element on which operation has been performed becomes the root node of the tree.</a:t>
            </a:r>
            <a:endParaRPr lang="en-US" altLang="zh-TW" sz="2400"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26" name="TextBox 25"/>
          <p:cNvSpPr txBox="1"/>
          <p:nvPr/>
        </p:nvSpPr>
        <p:spPr>
          <a:xfrm>
            <a:off x="1150369"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xmlns="" id="{68166879-E0B4-482F-841D-69E6F8DBB037}"/>
              </a:ext>
            </a:extLst>
          </p:cNvPr>
          <p:cNvSpPr txBox="1"/>
          <p:nvPr/>
        </p:nvSpPr>
        <p:spPr>
          <a:xfrm>
            <a:off x="299883" y="522575"/>
            <a:ext cx="9552039" cy="830997"/>
          </a:xfrm>
          <a:prstGeom prst="rect">
            <a:avLst/>
          </a:prstGeom>
          <a:noFill/>
        </p:spPr>
        <p:txBody>
          <a:bodyPr wrap="square">
            <a:spAutoFit/>
          </a:bodyPr>
          <a:lstStyle/>
          <a:p>
            <a:r>
              <a:rPr lang="en-IN" sz="4800" b="1" dirty="0">
                <a:solidFill>
                  <a:srgbClr val="A50021"/>
                </a:solidFill>
                <a:latin typeface="Times New Roman" panose="02020603050405020304" pitchFamily="18" charset="0"/>
                <a:cs typeface="Times New Roman" panose="02020603050405020304" pitchFamily="18" charset="0"/>
              </a:rPr>
              <a:t>Example Splay Tree Operations</a:t>
            </a:r>
            <a:endParaRPr lang="en-US" altLang="en-US" sz="4800" b="1" dirty="0">
              <a:solidFill>
                <a:srgbClr val="A5002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71258079-FB1A-4608-B4BA-7FE580243E04}"/>
              </a:ext>
            </a:extLst>
          </p:cNvPr>
          <p:cNvSpPr txBox="1"/>
          <p:nvPr/>
        </p:nvSpPr>
        <p:spPr>
          <a:xfrm>
            <a:off x="358878" y="1265295"/>
            <a:ext cx="8327922" cy="2727926"/>
          </a:xfrm>
          <a:prstGeom prst="rect">
            <a:avLst/>
          </a:prstGeom>
          <a:noFill/>
        </p:spPr>
        <p:txBody>
          <a:bodyPr wrap="square">
            <a:spAutoFit/>
          </a:bodyPr>
          <a:lstStyle/>
          <a:p>
            <a:pPr algn="just">
              <a:lnSpc>
                <a:spcPct val="95000"/>
              </a:lnSpc>
              <a:spcBef>
                <a:spcPts val="700"/>
              </a:spcBef>
              <a:buFont typeface="Monotype Sorts" pitchFamily="2" charset="2"/>
              <a:buNone/>
              <a:tabLst>
                <a:tab pos="1027113" algn="l"/>
                <a:tab pos="1941513" algn="l"/>
                <a:tab pos="2855913" algn="l"/>
                <a:tab pos="3770313" algn="l"/>
                <a:tab pos="4684713" algn="l"/>
                <a:tab pos="5599113" algn="l"/>
                <a:tab pos="6513513" algn="l"/>
                <a:tab pos="7427913" algn="l"/>
                <a:tab pos="8342313" algn="l"/>
                <a:tab pos="9256713" algn="l"/>
                <a:tab pos="10171113" algn="l"/>
              </a:tabLst>
            </a:pPr>
            <a:r>
              <a:rPr lang="en-US" altLang="en-US" sz="2800" dirty="0">
                <a:latin typeface="Times New Roman" panose="02020603050405020304" pitchFamily="18" charset="0"/>
                <a:cs typeface="Times New Roman" panose="02020603050405020304" pitchFamily="18" charset="0"/>
              </a:rPr>
              <a:t>Splay trees are not strictly balanced trees, but they are roughly balanced trees. Let's understand the search operation in the splay-tree</a:t>
            </a:r>
          </a:p>
          <a:p>
            <a:pPr algn="just">
              <a:lnSpc>
                <a:spcPct val="95000"/>
              </a:lnSpc>
              <a:spcBef>
                <a:spcPts val="700"/>
              </a:spcBef>
              <a:buFont typeface="Monotype Sorts" pitchFamily="2" charset="2"/>
              <a:buNone/>
              <a:tabLst>
                <a:tab pos="1027113" algn="l"/>
                <a:tab pos="1941513" algn="l"/>
                <a:tab pos="2855913" algn="l"/>
                <a:tab pos="3770313" algn="l"/>
                <a:tab pos="4684713" algn="l"/>
                <a:tab pos="5599113" algn="l"/>
                <a:tab pos="6513513" algn="l"/>
                <a:tab pos="7427913" algn="l"/>
                <a:tab pos="8342313" algn="l"/>
                <a:tab pos="9256713" algn="l"/>
                <a:tab pos="10171113" algn="l"/>
              </a:tabLst>
            </a:pPr>
            <a:r>
              <a:rPr lang="en-US" altLang="en-US" sz="2800" dirty="0">
                <a:latin typeface="Times New Roman" panose="02020603050405020304" pitchFamily="18" charset="0"/>
                <a:cs typeface="Times New Roman" panose="02020603050405020304" pitchFamily="18" charset="0"/>
              </a:rPr>
              <a:t>Suppose we want to search 7 element in the tree, which is shown below</a:t>
            </a:r>
          </a:p>
          <a:p>
            <a:pPr algn="just">
              <a:lnSpc>
                <a:spcPct val="95000"/>
              </a:lnSpc>
              <a:spcBef>
                <a:spcPts val="700"/>
              </a:spcBef>
              <a:buFont typeface="Monotype Sorts" pitchFamily="2" charset="2"/>
              <a:buNone/>
              <a:tabLst>
                <a:tab pos="1027113" algn="l"/>
                <a:tab pos="1941513" algn="l"/>
                <a:tab pos="2855913" algn="l"/>
                <a:tab pos="3770313" algn="l"/>
                <a:tab pos="4684713" algn="l"/>
                <a:tab pos="5599113" algn="l"/>
                <a:tab pos="6513513" algn="l"/>
                <a:tab pos="7427913" algn="l"/>
                <a:tab pos="8342313" algn="l"/>
                <a:tab pos="9256713" algn="l"/>
                <a:tab pos="10171113" algn="l"/>
              </a:tabLst>
            </a:pPr>
            <a:endParaRPr lang="en-GB" altLang="en-US" sz="2800" dirty="0">
              <a:latin typeface="Times New Roman" panose="02020603050405020304" pitchFamily="18" charset="0"/>
              <a:cs typeface="Times New Roman" panose="02020603050405020304" pitchFamily="18" charset="0"/>
            </a:endParaRPr>
          </a:p>
        </p:txBody>
      </p:sp>
      <p:pic>
        <p:nvPicPr>
          <p:cNvPr id="7" name="Picture 6" descr="Splay Tree"/>
          <p:cNvPicPr/>
          <p:nvPr/>
        </p:nvPicPr>
        <p:blipFill>
          <a:blip r:embed="rId3" cstate="print"/>
          <a:srcRect/>
          <a:stretch>
            <a:fillRect/>
          </a:stretch>
        </p:blipFill>
        <p:spPr bwMode="auto">
          <a:xfrm>
            <a:off x="6011636" y="2839811"/>
            <a:ext cx="6191250" cy="4029075"/>
          </a:xfrm>
          <a:prstGeom prst="rect">
            <a:avLst/>
          </a:prstGeom>
          <a:noFill/>
          <a:ln w="9525">
            <a:noFill/>
            <a:miter lim="800000"/>
            <a:headEnd/>
            <a:tailEnd/>
          </a:ln>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itle 4">
            <a:extLst>
              <a:ext uri="{FF2B5EF4-FFF2-40B4-BE49-F238E27FC236}">
                <a16:creationId xmlns:a16="http://schemas.microsoft.com/office/drawing/2014/main" xmlns="" id="{68166879-E0B4-482F-841D-69E6F8DBB037}"/>
              </a:ext>
            </a:extLst>
          </p:cNvPr>
          <p:cNvSpPr txBox="1">
            <a:spLocks noGrp="1"/>
          </p:cNvSpPr>
          <p:nvPr>
            <p:ph type="title"/>
          </p:nvPr>
        </p:nvSpPr>
        <p:spPr>
          <a:xfrm>
            <a:off x="427681" y="858161"/>
            <a:ext cx="11444748" cy="701731"/>
          </a:xfrm>
          <a:prstGeom prst="rect">
            <a:avLst/>
          </a:prstGeom>
          <a:noFill/>
        </p:spPr>
        <p:txBody>
          <a:bodyPr wrap="square">
            <a:spAutoFit/>
          </a:bodyPr>
          <a:lstStyle/>
          <a:p>
            <a:r>
              <a:rPr lang="en-IN" b="1" dirty="0">
                <a:solidFill>
                  <a:srgbClr val="A50021"/>
                </a:solidFill>
                <a:latin typeface="Times New Roman" panose="02020603050405020304" pitchFamily="18" charset="0"/>
                <a:cs typeface="Times New Roman" panose="02020603050405020304" pitchFamily="18" charset="0"/>
              </a:rPr>
              <a:t>Example Splay Tree Operations Cont…</a:t>
            </a:r>
            <a:endParaRPr lang="en-US" altLang="en-US" b="1" dirty="0">
              <a:solidFill>
                <a:srgbClr val="A50021"/>
              </a:solidFill>
              <a:latin typeface="Times New Roman" panose="02020603050405020304" pitchFamily="18" charset="0"/>
              <a:cs typeface="Times New Roman" panose="02020603050405020304" pitchFamily="18" charset="0"/>
            </a:endParaRPr>
          </a:p>
        </p:txBody>
      </p:sp>
      <p:sp>
        <p:nvSpPr>
          <p:cNvPr id="7" name="Content Placeholder 3"/>
          <p:cNvSpPr>
            <a:spLocks noGrp="1"/>
          </p:cNvSpPr>
          <p:nvPr>
            <p:ph idx="1"/>
          </p:nvPr>
        </p:nvSpPr>
        <p:spPr>
          <a:xfrm>
            <a:off x="344129" y="1828800"/>
            <a:ext cx="10972800" cy="5029200"/>
          </a:xfrm>
        </p:spPr>
        <p:txBody>
          <a:bodyPr/>
          <a:lstStyle/>
          <a:p>
            <a:pPr algn="just"/>
            <a:r>
              <a:rPr lang="en-US" altLang="en-US" sz="2800" dirty="0">
                <a:solidFill>
                  <a:schemeClr val="tx1"/>
                </a:solidFill>
                <a:latin typeface="Times New Roman" panose="02020603050405020304" pitchFamily="18" charset="0"/>
                <a:cs typeface="Times New Roman" panose="02020603050405020304" pitchFamily="18" charset="0"/>
              </a:rPr>
              <a:t>To search any element in the splay tree, first, we will perform the standard binary search tree operation. As 7 is less than 10 so we will come to the left of the root node. </a:t>
            </a:r>
          </a:p>
          <a:p>
            <a:pPr algn="just"/>
            <a:r>
              <a:rPr lang="en-US" altLang="en-US" sz="2800" dirty="0">
                <a:solidFill>
                  <a:schemeClr val="tx1"/>
                </a:solidFill>
                <a:latin typeface="Times New Roman" panose="02020603050405020304" pitchFamily="18" charset="0"/>
                <a:cs typeface="Times New Roman" panose="02020603050405020304" pitchFamily="18" charset="0"/>
              </a:rPr>
              <a:t>After performing the search operation, we need to perform splaying. </a:t>
            </a:r>
          </a:p>
          <a:p>
            <a:pPr algn="just"/>
            <a:r>
              <a:rPr lang="en-US" altLang="en-US" sz="2800" dirty="0">
                <a:solidFill>
                  <a:schemeClr val="tx1"/>
                </a:solidFill>
                <a:latin typeface="Times New Roman" panose="02020603050405020304" pitchFamily="18" charset="0"/>
                <a:cs typeface="Times New Roman" panose="02020603050405020304" pitchFamily="18" charset="0"/>
              </a:rPr>
              <a:t>Here splaying means that the operation that we are performing on any element should become the root node after performing some rearrangements. </a:t>
            </a:r>
          </a:p>
          <a:p>
            <a:pPr algn="just"/>
            <a:r>
              <a:rPr lang="en-US" altLang="en-US" sz="2800" dirty="0">
                <a:solidFill>
                  <a:schemeClr val="tx1"/>
                </a:solidFill>
                <a:latin typeface="Times New Roman" panose="02020603050405020304" pitchFamily="18" charset="0"/>
                <a:cs typeface="Times New Roman" panose="02020603050405020304" pitchFamily="18" charset="0"/>
              </a:rPr>
              <a:t>The rearrangement of the tree will be done through the rotations</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4" name="Rectangle 2">
            <a:extLst>
              <a:ext uri="{FF2B5EF4-FFF2-40B4-BE49-F238E27FC236}">
                <a16:creationId xmlns:a16="http://schemas.microsoft.com/office/drawing/2014/main" xmlns="" id="{F75F397B-CF62-47C5-B0ED-854CA90720E7}"/>
              </a:ext>
            </a:extLst>
          </p:cNvPr>
          <p:cNvSpPr txBox="1">
            <a:spLocks noChangeArrowheads="1"/>
          </p:cNvSpPr>
          <p:nvPr/>
        </p:nvSpPr>
        <p:spPr>
          <a:xfrm>
            <a:off x="485671" y="569781"/>
            <a:ext cx="10163502" cy="658368"/>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6000" b="1" dirty="0">
                <a:solidFill>
                  <a:srgbClr val="A50021"/>
                </a:solidFill>
                <a:latin typeface="Times New Roman" panose="02020603050405020304" pitchFamily="18" charset="0"/>
                <a:cs typeface="Times New Roman" panose="02020603050405020304" pitchFamily="18" charset="0"/>
              </a:rPr>
              <a:t>Splay Tree Rotations</a:t>
            </a:r>
            <a:endParaRPr lang="en-US" altLang="en-US" sz="6000" b="1" dirty="0">
              <a:solidFill>
                <a:srgbClr val="A50021"/>
              </a:solidFill>
              <a:latin typeface="Times New Roman" panose="02020603050405020304" pitchFamily="18" charset="0"/>
              <a:cs typeface="Times New Roman" panose="02020603050405020304" pitchFamily="18" charset="0"/>
            </a:endParaRPr>
          </a:p>
          <a:p>
            <a:endParaRPr lang="en-US" altLang="en-US" sz="6000" b="1" dirty="0">
              <a:solidFill>
                <a:srgbClr val="A50021"/>
              </a:solidFill>
              <a:latin typeface="Times New Roman" panose="02020603050405020304" pitchFamily="18" charset="0"/>
              <a:cs typeface="Times New Roman" panose="02020603050405020304" pitchFamily="18" charset="0"/>
            </a:endParaRPr>
          </a:p>
        </p:txBody>
      </p:sp>
      <p:sp>
        <p:nvSpPr>
          <p:cNvPr id="5" name="Content Placeholder 3"/>
          <p:cNvSpPr txBox="1">
            <a:spLocks/>
          </p:cNvSpPr>
          <p:nvPr/>
        </p:nvSpPr>
        <p:spPr>
          <a:xfrm>
            <a:off x="344129" y="1533832"/>
            <a:ext cx="10972800" cy="5029200"/>
          </a:xfrm>
          <a:prstGeom prst="rect">
            <a:avLst/>
          </a:prstGeom>
        </p:spPr>
        <p:txBody>
          <a:bodyPr/>
          <a:lstStyle/>
          <a:p>
            <a:pPr marL="342900" lvl="0" indent="-342900" algn="just" eaLnBrk="0" fontAlgn="base" hangingPunct="0">
              <a:spcBef>
                <a:spcPct val="20000"/>
              </a:spcBef>
              <a:spcAft>
                <a:spcPct val="0"/>
              </a:spcAft>
            </a:pPr>
            <a:r>
              <a:rPr lang="en-US" altLang="en-US" sz="2800" dirty="0">
                <a:latin typeface="Times New Roman" panose="02020603050405020304" pitchFamily="18" charset="0"/>
                <a:cs typeface="Times New Roman" panose="02020603050405020304" pitchFamily="18" charset="0"/>
              </a:rPr>
              <a:t>There are six types of rotations used for splaying </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rotation (Right rotation)</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rotation (Left rotation)</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(two right rotations)</a:t>
            </a:r>
          </a:p>
          <a:p>
            <a:pPr lvl="1">
              <a:lnSpc>
                <a:spcPct val="150000"/>
              </a:lnSpc>
              <a:buFont typeface="Arial" pitchFamily="34" charset="0"/>
              <a:buChar char="•"/>
            </a:pP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(two left rotations)</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 Rotation</a:t>
            </a:r>
            <a:r>
              <a:rPr lang="en-US" b="0" i="0" dirty="0">
                <a:solidFill>
                  <a:srgbClr val="333333"/>
                </a:solidFill>
                <a:effectLst/>
                <a:latin typeface="Open Sans" panose="020B0606030504020204" pitchFamily="34" charset="0"/>
              </a:rPr>
              <a:t> in splay tree is similar to the single right rotation in AVL Tree rotations. In zig rotation, every node moves one position to the right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2" name="Picture 2" descr="zig rotation,splay tree,datastructure">
            <a:extLst>
              <a:ext uri="{FF2B5EF4-FFF2-40B4-BE49-F238E27FC236}">
                <a16:creationId xmlns:a16="http://schemas.microsoft.com/office/drawing/2014/main" xmlns="" id="{0C0ABE87-93C9-632E-4409-1EF41981A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547258"/>
            <a:ext cx="9753600" cy="3058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 Rotation</a:t>
            </a:r>
            <a:r>
              <a:rPr lang="en-US" b="0" i="0" dirty="0">
                <a:solidFill>
                  <a:srgbClr val="333333"/>
                </a:solidFill>
                <a:effectLst/>
                <a:latin typeface="Open Sans" panose="020B0606030504020204" pitchFamily="34" charset="0"/>
              </a:rPr>
              <a:t> in splay tree is similar to the single left rotation in AVL Tree rotations. In zag rotation, every node moves one position to the left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2050" name="Picture 2" descr="zag rotation,splay tree,datastructure">
            <a:extLst>
              <a:ext uri="{FF2B5EF4-FFF2-40B4-BE49-F238E27FC236}">
                <a16:creationId xmlns:a16="http://schemas.microsoft.com/office/drawing/2014/main" xmlns="" id="{FCA5380F-B26E-61C2-66F1-8CFF90408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862942"/>
            <a:ext cx="9753600" cy="3156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6267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3139321"/>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Zig-Zig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Zig-Zig Rotation</a:t>
            </a:r>
            <a:r>
              <a:rPr lang="en-US" b="0" i="0" dirty="0">
                <a:solidFill>
                  <a:srgbClr val="333333"/>
                </a:solidFill>
                <a:effectLst/>
                <a:latin typeface="Open Sans" panose="020B0606030504020204" pitchFamily="34" charset="0"/>
              </a:rPr>
              <a:t> in splay tree is a double zig rotation. In zig-zig rotation, every node moves two positions to the right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3074" name="Picture 2" descr="zig-zig rotation,splay tree,datastructure,zigzig rotation,zig zig rotation">
            <a:extLst>
              <a:ext uri="{FF2B5EF4-FFF2-40B4-BE49-F238E27FC236}">
                <a16:creationId xmlns:a16="http://schemas.microsoft.com/office/drawing/2014/main" xmlns="" id="{D92B062B-A8B0-3FE0-3E36-57A1E610E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950028"/>
            <a:ext cx="9753600" cy="2928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8893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031325"/>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Zag-Zag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Zag-Zag Rotation</a:t>
            </a:r>
            <a:r>
              <a:rPr lang="en-US" b="0" i="0" dirty="0">
                <a:solidFill>
                  <a:srgbClr val="333333"/>
                </a:solidFill>
                <a:effectLst/>
                <a:latin typeface="Open Sans" panose="020B0606030504020204" pitchFamily="34" charset="0"/>
              </a:rPr>
              <a:t> in splay tree is a double zag rotation. In zag-zag rotation, every node moves two positions to the left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4100" name="Picture 4" descr="zig-zig rotation,splay tree,datastructure,zagzag rotation,zag zag rotation">
            <a:extLst>
              <a:ext uri="{FF2B5EF4-FFF2-40B4-BE49-F238E27FC236}">
                <a16:creationId xmlns:a16="http://schemas.microsoft.com/office/drawing/2014/main" xmlns="" id="{9C896B88-F2C5-6282-0429-7728F2435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340428"/>
            <a:ext cx="9753600" cy="3396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99332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585323"/>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Zig-Zag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Zig-Zag Rotation</a:t>
            </a:r>
            <a:r>
              <a:rPr lang="en-US" b="0" i="0" dirty="0">
                <a:solidFill>
                  <a:srgbClr val="333333"/>
                </a:solidFill>
                <a:effectLst/>
                <a:latin typeface="Open Sans" panose="020B0606030504020204" pitchFamily="34" charset="0"/>
              </a:rPr>
              <a:t> in splay tree is a sequence of zig rotation followed by zag rotation. In zig-zag rotation, every node moves one position to the right followed by one position to the left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5122" name="Picture 2" descr="zig-zag rotation,splay tree,datastructure,zigzag rotation,zig zag rotation">
            <a:extLst>
              <a:ext uri="{FF2B5EF4-FFF2-40B4-BE49-F238E27FC236}">
                <a16:creationId xmlns:a16="http://schemas.microsoft.com/office/drawing/2014/main" xmlns="" id="{8452E9EE-69D5-5668-77F3-C13065902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623456"/>
            <a:ext cx="9753600" cy="3320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8709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2862322"/>
          </a:xfrm>
          <a:prstGeom prst="rect">
            <a:avLst/>
          </a:prstGeom>
          <a:noFill/>
        </p:spPr>
        <p:txBody>
          <a:bodyPr wrap="square" rtlCol="0">
            <a:spAutoFit/>
          </a:bodyPr>
          <a:lstStyle/>
          <a:p>
            <a:pPr algn="just"/>
            <a:r>
              <a:rPr lang="en-US" b="1" i="0" dirty="0">
                <a:solidFill>
                  <a:srgbClr val="E00D50"/>
                </a:solidFill>
                <a:effectLst/>
                <a:latin typeface="Open Sans" panose="020B0606030504020204" pitchFamily="34" charset="0"/>
              </a:rPr>
              <a:t>Zag-Zig Rotation</a:t>
            </a:r>
          </a:p>
          <a:p>
            <a:pPr algn="just"/>
            <a:r>
              <a:rPr lang="en-US" b="0" i="0" dirty="0">
                <a:solidFill>
                  <a:srgbClr val="333333"/>
                </a:solidFill>
                <a:effectLst/>
                <a:latin typeface="Open Sans" panose="020B0606030504020204" pitchFamily="34" charset="0"/>
              </a:rPr>
              <a:t>The </a:t>
            </a:r>
            <a:r>
              <a:rPr lang="en-US" b="1" i="0" dirty="0">
                <a:solidFill>
                  <a:srgbClr val="333333"/>
                </a:solidFill>
                <a:effectLst/>
                <a:latin typeface="Open Sans" panose="020B0606030504020204" pitchFamily="34" charset="0"/>
              </a:rPr>
              <a:t>Zag-Zig Rotation</a:t>
            </a:r>
            <a:r>
              <a:rPr lang="en-US" b="0" i="0" dirty="0">
                <a:solidFill>
                  <a:srgbClr val="333333"/>
                </a:solidFill>
                <a:effectLst/>
                <a:latin typeface="Open Sans" panose="020B0606030504020204" pitchFamily="34" charset="0"/>
              </a:rPr>
              <a:t> in splay tree is a sequence of zag rotation followed by zig rotation. In zag-zig rotation, every node moves one position to the left followed by one position to the right from its current position. Consider the following example...</a:t>
            </a: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dirty="0">
              <a:solidFill>
                <a:srgbClr val="333333"/>
              </a:solidFill>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a:p>
            <a:pPr algn="just"/>
            <a:endParaRPr lang="en-US" b="0" i="0" dirty="0">
              <a:solidFill>
                <a:srgbClr val="333333"/>
              </a:solidFill>
              <a:effectLst/>
              <a:latin typeface="Open Sans" panose="020B0606030504020204" pitchFamily="34" charset="0"/>
            </a:endParaRPr>
          </a:p>
        </p:txBody>
      </p:sp>
      <p:pic>
        <p:nvPicPr>
          <p:cNvPr id="6148" name="Picture 4" descr="zag-zig rotation,splay tree,datastructure,zagzig rotation,zag zig rotation">
            <a:extLst>
              <a:ext uri="{FF2B5EF4-FFF2-40B4-BE49-F238E27FC236}">
                <a16:creationId xmlns:a16="http://schemas.microsoft.com/office/drawing/2014/main" xmlns="" id="{85379F1D-D768-72B1-1B85-3E9DAB52E0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3212" y="2748475"/>
            <a:ext cx="97536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27354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896533-7351-4DE0-D2FE-EE34CA3E189B}"/>
            </a:ext>
          </a:extLst>
        </p:cNvPr>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C6E4685B-6DE9-DF8D-84D0-9BD8AE14B931}"/>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SPLAY TREE EXAMPLE</a:t>
            </a:r>
          </a:p>
        </p:txBody>
      </p:sp>
      <p:pic>
        <p:nvPicPr>
          <p:cNvPr id="12" name="Picture 2" descr="KL Deemed to be University Logo">
            <a:extLst>
              <a:ext uri="{FF2B5EF4-FFF2-40B4-BE49-F238E27FC236}">
                <a16:creationId xmlns:a16="http://schemas.microsoft.com/office/drawing/2014/main" xmlns="" id="{F61B3BF0-01DB-B949-F53F-D00F7F989CB6}"/>
              </a:ext>
            </a:extLst>
          </p:cNvPr>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a:extLst>
              <a:ext uri="{FF2B5EF4-FFF2-40B4-BE49-F238E27FC236}">
                <a16:creationId xmlns:a16="http://schemas.microsoft.com/office/drawing/2014/main" xmlns="" id="{85164541-08A5-EABE-C8CA-4FB2D60B0670}"/>
              </a:ext>
            </a:extLst>
          </p:cNvPr>
          <p:cNvSpPr txBox="1"/>
          <p:nvPr/>
        </p:nvSpPr>
        <p:spPr>
          <a:xfrm>
            <a:off x="1083212" y="1252025"/>
            <a:ext cx="10086536" cy="1846659"/>
          </a:xfrm>
          <a:prstGeom prst="rect">
            <a:avLst/>
          </a:prstGeom>
          <a:noFill/>
        </p:spPr>
        <p:txBody>
          <a:bodyPr wrap="square" lIns="91440" tIns="45720" rIns="91440" bIns="45720" rtlCol="0" anchor="t">
            <a:spAutoFit/>
          </a:bodyPr>
          <a:lstStyle/>
          <a:p>
            <a:pPr algn="just"/>
            <a:endParaRPr lang="en-US" b="0" i="0" dirty="0">
              <a:solidFill>
                <a:srgbClr val="333333"/>
              </a:solidFill>
              <a:effectLst/>
              <a:latin typeface="Open Sans" panose="020B0606030504020204" pitchFamily="34" charset="0"/>
            </a:endParaRPr>
          </a:p>
          <a:p>
            <a:pPr algn="just"/>
            <a:r>
              <a:rPr lang="en-US" sz="3200" b="1" dirty="0">
                <a:solidFill>
                  <a:srgbClr val="333333"/>
                </a:solidFill>
                <a:latin typeface="Times New Roman"/>
                <a:ea typeface="Open Sans"/>
                <a:cs typeface="Open Sans"/>
              </a:rPr>
              <a:t>Construct a Splay Tree with the following elements and Explain the rotations in detail</a:t>
            </a:r>
          </a:p>
          <a:p>
            <a:pPr algn="just"/>
            <a:r>
              <a:rPr lang="en-US" sz="3200" b="1" dirty="0">
                <a:solidFill>
                  <a:srgbClr val="333333"/>
                </a:solidFill>
                <a:latin typeface="Times New Roman"/>
                <a:ea typeface="Open Sans"/>
                <a:cs typeface="Open Sans"/>
              </a:rPr>
              <a:t>12,43,33,26,97,104,11,0</a:t>
            </a:r>
          </a:p>
        </p:txBody>
      </p:sp>
    </p:spTree>
    <p:extLst>
      <p:ext uri="{BB962C8B-B14F-4D97-AF65-F5344CB8AC3E}">
        <p14:creationId xmlns:p14="http://schemas.microsoft.com/office/powerpoint/2010/main" val="8239087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Content Placeholder 3"/>
          <p:cNvSpPr>
            <a:spLocks noGrp="1"/>
          </p:cNvSpPr>
          <p:nvPr>
            <p:ph idx="1"/>
          </p:nvPr>
        </p:nvSpPr>
        <p:spPr>
          <a:xfrm>
            <a:off x="403121" y="884902"/>
            <a:ext cx="11380839" cy="5530645"/>
          </a:xfrm>
        </p:spPr>
        <p:txBody>
          <a:bodyPr/>
          <a:lstStyle/>
          <a:p>
            <a:pPr algn="just"/>
            <a:r>
              <a:rPr lang="en-US" altLang="en-US" dirty="0">
                <a:latin typeface="Times New Roman" panose="02020603050405020304" pitchFamily="18" charset="0"/>
                <a:cs typeface="Times New Roman" panose="02020603050405020304" pitchFamily="18" charset="0"/>
              </a:rPr>
              <a:t>A splay tree is a binary search tree with the additional property that recently accessed elements are quick to access again </a:t>
            </a:r>
          </a:p>
          <a:p>
            <a:pPr algn="just"/>
            <a:r>
              <a:rPr lang="en-US" altLang="en-US" dirty="0">
                <a:latin typeface="Times New Roman" panose="02020603050405020304" pitchFamily="18" charset="0"/>
                <a:cs typeface="Times New Roman" panose="02020603050405020304" pitchFamily="18" charset="0"/>
              </a:rPr>
              <a:t>All normal operations on a binary search tree are combined with one basic operation, called splaying. Splaying the tree for a certain element rearranges the tree so that the element is placed at the root of the tree</a:t>
            </a:r>
          </a:p>
          <a:p>
            <a:pPr algn="just"/>
            <a:r>
              <a:rPr lang="en-US" altLang="en-US" dirty="0">
                <a:latin typeface="Times New Roman" panose="02020603050405020304" pitchFamily="18" charset="0"/>
                <a:cs typeface="Times New Roman" panose="02020603050405020304" pitchFamily="18" charset="0"/>
              </a:rPr>
              <a:t>One way to do this with the basic search operation is to first perform a standard binary tree search for the element in question, and then use tree rotations in a specific fashion to bring the element to the top</a:t>
            </a:r>
          </a:p>
          <a:p>
            <a:pPr marL="280988" lvl="1" indent="-280988">
              <a:lnSpc>
                <a:spcPct val="100000"/>
              </a:lnSpc>
            </a:pPr>
            <a:r>
              <a:rPr lang="en-US" altLang="en-US" sz="2800" dirty="0">
                <a:solidFill>
                  <a:schemeClr val="tx1"/>
                </a:solidFill>
                <a:latin typeface="Times New Roman" panose="02020603050405020304" pitchFamily="18" charset="0"/>
                <a:cs typeface="Times New Roman" panose="02020603050405020304" pitchFamily="18" charset="0"/>
              </a:rPr>
              <a:t>The rearrangement of the tree will be done through the six types of rotations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rotation (Right rotation),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rotation (Left rotation),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followed by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zig</a:t>
            </a:r>
            <a:r>
              <a:rPr lang="en-US" altLang="en-US" sz="2800" dirty="0">
                <a:latin typeface="Times New Roman" panose="02020603050405020304" pitchFamily="18" charset="0"/>
                <a:cs typeface="Times New Roman" panose="02020603050405020304" pitchFamily="18" charset="0"/>
              </a:rPr>
              <a:t> (two right rotations), and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a:t>
            </a:r>
            <a:r>
              <a:rPr lang="en-US" altLang="en-US" sz="2800" dirty="0" err="1">
                <a:latin typeface="Times New Roman" panose="02020603050405020304" pitchFamily="18" charset="0"/>
                <a:cs typeface="Times New Roman" panose="02020603050405020304" pitchFamily="18" charset="0"/>
              </a:rPr>
              <a:t>zag</a:t>
            </a:r>
            <a:r>
              <a:rPr lang="en-US" altLang="en-US" sz="2800" dirty="0">
                <a:latin typeface="Times New Roman" panose="02020603050405020304" pitchFamily="18" charset="0"/>
                <a:cs typeface="Times New Roman" panose="02020603050405020304" pitchFamily="18" charset="0"/>
              </a:rPr>
              <a:t> (two left rotations)</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1009895" y="87193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indent="-342900">
              <a:buFont typeface="+mj-lt"/>
              <a:buAutoNum type="arabicPeriod"/>
            </a:pPr>
            <a:r>
              <a:rPr lang="en-US" sz="2400" b="1" dirty="0"/>
              <a:t>A splay tree is best described as what type of data structure?</a:t>
            </a:r>
            <a:endParaRPr lang="en-IN" sz="2400" dirty="0"/>
          </a:p>
          <a:p>
            <a:pPr lvl="0"/>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1026828" y="1727189"/>
            <a:ext cx="8117172" cy="188616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2000" dirty="0">
                <a:solidFill>
                  <a:srgbClr val="00B050"/>
                </a:solidFill>
              </a:rPr>
              <a:t>Binary search tree</a:t>
            </a:r>
            <a:endParaRPr lang="en-US" sz="2000" dirty="0">
              <a:solidFill>
                <a:srgbClr val="00B050"/>
              </a:solidFill>
              <a:latin typeface="Arial" panose="020B0604020202020204" pitchFamily="34" charset="0"/>
            </a:endParaRPr>
          </a:p>
          <a:p>
            <a:pPr marL="342900" indent="-342900">
              <a:lnSpc>
                <a:spcPct val="150000"/>
              </a:lnSpc>
              <a:buAutoNum type="alphaLcParenBoth"/>
            </a:pPr>
            <a:r>
              <a:rPr lang="en-US" sz="2000" dirty="0"/>
              <a:t>Positional List</a:t>
            </a:r>
            <a:endParaRPr lang="en-US" sz="2000" dirty="0">
              <a:latin typeface="Arial" panose="020B0604020202020204" pitchFamily="34" charset="0"/>
            </a:endParaRPr>
          </a:p>
          <a:p>
            <a:pPr marL="342900" indent="-342900">
              <a:lnSpc>
                <a:spcPct val="150000"/>
              </a:lnSpc>
              <a:buAutoNum type="alphaLcParenBoth"/>
            </a:pPr>
            <a:r>
              <a:rPr lang="en-US" sz="2000" dirty="0"/>
              <a:t>Circular list</a:t>
            </a:r>
            <a:endParaRPr lang="en-US" sz="2000" dirty="0">
              <a:latin typeface="Arial" panose="020B0604020202020204" pitchFamily="34" charset="0"/>
            </a:endParaRPr>
          </a:p>
          <a:p>
            <a:pPr marL="342900" indent="-342900">
              <a:lnSpc>
                <a:spcPct val="150000"/>
              </a:lnSpc>
              <a:buAutoNum type="alphaLcParenBoth"/>
            </a:pPr>
            <a:r>
              <a:rPr lang="en-US" sz="2000" dirty="0"/>
              <a:t>Multi-dimensional array</a:t>
            </a:r>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400" dirty="0">
                <a:sym typeface="Calibri"/>
              </a:rPr>
              <a:t>Which is not a rotation in splay tree?</a:t>
            </a: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8075111" cy="180633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2000" dirty="0"/>
              <a:t>Zig-zig</a:t>
            </a:r>
          </a:p>
          <a:p>
            <a:pPr marL="342900" indent="-342900">
              <a:lnSpc>
                <a:spcPct val="150000"/>
              </a:lnSpc>
              <a:buAutoNum type="alphaLcParenBoth"/>
            </a:pPr>
            <a:r>
              <a:rPr lang="en-US" sz="2000" dirty="0"/>
              <a:t>Zag-zag</a:t>
            </a:r>
          </a:p>
          <a:p>
            <a:pPr marL="342900" indent="-342900">
              <a:lnSpc>
                <a:spcPct val="150000"/>
              </a:lnSpc>
              <a:buAutoNum type="alphaLcParenBoth"/>
            </a:pPr>
            <a:r>
              <a:rPr lang="en-US" sz="2000" dirty="0">
                <a:solidFill>
                  <a:srgbClr val="00B050"/>
                </a:solidFill>
              </a:rPr>
              <a:t>Zig-zag-zig</a:t>
            </a:r>
          </a:p>
          <a:p>
            <a:pPr marL="342900" indent="-342900">
              <a:lnSpc>
                <a:spcPct val="150000"/>
              </a:lnSpc>
              <a:buAutoNum type="alphaLcParenBoth"/>
            </a:pPr>
            <a:r>
              <a:rPr lang="en-US" sz="2000" dirty="0"/>
              <a:t>zig</a:t>
            </a:r>
          </a:p>
        </p:txBody>
      </p:sp>
      <p:pic>
        <p:nvPicPr>
          <p:cNvPr id="8"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943563"/>
          </a:xfrm>
          <a:prstGeom prst="rect">
            <a:avLst/>
          </a:prstGeom>
          <a:noFill/>
        </p:spPr>
        <p:txBody>
          <a:bodyPr wrap="square" rtlCol="0">
            <a:spAutoFit/>
          </a:bodyPr>
          <a:lstStyle/>
          <a:p>
            <a:pPr>
              <a:lnSpc>
                <a:spcPct val="200000"/>
              </a:lnSpc>
            </a:pPr>
            <a:r>
              <a:rPr lang="en-US" sz="2400" b="1" dirty="0"/>
              <a:t>1. Describe Splay Trees with examples.</a:t>
            </a:r>
          </a:p>
          <a:p>
            <a:pPr>
              <a:lnSpc>
                <a:spcPct val="200000"/>
              </a:lnSpc>
            </a:pPr>
            <a:r>
              <a:rPr lang="en-US" sz="2400" b="1" dirty="0"/>
              <a:t>2. List out the different rotations used for splaying in Splay Trees.</a:t>
            </a:r>
          </a:p>
          <a:p>
            <a:pPr marL="342900" indent="-342900">
              <a:lnSpc>
                <a:spcPct val="200000"/>
              </a:lnSpc>
            </a:pPr>
            <a:r>
              <a:rPr lang="en-US" sz="2400" b="1" dirty="0"/>
              <a:t>3. Analyze the advantages of Splay Trees compare to Binary Search Trees.</a:t>
            </a:r>
          </a:p>
          <a:p>
            <a:pPr marL="342900" indent="-342900">
              <a:lnSpc>
                <a:spcPct val="200000"/>
              </a:lnSpc>
            </a:pPr>
            <a:r>
              <a:rPr lang="en-US" sz="2400" b="1" dirty="0"/>
              <a:t>4. Summarize the Splay Trees with features.</a:t>
            </a:r>
          </a:p>
        </p:txBody>
      </p:sp>
      <p:pic>
        <p:nvPicPr>
          <p:cNvPr id="10"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60439" y="1167618"/>
            <a:ext cx="10972799" cy="4901342"/>
          </a:xfrm>
          <a:prstGeom prst="rect">
            <a:avLst/>
          </a:prstGeom>
          <a:noFill/>
        </p:spPr>
        <p:txBody>
          <a:bodyPr wrap="square" rtlCol="0">
            <a:spAutoFit/>
          </a:bodyPr>
          <a:lstStyle/>
          <a:p>
            <a:pPr>
              <a:lnSpc>
                <a:spcPct val="150000"/>
              </a:lnSpc>
            </a:pPr>
            <a:r>
              <a:rPr lang="en-US" sz="2000" b="1" dirty="0" smtClean="0"/>
              <a:t>Reference Books:</a:t>
            </a:r>
            <a:endParaRPr lang="en-US" sz="2000" dirty="0" smtClean="0"/>
          </a:p>
          <a:p>
            <a:pPr marL="342900" marR="0" lvl="0" indent="-342900">
              <a:spcBef>
                <a:spcPts val="75"/>
              </a:spcBef>
              <a:spcAft>
                <a:spcPts val="0"/>
              </a:spcAft>
              <a:buFont typeface="+mj-lt"/>
              <a:buAutoNum type="arabicPeriod"/>
            </a:pPr>
            <a:r>
              <a:rPr lang="en-US" sz="2000" dirty="0" smtClean="0">
                <a:latin typeface="Times New Roman" panose="02020603050405020304" pitchFamily="18" charset="0"/>
                <a:ea typeface="Times New Roman" panose="02020603050405020304" pitchFamily="18" charset="0"/>
              </a:rPr>
              <a:t>Data </a:t>
            </a:r>
            <a:r>
              <a:rPr lang="en-US" sz="2000" dirty="0">
                <a:latin typeface="Times New Roman" panose="02020603050405020304" pitchFamily="18" charset="0"/>
                <a:ea typeface="Times New Roman" panose="02020603050405020304" pitchFamily="18" charset="0"/>
              </a:rPr>
              <a:t>Structures and Algorithm Analysis in PYTHON, 2010, Mark Allen Weiss, Second Edition, Pearson Education.</a:t>
            </a:r>
          </a:p>
          <a:p>
            <a:pPr marL="342900" marR="0" lvl="0" indent="-342900">
              <a:spcBef>
                <a:spcPts val="75"/>
              </a:spcBef>
              <a:spcAft>
                <a:spcPts val="0"/>
              </a:spcAft>
              <a:buFont typeface="+mj-lt"/>
              <a:buAutoNum type="arabicPeriod"/>
            </a:pPr>
            <a:r>
              <a:rPr lang="en-US" sz="2000" dirty="0">
                <a:latin typeface="Times New Roman" panose="02020603050405020304" pitchFamily="18" charset="0"/>
                <a:ea typeface="Times New Roman" panose="02020603050405020304" pitchFamily="18" charset="0"/>
              </a:rPr>
              <a:t>Data Structures and Algorithms, </a:t>
            </a:r>
            <a:r>
              <a:rPr lang="en-US" sz="2000" dirty="0" err="1">
                <a:latin typeface="Times New Roman" panose="02020603050405020304" pitchFamily="18" charset="0"/>
                <a:ea typeface="Times New Roman" panose="02020603050405020304" pitchFamily="18" charset="0"/>
              </a:rPr>
              <a:t>A.V.Aho</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J.E.Hopcroft</a:t>
            </a:r>
            <a:r>
              <a:rPr lang="en-US" sz="2000" dirty="0">
                <a:latin typeface="Times New Roman" panose="02020603050405020304" pitchFamily="18" charset="0"/>
                <a:ea typeface="Times New Roman" panose="02020603050405020304" pitchFamily="18" charset="0"/>
              </a:rPr>
              <a:t>, and </a:t>
            </a:r>
            <a:r>
              <a:rPr lang="en-US" sz="2000" dirty="0" err="1">
                <a:latin typeface="Times New Roman" panose="02020603050405020304" pitchFamily="18" charset="0"/>
                <a:ea typeface="Times New Roman" panose="02020603050405020304" pitchFamily="18" charset="0"/>
              </a:rPr>
              <a:t>J.D.Ullman</a:t>
            </a:r>
            <a:r>
              <a:rPr lang="en-US" sz="2000" dirty="0">
                <a:latin typeface="Times New Roman" panose="02020603050405020304" pitchFamily="18" charset="0"/>
                <a:ea typeface="Times New Roman" panose="02020603050405020304" pitchFamily="18" charset="0"/>
              </a:rPr>
              <a:t>, Pearson Education, First Edition Reprint2003.</a:t>
            </a:r>
          </a:p>
          <a:p>
            <a:pPr marL="342900" marR="0" lvl="0" indent="-342900">
              <a:spcBef>
                <a:spcPts val="75"/>
              </a:spcBef>
              <a:spcAft>
                <a:spcPts val="0"/>
              </a:spcAft>
              <a:buFont typeface="+mj-lt"/>
              <a:buAutoNum type="arabicPeriod"/>
            </a:pPr>
            <a:r>
              <a:rPr lang="en-US" sz="2000" dirty="0">
                <a:latin typeface="Times New Roman" panose="02020603050405020304" pitchFamily="18" charset="0"/>
                <a:ea typeface="Times New Roman" panose="02020603050405020304" pitchFamily="18" charset="0"/>
              </a:rPr>
              <a:t>Advanced Guide to Python 3 Programming, John Hunt, 4</a:t>
            </a:r>
            <a:r>
              <a:rPr lang="en-US" sz="2000" baseline="30000" dirty="0">
                <a:latin typeface="Times New Roman" panose="02020603050405020304" pitchFamily="18" charset="0"/>
                <a:ea typeface="Times New Roman" panose="02020603050405020304" pitchFamily="18" charset="0"/>
              </a:rPr>
              <a:t>th</a:t>
            </a:r>
            <a:r>
              <a:rPr lang="en-US" sz="2000" dirty="0">
                <a:latin typeface="Times New Roman" panose="02020603050405020304" pitchFamily="18" charset="0"/>
                <a:ea typeface="Times New Roman" panose="02020603050405020304" pitchFamily="18" charset="0"/>
              </a:rPr>
              <a:t> Edition, Springer Nature Switzerland AG 2019.</a:t>
            </a:r>
          </a:p>
          <a:p>
            <a:r>
              <a:rPr lang="en-US" sz="2000" dirty="0" smtClean="0">
                <a:latin typeface="Calibri" panose="020F0502020204030204" pitchFamily="34" charset="0"/>
                <a:ea typeface="Calibri" panose="020F0502020204030204" pitchFamily="34" charset="0"/>
                <a:cs typeface="Times New Roman" panose="02020603050405020304" pitchFamily="18" charset="0"/>
              </a:rPr>
              <a:t>4.   Python </a:t>
            </a:r>
            <a:r>
              <a:rPr lang="en-US" sz="2000" dirty="0">
                <a:latin typeface="Calibri" panose="020F0502020204030204" pitchFamily="34" charset="0"/>
                <a:ea typeface="Calibri" panose="020F0502020204030204" pitchFamily="34" charset="0"/>
                <a:cs typeface="Times New Roman" panose="02020603050405020304" pitchFamily="18" charset="0"/>
              </a:rPr>
              <a:t>Basics: A Practice Introduction to Python 3, David Amos, Dan Bader, Joanna </a:t>
            </a:r>
            <a:r>
              <a:rPr lang="en-US" sz="2000" dirty="0" err="1">
                <a:latin typeface="Calibri" panose="020F0502020204030204" pitchFamily="34" charset="0"/>
                <a:ea typeface="Calibri" panose="020F0502020204030204" pitchFamily="34" charset="0"/>
                <a:cs typeface="Times New Roman" panose="02020603050405020304" pitchFamily="18" charset="0"/>
              </a:rPr>
              <a:t>Jablonski</a:t>
            </a:r>
            <a:r>
              <a:rPr lang="en-US" sz="2000" dirty="0">
                <a:latin typeface="Calibri" panose="020F0502020204030204" pitchFamily="34" charset="0"/>
                <a:ea typeface="Calibri" panose="020F0502020204030204" pitchFamily="34" charset="0"/>
                <a:cs typeface="Times New Roman" panose="02020603050405020304" pitchFamily="18" charset="0"/>
              </a:rPr>
              <a:t>, Fletcher </a:t>
            </a:r>
            <a:r>
              <a:rPr lang="en-US" sz="2000" dirty="0" err="1">
                <a:latin typeface="Calibri" panose="020F0502020204030204" pitchFamily="34" charset="0"/>
                <a:ea typeface="Calibri" panose="020F0502020204030204" pitchFamily="34" charset="0"/>
                <a:cs typeface="Times New Roman" panose="02020603050405020304" pitchFamily="18" charset="0"/>
              </a:rPr>
              <a:t>Heisler</a:t>
            </a:r>
            <a:r>
              <a:rPr lang="en-US" sz="2000" dirty="0">
                <a:latin typeface="Calibri" panose="020F0502020204030204" pitchFamily="34" charset="0"/>
                <a:ea typeface="Calibri" panose="020F0502020204030204" pitchFamily="34" charset="0"/>
                <a:cs typeface="Times New Roman" panose="02020603050405020304" pitchFamily="18" charset="0"/>
              </a:rPr>
              <a:t>, 4</a:t>
            </a:r>
            <a:r>
              <a:rPr lang="en-US" sz="2000" baseline="30000" dirty="0">
                <a:latin typeface="Calibri" panose="020F0502020204030204" pitchFamily="34" charset="0"/>
                <a:ea typeface="Calibri" panose="020F0502020204030204" pitchFamily="34" charset="0"/>
                <a:cs typeface="Times New Roman" panose="02020603050405020304" pitchFamily="18" charset="0"/>
              </a:rPr>
              <a:t>th</a:t>
            </a:r>
            <a:r>
              <a:rPr lang="en-US" sz="2000" dirty="0">
                <a:latin typeface="Calibri" panose="020F0502020204030204" pitchFamily="34" charset="0"/>
                <a:ea typeface="Calibri" panose="020F0502020204030204" pitchFamily="34" charset="0"/>
                <a:cs typeface="Times New Roman" panose="02020603050405020304" pitchFamily="18" charset="0"/>
              </a:rPr>
              <a:t> edition, Real Python.</a:t>
            </a:r>
            <a:endParaRPr lang="en-US" sz="2000" dirty="0" smtClean="0"/>
          </a:p>
          <a:p>
            <a:pPr>
              <a:lnSpc>
                <a:spcPct val="150000"/>
              </a:lnSpc>
            </a:pPr>
            <a:endParaRPr lang="en-US" sz="2000" dirty="0"/>
          </a:p>
          <a:p>
            <a:pPr>
              <a:lnSpc>
                <a:spcPct val="150000"/>
              </a:lnSpc>
            </a:pPr>
            <a:r>
              <a:rPr lang="en-US" sz="2000" b="1" dirty="0"/>
              <a:t>Sites and Web links:</a:t>
            </a:r>
          </a:p>
          <a:p>
            <a:pPr lvl="0"/>
            <a:r>
              <a:rPr lang="en-US" sz="2000" dirty="0"/>
              <a:t>1. </a:t>
            </a:r>
            <a:r>
              <a:rPr lang="en-US" sz="2000" u="sng" dirty="0">
                <a:hlinkClick r:id="rId2"/>
              </a:rPr>
              <a:t>https://docs.python.org/3/tutorial/datastructures.html</a:t>
            </a:r>
            <a:endParaRPr lang="en-US" sz="2000" dirty="0"/>
          </a:p>
          <a:p>
            <a:pPr lvl="0"/>
            <a:r>
              <a:rPr lang="en-US" sz="2000" u="sng" dirty="0" smtClean="0">
                <a:hlinkClick r:id="rId3"/>
              </a:rPr>
              <a:t>2. https</a:t>
            </a:r>
            <a:r>
              <a:rPr lang="en-US" sz="2000" u="sng" dirty="0">
                <a:hlinkClick r:id="rId3"/>
              </a:rPr>
              <a:t>://www.w3schools.com/dsa/dsa_intro.php</a:t>
            </a:r>
            <a:endParaRPr lang="en-US" sz="2000" dirty="0"/>
          </a:p>
          <a:p>
            <a:r>
              <a:rPr lang="en-US" sz="2000" u="sng" dirty="0" smtClean="0">
                <a:hlinkClick r:id="rId4"/>
              </a:rPr>
              <a:t>3. https</a:t>
            </a:r>
            <a:r>
              <a:rPr lang="en-US" sz="2000" u="sng" dirty="0">
                <a:hlinkClick r:id="rId4"/>
              </a:rPr>
              <a:t>://www.geeksforgeeks.org/python-data-structures/</a:t>
            </a:r>
            <a:endParaRPr lang="en-US" sz="2000" dirty="0"/>
          </a:p>
        </p:txBody>
      </p:sp>
      <p:pic>
        <p:nvPicPr>
          <p:cNvPr id="5" name="Picture 2" descr="KL Deemed to be University Logo"/>
          <p:cNvPicPr>
            <a:picLocks noChangeAspect="1" noChangeArrowheads="1"/>
          </p:cNvPicPr>
          <p:nvPr/>
        </p:nvPicPr>
        <p:blipFill>
          <a:blip r:embed="rId5"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t>
            </a:r>
            <a:r>
              <a:rPr lang="en-US" sz="2400" b="1" dirty="0" smtClean="0">
                <a:latin typeface="Poppins" pitchFamily="2" charset="77"/>
                <a:cs typeface="Poppins" pitchFamily="2" charset="77"/>
              </a:rPr>
              <a:t>Data Structures through Python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cstate="print"/>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425</TotalTime>
  <Words>591</Words>
  <Application>Microsoft Office PowerPoint</Application>
  <PresentationFormat>Widescreen</PresentationFormat>
  <Paragraphs>189</Paragraphs>
  <Slides>18</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vt:lpstr>
      <vt:lpstr>BioRhyme ExtraBold</vt:lpstr>
      <vt:lpstr>Calibri</vt:lpstr>
      <vt:lpstr>Calibri Light</vt:lpstr>
      <vt:lpstr>Monotype Sorts</vt:lpstr>
      <vt:lpstr>Open Sans</vt:lpstr>
      <vt:lpstr>新細明體</vt:lpstr>
      <vt:lpstr>新細明體</vt:lpstr>
      <vt:lpstr>Poppins</vt:lpstr>
      <vt:lpstr>Times New Roman</vt:lpstr>
      <vt:lpstr>1_Office Theme</vt:lpstr>
      <vt:lpstr>PowerPoint Presentation</vt:lpstr>
      <vt:lpstr>PowerPoint Presentation</vt:lpstr>
      <vt:lpstr>PowerPoint Presentation</vt:lpstr>
      <vt:lpstr>PowerPoint Presentation</vt:lpstr>
      <vt:lpstr>Example Splay Tree Operations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Microsoft account</cp:lastModifiedBy>
  <cp:revision>73</cp:revision>
  <dcterms:created xsi:type="dcterms:W3CDTF">2020-02-08T09:57:44Z</dcterms:created>
  <dcterms:modified xsi:type="dcterms:W3CDTF">2024-12-13T08:32:45Z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