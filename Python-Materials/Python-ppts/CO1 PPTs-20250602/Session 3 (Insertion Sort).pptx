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322" r:id="rId5"/>
    <p:sldId id="300" r:id="rId6"/>
    <p:sldId id="258" r:id="rId7"/>
    <p:sldId id="309" r:id="rId8"/>
    <p:sldId id="310" r:id="rId9"/>
    <p:sldId id="320" r:id="rId10"/>
    <p:sldId id="321" r:id="rId11"/>
    <p:sldId id="318" r:id="rId12"/>
    <p:sldId id="313" r:id="rId13"/>
    <p:sldId id="314" r:id="rId14"/>
    <p:sldId id="315" r:id="rId15"/>
    <p:sldId id="316" r:id="rId16"/>
    <p:sldId id="317" r:id="rId17"/>
    <p:sldId id="308" r:id="rId18"/>
    <p:sldId id="285" r:id="rId19"/>
    <p:sldId id="287" r:id="rId20"/>
    <p:sldId id="301" r:id="rId21"/>
    <p:sldId id="302" r:id="rId22"/>
    <p:sldId id="323" r:id="rId23"/>
    <p:sldId id="32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B850D1-3DE1-5E49-ABFC-00B1F4CAB20B}" v="706" dt="2022-04-26T05:00:35.908"/>
    <p1510:client id="{B8906113-84A5-D6EE-8131-D504648287C4}" v="62" dt="2022-09-08T10:44:06.60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80"/>
  </p:normalViewPr>
  <p:slideViewPr>
    <p:cSldViewPr snapToGrid="0">
      <p:cViewPr varScale="1">
        <p:scale>
          <a:sx n="60" d="100"/>
          <a:sy n="60" d="100"/>
        </p:scale>
        <p:origin x="81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978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B2F08-D4B2-4C24-8A2D-EC2E3B343C3A}" type="slidenum">
              <a:rPr lang="en-US"/>
              <a:pPr/>
              <a:t>4</a:t>
            </a:fld>
            <a:endParaRPr lang="en-US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05B9C-47A2-4EBF-BBDA-583EF7053521}" type="slidenum">
              <a:rPr lang="en-US"/>
              <a:pPr/>
              <a:t>5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3C6E51-582C-45C6-AB9F-C5A1480539D4}" type="slidenum">
              <a:rPr lang="en-US"/>
              <a:pPr/>
              <a:t>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9DFFA2-BB03-41E4-820B-C8548AF34243}" type="slidenum">
              <a:rPr lang="en-US"/>
              <a:pPr/>
              <a:t>10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B21150-F5AA-4244-A301-58B14BCE6D5F}" type="slidenum">
              <a:rPr lang="en-US"/>
              <a:pPr/>
              <a:t>11</a:t>
            </a:fld>
            <a:endParaRPr 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E9E253-E330-4C0C-A586-C9F945DB1DE7}" type="slidenum">
              <a:rPr lang="en-US"/>
              <a:pPr/>
              <a:t>12</a:t>
            </a:fld>
            <a:endParaRPr 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7E9907-48E9-4E98-98ED-C86FEE26BE09}" type="slidenum">
              <a:rPr lang="en-US"/>
              <a:pPr/>
              <a:t>13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6168E76-5CD0-4B12-982A-5F2BD0EC05E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w3schools.com/dsa/dsa_intro.php" TargetMode="External"/><Relationship Id="rId7" Type="http://schemas.openxmlformats.org/officeDocument/2006/relationships/hyperlink" Target="https://www.codecademy.com/learn/learn-data-structures-and-algorithms-with-python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rsera.org/learn/python-data" TargetMode="External"/><Relationship Id="rId5" Type="http://schemas.openxmlformats.org/officeDocument/2006/relationships/hyperlink" Target="https://onlinecourses.nptel.ac.in/noc25_cs59/preview" TargetMode="External"/><Relationship Id="rId4" Type="http://schemas.openxmlformats.org/officeDocument/2006/relationships/hyperlink" Target="https://www.geeksforgeeks.org/python-data-structure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540107" y="2543953"/>
            <a:ext cx="7605177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/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 smtClean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Data Structures using Python</a:t>
            </a:r>
            <a:endParaRPr lang="en-US" sz="3200" b="1" cap="all" dirty="0" smtClean="0">
              <a:ln/>
              <a:solidFill>
                <a:schemeClr val="accent1">
                  <a:lumMod val="75000"/>
                </a:schemeClr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   Course code: </a:t>
            </a:r>
            <a:r>
              <a:rPr lang="en-US" sz="3200" b="1" cap="all" dirty="0" smtClean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24sc1204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</a:t>
            </a:r>
          </a:p>
          <a:p>
            <a:pPr lvl="2" algn="ctr"/>
            <a:endParaRPr lang="en-US" sz="3200" b="1" cap="all" dirty="0" smtClean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lvl="2" algn="ctr"/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Topic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: </a:t>
            </a:r>
            <a:r>
              <a:rPr lang="en-US" sz="3200" b="1" dirty="0" smtClean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INSERTION SORT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  <a:cs typeface="Poppins" pitchFamily="2" charset="77"/>
              </a:rPr>
              <a:t>DEPARTMENT </a:t>
            </a:r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BES-1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7303784" y="6187961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Session-01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35631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002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Insertion Sort and Shell Sort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Insertion Sort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how the sorting technique work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steps of the sorting algorithm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Insertion Sort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algorithm and complexity of Insertion Sort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Insertion Sort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1" y="1252025"/>
            <a:ext cx="105343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1" dirty="0"/>
              <a:t>Insertion sort</a:t>
            </a:r>
            <a:r>
              <a:rPr lang="en-US" sz="2000" dirty="0"/>
              <a:t>:</a:t>
            </a:r>
            <a:r>
              <a:rPr lang="en-US" sz="2000" b="1" dirty="0"/>
              <a:t> </a:t>
            </a:r>
            <a:r>
              <a:rPr lang="en-US" sz="2000" dirty="0"/>
              <a:t>orders a list of values by repetitively inserting a particular value into a sorted subset of the list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000" dirty="0"/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000" dirty="0"/>
              <a:t>More specifically: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consider the first item to be a sorted </a:t>
            </a:r>
            <a:r>
              <a:rPr lang="en-US" sz="2000" dirty="0" err="1">
                <a:latin typeface="Times New Roman" panose="02020603050405020304" pitchFamily="18" charset="0"/>
              </a:rPr>
              <a:t>sublist</a:t>
            </a:r>
            <a:r>
              <a:rPr lang="en-US" sz="2000" dirty="0">
                <a:latin typeface="Times New Roman" panose="02020603050405020304" pitchFamily="18" charset="0"/>
              </a:rPr>
              <a:t> of length 1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insert the second item into the sorted </a:t>
            </a:r>
            <a:r>
              <a:rPr lang="en-US" sz="2000" dirty="0" err="1">
                <a:latin typeface="Times New Roman" panose="02020603050405020304" pitchFamily="18" charset="0"/>
              </a:rPr>
              <a:t>sublist</a:t>
            </a:r>
            <a:r>
              <a:rPr lang="en-US" sz="2000" dirty="0">
                <a:latin typeface="Times New Roman" panose="02020603050405020304" pitchFamily="18" charset="0"/>
              </a:rPr>
              <a:t>, shifting the first item if needed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insert the third item into the sorted </a:t>
            </a:r>
            <a:r>
              <a:rPr lang="en-US" sz="2000" dirty="0" err="1">
                <a:latin typeface="Times New Roman" panose="02020603050405020304" pitchFamily="18" charset="0"/>
              </a:rPr>
              <a:t>sublist</a:t>
            </a:r>
            <a:r>
              <a:rPr lang="en-US" sz="2000" dirty="0">
                <a:latin typeface="Times New Roman" panose="02020603050405020304" pitchFamily="18" charset="0"/>
              </a:rPr>
              <a:t>, shifting the other items as needed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repeat until all values have been inserted into their proper positions</a:t>
            </a: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41600" y="365126"/>
            <a:ext cx="8712200" cy="912132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3"/>
            <a:ext cx="10972800" cy="2620962"/>
          </a:xfrm>
        </p:spPr>
        <p:txBody>
          <a:bodyPr/>
          <a:lstStyle/>
          <a:p>
            <a:r>
              <a:rPr lang="en-US" sz="2600" dirty="0"/>
              <a:t>while some elements unsorted:</a:t>
            </a:r>
          </a:p>
          <a:p>
            <a:pPr lvl="1"/>
            <a:r>
              <a:rPr lang="en-US" sz="2200" dirty="0"/>
              <a:t>Using linear search, find the location in the sorted portion where the 1</a:t>
            </a:r>
            <a:r>
              <a:rPr lang="en-US" sz="2200" baseline="30000" dirty="0"/>
              <a:t>st</a:t>
            </a:r>
            <a:r>
              <a:rPr lang="en-US" sz="2200" dirty="0"/>
              <a:t> element of the unsorted portion should be inserted </a:t>
            </a:r>
          </a:p>
          <a:p>
            <a:pPr lvl="1"/>
            <a:r>
              <a:rPr lang="en-US" sz="2200" dirty="0"/>
              <a:t>Move all the elements after the insertion location up one position to make space for the new element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4751918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13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479118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21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3022600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45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3598333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79</a:t>
            </a: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4174067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47</a:t>
            </a: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7630585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22</a:t>
            </a: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1295400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38</a:t>
            </a:r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5325533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74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5903385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36</a:t>
            </a: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2446867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66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7054852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94</a:t>
            </a:r>
          </a:p>
        </p:txBody>
      </p:sp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9359900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29</a:t>
            </a: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8206318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57</a:t>
            </a:r>
          </a:p>
        </p:txBody>
      </p:sp>
      <p:sp>
        <p:nvSpPr>
          <p:cNvPr id="51217" name="Text Box 17"/>
          <p:cNvSpPr txBox="1">
            <a:spLocks noChangeArrowheads="1"/>
          </p:cNvSpPr>
          <p:nvPr/>
        </p:nvSpPr>
        <p:spPr bwMode="auto">
          <a:xfrm>
            <a:off x="9935633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81</a:t>
            </a:r>
          </a:p>
        </p:txBody>
      </p:sp>
      <p:sp>
        <p:nvSpPr>
          <p:cNvPr id="51218" name="Text Box 18"/>
          <p:cNvSpPr txBox="1">
            <a:spLocks noChangeArrowheads="1"/>
          </p:cNvSpPr>
          <p:nvPr/>
        </p:nvSpPr>
        <p:spPr bwMode="auto">
          <a:xfrm>
            <a:off x="1871133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60</a:t>
            </a:r>
          </a:p>
        </p:txBody>
      </p:sp>
      <p:sp>
        <p:nvSpPr>
          <p:cNvPr id="51219" name="Text Box 19"/>
          <p:cNvSpPr txBox="1">
            <a:spLocks noChangeArrowheads="1"/>
          </p:cNvSpPr>
          <p:nvPr/>
        </p:nvSpPr>
        <p:spPr bwMode="auto">
          <a:xfrm>
            <a:off x="8784167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16</a:t>
            </a:r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3024718" y="4149725"/>
            <a:ext cx="577849" cy="3762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45</a:t>
            </a:r>
          </a:p>
        </p:txBody>
      </p:sp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3024718" y="4652964"/>
            <a:ext cx="577849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66</a:t>
            </a:r>
          </a:p>
        </p:txBody>
      </p:sp>
      <p:sp>
        <p:nvSpPr>
          <p:cNvPr id="51222" name="Text Box 22"/>
          <p:cNvSpPr txBox="1">
            <a:spLocks noChangeArrowheads="1"/>
          </p:cNvSpPr>
          <p:nvPr/>
        </p:nvSpPr>
        <p:spPr bwMode="auto">
          <a:xfrm>
            <a:off x="2446867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60</a:t>
            </a:r>
          </a:p>
        </p:txBody>
      </p:sp>
      <p:sp>
        <p:nvSpPr>
          <p:cNvPr id="51223" name="Text Box 23"/>
          <p:cNvSpPr txBox="1">
            <a:spLocks noChangeArrowheads="1"/>
          </p:cNvSpPr>
          <p:nvPr/>
        </p:nvSpPr>
        <p:spPr bwMode="auto">
          <a:xfrm>
            <a:off x="1871133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45</a:t>
            </a:r>
          </a:p>
        </p:txBody>
      </p:sp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1295401" y="5157788"/>
            <a:ext cx="9218084" cy="3794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the fourth iteration of this loop is shown here</a:t>
            </a:r>
          </a:p>
        </p:txBody>
      </p:sp>
      <p:pic>
        <p:nvPicPr>
          <p:cNvPr id="2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10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10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3" grpId="0" animBg="1"/>
      <p:bldP spid="51218" grpId="0" animBg="1"/>
      <p:bldP spid="51220" grpId="0" animBg="1"/>
      <p:bldP spid="51220" grpId="1" animBg="1"/>
      <p:bldP spid="51221" grpId="0" animBg="1"/>
      <p:bldP spid="51222" grpId="0" animBg="1"/>
      <p:bldP spid="51223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1600" y="6003926"/>
            <a:ext cx="1209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"/>
              </a:spcBef>
            </a:pPr>
            <a:r>
              <a:rPr lang="en-US" sz="2000"/>
              <a:t>An insertion sort partitions the array into two regions</a:t>
            </a:r>
            <a:endParaRPr lang="en-US" sz="2400" i="1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0" y="5867401"/>
            <a:ext cx="12192000" cy="92075"/>
          </a:xfrm>
          <a:prstGeom prst="rect">
            <a:avLst/>
          </a:prstGeom>
          <a:gradFill rotWithShape="0">
            <a:gsLst>
              <a:gs pos="0">
                <a:srgbClr val="5B74A5">
                  <a:gamma/>
                  <a:shade val="46275"/>
                  <a:invGamma/>
                </a:srgbClr>
              </a:gs>
              <a:gs pos="100000">
                <a:srgbClr val="5B74A5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734" y="2057400"/>
            <a:ext cx="11294533" cy="2463800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C Program: Insertion sort algorithm - w3resourc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22514"/>
            <a:ext cx="12192000" cy="6335486"/>
          </a:xfrm>
          <a:prstGeom prst="rect">
            <a:avLst/>
          </a:prstGeo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C Program for Insertion Sort - AlphaCodingSkil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07886"/>
            <a:ext cx="12192000" cy="5450114"/>
          </a:xfrm>
          <a:prstGeom prst="rect">
            <a:avLst/>
          </a:prstGeo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2714" y="757011"/>
            <a:ext cx="10515600" cy="825046"/>
          </a:xfrm>
        </p:spPr>
        <p:txBody>
          <a:bodyPr/>
          <a:lstStyle/>
          <a:p>
            <a:r>
              <a:rPr lang="en-US" dirty="0" smtClean="0"/>
              <a:t>Insertion Sort</a:t>
            </a:r>
            <a:endParaRPr lang="en-US" dirty="0"/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8FA795-8015-D442-AA08-A56B577C945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95400"/>
            <a:ext cx="8229600" cy="5029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charset="2"/>
              <a:buNone/>
              <a:defRPr/>
            </a:pPr>
            <a:r>
              <a:rPr lang="en-IN" sz="2400" b="1"/>
              <a:t>Steps of the algorithm</a:t>
            </a:r>
          </a:p>
          <a:p>
            <a:pPr algn="ctr">
              <a:buFont typeface="Wingdings" charset="2"/>
              <a:buNone/>
              <a:defRPr/>
            </a:pPr>
            <a:endParaRPr lang="en-IN" sz="2400" b="1"/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1</a:t>
            </a:r>
            <a:r>
              <a:rPr lang="en-IN" sz="2400"/>
              <a:t> − If it is the first element, it is already sorted. return 1;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2</a:t>
            </a:r>
            <a:r>
              <a:rPr lang="en-IN" sz="2400"/>
              <a:t> − Pick next element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3</a:t>
            </a:r>
            <a:r>
              <a:rPr lang="en-IN" sz="2400"/>
              <a:t> − Compare with all elements in the sorted sub-list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4</a:t>
            </a:r>
            <a:r>
              <a:rPr lang="en-IN" sz="2400"/>
              <a:t> − Shift all the elements in the sorted sub-list that is greater than the value to be sorted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5</a:t>
            </a:r>
            <a:r>
              <a:rPr lang="en-IN" sz="2400"/>
              <a:t> − Insert the value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6</a:t>
            </a:r>
            <a:r>
              <a:rPr lang="en-IN" sz="2400"/>
              <a:t> − Repeat until list is sorted</a:t>
            </a:r>
            <a:endParaRPr lang="en-US" sz="3600" dirty="0">
              <a:latin typeface="Courier New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58522-2997-AF48-9930-97B64EFD3F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4166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595959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fld id="{7FC3BDD1-FCAC-F843-B03A-F1A33FEC591C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89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>
          <a:xfrm>
            <a:off x="848833" y="779795"/>
            <a:ext cx="10515600" cy="1325563"/>
          </a:xfrm>
        </p:spPr>
        <p:txBody>
          <a:bodyPr/>
          <a:lstStyle/>
          <a:p>
            <a:r>
              <a:rPr lang="en-US" dirty="0"/>
              <a:t>Insertion Sort Analysis</a:t>
            </a:r>
          </a:p>
        </p:txBody>
      </p:sp>
      <p:pic>
        <p:nvPicPr>
          <p:cNvPr id="19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sp>
        <p:nvSpPr>
          <p:cNvPr id="2" name="Rectangle 1"/>
          <p:cNvSpPr/>
          <p:nvPr/>
        </p:nvSpPr>
        <p:spPr>
          <a:xfrm>
            <a:off x="1990725" y="1825348"/>
            <a:ext cx="900333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insertion_sort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range(1, len(</a:t>
            </a:r>
            <a:r>
              <a:rPr lang="en-US" dirty="0" err="1"/>
              <a:t>arr</a:t>
            </a:r>
            <a:r>
              <a:rPr lang="en-US" dirty="0"/>
              <a:t>)):</a:t>
            </a:r>
          </a:p>
          <a:p>
            <a:r>
              <a:rPr lang="en-US" dirty="0"/>
              <a:t>        key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j = </a:t>
            </a:r>
            <a:r>
              <a:rPr lang="en-US" dirty="0" err="1"/>
              <a:t>i</a:t>
            </a:r>
            <a:r>
              <a:rPr lang="en-US" dirty="0"/>
              <a:t> - </a:t>
            </a:r>
            <a:r>
              <a:rPr lang="en-US" dirty="0" smtClean="0"/>
              <a:t>1</a:t>
            </a:r>
          </a:p>
          <a:p>
            <a:r>
              <a:rPr lang="en-US" dirty="0" smtClean="0"/>
              <a:t>        while j &gt;= 0 and </a:t>
            </a:r>
            <a:r>
              <a:rPr lang="en-US" dirty="0" err="1" smtClean="0"/>
              <a:t>arr</a:t>
            </a:r>
            <a:r>
              <a:rPr lang="en-US" dirty="0" smtClean="0"/>
              <a:t>[j] &gt; key:</a:t>
            </a:r>
          </a:p>
          <a:p>
            <a:r>
              <a:rPr lang="en-US" dirty="0" smtClean="0"/>
              <a:t>            </a:t>
            </a:r>
            <a:r>
              <a:rPr lang="en-US" dirty="0" err="1"/>
              <a:t>arr</a:t>
            </a:r>
            <a:r>
              <a:rPr lang="en-US" dirty="0"/>
              <a:t>[j + 1] = </a:t>
            </a:r>
            <a:r>
              <a:rPr lang="en-US" dirty="0" err="1"/>
              <a:t>arr</a:t>
            </a:r>
            <a:r>
              <a:rPr lang="en-US" dirty="0"/>
              <a:t>[j]</a:t>
            </a:r>
          </a:p>
          <a:p>
            <a:r>
              <a:rPr lang="en-US" dirty="0"/>
              <a:t>            j -= </a:t>
            </a:r>
            <a:r>
              <a:rPr lang="en-US" dirty="0" smtClean="0"/>
              <a:t>1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arr</a:t>
            </a:r>
            <a:r>
              <a:rPr lang="en-US" dirty="0"/>
              <a:t>[j + 1] = key</a:t>
            </a:r>
          </a:p>
          <a:p>
            <a:endParaRPr lang="en-US" dirty="0"/>
          </a:p>
          <a:p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en-US" dirty="0"/>
              <a:t>= [12, 11, 13, 5, 6]</a:t>
            </a:r>
          </a:p>
          <a:p>
            <a:r>
              <a:rPr lang="en-US" dirty="0" err="1"/>
              <a:t>insertion_sort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r>
              <a:rPr lang="en-US" dirty="0"/>
              <a:t>print("Sorted array is:", 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1109209"/>
            <a:ext cx="10058400" cy="1295400"/>
          </a:xfrm>
        </p:spPr>
        <p:txBody>
          <a:bodyPr/>
          <a:lstStyle/>
          <a:p>
            <a:r>
              <a:rPr lang="en-US" dirty="0"/>
              <a:t>Insertion Sort: Number of Comparisons</a:t>
            </a:r>
            <a:endParaRPr lang="en-CA" dirty="0"/>
          </a:p>
        </p:txBody>
      </p:sp>
      <p:graphicFrame>
        <p:nvGraphicFramePr>
          <p:cNvPr id="61443" name="Group 3"/>
          <p:cNvGraphicFramePr>
            <a:graphicFrameLocks noGrp="1"/>
          </p:cNvGraphicFramePr>
          <p:nvPr>
            <p:ph type="tbl" idx="1"/>
          </p:nvPr>
        </p:nvGraphicFramePr>
        <p:xfrm>
          <a:off x="1968500" y="1816101"/>
          <a:ext cx="7780867" cy="3975165"/>
        </p:xfrm>
        <a:graphic>
          <a:graphicData uri="http://schemas.openxmlformats.org/drawingml/2006/table">
            <a:tbl>
              <a:tblPr/>
              <a:tblGrid>
                <a:gridCol w="223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of Sorted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Elements</a:t>
                      </a:r>
                      <a:endParaRPr kumimoji="0" lang="en-CA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Best case</a:t>
                      </a:r>
                      <a:endParaRPr kumimoji="0" lang="en-CA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Worst case</a:t>
                      </a:r>
                      <a:endParaRPr kumimoji="0" lang="en-CA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n-1</a:t>
                      </a: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n-1</a:t>
                      </a:r>
                      <a:endParaRPr kumimoji="0" lang="en-CA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n(n-1)/2</a:t>
                      </a:r>
                      <a:endParaRPr kumimoji="0" lang="en-CA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482" name="Text Box 42"/>
          <p:cNvSpPr txBox="1">
            <a:spLocks noChangeArrowheads="1"/>
          </p:cNvSpPr>
          <p:nvPr/>
        </p:nvSpPr>
        <p:spPr bwMode="auto">
          <a:xfrm>
            <a:off x="791633" y="6208713"/>
            <a:ext cx="591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Remark: we only count comparisons of elements in the array.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120036"/>
            <a:ext cx="10515600" cy="1325563"/>
          </a:xfrm>
        </p:spPr>
        <p:txBody>
          <a:bodyPr/>
          <a:lstStyle/>
          <a:p>
            <a:r>
              <a:rPr lang="en-US" dirty="0"/>
              <a:t>Insertion Sort:  Cost Function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26623"/>
            <a:ext cx="10972800" cy="2937214"/>
          </a:xfr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100" dirty="0"/>
              <a:t>1 operation to initialize the outer loop</a:t>
            </a:r>
          </a:p>
          <a:p>
            <a:pPr>
              <a:lnSpc>
                <a:spcPct val="80000"/>
              </a:lnSpc>
            </a:pPr>
            <a:r>
              <a:rPr lang="en-US" sz="2100" dirty="0"/>
              <a:t>The outer loop is evaluated </a:t>
            </a:r>
            <a:r>
              <a:rPr lang="en-US" sz="2100" i="1" dirty="0"/>
              <a:t>n-1</a:t>
            </a:r>
            <a:r>
              <a:rPr lang="en-US" sz="2100" dirty="0"/>
              <a:t> times</a:t>
            </a:r>
          </a:p>
          <a:p>
            <a:pPr lvl="1">
              <a:lnSpc>
                <a:spcPct val="80000"/>
              </a:lnSpc>
            </a:pPr>
            <a:r>
              <a:rPr lang="en-US" sz="1900" dirty="0"/>
              <a:t>5 instructions (including outer loop comparison and increment)</a:t>
            </a:r>
          </a:p>
          <a:p>
            <a:pPr lvl="1">
              <a:lnSpc>
                <a:spcPct val="80000"/>
              </a:lnSpc>
            </a:pPr>
            <a:r>
              <a:rPr lang="en-US" sz="1900" dirty="0"/>
              <a:t>Total cost of the outer loop: 5(n-1)</a:t>
            </a:r>
          </a:p>
          <a:p>
            <a:pPr>
              <a:lnSpc>
                <a:spcPct val="80000"/>
              </a:lnSpc>
            </a:pPr>
            <a:r>
              <a:rPr lang="en-US" sz="2100" dirty="0"/>
              <a:t>How many times the inner loop is evaluated is affected by the state of the array to be sorted</a:t>
            </a:r>
          </a:p>
          <a:p>
            <a:pPr>
              <a:lnSpc>
                <a:spcPct val="80000"/>
              </a:lnSpc>
            </a:pPr>
            <a:r>
              <a:rPr lang="en-US" sz="2100" dirty="0"/>
              <a:t>Best case: the array is already completely sorted so no “shifting” of array elements is required.</a:t>
            </a:r>
          </a:p>
          <a:p>
            <a:pPr lvl="1">
              <a:lnSpc>
                <a:spcPct val="80000"/>
              </a:lnSpc>
            </a:pPr>
            <a:r>
              <a:rPr lang="en-US" sz="1900" dirty="0"/>
              <a:t>We only test the condition of the inner loop once (2 operations = 1 comparison + 1 element comparison), and the body is never executed</a:t>
            </a:r>
          </a:p>
          <a:p>
            <a:pPr lvl="1">
              <a:lnSpc>
                <a:spcPct val="80000"/>
              </a:lnSpc>
            </a:pPr>
            <a:r>
              <a:rPr lang="en-US" sz="1900" dirty="0"/>
              <a:t>Requires 2(n-1) operations.</a:t>
            </a: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822325"/>
            <a:ext cx="10515600" cy="1325563"/>
          </a:xfrm>
        </p:spPr>
        <p:txBody>
          <a:bodyPr/>
          <a:lstStyle/>
          <a:p>
            <a:r>
              <a:rPr lang="en-US" dirty="0"/>
              <a:t>Insertion Sort:  Cost Function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3"/>
            <a:ext cx="10972800" cy="4235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100"/>
              <a:t>Worst case: the array is sorted in reverse order (so each item has to be moved to the front of the array)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In the </a:t>
            </a:r>
            <a:r>
              <a:rPr lang="en-US" sz="1900" i="1"/>
              <a:t>i</a:t>
            </a:r>
            <a:r>
              <a:rPr lang="en-US" sz="1900"/>
              <a:t>-th iteration of the outer loop, the inner loop will perform </a:t>
            </a:r>
            <a:r>
              <a:rPr lang="en-US" sz="1900" i="1"/>
              <a:t>4i+1</a:t>
            </a:r>
            <a:r>
              <a:rPr lang="en-US" sz="1900"/>
              <a:t> operations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Therefore, the total cost of the inner loop will be </a:t>
            </a:r>
            <a:r>
              <a:rPr lang="en-US" sz="1900" i="1"/>
              <a:t>2n(n-1)+n-1</a:t>
            </a:r>
          </a:p>
          <a:p>
            <a:pPr>
              <a:lnSpc>
                <a:spcPct val="80000"/>
              </a:lnSpc>
            </a:pPr>
            <a:r>
              <a:rPr lang="en-US" sz="2100"/>
              <a:t>Time cost: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Best case: </a:t>
            </a:r>
            <a:r>
              <a:rPr lang="en-US" sz="1900" i="1"/>
              <a:t>7(n-1)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Worst case: </a:t>
            </a:r>
            <a:r>
              <a:rPr lang="en-US" sz="1900" i="1"/>
              <a:t>5(n-1)+2n(n-1)+n-1</a:t>
            </a:r>
          </a:p>
          <a:p>
            <a:pPr lvl="1">
              <a:lnSpc>
                <a:spcPct val="80000"/>
              </a:lnSpc>
            </a:pPr>
            <a:endParaRPr lang="en-US" sz="1900"/>
          </a:p>
          <a:p>
            <a:pPr>
              <a:lnSpc>
                <a:spcPct val="80000"/>
              </a:lnSpc>
            </a:pPr>
            <a:r>
              <a:rPr lang="en-US" sz="2100"/>
              <a:t>What about the number of moves?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Best case: </a:t>
            </a:r>
            <a:r>
              <a:rPr lang="en-US" sz="1900" i="1"/>
              <a:t>2(n-1)</a:t>
            </a:r>
            <a:r>
              <a:rPr lang="en-US" sz="1900"/>
              <a:t> moves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Worst case: </a:t>
            </a:r>
            <a:r>
              <a:rPr lang="en-US" sz="1900" i="1"/>
              <a:t>2(n-1)+n(n-1)/2</a:t>
            </a:r>
          </a:p>
          <a:p>
            <a:pPr lvl="1">
              <a:lnSpc>
                <a:spcPct val="80000"/>
              </a:lnSpc>
            </a:pPr>
            <a:endParaRPr lang="en-US" sz="1900"/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55809"/>
            <a:ext cx="10515600" cy="1325563"/>
          </a:xfrm>
        </p:spPr>
        <p:txBody>
          <a:bodyPr/>
          <a:lstStyle/>
          <a:p>
            <a:r>
              <a:rPr lang="en-US" dirty="0"/>
              <a:t>Insertion Sort: Average Case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3"/>
            <a:ext cx="10972800" cy="41640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/>
              <a:t>Is it closer to the best case (</a:t>
            </a:r>
            <a:r>
              <a:rPr lang="en-US" sz="2100" i="1"/>
              <a:t>n</a:t>
            </a:r>
            <a:r>
              <a:rPr lang="en-US" sz="2100"/>
              <a:t> comparisons)?</a:t>
            </a:r>
          </a:p>
          <a:p>
            <a:pPr>
              <a:lnSpc>
                <a:spcPct val="90000"/>
              </a:lnSpc>
            </a:pPr>
            <a:r>
              <a:rPr lang="en-US" sz="2100"/>
              <a:t>The worst case (</a:t>
            </a:r>
            <a:r>
              <a:rPr lang="en-US" sz="2100" i="1"/>
              <a:t>n</a:t>
            </a:r>
            <a:r>
              <a:rPr lang="en-US" sz="2100"/>
              <a:t> * (</a:t>
            </a:r>
            <a:r>
              <a:rPr lang="en-US" sz="2100" i="1"/>
              <a:t>n</a:t>
            </a:r>
            <a:r>
              <a:rPr lang="en-US" sz="2100"/>
              <a:t>-1) / 2) comparisons?</a:t>
            </a:r>
          </a:p>
          <a:p>
            <a:pPr>
              <a:lnSpc>
                <a:spcPct val="90000"/>
              </a:lnSpc>
            </a:pPr>
            <a:r>
              <a:rPr lang="en-US" sz="2100"/>
              <a:t>It turns out that when random data is sorted, insertion sort is usually closer to the worst case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Around </a:t>
            </a:r>
            <a:r>
              <a:rPr lang="en-US" sz="1900" i="1"/>
              <a:t>n</a:t>
            </a:r>
            <a:r>
              <a:rPr lang="en-US" sz="1900"/>
              <a:t> * (</a:t>
            </a:r>
            <a:r>
              <a:rPr lang="en-US" sz="1900" i="1"/>
              <a:t>n</a:t>
            </a:r>
            <a:r>
              <a:rPr lang="en-US" sz="1900"/>
              <a:t>-1) / 4 comparisons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Calculating the average number of comparisons more exactly would require us to state assumptions about what the “average” input data set looked like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This would, for example, necessitate discussion of how items were distributed over the array</a:t>
            </a:r>
          </a:p>
          <a:p>
            <a:pPr>
              <a:lnSpc>
                <a:spcPct val="90000"/>
              </a:lnSpc>
            </a:pPr>
            <a:r>
              <a:rPr lang="en-US" sz="2100"/>
              <a:t>Exact calculation of the number of operations required to perform even simple algorithms can be challenging</a:t>
            </a:r>
            <a:br>
              <a:rPr lang="en-US" sz="2100"/>
            </a:br>
            <a:r>
              <a:rPr lang="en-US" sz="2100"/>
              <a:t>(for instance, assume that each initial order of elements has the same probability to occur)</a:t>
            </a: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563852-23D0-B547-9B5B-73952D11905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08088"/>
            <a:ext cx="11148646" cy="4918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Best case: array is in sorted ascending order -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O(n)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Average case: each element is about halfway in order -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O(n</a:t>
            </a:r>
            <a:r>
              <a:rPr lang="en-US" altLang="en-US" baseline="30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Worst case: reverse-ordered elements in array -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O(n</a:t>
            </a:r>
            <a:r>
              <a:rPr lang="en-US" altLang="en-US" baseline="30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5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most suitable example of insertion sort is to sort the cards in hand.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way a player sorts his cards in hand by taking the first one the comparing it with the next is the fundamental form of insertion sort</a:t>
            </a:r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73521" y="365941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algorithm is one of the simplest algorithm with simple implementation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IN" sz="2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Basically, Insertion sort is efficient for small data values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IN" sz="2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Insertion sort is adaptive in nature, i.e. it is appropriate for data sets which are already partially sorted.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How many passes of insertion sort do we need to give for an array of size n to sort?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n+1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n-1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(n+1)/2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What is the complexity of Insertion sort in worst case scenario?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O(n)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O(</a:t>
            </a:r>
            <a:r>
              <a:rPr lang="en-US" dirty="0" err="1"/>
              <a:t>nlog</a:t>
            </a:r>
            <a:r>
              <a:rPr lang="en-US" dirty="0"/>
              <a:t> n)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O(2n log n)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what is insertion sort.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List out the steps involved in insertion sort.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 the complexity of insertion sort.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 the working principle of insertion sort.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932" y="628740"/>
            <a:ext cx="11596468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</a:t>
            </a:r>
            <a:r>
              <a:rPr lang="en-US" b="1" dirty="0" smtClean="0"/>
              <a:t>:</a:t>
            </a:r>
          </a:p>
          <a:p>
            <a:pPr>
              <a:lnSpc>
                <a:spcPct val="150000"/>
              </a:lnSpc>
            </a:pPr>
            <a:endParaRPr lang="en-US" b="1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Sites </a:t>
            </a:r>
            <a:r>
              <a:rPr lang="en-US" b="1" dirty="0"/>
              <a:t>and Web links: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docs.python.org/3/tutorial/datastructures.html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www.w3schools.com/dsa/dsa_intro.php</a:t>
            </a:r>
            <a:endParaRPr lang="en-US" dirty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www.geeksforgeeks.org/python-data-structures/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5"/>
              </a:rPr>
              <a:t>https</a:t>
            </a:r>
            <a:r>
              <a:rPr lang="en-US" dirty="0">
                <a:hlinkClick r:id="rId5"/>
              </a:rPr>
              <a:t>://</a:t>
            </a:r>
            <a:r>
              <a:rPr lang="en-US" dirty="0" smtClean="0">
                <a:hlinkClick r:id="rId5"/>
              </a:rPr>
              <a:t>onlinecourses.nptel.ac.in/noc25_cs59/preview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6"/>
              </a:rPr>
              <a:t>https</a:t>
            </a:r>
            <a:r>
              <a:rPr lang="en-US" dirty="0">
                <a:hlinkClick r:id="rId6"/>
              </a:rPr>
              <a:t>://</a:t>
            </a:r>
            <a:r>
              <a:rPr lang="en-US" dirty="0" smtClean="0">
                <a:hlinkClick r:id="rId6"/>
              </a:rPr>
              <a:t>www.coursera.org/learn/python-data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</a:t>
            </a:r>
            <a:r>
              <a:rPr lang="en-US" dirty="0" smtClean="0">
                <a:hlinkClick r:id="rId7"/>
              </a:rPr>
              <a:t>www.codecademy.com/learn/learn-data-structures-and-algorithms-with-python</a:t>
            </a:r>
            <a:endParaRPr lang="en-US" dirty="0" smtClean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5665" y="1241013"/>
            <a:ext cx="11134414" cy="1779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 Analysis in PYTHON, 2010, Mark Allen Weiss, Second Edition, Pearson Education.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Algorithms,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A.V.Aho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J.E.Hopcroft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J.D.Ullman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Pearson Education, First Edition Reprint2003.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Advanced Guide to Python 3 Programming, John Hunt, 4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Edition, Springer Nature Switzerland AG 2019.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Basics: A Practice Introduction to Python 3, David Amos, Dan Bader,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Joanna Jablonski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Fletcher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Heisler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edition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Real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20312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– Data Structures using Python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17622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</TotalTime>
  <Words>1177</Words>
  <Application>Microsoft Office PowerPoint</Application>
  <PresentationFormat>Widescreen</PresentationFormat>
  <Paragraphs>207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BioRhyme ExtraBold</vt:lpstr>
      <vt:lpstr>Calibri</vt:lpstr>
      <vt:lpstr>Calibri Light</vt:lpstr>
      <vt:lpstr>Courier New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Insertion Sort</vt:lpstr>
      <vt:lpstr>PowerPoint Presentation</vt:lpstr>
      <vt:lpstr>PowerPoint Presentation</vt:lpstr>
      <vt:lpstr>Insertion Sort</vt:lpstr>
      <vt:lpstr>PowerPoint Presentation</vt:lpstr>
      <vt:lpstr>Insertion Sort Analysis</vt:lpstr>
      <vt:lpstr>Insertion Sort: Number of Comparisons</vt:lpstr>
      <vt:lpstr>Insertion Sort:  Cost Function</vt:lpstr>
      <vt:lpstr>Insertion Sort:  Cost Function</vt:lpstr>
      <vt:lpstr>Insertion Sort: Average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LENOVO</cp:lastModifiedBy>
  <cp:revision>29</cp:revision>
  <dcterms:created xsi:type="dcterms:W3CDTF">2020-02-08T09:57:44Z</dcterms:created>
  <dcterms:modified xsi:type="dcterms:W3CDTF">2024-12-14T10:33:17Z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