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71" r:id="rId5"/>
    <p:sldId id="300" r:id="rId6"/>
    <p:sldId id="258" r:id="rId7"/>
    <p:sldId id="325" r:id="rId8"/>
    <p:sldId id="327" r:id="rId9"/>
    <p:sldId id="328" r:id="rId10"/>
    <p:sldId id="329" r:id="rId11"/>
    <p:sldId id="301" r:id="rId12"/>
    <p:sldId id="302" r:id="rId13"/>
    <p:sldId id="303"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74379" autoAdjust="0"/>
  </p:normalViewPr>
  <p:slideViewPr>
    <p:cSldViewPr snapToGrid="0">
      <p:cViewPr varScale="1">
        <p:scale>
          <a:sx n="47" d="100"/>
          <a:sy n="47" d="100"/>
        </p:scale>
        <p:origin x="1192"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greenteapress.com/wp/thinkpython/"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
            <a:ext cx="12192000" cy="8830995"/>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108503"/>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a:t>
            </a:r>
            <a:r>
              <a:rPr lang="en-US" sz="3200" b="1" dirty="0" smtClean="0">
                <a:solidFill>
                  <a:schemeClr val="accent1"/>
                </a:solidFill>
              </a:rPr>
              <a:t>Structures Using Python</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4000" b="1" cap="all" smtClean="0">
                <a:ln/>
                <a:solidFill>
                  <a:srgbClr val="C00000"/>
                </a:solidFill>
                <a:effectLst/>
                <a:cs typeface="Poppins" panose="00000500000000000000" pitchFamily="2" charset="0"/>
              </a:rPr>
              <a:t>Name </a:t>
            </a:r>
            <a:r>
              <a:rPr lang="en-US" sz="4000" b="1" cap="all" dirty="0">
                <a:ln/>
                <a:solidFill>
                  <a:srgbClr val="C00000"/>
                </a:solidFill>
                <a:effectLst/>
                <a:cs typeface="Poppins" panose="00000500000000000000" pitchFamily="2" charset="0"/>
              </a:rPr>
              <a:t>of the topic: </a:t>
            </a:r>
          </a:p>
          <a:p>
            <a:pPr marR="0" lvl="0" indent="0" algn="ctr">
              <a:spcBef>
                <a:spcPts val="0"/>
              </a:spcBef>
              <a:spcAft>
                <a:spcPts val="0"/>
              </a:spcAft>
              <a:buNone/>
            </a:pPr>
            <a:r>
              <a:rPr lang="en-US" sz="4000" b="1" dirty="0">
                <a:solidFill>
                  <a:srgbClr val="00B0F0"/>
                </a:solidFill>
                <a:effectLst/>
                <a:latin typeface="Times New Roman" pitchFamily="18" charset="0"/>
                <a:cs typeface="Times New Roman" pitchFamily="18" charset="0"/>
              </a:rPr>
              <a:t>Quick </a:t>
            </a:r>
            <a:r>
              <a:rPr lang="en-US" sz="4000" b="1" dirty="0" smtClean="0">
                <a:solidFill>
                  <a:srgbClr val="00B0F0"/>
                </a:solidFill>
                <a:effectLst/>
                <a:latin typeface="Times New Roman" pitchFamily="18" charset="0"/>
                <a:cs typeface="Times New Roman" pitchFamily="18" charset="0"/>
              </a:rPr>
              <a:t>Sort &amp;  Implementation</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3" y="5572270"/>
            <a:ext cx="2637093" cy="828530"/>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6</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a:latin typeface="Poppins"/>
                <a:cs typeface="Poppins"/>
              </a:rPr>
              <a:t>Quick sort Analysis Implementation</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Divide and Conquer in Quick sort Function</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a:t>
            </a:r>
            <a:r>
              <a:rPr lang="en-US" sz="1600" dirty="0">
                <a:latin typeface="Arial" panose="020B0604020202020204" pitchFamily="34" charset="0"/>
              </a:rPr>
              <a:t>Picking a pivot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List out the operations possible on the </a:t>
            </a:r>
            <a:r>
              <a:rPr lang="en-US" sz="1600" dirty="0">
                <a:latin typeface="Arial" panose="020B0604020202020204" pitchFamily="34" charset="0"/>
              </a:rPr>
              <a:t>Partitioning</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a:t>
            </a:r>
            <a:r>
              <a:rPr lang="en-US" sz="1600" dirty="0">
                <a:latin typeface="Arial"/>
                <a:cs typeface="Arial"/>
              </a:rPr>
              <a:t>Swapping Process</a:t>
            </a:r>
            <a:endParaRPr lang="en-US" sz="1600" b="0" i="0" dirty="0">
              <a:effectLst/>
              <a:latin typeface="Arial"/>
              <a:cs typeface="Arial"/>
            </a:endParaRPr>
          </a:p>
          <a:p>
            <a:pPr marL="342900" indent="-342900">
              <a:buAutoNum type="arabicPeriod"/>
            </a:pPr>
            <a:r>
              <a:rPr lang="en-US" sz="1600" dirty="0">
                <a:latin typeface="Arial"/>
                <a:cs typeface="Arial"/>
              </a:rPr>
              <a:t>List out the advantages and applications of Quick sort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Quick sort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a:t>
            </a:r>
            <a:r>
              <a:rPr lang="en-US" sz="1600" dirty="0">
                <a:latin typeface="Arial" panose="020B0604020202020204" pitchFamily="34" charset="0"/>
              </a:rPr>
              <a:t>The Swapping process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definition, types and operations of quick sort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Quick Sort </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98231" cy="5139869"/>
          </a:xfrm>
          <a:prstGeom prst="rect">
            <a:avLst/>
          </a:prstGeom>
          <a:noFill/>
        </p:spPr>
        <p:txBody>
          <a:bodyPr wrap="square" rtlCol="0">
            <a:spAutoFit/>
          </a:bodyPr>
          <a:lstStyle/>
          <a:p>
            <a:pPr algn="just">
              <a:buFont typeface="Wingdings" pitchFamily="2" charset="2"/>
              <a:buChar char="Ø"/>
            </a:pPr>
            <a:r>
              <a:rPr lang="en-IN" sz="3200" dirty="0"/>
              <a:t> </a:t>
            </a:r>
            <a:r>
              <a:rPr lang="en-US" sz="2400" b="0" i="0" dirty="0">
                <a:solidFill>
                  <a:srgbClr val="202124"/>
                </a:solidFill>
                <a:effectLst/>
              </a:rPr>
              <a:t>The quicksort algorithm starts by picking a pivot element and then subdivides the array. It then puts the smaller elements on the left side of the pivot and the larger ones on the right side. The partition of arrays continues until each array is left with a single element.</a:t>
            </a:r>
          </a:p>
          <a:p>
            <a:pPr algn="just"/>
            <a:endParaRPr lang="en-IN" sz="2400" dirty="0">
              <a:cs typeface="Times New Roman" pitchFamily="18" charset="0"/>
            </a:endParaRPr>
          </a:p>
          <a:p>
            <a:pPr algn="just">
              <a:buFont typeface="Wingdings" pitchFamily="2" charset="2"/>
              <a:buChar char="Ø"/>
            </a:pPr>
            <a:r>
              <a:rPr lang="en-IN" sz="2400" dirty="0"/>
              <a:t> </a:t>
            </a:r>
            <a:r>
              <a:rPr lang="en-US" sz="2400" b="1" i="0" dirty="0">
                <a:solidFill>
                  <a:srgbClr val="333333"/>
                </a:solidFill>
                <a:effectLst/>
              </a:rPr>
              <a:t>Divide:</a:t>
            </a:r>
            <a:r>
              <a:rPr lang="en-US" sz="2400" b="0" i="0" dirty="0">
                <a:solidFill>
                  <a:srgbClr val="333333"/>
                </a:solidFill>
                <a:effectLst/>
              </a:rPr>
              <a:t> In Divide, first pick a pivot element. After that, partition or rearrange the array into two sub-arrays such that each element in the left sub-array is less than or equal to the pivot element and each element in the right sub-array is larger than the pivot element.</a:t>
            </a:r>
          </a:p>
          <a:p>
            <a:pPr algn="just"/>
            <a:endParaRPr lang="en-US" sz="2400" dirty="0">
              <a:solidFill>
                <a:srgbClr val="333333"/>
              </a:solidFill>
            </a:endParaRPr>
          </a:p>
          <a:p>
            <a:pPr algn="just">
              <a:buFont typeface="Wingdings" pitchFamily="2" charset="2"/>
              <a:buChar char="Ø"/>
            </a:pPr>
            <a:r>
              <a:rPr lang="en-US" sz="2400" dirty="0">
                <a:solidFill>
                  <a:srgbClr val="333333"/>
                </a:solidFill>
              </a:rPr>
              <a:t> </a:t>
            </a:r>
            <a:r>
              <a:rPr lang="en-US" sz="2400" b="0" i="0" dirty="0">
                <a:solidFill>
                  <a:srgbClr val="333333"/>
                </a:solidFill>
                <a:effectLst/>
              </a:rPr>
              <a:t>Conquer : Recursively, sort two subarrays with Quicksort.</a:t>
            </a:r>
          </a:p>
          <a:p>
            <a:pPr algn="just"/>
            <a:endParaRPr lang="en-US" sz="2400" dirty="0">
              <a:solidFill>
                <a:srgbClr val="333333"/>
              </a:solidFill>
            </a:endParaRPr>
          </a:p>
          <a:p>
            <a:pPr algn="just">
              <a:buFont typeface="Wingdings" pitchFamily="2" charset="2"/>
              <a:buChar char="Ø"/>
            </a:pPr>
            <a:r>
              <a:rPr lang="en-US" sz="2400" b="1" i="0" dirty="0">
                <a:solidFill>
                  <a:srgbClr val="333333"/>
                </a:solidFill>
                <a:effectLst/>
                <a:latin typeface="inter-bold"/>
              </a:rPr>
              <a:t>Combine:</a:t>
            </a:r>
            <a:r>
              <a:rPr lang="en-US" sz="2400" b="0" i="0" dirty="0">
                <a:solidFill>
                  <a:srgbClr val="333333"/>
                </a:solidFill>
                <a:effectLst/>
                <a:latin typeface="inter-regular"/>
              </a:rPr>
              <a:t> Combine the already sorted array.</a:t>
            </a:r>
            <a:endParaRPr lang="en-US" sz="2400" b="0" i="0" dirty="0">
              <a:solidFill>
                <a:srgbClr val="333333"/>
              </a:solidFill>
              <a:effectLst/>
            </a:endParaRPr>
          </a:p>
          <a:p>
            <a:pPr algn="just">
              <a:buFont typeface="Wingdings" pitchFamily="2" charset="2"/>
              <a:buChar char="Ø"/>
            </a:pPr>
            <a:endParaRPr lang="en-IN" sz="2400" dirty="0"/>
          </a:p>
          <a:p>
            <a:pPr algn="just"/>
            <a:r>
              <a:rPr lang="en-IN" sz="3200" dirty="0"/>
              <a:t>	</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7" y="1025028"/>
            <a:ext cx="11921613" cy="6370975"/>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000000"/>
                </a:solidFill>
                <a:effectLst/>
              </a:rPr>
              <a:t>Let us consider the following terminologies:</a:t>
            </a:r>
          </a:p>
          <a:p>
            <a:pPr algn="just">
              <a:buFont typeface="Arial" panose="020B0604020202020204" pitchFamily="34" charset="0"/>
              <a:buChar char="•"/>
            </a:pPr>
            <a:r>
              <a:rPr lang="en-US" sz="2400" b="0" i="0" dirty="0">
                <a:solidFill>
                  <a:srgbClr val="000000"/>
                </a:solidFill>
                <a:effectLst/>
              </a:rPr>
              <a:t>T(K): Time complexity of quicksort of K elements</a:t>
            </a:r>
          </a:p>
          <a:p>
            <a:pPr algn="just">
              <a:buFont typeface="Arial" panose="020B0604020202020204" pitchFamily="34" charset="0"/>
              <a:buChar char="•"/>
            </a:pPr>
            <a:r>
              <a:rPr lang="en-US" sz="2400" b="0" i="0" dirty="0">
                <a:solidFill>
                  <a:srgbClr val="000000"/>
                </a:solidFill>
                <a:effectLst/>
              </a:rPr>
              <a:t>P(K): Time complexity for finding the position of pivot among K elements.</a:t>
            </a:r>
          </a:p>
          <a:p>
            <a:pPr algn="just">
              <a:buFont typeface="Arial" panose="020B0604020202020204" pitchFamily="34" charset="0"/>
              <a:buChar char="•"/>
            </a:pPr>
            <a:r>
              <a:rPr lang="en-US" sz="2400" b="0" i="0" dirty="0">
                <a:solidFill>
                  <a:srgbClr val="000000"/>
                </a:solidFill>
                <a:effectLst/>
              </a:rPr>
              <a:t>Best Case:</a:t>
            </a:r>
          </a:p>
          <a:p>
            <a:pPr algn="just">
              <a:buFont typeface="Arial" panose="020B0604020202020204" pitchFamily="34" charset="0"/>
              <a:buChar char="•"/>
            </a:pPr>
            <a:r>
              <a:rPr lang="en-US" sz="2400" b="0" i="0" dirty="0">
                <a:solidFill>
                  <a:srgbClr val="000000"/>
                </a:solidFill>
                <a:effectLst/>
              </a:rPr>
              <a:t>The best case occurs when we select the pivot as the mean. So here</a:t>
            </a:r>
          </a:p>
          <a:p>
            <a:pPr algn="just"/>
            <a:r>
              <a:rPr lang="en-IN" sz="2400" b="0" i="1" dirty="0">
                <a:solidFill>
                  <a:srgbClr val="273239"/>
                </a:solidFill>
                <a:effectLst/>
                <a:latin typeface="Nunito" pitchFamily="2" charset="0"/>
              </a:rPr>
              <a:t>T(N) = 2 * T(N / 2) + N * constant</a:t>
            </a:r>
          </a:p>
          <a:p>
            <a:pPr algn="just"/>
            <a:r>
              <a:rPr lang="en-IN" sz="2400" b="0" i="1" dirty="0">
                <a:solidFill>
                  <a:srgbClr val="273239"/>
                </a:solidFill>
                <a:effectLst/>
                <a:latin typeface="Nunito" pitchFamily="2" charset="0"/>
              </a:rPr>
              <a:t>Now T(N/2) is also 2*T(N / 4) + N / 2 * constant. So,</a:t>
            </a:r>
          </a:p>
          <a:p>
            <a:pPr algn="just"/>
            <a:r>
              <a:rPr lang="en-IN" sz="2400" b="0" i="1" dirty="0">
                <a:solidFill>
                  <a:srgbClr val="273239"/>
                </a:solidFill>
                <a:effectLst/>
                <a:latin typeface="Nunito" pitchFamily="2" charset="0"/>
              </a:rPr>
              <a:t>T(N) = 2*(2*T(N / 4) + N / 2 * constant) + N * constant</a:t>
            </a:r>
          </a:p>
          <a:p>
            <a:pPr algn="just"/>
            <a:r>
              <a:rPr lang="en-IN" sz="2400" b="0" i="1" dirty="0">
                <a:solidFill>
                  <a:srgbClr val="273239"/>
                </a:solidFill>
                <a:effectLst/>
                <a:latin typeface="Nunito" pitchFamily="2" charset="0"/>
              </a:rPr>
              <a:t>= 4 * T(N / 4) + 2 * constant * N.</a:t>
            </a:r>
          </a:p>
          <a:p>
            <a:pPr algn="just"/>
            <a:r>
              <a:rPr lang="en-IN" sz="2400" b="0" i="1" dirty="0">
                <a:solidFill>
                  <a:srgbClr val="273239"/>
                </a:solidFill>
                <a:effectLst/>
                <a:latin typeface="Nunito" pitchFamily="2" charset="0"/>
              </a:rPr>
              <a:t>So, we can say that</a:t>
            </a:r>
          </a:p>
          <a:p>
            <a:pPr algn="just"/>
            <a:r>
              <a:rPr lang="en-IN" sz="2400" b="0" i="1" dirty="0">
                <a:solidFill>
                  <a:srgbClr val="273239"/>
                </a:solidFill>
                <a:effectLst/>
                <a:latin typeface="Nunito" pitchFamily="2" charset="0"/>
              </a:rPr>
              <a:t>T(N) = 2k * T(N / 2k) + k * constant * N</a:t>
            </a:r>
          </a:p>
          <a:p>
            <a:pPr algn="just"/>
            <a:r>
              <a:rPr lang="en-IN" sz="2400" b="0" i="1" dirty="0">
                <a:solidFill>
                  <a:srgbClr val="273239"/>
                </a:solidFill>
                <a:effectLst/>
                <a:latin typeface="Nunito" pitchFamily="2" charset="0"/>
              </a:rPr>
              <a:t>then, 2k = N</a:t>
            </a:r>
          </a:p>
          <a:p>
            <a:pPr algn="just"/>
            <a:r>
              <a:rPr lang="en-IN" sz="2400" b="0" i="1" dirty="0">
                <a:solidFill>
                  <a:srgbClr val="273239"/>
                </a:solidFill>
                <a:effectLst/>
                <a:latin typeface="Nunito" pitchFamily="2" charset="0"/>
              </a:rPr>
              <a:t>k = log2N</a:t>
            </a:r>
          </a:p>
          <a:p>
            <a:pPr algn="just"/>
            <a:r>
              <a:rPr lang="en-IN" sz="2400" b="0" i="1" dirty="0">
                <a:solidFill>
                  <a:srgbClr val="273239"/>
                </a:solidFill>
                <a:effectLst/>
                <a:latin typeface="Nunito" pitchFamily="2" charset="0"/>
              </a:rPr>
              <a:t>So T(N) = N * T(1) + N * log2N. Therefore, the time complexity is O(N * </a:t>
            </a:r>
            <a:r>
              <a:rPr lang="en-IN" sz="2400" b="0" i="1" dirty="0" err="1">
                <a:solidFill>
                  <a:srgbClr val="273239"/>
                </a:solidFill>
                <a:effectLst/>
                <a:latin typeface="Nunito" pitchFamily="2" charset="0"/>
              </a:rPr>
              <a:t>logN</a:t>
            </a:r>
            <a:r>
              <a:rPr lang="en-IN" sz="2400" b="0" i="1" dirty="0">
                <a:solidFill>
                  <a:srgbClr val="273239"/>
                </a:solidFill>
                <a:effectLst/>
                <a:latin typeface="Nunito" pitchFamily="2" charset="0"/>
              </a:rPr>
              <a:t>).--</a:t>
            </a:r>
            <a:r>
              <a:rPr lang="en-IN" sz="2400" b="0" i="1" dirty="0">
                <a:solidFill>
                  <a:srgbClr val="273239"/>
                </a:solidFill>
                <a:effectLst/>
                <a:latin typeface="Nunito" pitchFamily="2" charset="0"/>
                <a:sym typeface="Wingdings" panose="05000000000000000000" pitchFamily="2" charset="2"/>
              </a:rPr>
              <a:t> eq1</a:t>
            </a:r>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8" y="1025028"/>
            <a:ext cx="11747442" cy="6740307"/>
          </a:xfrm>
          <a:prstGeom prst="rect">
            <a:avLst/>
          </a:prstGeom>
          <a:noFill/>
        </p:spPr>
        <p:txBody>
          <a:bodyPr wrap="square">
            <a:spAutoFit/>
          </a:bodyPr>
          <a:lstStyle/>
          <a:p>
            <a:r>
              <a:rPr lang="en-US" sz="2400" b="1" dirty="0" smtClean="0"/>
              <a:t>Time Complexity Analysis:</a:t>
            </a:r>
            <a:endParaRPr lang="en-US" sz="2400" dirty="0" smtClean="0"/>
          </a:p>
          <a:p>
            <a:pPr lvl="0"/>
            <a:r>
              <a:rPr lang="en-US" sz="2400" b="1" dirty="0" smtClean="0"/>
              <a:t>Best Case</a:t>
            </a:r>
            <a:r>
              <a:rPr lang="en-US" sz="2400" dirty="0" smtClean="0"/>
              <a:t>: O(n log n)</a:t>
            </a:r>
          </a:p>
          <a:p>
            <a:pPr lvl="1"/>
            <a:r>
              <a:rPr lang="en-US" sz="2400" dirty="0" smtClean="0"/>
              <a:t>This occurs when the pivot divides the array into two nearly equal halves. Each recursive call works on a sub-array half the size of the previous call.</a:t>
            </a:r>
          </a:p>
          <a:p>
            <a:pPr lvl="0"/>
            <a:r>
              <a:rPr lang="en-US" sz="2400" b="1" dirty="0" smtClean="0"/>
              <a:t>Average Case</a:t>
            </a:r>
            <a:r>
              <a:rPr lang="en-US" sz="2400" dirty="0" smtClean="0"/>
              <a:t>: O(n log n)</a:t>
            </a:r>
          </a:p>
          <a:p>
            <a:pPr lvl="1"/>
            <a:r>
              <a:rPr lang="en-US" sz="2400" dirty="0" smtClean="0"/>
              <a:t>On average, the pivot divides the array into two fairly balanced sub-arrays, leading to a logarithmic number of recursive calls, and each call processes n elements.</a:t>
            </a:r>
          </a:p>
          <a:p>
            <a:pPr lvl="0"/>
            <a:r>
              <a:rPr lang="en-US" sz="2400" b="1" dirty="0" smtClean="0"/>
              <a:t>Worst Case</a:t>
            </a:r>
            <a:r>
              <a:rPr lang="en-US" sz="2400" dirty="0" smtClean="0"/>
              <a:t>: O(n²)</a:t>
            </a:r>
          </a:p>
          <a:p>
            <a:pPr lvl="1"/>
            <a:r>
              <a:rPr lang="en-US" sz="2400" dirty="0" smtClean="0"/>
              <a:t>This occurs when the pivot is the smallest or largest element in the array, leading to unbalanced partitions. For example, if the array is already sorted or nearly sorted and we consistently pick a bad pivot (e.g., the first or last element), the recursion will proceed in linear fashion, processing one element at a time.</a:t>
            </a:r>
          </a:p>
          <a:p>
            <a:pPr lvl="0"/>
            <a:r>
              <a:rPr lang="en-US" sz="2400" b="1" dirty="0" smtClean="0"/>
              <a:t>Space Complexity</a:t>
            </a:r>
            <a:r>
              <a:rPr lang="en-US" sz="2400" dirty="0" smtClean="0"/>
              <a:t>:</a:t>
            </a:r>
          </a:p>
          <a:p>
            <a:pPr lvl="1"/>
            <a:r>
              <a:rPr lang="en-US" sz="2400" b="1" dirty="0" smtClean="0"/>
              <a:t>Best/Average Case</a:t>
            </a:r>
            <a:r>
              <a:rPr lang="en-US" sz="2400" dirty="0" smtClean="0"/>
              <a:t>: O(log n) for the recursion stack.</a:t>
            </a:r>
          </a:p>
          <a:p>
            <a:pPr lvl="1"/>
            <a:r>
              <a:rPr lang="en-US" sz="2400" b="1" dirty="0" smtClean="0"/>
              <a:t>Worst Case</a:t>
            </a:r>
            <a:r>
              <a:rPr lang="en-US" sz="2400" dirty="0" smtClean="0"/>
              <a:t>: O(n) when the recursion depth becomes linear due to unbalanced partitions.</a:t>
            </a:r>
          </a:p>
          <a:p>
            <a:pPr algn="just"/>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8" y="1025029"/>
            <a:ext cx="11747442" cy="5262979"/>
          </a:xfrm>
          <a:prstGeom prst="rect">
            <a:avLst/>
          </a:prstGeom>
          <a:noFill/>
        </p:spPr>
        <p:txBody>
          <a:bodyPr wrap="square">
            <a:spAutoFit/>
          </a:bodyPr>
          <a:lstStyle/>
          <a:p>
            <a:r>
              <a:rPr lang="en-US" sz="2400" dirty="0" smtClean="0"/>
              <a:t>Example:</a:t>
            </a:r>
          </a:p>
          <a:p>
            <a:r>
              <a:rPr lang="en-US" sz="2400" dirty="0" err="1" smtClean="0"/>
              <a:t>arr</a:t>
            </a:r>
            <a:r>
              <a:rPr lang="en-US" sz="2400" dirty="0" smtClean="0"/>
              <a:t> = [10, 7, 8, 9, 1, 5]</a:t>
            </a:r>
          </a:p>
          <a:p>
            <a:r>
              <a:rPr lang="en-US" sz="2400" dirty="0" smtClean="0">
                <a:solidFill>
                  <a:srgbClr val="000000"/>
                </a:solidFill>
              </a:rPr>
              <a:t>OUTPUT:</a:t>
            </a:r>
          </a:p>
          <a:p>
            <a:r>
              <a:rPr lang="en-US" sz="2400" dirty="0" smtClean="0"/>
              <a:t>Best Case (Balanced Partitioning):</a:t>
            </a:r>
          </a:p>
          <a:p>
            <a:r>
              <a:rPr lang="en-US" sz="2400" b="1" dirty="0" smtClean="0"/>
              <a:t>Pivot selection</a:t>
            </a:r>
            <a:r>
              <a:rPr lang="en-US" sz="2400" dirty="0" smtClean="0"/>
              <a:t>: Let’s assume the pivot is chosen randomly or it divides the array into nearly equal halves at each level of </a:t>
            </a:r>
            <a:r>
              <a:rPr lang="en-US" sz="2400" dirty="0" err="1" smtClean="0"/>
              <a:t>recursion.</a:t>
            </a:r>
            <a:r>
              <a:rPr lang="en-US" sz="2400" b="1" dirty="0" err="1" smtClean="0"/>
              <a:t>Example</a:t>
            </a:r>
            <a:r>
              <a:rPr lang="en-US" sz="2400" dirty="0" smtClean="0"/>
              <a:t>: For the array [10, 7, 8, 9, 1, 5], let's say the pivot is 7 in the first partitioning. </a:t>
            </a:r>
          </a:p>
          <a:p>
            <a:r>
              <a:rPr lang="en-US" sz="2400" dirty="0" smtClean="0"/>
              <a:t>After partitioning, the array might look like this: [1, 5, 7, 9, 8, 10], with 7 in its correct </a:t>
            </a:r>
            <a:r>
              <a:rPr lang="en-US" sz="2400" dirty="0" err="1" smtClean="0"/>
              <a:t>position.Then</a:t>
            </a:r>
            <a:r>
              <a:rPr lang="en-US" sz="2400" dirty="0" smtClean="0"/>
              <a:t>, we sort the </a:t>
            </a:r>
            <a:r>
              <a:rPr lang="en-US" sz="2400" dirty="0" err="1" smtClean="0"/>
              <a:t>subarrays</a:t>
            </a:r>
            <a:r>
              <a:rPr lang="en-US" sz="2400" dirty="0" smtClean="0"/>
              <a:t> [1, 5] and [9, 8, 10] recursively.</a:t>
            </a:r>
          </a:p>
          <a:p>
            <a:r>
              <a:rPr lang="en-US" sz="2400" dirty="0" smtClean="0"/>
              <a:t>The recursive calls break the problem down into sub-problems of size n/2 at each level, resulting in a </a:t>
            </a:r>
            <a:r>
              <a:rPr lang="en-US" sz="2400" b="1" dirty="0" smtClean="0"/>
              <a:t>logarithmic number of levels</a:t>
            </a:r>
            <a:r>
              <a:rPr lang="en-US" sz="2400" dirty="0" smtClean="0"/>
              <a:t>.</a:t>
            </a:r>
          </a:p>
          <a:p>
            <a:endParaRPr lang="en-US" sz="2400" dirty="0" smtClean="0"/>
          </a:p>
          <a:p>
            <a:endParaRPr lang="en-US" sz="2400" dirty="0" smtClean="0"/>
          </a:p>
          <a:p>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444558" y="908915"/>
            <a:ext cx="11747442" cy="7109639"/>
          </a:xfrm>
          <a:prstGeom prst="rect">
            <a:avLst/>
          </a:prstGeom>
          <a:noFill/>
        </p:spPr>
        <p:txBody>
          <a:bodyPr wrap="square">
            <a:spAutoFit/>
          </a:bodyPr>
          <a:lstStyle/>
          <a:p>
            <a:r>
              <a:rPr lang="en-US" sz="2400" dirty="0" smtClean="0"/>
              <a:t>Let’s walk through a simple example with an array [10, 7, 8, 9, 1, 5].</a:t>
            </a:r>
          </a:p>
          <a:p>
            <a:pPr lvl="0"/>
            <a:r>
              <a:rPr lang="en-US" sz="2400" b="1" dirty="0" smtClean="0"/>
              <a:t>Initial Array</a:t>
            </a:r>
            <a:r>
              <a:rPr lang="en-US" sz="2400" dirty="0" smtClean="0"/>
              <a:t>: [10, 7, 8, 9, 1, 5]</a:t>
            </a:r>
          </a:p>
          <a:p>
            <a:pPr lvl="1"/>
            <a:r>
              <a:rPr lang="en-US" sz="2400" dirty="0" smtClean="0"/>
              <a:t>Choose pivot = 5 (last element).</a:t>
            </a:r>
          </a:p>
          <a:p>
            <a:pPr lvl="1"/>
            <a:r>
              <a:rPr lang="en-US" sz="2400" dirty="0" smtClean="0"/>
              <a:t>After partitioning, the array becomes: [1, 5, 8, 9, 7, 10]. Now the pivot 5 is placed in the correct position.</a:t>
            </a:r>
          </a:p>
          <a:p>
            <a:pPr lvl="0"/>
            <a:r>
              <a:rPr lang="en-US" sz="2400" b="1" dirty="0" smtClean="0"/>
              <a:t>Left Sub-array [1]</a:t>
            </a:r>
            <a:r>
              <a:rPr lang="en-US" sz="2400" dirty="0" smtClean="0"/>
              <a:t>: It has only one element, so it’s already sorted.</a:t>
            </a:r>
          </a:p>
          <a:p>
            <a:pPr lvl="0"/>
            <a:r>
              <a:rPr lang="en-US" sz="2400" b="1" dirty="0" smtClean="0"/>
              <a:t>Right Sub-array [8, 9, 7, 10]</a:t>
            </a:r>
            <a:r>
              <a:rPr lang="en-US" sz="2400" dirty="0" smtClean="0"/>
              <a:t>:</a:t>
            </a:r>
          </a:p>
          <a:p>
            <a:pPr lvl="1"/>
            <a:r>
              <a:rPr lang="en-US" sz="2400" dirty="0" smtClean="0"/>
              <a:t>Choose pivot = 10 (last element).</a:t>
            </a:r>
          </a:p>
          <a:p>
            <a:pPr lvl="1"/>
            <a:r>
              <a:rPr lang="en-US" sz="2400" dirty="0" smtClean="0"/>
              <a:t>After partitioning, the array becomes: [8, 9, 7, 10], with pivot 10 in its correct position.</a:t>
            </a:r>
          </a:p>
          <a:p>
            <a:pPr lvl="0"/>
            <a:r>
              <a:rPr lang="en-US" sz="2400" b="1" dirty="0" smtClean="0"/>
              <a:t>Sub-arrays [8, 9, 7]</a:t>
            </a:r>
            <a:r>
              <a:rPr lang="en-US" sz="2400" dirty="0" smtClean="0"/>
              <a:t>:</a:t>
            </a:r>
          </a:p>
          <a:p>
            <a:pPr lvl="1"/>
            <a:r>
              <a:rPr lang="en-US" sz="2400" dirty="0" smtClean="0"/>
              <a:t>Choose pivot = 7.</a:t>
            </a:r>
          </a:p>
          <a:p>
            <a:pPr lvl="1"/>
            <a:r>
              <a:rPr lang="en-US" sz="2400" dirty="0" smtClean="0"/>
              <a:t>After partitioning, the array becomes: [7, 9, 8], with pivot 7 in its correct position.</a:t>
            </a:r>
          </a:p>
          <a:p>
            <a:pPr lvl="0"/>
            <a:r>
              <a:rPr lang="en-US" sz="2400" b="1" dirty="0" smtClean="0"/>
              <a:t>Sub-arrays [9, 8]</a:t>
            </a:r>
            <a:r>
              <a:rPr lang="en-US" sz="2400" dirty="0" smtClean="0"/>
              <a:t>:</a:t>
            </a:r>
          </a:p>
          <a:p>
            <a:pPr lvl="1"/>
            <a:r>
              <a:rPr lang="en-US" sz="2400" dirty="0" smtClean="0"/>
              <a:t>Choose pivot = 8.</a:t>
            </a:r>
          </a:p>
          <a:p>
            <a:pPr lvl="1"/>
            <a:r>
              <a:rPr lang="en-US" sz="2400" dirty="0" smtClean="0"/>
              <a:t>After partitioning, the array becomes: [8, 9], with pivot 8 in its correct position.</a:t>
            </a:r>
          </a:p>
          <a:p>
            <a:r>
              <a:rPr lang="en-US" sz="2400" dirty="0" smtClean="0"/>
              <a:t>At the end of the recursion, the array is sorted as [1, 5, 7, 8, 9, 10].</a:t>
            </a:r>
          </a:p>
          <a:p>
            <a:endParaRPr lang="en-US" sz="2400" dirty="0" smtClean="0"/>
          </a:p>
          <a:p>
            <a:endParaRPr lang="en-US" sz="2400" dirty="0" smtClean="0"/>
          </a:p>
          <a:p>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796687"/>
            <a:ext cx="10071060" cy="52098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smtClean="0"/>
              <a:t>What </a:t>
            </a:r>
            <a:r>
              <a:rPr lang="en-US" sz="2400" dirty="0"/>
              <a:t>is the time complexity of the Shell Sort algorithm in the best case?</a:t>
            </a:r>
            <a:endParaRPr sz="2400" dirty="0">
              <a:solidFill>
                <a:schemeClr val="bg1"/>
              </a:solidFill>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252970" y="15142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UcParenR"/>
            </a:pPr>
            <a:r>
              <a:rPr lang="pt-BR" dirty="0" smtClean="0">
                <a:solidFill>
                  <a:schemeClr val="bg1"/>
                </a:solidFill>
                <a:latin typeface="Open Sans" panose="020B0606030504020204" pitchFamily="34" charset="0"/>
              </a:rPr>
              <a:t>O(n </a:t>
            </a:r>
            <a:r>
              <a:rPr lang="pt-BR" dirty="0">
                <a:solidFill>
                  <a:schemeClr val="bg1"/>
                </a:solidFill>
                <a:latin typeface="Open Sans" panose="020B0606030504020204" pitchFamily="34" charset="0"/>
              </a:rPr>
              <a:t>log n</a:t>
            </a:r>
            <a:r>
              <a:rPr lang="pt-BR" dirty="0" smtClean="0">
                <a:solidFill>
                  <a:schemeClr val="bg1"/>
                </a:solidFill>
                <a:latin typeface="Open Sans" panose="020B0606030504020204" pitchFamily="34" charset="0"/>
              </a:rPr>
              <a:t>)</a:t>
            </a:r>
          </a:p>
          <a:p>
            <a:pPr marL="342900" indent="-342900">
              <a:lnSpc>
                <a:spcPct val="150000"/>
              </a:lnSpc>
              <a:buAutoNum type="alphaUcParenR"/>
            </a:pPr>
            <a:r>
              <a:rPr lang="pt-BR" dirty="0" smtClean="0">
                <a:solidFill>
                  <a:srgbClr val="FFC000"/>
                </a:solidFill>
                <a:latin typeface="Open Sans" panose="020B0606030504020204" pitchFamily="34" charset="0"/>
              </a:rPr>
              <a:t>O(n)</a:t>
            </a:r>
          </a:p>
          <a:p>
            <a:pPr marL="342900" indent="-342900">
              <a:lnSpc>
                <a:spcPct val="150000"/>
              </a:lnSpc>
              <a:buAutoNum type="alphaUcParenR"/>
            </a:pPr>
            <a:r>
              <a:rPr lang="pt-BR" dirty="0" smtClean="0">
                <a:solidFill>
                  <a:schemeClr val="bg1"/>
                </a:solidFill>
                <a:latin typeface="Open Sans" panose="020B0606030504020204" pitchFamily="34" charset="0"/>
              </a:rPr>
              <a:t>O(n^2)</a:t>
            </a:r>
          </a:p>
          <a:p>
            <a:pPr marL="342900" indent="-342900">
              <a:lnSpc>
                <a:spcPct val="150000"/>
              </a:lnSpc>
              <a:buAutoNum type="alphaUcParenR"/>
            </a:pPr>
            <a:r>
              <a:rPr lang="pt-BR" dirty="0" smtClean="0">
                <a:solidFill>
                  <a:schemeClr val="bg1"/>
                </a:solidFill>
                <a:latin typeface="Open Sans" panose="020B0606030504020204" pitchFamily="34" charset="0"/>
              </a:rPr>
              <a:t>O(log </a:t>
            </a:r>
            <a:r>
              <a:rPr lang="pt-BR" dirty="0">
                <a:solidFill>
                  <a:schemeClr val="bg1"/>
                </a:solidFill>
                <a:latin typeface="Open Sans" panose="020B0606030504020204" pitchFamily="34" charset="0"/>
              </a:rPr>
              <a:t>n)</a:t>
            </a:r>
            <a:endParaRPr lang="en-US" dirty="0">
              <a:solidFill>
                <a:schemeClr val="bg1"/>
              </a:solidFill>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smtClean="0"/>
              <a:t>2</a:t>
            </a:r>
            <a:r>
              <a:rPr lang="en-IN" sz="2400" dirty="0"/>
              <a:t>.</a:t>
            </a:r>
            <a:r>
              <a:rPr lang="en-US" sz="2400" dirty="0">
                <a:solidFill>
                  <a:srgbClr val="3A3A3A"/>
                </a:solidFill>
                <a:latin typeface="Times New Roman" panose="02020603050405020304" pitchFamily="18" charset="0"/>
                <a:cs typeface="Times New Roman" panose="02020603050405020304" pitchFamily="18" charset="0"/>
              </a:rPr>
              <a:t> </a:t>
            </a:r>
            <a:r>
              <a:rPr lang="en-US" sz="2000" dirty="0"/>
              <a:t>What is the main advantage of the Shell Sort over the simple insertion sort?</a:t>
            </a: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Open Sans" panose="020B0606030504020204" pitchFamily="34" charset="0"/>
              </a:rPr>
              <a:t> </a:t>
            </a:r>
            <a:r>
              <a:rPr lang="en-US" dirty="0">
                <a:solidFill>
                  <a:schemeClr val="bg1"/>
                </a:solidFill>
                <a:latin typeface="Open Sans" panose="020B0606030504020204" pitchFamily="34" charset="0"/>
              </a:rPr>
              <a:t>A) Shell Sort is easier to implement than Insertion Sort</a:t>
            </a:r>
            <a:r>
              <a:rPr lang="en-US" dirty="0" smtClean="0">
                <a:solidFill>
                  <a:schemeClr val="bg1"/>
                </a:solidFill>
                <a:latin typeface="Open Sans" panose="020B0606030504020204" pitchFamily="34" charset="0"/>
              </a:rPr>
              <a:t>.</a:t>
            </a:r>
          </a:p>
          <a:p>
            <a:r>
              <a:rPr lang="en-US" dirty="0" smtClean="0">
                <a:solidFill>
                  <a:srgbClr val="FFC000"/>
                </a:solidFill>
                <a:latin typeface="Open Sans" panose="020B0606030504020204" pitchFamily="34" charset="0"/>
              </a:rPr>
              <a:t>B</a:t>
            </a:r>
            <a:r>
              <a:rPr lang="en-US" dirty="0">
                <a:solidFill>
                  <a:srgbClr val="FFC000"/>
                </a:solidFill>
                <a:latin typeface="Open Sans" panose="020B0606030504020204" pitchFamily="34" charset="0"/>
              </a:rPr>
              <a:t>) Shell Sort performs better for large datasets than Insertion Sort</a:t>
            </a:r>
            <a:r>
              <a:rPr lang="en-US" dirty="0" smtClean="0">
                <a:solidFill>
                  <a:srgbClr val="FFC000"/>
                </a:solidFill>
                <a:latin typeface="Open Sans" panose="020B0606030504020204" pitchFamily="34" charset="0"/>
              </a:rPr>
              <a:t>.</a:t>
            </a:r>
          </a:p>
          <a:p>
            <a:r>
              <a:rPr lang="en-US" dirty="0" smtClean="0">
                <a:solidFill>
                  <a:schemeClr val="bg1"/>
                </a:solidFill>
                <a:latin typeface="Open Sans" panose="020B0606030504020204" pitchFamily="34" charset="0"/>
              </a:rPr>
              <a:t>C</a:t>
            </a:r>
            <a:r>
              <a:rPr lang="en-US" dirty="0">
                <a:solidFill>
                  <a:schemeClr val="bg1"/>
                </a:solidFill>
                <a:latin typeface="Open Sans" panose="020B0606030504020204" pitchFamily="34" charset="0"/>
              </a:rPr>
              <a:t>) Shell Sort is more memory efficient than Insertion Sort</a:t>
            </a:r>
            <a:r>
              <a:rPr lang="en-US" dirty="0" smtClean="0">
                <a:solidFill>
                  <a:schemeClr val="bg1"/>
                </a:solidFill>
                <a:latin typeface="Open Sans" panose="020B0606030504020204" pitchFamily="34" charset="0"/>
              </a:rPr>
              <a:t>.</a:t>
            </a:r>
          </a:p>
          <a:p>
            <a:r>
              <a:rPr lang="en-US" dirty="0" smtClean="0">
                <a:solidFill>
                  <a:schemeClr val="bg1"/>
                </a:solidFill>
                <a:latin typeface="Open Sans" panose="020B0606030504020204" pitchFamily="34" charset="0"/>
              </a:rPr>
              <a:t>D</a:t>
            </a:r>
            <a:r>
              <a:rPr lang="en-US" dirty="0">
                <a:solidFill>
                  <a:schemeClr val="bg1"/>
                </a:solidFill>
                <a:latin typeface="Open Sans" panose="020B0606030504020204" pitchFamily="34" charset="0"/>
              </a:rPr>
              <a:t>) Shell Sort guarantees a sorted list every time.</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784737"/>
          </a:xfrm>
          <a:prstGeom prst="rect">
            <a:avLst/>
          </a:prstGeom>
          <a:noFill/>
        </p:spPr>
        <p:txBody>
          <a:bodyPr wrap="square" rtlCol="0">
            <a:spAutoFit/>
          </a:bodyPr>
          <a:lstStyle/>
          <a:p>
            <a:pPr>
              <a:lnSpc>
                <a:spcPct val="200000"/>
              </a:lnSpc>
            </a:pPr>
            <a:r>
              <a:rPr lang="en-US" b="1" dirty="0"/>
              <a:t>1. Describe About Quick sort?</a:t>
            </a:r>
          </a:p>
          <a:p>
            <a:pPr>
              <a:lnSpc>
                <a:spcPct val="200000"/>
              </a:lnSpc>
            </a:pPr>
            <a:r>
              <a:rPr lang="en-US" b="1" dirty="0"/>
              <a:t>2. Implementation of Quick sort ?</a:t>
            </a:r>
          </a:p>
          <a:p>
            <a:pPr>
              <a:lnSpc>
                <a:spcPct val="200000"/>
              </a:lnSpc>
            </a:pPr>
            <a:r>
              <a:rPr lang="en-US" b="1" dirty="0"/>
              <a:t>3. Analyze the time complexity of Quick sort?</a:t>
            </a:r>
          </a:p>
          <a:p>
            <a:pPr>
              <a:lnSpc>
                <a:spcPct val="200000"/>
              </a:lnSpc>
            </a:pPr>
            <a:r>
              <a:rPr lang="en-US" b="1" dirty="0"/>
              <a:t>4. Summarize working principle of quick sort?</a:t>
            </a:r>
          </a:p>
          <a:p>
            <a:pPr>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19854"/>
          </a:xfrm>
          <a:prstGeom prst="rect">
            <a:avLst/>
          </a:prstGeom>
          <a:noFill/>
        </p:spPr>
        <p:txBody>
          <a:bodyPr wrap="square" rtlCol="0">
            <a:spAutoFit/>
          </a:bodyPr>
          <a:lstStyle/>
          <a:p>
            <a:r>
              <a:rPr lang="en-US" b="1" dirty="0" smtClean="0"/>
              <a:t>Textbooks:</a:t>
            </a:r>
            <a:endParaRPr lang="en-US" dirty="0" smtClean="0"/>
          </a:p>
          <a:p>
            <a:pPr lvl="0"/>
            <a:r>
              <a:rPr lang="en-US" dirty="0" smtClean="0"/>
              <a:t>Mark Allen Weiss, Data Structures and Algorithm Analysis in C, 2010, Second Edition, Pearson Education.</a:t>
            </a:r>
          </a:p>
          <a:p>
            <a:pPr lvl="0"/>
            <a:r>
              <a:rPr lang="en-US" dirty="0" smtClean="0"/>
              <a:t>Allen B. Downey, ”Think Python: How to Think Like a Computer Scientist’’, 2nd edition, Updated for Python 3, </a:t>
            </a:r>
            <a:r>
              <a:rPr lang="en-US" dirty="0" err="1" smtClean="0"/>
              <a:t>Shroff</a:t>
            </a:r>
            <a:r>
              <a:rPr lang="en-US" dirty="0" smtClean="0"/>
              <a:t>/O’Reilly Publishers, 2016 (</a:t>
            </a:r>
            <a:r>
              <a:rPr lang="en-US" u="sng" dirty="0" smtClean="0">
                <a:hlinkClick r:id="rId2"/>
              </a:rPr>
              <a:t>http://greenteapress.com/wp/thinkpython/</a:t>
            </a:r>
            <a:r>
              <a:rPr lang="en-US" dirty="0" smtClean="0"/>
              <a:t>)</a:t>
            </a:r>
          </a:p>
          <a:p>
            <a:pPr lvl="0"/>
            <a:r>
              <a:rPr lang="en-US" dirty="0" smtClean="0"/>
              <a:t>Data Structures and algorithms using python, 2011,Rance D, </a:t>
            </a:r>
            <a:r>
              <a:rPr lang="en-US" dirty="0" err="1" smtClean="0"/>
              <a:t>Necaise</a:t>
            </a:r>
            <a:r>
              <a:rPr lang="en-US" dirty="0" smtClean="0"/>
              <a:t>, </a:t>
            </a:r>
            <a:r>
              <a:rPr lang="en-US" dirty="0" err="1" smtClean="0"/>
              <a:t>himilton</a:t>
            </a:r>
            <a:r>
              <a:rPr lang="en-US" dirty="0" smtClean="0"/>
              <a:t> printing</a:t>
            </a:r>
          </a:p>
          <a:p>
            <a:r>
              <a:rPr lang="en-US" b="1" dirty="0" err="1" smtClean="0"/>
              <a:t>ReferenceBooks</a:t>
            </a:r>
            <a:r>
              <a:rPr lang="en-US" b="1" dirty="0" smtClean="0"/>
              <a:t>:</a:t>
            </a:r>
            <a:endParaRPr lang="en-US" dirty="0" smtClean="0"/>
          </a:p>
          <a:p>
            <a:pPr lvl="0"/>
            <a:r>
              <a:rPr lang="en-US" dirty="0" smtClean="0"/>
              <a:t>Data Structures and Algorithm Analysis in PYTHON, 2010, Mark Allen Weiss, Second Edition, Pearson Education.</a:t>
            </a:r>
          </a:p>
          <a:p>
            <a:pPr lvl="0"/>
            <a:r>
              <a:rPr lang="en-US" dirty="0" smtClean="0"/>
              <a:t>Data Structures and Algorithms, </a:t>
            </a:r>
            <a:r>
              <a:rPr lang="en-US" dirty="0" err="1" smtClean="0"/>
              <a:t>A.V.Aho</a:t>
            </a:r>
            <a:r>
              <a:rPr lang="en-US" dirty="0" smtClean="0"/>
              <a:t>, </a:t>
            </a:r>
            <a:r>
              <a:rPr lang="en-US" dirty="0" err="1" smtClean="0"/>
              <a:t>J.E.Hopcroft</a:t>
            </a:r>
            <a:r>
              <a:rPr lang="en-US" dirty="0" smtClean="0"/>
              <a:t>, and </a:t>
            </a:r>
            <a:r>
              <a:rPr lang="en-US" dirty="0" err="1" smtClean="0"/>
              <a:t>J.D.Ullman</a:t>
            </a:r>
            <a:r>
              <a:rPr lang="en-US" dirty="0" smtClean="0"/>
              <a:t>, Pearson Education, First Edition Reprint2003.</a:t>
            </a:r>
          </a:p>
          <a:p>
            <a:pPr lvl="0"/>
            <a:r>
              <a:rPr lang="en-US" dirty="0" smtClean="0"/>
              <a:t>Advanced Guide to Python 3 Programming, John Hunt, 4</a:t>
            </a:r>
            <a:r>
              <a:rPr lang="en-US" baseline="30000" dirty="0" smtClean="0"/>
              <a:t>th</a:t>
            </a:r>
            <a:r>
              <a:rPr lang="en-US" dirty="0" smtClean="0"/>
              <a:t> Edition, Springer Nature Switzerland AG 2019.</a:t>
            </a:r>
          </a:p>
          <a:p>
            <a:pPr lvl="0"/>
            <a:r>
              <a:rPr lang="en-US" dirty="0" smtClean="0"/>
              <a:t>Python Basics: A Practice Introduction to Python 3, David Amos, Dan Bader, Joanna </a:t>
            </a:r>
            <a:r>
              <a:rPr lang="en-US" dirty="0" err="1" smtClean="0"/>
              <a:t>Jablonski</a:t>
            </a:r>
            <a:r>
              <a:rPr lang="en-US" dirty="0" smtClean="0"/>
              <a:t>, Fletcher </a:t>
            </a:r>
            <a:r>
              <a:rPr lang="en-US" dirty="0" err="1" smtClean="0"/>
              <a:t>Heisler</a:t>
            </a:r>
            <a:r>
              <a:rPr lang="en-US" dirty="0" smtClean="0"/>
              <a:t>, 4</a:t>
            </a:r>
            <a:r>
              <a:rPr lang="en-US" baseline="30000" dirty="0" smtClean="0"/>
              <a:t>th</a:t>
            </a:r>
            <a:r>
              <a:rPr lang="en-US" dirty="0" smtClean="0"/>
              <a:t> edition, Real Python.</a:t>
            </a:r>
          </a:p>
          <a:p>
            <a:r>
              <a:rPr lang="en-US" b="1" dirty="0" err="1" smtClean="0"/>
              <a:t>WebLinks</a:t>
            </a:r>
            <a:r>
              <a:rPr lang="en-US" b="1" dirty="0" smtClean="0"/>
              <a:t>:</a:t>
            </a:r>
            <a:endParaRPr lang="en-US" dirty="0" smtClean="0"/>
          </a:p>
          <a:p>
            <a:pPr lvl="0"/>
            <a:r>
              <a:rPr lang="en-US" u="sng" dirty="0" smtClean="0">
                <a:hlinkClick r:id="rId3"/>
              </a:rPr>
              <a:t>https://docs.python.org/3/tutorial/datastructures.html</a:t>
            </a:r>
            <a:endParaRPr lang="en-US" dirty="0" smtClean="0"/>
          </a:p>
          <a:p>
            <a:pPr lvl="0"/>
            <a:r>
              <a:rPr lang="en-US" u="sng" dirty="0" smtClean="0">
                <a:hlinkClick r:id="rId4"/>
              </a:rPr>
              <a:t>https://www.w3schools.com/dsa/dsa_intro.php</a:t>
            </a:r>
            <a:endParaRPr lang="en-US" dirty="0" smtClean="0"/>
          </a:p>
          <a:p>
            <a:pPr lvl="0"/>
            <a:r>
              <a:rPr lang="en-US" u="sng" dirty="0" smtClean="0">
                <a:hlinkClick r:id="rId5"/>
              </a:rPr>
              <a:t>https://www.geeksforgeeks.org/python-data-structures/</a:t>
            </a:r>
            <a:endParaRPr lang="en-US" dirty="0" smtClean="0"/>
          </a:p>
          <a:p>
            <a:pPr>
              <a:lnSpc>
                <a:spcPct val="150000"/>
              </a:lnSpc>
            </a:pPr>
            <a:endParaRPr lang="en-US" dirty="0"/>
          </a:p>
        </p:txBody>
      </p:sp>
      <p:pic>
        <p:nvPicPr>
          <p:cNvPr id="5" name="Picture 2" descr="KL Deemed to be University Logo"/>
          <p:cNvPicPr>
            <a:picLocks noChangeAspect="1" noChangeArrowheads="1"/>
          </p:cNvPicPr>
          <p:nvPr/>
        </p:nvPicPr>
        <p:blipFill>
          <a:blip r:embed="rId6"/>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1849</TotalTime>
  <Words>1221</Words>
  <Application>Microsoft Office PowerPoint</Application>
  <PresentationFormat>Widescreen</PresentationFormat>
  <Paragraphs>127</Paragraphs>
  <Slides>11</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Arial</vt:lpstr>
      <vt:lpstr>BioRhyme ExtraBold</vt:lpstr>
      <vt:lpstr>Calibri</vt:lpstr>
      <vt:lpstr>Calibri Light</vt:lpstr>
      <vt:lpstr>inter-bold</vt:lpstr>
      <vt:lpstr>inter-regular</vt:lpstr>
      <vt:lpstr>Nunito</vt:lpstr>
      <vt:lpstr>Open Sans</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LENOVO</cp:lastModifiedBy>
  <cp:revision>58</cp:revision>
  <dcterms:created xsi:type="dcterms:W3CDTF">2020-02-08T09:57:44Z</dcterms:created>
  <dcterms:modified xsi:type="dcterms:W3CDTF">2024-12-14T10:54:35Z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