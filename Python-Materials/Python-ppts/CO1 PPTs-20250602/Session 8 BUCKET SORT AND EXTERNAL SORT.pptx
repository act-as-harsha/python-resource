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Default Extension="svg" ContentType="image/svg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71" r:id="rId5"/>
    <p:sldId id="300" r:id="rId6"/>
    <p:sldId id="258" r:id="rId7"/>
    <p:sldId id="309" r:id="rId8"/>
    <p:sldId id="308" r:id="rId9"/>
    <p:sldId id="310" r:id="rId10"/>
    <p:sldId id="311" r:id="rId11"/>
    <p:sldId id="299" r:id="rId12"/>
    <p:sldId id="287" r:id="rId13"/>
    <p:sldId id="301" r:id="rId14"/>
    <p:sldId id="302" r:id="rId15"/>
    <p:sldId id="303" r:id="rId16"/>
    <p:sldId id="30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9900"/>
    <a:srgbClr val="E84845"/>
    <a:srgbClr val="FAD2D2"/>
    <a:srgbClr val="F89E4C"/>
    <a:srgbClr val="A81E24"/>
    <a:srgbClr val="FFF2CC"/>
    <a:srgbClr val="CF2F33"/>
    <a:srgbClr val="BA2532"/>
    <a:srgbClr val="E3293B"/>
    <a:srgbClr val="FFFCF4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10"/>
    <p:restoredTop sz="94689"/>
  </p:normalViewPr>
  <p:slideViewPr>
    <p:cSldViewPr snapToGrid="0">
      <p:cViewPr varScale="1">
        <p:scale>
          <a:sx n="61" d="100"/>
          <a:sy n="61" d="100"/>
        </p:scale>
        <p:origin x="-760" y="-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D66ED-011C-444B-AF08-9B316B070C5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4ADD7-897F-4F47-A317-DE24AB827D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986658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E4ADD7-897F-4F47-A317-DE24AB827DD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28435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74165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31242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7891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429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33977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02458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039970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388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3651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E934FF-F4E1-47C5-9CA5-30A81DDE2BE4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12/14/2024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561BA9-CDCF-4958-B8AB-66F3BF063E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17628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="" xmlns:p14="http://schemas.microsoft.com/office/powerpoint/2010/main" val="3378929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  <a:alpha val="2074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="" xmlns:a16="http://schemas.microsoft.com/office/drawing/2014/main" id="{2F4508AD-1BA8-6D49-AD89-BB8C58C99DD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 amt="50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003452" cy="300345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ACAD2B12-09F5-6D4A-9C1D-AFF6A38F62BF}"/>
              </a:ext>
            </a:extLst>
          </p:cNvPr>
          <p:cNvSpPr/>
          <p:nvPr userDrawn="1"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2072F43C-0ACD-CF48-BDDC-4CA06CD195D7}"/>
              </a:ext>
            </a:extLst>
          </p:cNvPr>
          <p:cNvSpPr/>
          <p:nvPr userDrawn="1"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Background pattern&#10;&#10;Description automatically generated">
            <a:extLst>
              <a:ext uri="{FF2B5EF4-FFF2-40B4-BE49-F238E27FC236}">
                <a16:creationId xmlns="" xmlns:a16="http://schemas.microsoft.com/office/drawing/2014/main" id="{D4A3453C-FFE4-E949-B42B-748B5090DD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  <a:alphaModFix amt="35000"/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r="26721" b="8103"/>
          <a:stretch/>
        </p:blipFill>
        <p:spPr>
          <a:xfrm>
            <a:off x="8376334" y="4104641"/>
            <a:ext cx="3815666" cy="2707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1A8F9C9-F65C-BB4A-BF8E-4636F166836D}"/>
              </a:ext>
            </a:extLst>
          </p:cNvPr>
          <p:cNvSpPr txBox="1"/>
          <p:nvPr userDrawn="1"/>
        </p:nvSpPr>
        <p:spPr>
          <a:xfrm>
            <a:off x="1" y="6602979"/>
            <a:ext cx="21320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>
                <a:solidFill>
                  <a:schemeClr val="bg1">
                    <a:lumMod val="95000"/>
                  </a:schemeClr>
                </a:solidFill>
              </a:rPr>
              <a:t>CREATED BY K. VICTOR BABU</a:t>
            </a:r>
          </a:p>
        </p:txBody>
      </p:sp>
    </p:spTree>
    <p:extLst>
      <p:ext uri="{BB962C8B-B14F-4D97-AF65-F5344CB8AC3E}">
        <p14:creationId xmlns="" xmlns:p14="http://schemas.microsoft.com/office/powerpoint/2010/main" val="626841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8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greenteapress.com/wp/thinkpython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3schools.com/dsa/dsa_intro.php" TargetMode="External"/><Relationship Id="rId4" Type="http://schemas.openxmlformats.org/officeDocument/2006/relationships/hyperlink" Target="https://docs.python.org/3/tutorial/datastructures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74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431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 err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DaTA</a:t>
            </a: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 </a:t>
            </a:r>
            <a:r>
              <a:rPr lang="en-US" sz="32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STRUCTUREs using python</a:t>
            </a:r>
            <a:endParaRPr lang="en-US" sz="3200" b="1" cap="all" dirty="0">
              <a:ln/>
              <a:solidFill>
                <a:srgbClr val="C00000"/>
              </a:solidFill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 smtClean="0">
                <a:ln/>
                <a:solidFill>
                  <a:srgbClr val="C00000"/>
                </a:solidFill>
                <a:cs typeface="Poppins" panose="00000500000000000000" pitchFamily="2" charset="0"/>
              </a:rPr>
              <a:t>Bucket sort &amp; EXTERNAL SORTING demonstration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="" xmlns:a16="http://schemas.microsoft.com/office/drawing/2014/main" id="{B9F0C376-F4D3-1950-3474-EFF28411BDC6}"/>
              </a:ext>
            </a:extLst>
          </p:cNvPr>
          <p:cNvSpPr/>
          <p:nvPr/>
        </p:nvSpPr>
        <p:spPr>
          <a:xfrm>
            <a:off x="6233250" y="925390"/>
            <a:ext cx="4486331" cy="574765"/>
          </a:xfrm>
          <a:prstGeom prst="roundRect">
            <a:avLst/>
          </a:prstGeom>
          <a:solidFill>
            <a:schemeClr val="bg1">
              <a:alpha val="6000"/>
            </a:schemeClr>
          </a:solidFill>
          <a:ln>
            <a:solidFill>
              <a:srgbClr val="C00000"/>
            </a:solidFill>
          </a:ln>
          <a:effectLst>
            <a:innerShdw blurRad="114300">
              <a:schemeClr val="bg1">
                <a:lumMod val="8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5" name="Google Shape;475;p16"/>
          <p:cNvSpPr txBox="1"/>
          <p:nvPr/>
        </p:nvSpPr>
        <p:spPr>
          <a:xfrm>
            <a:off x="6095999" y="830715"/>
            <a:ext cx="4595447" cy="707846"/>
          </a:xfrm>
          <a:prstGeom prst="rect">
            <a:avLst/>
          </a:prstGeom>
          <a:noFill/>
          <a:ln>
            <a:noFill/>
          </a:ln>
          <a:effectLst/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dirty="0">
                <a:solidFill>
                  <a:srgbClr val="C00000"/>
                </a:solidFill>
                <a:cs typeface="Poppins" pitchFamily="2" charset="77"/>
              </a:rPr>
              <a:t>Department of BES-1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=""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</a:t>
            </a:r>
            <a:r>
              <a:rPr lang="en-US" sz="1600" dirty="0">
                <a:latin typeface="Poppins"/>
                <a:cs typeface="Poppins"/>
              </a:rPr>
              <a:t>basic concept that student should learn regarding External Sorting Algorithm and its Time complexity.</a:t>
            </a: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=""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56966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:- External Sorting Methodology	 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:- </a:t>
            </a:r>
            <a:r>
              <a:rPr lang="en-US" sz="1600" dirty="0">
                <a:latin typeface="Arial" panose="020B0604020202020204" pitchFamily="34" charset="0"/>
              </a:rPr>
              <a:t>External Sorting Algorithm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List out the :- Advantages and applications of External Sort Algorithm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/>
                <a:cs typeface="Arial"/>
              </a:rPr>
              <a:t>Describe the :- Time complexity of External Sort Algorithm</a:t>
            </a:r>
            <a:r>
              <a:rPr lang="en-US" sz="1600" dirty="0">
                <a:latin typeface="Arial"/>
                <a:cs typeface="Arial"/>
              </a:rPr>
              <a:t>.</a:t>
            </a: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=""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=""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=""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=""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=""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598" y="4765771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:- Analysis of the algorithm.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:- Time complexity.</a:t>
            </a: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Summarize:- Various Advantages and Applications  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7">
            <a:extLst>
              <a:ext uri="{FF2B5EF4-FFF2-40B4-BE49-F238E27FC236}">
                <a16:creationId xmlns="" xmlns:a16="http://schemas.microsoft.com/office/drawing/2014/main" id="{9EB8A4A0-26E8-41C7-BE65-3B55B361B40D}"/>
              </a:ext>
            </a:extLst>
          </p:cNvPr>
          <p:cNvSpPr/>
          <p:nvPr/>
        </p:nvSpPr>
        <p:spPr>
          <a:xfrm>
            <a:off x="3263704" y="84673"/>
            <a:ext cx="6639951" cy="47803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Analysis</a:t>
            </a:r>
            <a:endParaRPr lang="en-US" sz="2400" dirty="0"/>
          </a:p>
        </p:txBody>
      </p:sp>
      <p:pic>
        <p:nvPicPr>
          <p:cNvPr id="42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3" name="TextBox 52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="" xmlns:a16="http://schemas.microsoft.com/office/drawing/2014/main" id="{3EA880B8-1EF8-2E8D-0395-35004582DAC4}"/>
              </a:ext>
            </a:extLst>
          </p:cNvPr>
          <p:cNvSpPr txBox="1">
            <a:spLocks/>
          </p:cNvSpPr>
          <p:nvPr/>
        </p:nvSpPr>
        <p:spPr bwMode="auto">
          <a:xfrm>
            <a:off x="503853" y="946344"/>
            <a:ext cx="11363682" cy="5106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Sorting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applied on data set which acquire large memory which cannot be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holded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main memory (RAM) and is stored in secondary memory ( hard disk). </a:t>
            </a:r>
            <a:r>
              <a:rPr lang="en-US" sz="3200" dirty="0">
                <a:latin typeface="Arial"/>
                <a:cs typeface="Arial"/>
              </a:rPr>
              <a:t> 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merge sort uses a hybrid sort-merge technique.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chunks of data small enough to fit in the RAM are read, sorted, and written out to a temporary file during the sorting phase.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merge phase, the sorted sub-files are combined into a single larger file.</a:t>
            </a:r>
          </a:p>
          <a:p>
            <a:pPr algn="just"/>
            <a:endParaRPr lang="en-US" sz="3200" dirty="0">
              <a:latin typeface="Arial"/>
              <a:cs typeface="Arial"/>
            </a:endParaRPr>
          </a:p>
          <a:p>
            <a:pPr algn="just"/>
            <a:endParaRPr lang="en-US" sz="3200" dirty="0"/>
          </a:p>
        </p:txBody>
      </p:sp>
    </p:spTree>
    <p:extLst>
      <p:ext uri="{BB962C8B-B14F-4D97-AF65-F5344CB8AC3E}">
        <p14:creationId xmlns="" xmlns:p14="http://schemas.microsoft.com/office/powerpoint/2010/main" val="4069052342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83394" y="2835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rgbClr val="00B0F0"/>
                </a:solidFill>
                <a:latin typeface="Source Sans Pro" panose="020B0604020202020204" pitchFamily="34" charset="0"/>
              </a:rPr>
              <a:t/>
            </a:r>
            <a:br>
              <a:rPr lang="en-IN" sz="2400" b="1" dirty="0">
                <a:solidFill>
                  <a:srgbClr val="00B0F0"/>
                </a:solidFill>
                <a:latin typeface="Source Sans Pro" panose="020B0604020202020204" pitchFamily="34" charset="0"/>
              </a:rPr>
            </a:br>
            <a:endParaRPr lang="en-IN" sz="2400" b="1" dirty="0">
              <a:solidFill>
                <a:srgbClr val="00B0F0"/>
              </a:solidFill>
              <a:latin typeface="Source Sans Pro" panose="020B0604020202020204" pitchFamily="34" charset="0"/>
            </a:endParaRPr>
          </a:p>
          <a:p>
            <a:pPr algn="ctr"/>
            <a:r>
              <a:rPr lang="en-US" sz="2400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External Sort Approach</a:t>
            </a:r>
            <a:r>
              <a:rPr lang="en-IN" sz="2400" b="1" dirty="0">
                <a:solidFill>
                  <a:srgbClr val="00B0F0"/>
                </a:solidFill>
                <a:latin typeface="Source Sans Pro" panose="020B0604020202020204" pitchFamily="34" charset="0"/>
              </a:rPr>
              <a:t/>
            </a:r>
            <a:br>
              <a:rPr lang="en-IN" sz="2400" b="1" dirty="0">
                <a:solidFill>
                  <a:srgbClr val="00B0F0"/>
                </a:solidFill>
                <a:latin typeface="Source Sans Pro" panose="020B0604020202020204" pitchFamily="34" charset="0"/>
              </a:rPr>
            </a:br>
            <a:endParaRPr lang="en-US" sz="2400" dirty="0"/>
          </a:p>
          <a:p>
            <a:pPr algn="ctr"/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1D6218A7-F2B6-E188-8209-146D0FC9A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1253330"/>
            <a:ext cx="11579942" cy="4999985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idea of sorting used in external sort is quite similar to 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sort.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also possess two phases like in merge sort</a:t>
            </a:r>
          </a:p>
          <a:p>
            <a:pPr marL="0" indent="0" algn="just">
              <a:lnSpc>
                <a:spcPct val="120000"/>
              </a:lnSpc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sort phase, small memory size data sets are sorted and then in merge phase, these are combined to a single dataset.</a:t>
            </a:r>
          </a:p>
          <a:p>
            <a:pPr marL="0" indent="0"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huge data set which cannot be processed in a single go. Data is divided into small chunks. These chunks are sorted and then stored in data files.</a:t>
            </a:r>
          </a:p>
        </p:txBody>
      </p:sp>
    </p:spTree>
    <p:extLst>
      <p:ext uri="{BB962C8B-B14F-4D97-AF65-F5344CB8AC3E}">
        <p14:creationId xmlns="" xmlns:p14="http://schemas.microsoft.com/office/powerpoint/2010/main" val="3083985551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2995352" y="119840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External Sort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E854E9EA-D940-7F80-A971-127BA5E04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975" y="934065"/>
            <a:ext cx="7236542" cy="5375296"/>
          </a:xfrm>
        </p:spPr>
        <p:txBody>
          <a:bodyPr>
            <a:normAutofit/>
          </a:bodyPr>
          <a:lstStyle/>
          <a:p>
            <a:pPr marL="0" marR="155575" indent="0" algn="just">
              <a:lnSpc>
                <a:spcPct val="150000"/>
              </a:lnSpc>
              <a:spcBef>
                <a:spcPts val="5"/>
              </a:spcBef>
              <a:buSzPts val="1000"/>
              <a:buNone/>
              <a:tabLst>
                <a:tab pos="647700" algn="l"/>
                <a:tab pos="648335" algn="l"/>
              </a:tabLst>
            </a:pPr>
            <a:endParaRPr lang="en-IN" sz="2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" name="Picture 4" descr="External Sort-Merge Algorithm">
            <a:extLst>
              <a:ext uri="{FF2B5EF4-FFF2-40B4-BE49-F238E27FC236}">
                <a16:creationId xmlns="" xmlns:a16="http://schemas.microsoft.com/office/drawing/2014/main" id="{64F4FA02-28B9-19A4-3F87-581F8B8C0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931" y="1170109"/>
            <a:ext cx="8068826" cy="457754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2073355535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307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Algorithm</a:t>
            </a: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7F4170B7-C4EE-236D-BC1A-647DD62BA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9" y="1065803"/>
            <a:ext cx="8121445" cy="5384157"/>
          </a:xfrm>
        </p:spPr>
        <p:txBody>
          <a:bodyPr>
            <a:normAutofit/>
          </a:bodyPr>
          <a:lstStyle/>
          <a:p>
            <a:pPr marL="457200" indent="-457200" algn="just"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ead the input data from the file and input it as data sets of size of memory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each of these mini data sets sorted each of them using merge sort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</a:t>
            </a:r>
            <a:r>
              <a:rPr lang="en-US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sorted data into a file</a:t>
            </a:r>
            <a:r>
              <a:rPr lang="en-US" sz="2000" dirty="0"/>
              <a:t>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Merge each of the sorted data file </a:t>
            </a:r>
            <a:endParaRPr lang="en-US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ts val="1600"/>
              </a:lnSpc>
              <a:buSzPts val="1000"/>
              <a:buNone/>
              <a:tabLst>
                <a:tab pos="647700" algn="l"/>
                <a:tab pos="648335" algn="l"/>
              </a:tabLst>
            </a:pPr>
            <a:endParaRPr lang="en-IN" sz="2000" b="1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Symbol" panose="05050102010706020507" pitchFamily="18" charset="2"/>
              <a:cs typeface="Symbol" panose="05050102010706020507" pitchFamily="18" charset="2"/>
            </a:endParaRP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141647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17">
            <a:extLst>
              <a:ext uri="{FF2B5EF4-FFF2-40B4-BE49-F238E27FC236}">
                <a16:creationId xmlns="" xmlns:a16="http://schemas.microsoft.com/office/drawing/2014/main" id="{0F2E30D4-6F86-49D1-9276-85CE0E9B3E3E}"/>
              </a:ext>
            </a:extLst>
          </p:cNvPr>
          <p:cNvSpPr/>
          <p:nvPr/>
        </p:nvSpPr>
        <p:spPr>
          <a:xfrm>
            <a:off x="3121964" y="70605"/>
            <a:ext cx="6201295" cy="42879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kern="0" dirty="0">
                <a:solidFill>
                  <a:srgbClr val="00B0F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US" sz="2400" b="1" kern="0" dirty="0">
                <a:solidFill>
                  <a:srgbClr val="00B0F0"/>
                </a:solidFill>
                <a:uFill>
                  <a:solidFill>
                    <a:srgbClr val="FF0000"/>
                  </a:solidFill>
                </a:u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Example</a:t>
            </a:r>
            <a:r>
              <a:rPr lang="en-IN" sz="2400" b="1" kern="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/>
            </a:r>
            <a:br>
              <a:rPr lang="en-IN" sz="2400" b="1" kern="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2400" dirty="0"/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pic>
        <p:nvPicPr>
          <p:cNvPr id="2" name="Picture 4">
            <a:extLst>
              <a:ext uri="{FF2B5EF4-FFF2-40B4-BE49-F238E27FC236}">
                <a16:creationId xmlns="" xmlns:a16="http://schemas.microsoft.com/office/drawing/2014/main" id="{CBBCD5DD-144A-C21D-25C9-97D2AD7B82B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542" y="1299517"/>
            <a:ext cx="8209504" cy="425896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622795227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18B84F3E-0BAB-4FEE-A20F-074E440ADCC6}"/>
              </a:ext>
            </a:extLst>
          </p:cNvPr>
          <p:cNvSpPr/>
          <p:nvPr/>
        </p:nvSpPr>
        <p:spPr>
          <a:xfrm>
            <a:off x="2274963" y="94372"/>
            <a:ext cx="9147998" cy="721555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B0F0"/>
                </a:solidFill>
                <a:latin typeface="Times New Roman" pitchFamily="18" charset="0"/>
                <a:cs typeface="Times New Roman" pitchFamily="18" charset="0"/>
              </a:rPr>
              <a:t>Time Complexity</a:t>
            </a:r>
            <a:endParaRPr lang="en-US" sz="2400" dirty="0"/>
          </a:p>
        </p:txBody>
      </p:sp>
      <p:pic>
        <p:nvPicPr>
          <p:cNvPr id="31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7" name="TextBox 16"/>
          <p:cNvSpPr txBox="1"/>
          <p:nvPr/>
        </p:nvSpPr>
        <p:spPr>
          <a:xfrm>
            <a:off x="1083212" y="1252025"/>
            <a:ext cx="100865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 * log N). </a:t>
            </a: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taken for External sort is O(runs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which is equal to O(N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merge the sorted arrays the time complexity is O(N * log runs).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overall time complexity is O(N *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N * log runs).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log runs = log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*runs = log N, the result time complexity will be O(N * log N).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space: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 </a:t>
            </a:r>
            <a:r>
              <a:rPr lang="en-US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run_size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space needed to store the array.</a:t>
            </a:r>
          </a:p>
        </p:txBody>
      </p:sp>
    </p:spTree>
    <p:extLst>
      <p:ext uri="{BB962C8B-B14F-4D97-AF65-F5344CB8AC3E}">
        <p14:creationId xmlns="" xmlns:p14="http://schemas.microsoft.com/office/powerpoint/2010/main" val="1300146341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1FA19A5-9588-483E-843E-C76873B71790}"/>
              </a:ext>
            </a:extLst>
          </p:cNvPr>
          <p:cNvSpPr/>
          <p:nvPr/>
        </p:nvSpPr>
        <p:spPr>
          <a:xfrm>
            <a:off x="3530991" y="84408"/>
            <a:ext cx="6414867" cy="560109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SUMMARY</a:t>
            </a:r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18" name="TextBox 17"/>
          <p:cNvSpPr txBox="1"/>
          <p:nvPr/>
        </p:nvSpPr>
        <p:spPr>
          <a:xfrm>
            <a:off x="1083212" y="1252025"/>
            <a:ext cx="100865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88A85DA-0D63-1BAB-6E7E-76D039A64A8E}"/>
              </a:ext>
            </a:extLst>
          </p:cNvPr>
          <p:cNvSpPr txBox="1"/>
          <p:nvPr/>
        </p:nvSpPr>
        <p:spPr>
          <a:xfrm>
            <a:off x="1083212" y="1641987"/>
            <a:ext cx="1008653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External merge sort uses a hybrid sort-merge technique.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chunks of data small enough to fit in the RAM are read, sorted, and written out to a temporary file during the sorting phase. </a:t>
            </a:r>
          </a:p>
          <a:p>
            <a:pPr algn="just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merge phase, the sorted sub-files are combined into a single larger file.</a:t>
            </a:r>
          </a:p>
          <a:p>
            <a:pPr algn="just"/>
            <a:endParaRPr lang="en-US" sz="5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54978408"/>
      </p:ext>
    </p:extLst>
  </p:cSld>
  <p:clrMapOvr>
    <a:masterClrMapping/>
  </p:clrMapOvr>
  <mc:AlternateContent xmlns:mc="http://schemas.openxmlformats.org/markup-compatibility/2006">
    <mc:Choice xmlns=""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=""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1009895" y="1093156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b="1" dirty="0"/>
              <a:t>External-sort merge algorithm is called an ___ because it merges N runs.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1" name="Rounded Rectangle 17">
            <a:extLst>
              <a:ext uri="{FF2B5EF4-FFF2-40B4-BE49-F238E27FC236}">
                <a16:creationId xmlns=""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26828" y="1977905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Tx/>
              <a:buAutoNum type="alphaLcParenBoth"/>
            </a:pPr>
            <a:r>
              <a:rPr lang="en-IN" dirty="0"/>
              <a:t>One-way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Two-Way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N-Way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>
                <a:latin typeface="Arial" panose="020B0604020202020204" pitchFamily="34" charset="0"/>
              </a:rPr>
              <a:t>Null-Way</a:t>
            </a:r>
          </a:p>
          <a:p>
            <a:pPr>
              <a:lnSpc>
                <a:spcPct val="150000"/>
              </a:lnSpc>
            </a:pPr>
            <a:endParaRPr lang="en-US" sz="1600" dirty="0"/>
          </a:p>
        </p:txBody>
      </p:sp>
      <p:sp>
        <p:nvSpPr>
          <p:cNvPr id="13" name="Google Shape;502;p17">
            <a:extLst>
              <a:ext uri="{FF2B5EF4-FFF2-40B4-BE49-F238E27FC236}">
                <a16:creationId xmlns=""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1009895" y="3820343"/>
            <a:ext cx="10172210" cy="710244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lvl="0" indent="-342900">
              <a:buFont typeface="+mj-lt"/>
              <a:buAutoNum type="arabicPeriod" startAt="2"/>
            </a:pPr>
            <a:r>
              <a:rPr lang="en-IN" b="1" dirty="0"/>
              <a:t>There will either be M or more runs generated depending on the size of the ___.</a:t>
            </a:r>
            <a:endParaRPr sz="1600" dirty="0">
              <a:solidFill>
                <a:schemeClr val="bg1"/>
              </a:solidFill>
              <a:latin typeface="Poppins" panose="00000500000000000000" pitchFamily="2" charset="0"/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14" name="Rounded Rectangle 17">
            <a:extLst>
              <a:ext uri="{FF2B5EF4-FFF2-40B4-BE49-F238E27FC236}">
                <a16:creationId xmlns=""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1009895" y="4727197"/>
            <a:ext cx="2901705" cy="164582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Relation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Memory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dirty="0"/>
              <a:t>Both a and b</a:t>
            </a:r>
          </a:p>
          <a:p>
            <a:pPr marL="342900" indent="-342900">
              <a:lnSpc>
                <a:spcPct val="150000"/>
              </a:lnSpc>
              <a:buAutoNum type="alphaLcParenBoth"/>
            </a:pPr>
            <a:r>
              <a:rPr lang="en-US" sz="1600" dirty="0"/>
              <a:t>None of the above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Describe </a:t>
            </a:r>
            <a:r>
              <a:rPr lang="en-US" sz="1800" b="1" dirty="0"/>
              <a:t>External Sorting Algorithm.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b="1" dirty="0"/>
              <a:t>2. List out </a:t>
            </a:r>
            <a:r>
              <a:rPr lang="en-US" sz="1800" b="1" i="0" dirty="0">
                <a:effectLst/>
              </a:rPr>
              <a:t>Advantages and applications of External Sort Algorithm.</a:t>
            </a:r>
            <a:endParaRPr lang="en-US" b="1" dirty="0"/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3. Analyze </a:t>
            </a:r>
            <a:r>
              <a:rPr lang="en-US" sz="1800" b="1" i="0" dirty="0">
                <a:effectLst/>
                <a:cs typeface="Arial"/>
              </a:rPr>
              <a:t>Time complexity of External Sort Algorithm.</a:t>
            </a:r>
            <a:endParaRPr lang="en-US" b="1" dirty="0"/>
          </a:p>
          <a:p>
            <a:pPr marL="342900" indent="-342900">
              <a:lnSpc>
                <a:spcPct val="200000"/>
              </a:lnSpc>
            </a:pPr>
            <a:r>
              <a:rPr lang="en-US" b="1" dirty="0"/>
              <a:t>4. Summarize </a:t>
            </a:r>
            <a:r>
              <a:rPr lang="en-US" sz="1800" b="1" i="0" dirty="0">
                <a:effectLst/>
              </a:rPr>
              <a:t>External Sort Algorithm.</a:t>
            </a:r>
            <a:endParaRPr lang="en-US" b="1" dirty="0"/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=""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=""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0470" y="727365"/>
          <a:ext cx="10221711" cy="6038858"/>
        </p:xfrm>
        <a:graphic>
          <a:graphicData uri="http://schemas.openxmlformats.org/drawingml/2006/table">
            <a:tbl>
              <a:tblPr/>
              <a:tblGrid>
                <a:gridCol w="10221711"/>
              </a:tblGrid>
              <a:tr h="2056405">
                <a:tc>
                  <a:txBody>
                    <a:bodyPr/>
                    <a:lstStyle/>
                    <a:p>
                      <a:pPr marL="33020" marR="0">
                        <a:spcBef>
                          <a:spcPts val="60"/>
                        </a:spcBef>
                        <a:spcAft>
                          <a:spcPts val="0"/>
                        </a:spcAft>
                      </a:pPr>
                      <a:r>
                        <a:rPr lang="en-US" sz="1800" b="1" spc="-10" dirty="0">
                          <a:latin typeface="Times New Roman"/>
                          <a:ea typeface="Times New Roman"/>
                          <a:cs typeface="Times New Roman"/>
                        </a:rPr>
                        <a:t>Textbooks: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42900" marR="208280" lvl="0" indent="-34290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01295" algn="l"/>
                        </a:tabLs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Mark Allen Weiss, Data Structures and Algorithm Analysis in C, 2010, Second Edition, Pearson Education.</a:t>
                      </a:r>
                    </a:p>
                    <a:p>
                      <a:pPr marL="342900" marR="208280" lvl="0" indent="-34290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01295" algn="l"/>
                        </a:tabLs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Allen B. Downey, ”Think Python: How to Think Like a Computer Scientist’’, 2nd edition, Updated for Python 3,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Shroff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/O’Reilly Publishers, 2016 (</a:t>
                      </a:r>
                      <a:r>
                        <a:rPr lang="en-US" sz="1800" u="sng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3"/>
                        </a:rPr>
                        <a:t>http://greenteapress.com/wp/thinkpython/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</a:p>
                    <a:p>
                      <a:pPr marL="342900" marR="208280" lvl="0" indent="-342900">
                        <a:lnSpc>
                          <a:spcPts val="12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  <a:tabLst>
                          <a:tab pos="201295" algn="l"/>
                        </a:tabLst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Data Structures and algorithms using python, 2011,Rance D,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Necaise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himilton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printing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2867">
                <a:tc>
                  <a:txBody>
                    <a:bodyPr/>
                    <a:lstStyle/>
                    <a:p>
                      <a:pPr marL="33020" marR="0">
                        <a:spcBef>
                          <a:spcPts val="75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Reference</a:t>
                      </a:r>
                      <a:r>
                        <a:rPr lang="en-US" sz="1800" b="1" spc="-10" dirty="0" err="1">
                          <a:latin typeface="Times New Roman"/>
                          <a:ea typeface="Times New Roman"/>
                          <a:cs typeface="Times New Roman"/>
                        </a:rPr>
                        <a:t>Books</a:t>
                      </a:r>
                      <a:r>
                        <a:rPr lang="en-US" sz="1800" b="1" spc="-10" dirty="0"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42900" marR="0" lvl="0" indent="-342900">
                        <a:spcBef>
                          <a:spcPts val="75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Data Structures and Algorithm Analysis in PYTHON, 2010, Mark Allen Weiss, Second Edition, Pearson Education.</a:t>
                      </a:r>
                    </a:p>
                    <a:p>
                      <a:pPr marL="342900" marR="0" lvl="0" indent="-342900">
                        <a:spcBef>
                          <a:spcPts val="75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Data Structures and Algorithms,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A.V.Aho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J.E.Hopcroft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and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J.D.Ullman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Pearson Education, First Edition Reprint2003.</a:t>
                      </a:r>
                    </a:p>
                    <a:p>
                      <a:pPr marL="342900" marR="0" lvl="0" indent="-342900">
                        <a:spcBef>
                          <a:spcPts val="75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Advanced Guide to Python 3 Programming, John Hunt, 4</a:t>
                      </a:r>
                      <a:r>
                        <a:rPr lang="en-US" sz="1800" baseline="30000" dirty="0">
                          <a:latin typeface="Times New Roman"/>
                          <a:ea typeface="Times New Roman"/>
                          <a:cs typeface="Times New Roman"/>
                        </a:rPr>
                        <a:t>th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Edition, Springer Nature Switzerland AG 2019.</a:t>
                      </a:r>
                    </a:p>
                    <a:p>
                      <a:pPr marL="342900" marR="0" lvl="0" indent="-342900">
                        <a:spcBef>
                          <a:spcPts val="75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Python Basics: A Practice Introduction to Python 3, David Amos, Dan Bader, Joanna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Jablonski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Fletcher </a:t>
                      </a:r>
                      <a:r>
                        <a:rPr lang="en-US" sz="1800" dirty="0" err="1">
                          <a:latin typeface="Times New Roman"/>
                          <a:ea typeface="Times New Roman"/>
                          <a:cs typeface="Times New Roman"/>
                        </a:rPr>
                        <a:t>Heisler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, 4</a:t>
                      </a:r>
                      <a:r>
                        <a:rPr lang="en-US" sz="1800" baseline="30000" dirty="0">
                          <a:latin typeface="Times New Roman"/>
                          <a:ea typeface="Times New Roman"/>
                          <a:cs typeface="Times New Roman"/>
                        </a:rPr>
                        <a:t>th</a:t>
                      </a: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</a:rPr>
                        <a:t> edition, Real Python.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9586">
                <a:tc>
                  <a:txBody>
                    <a:bodyPr/>
                    <a:lstStyle/>
                    <a:p>
                      <a:pPr marL="33020" marR="0" algn="just">
                        <a:spcBef>
                          <a:spcPts val="8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 err="1">
                          <a:latin typeface="Times New Roman"/>
                          <a:ea typeface="Times New Roman"/>
                          <a:cs typeface="Times New Roman"/>
                        </a:rPr>
                        <a:t>WebLinks</a:t>
                      </a:r>
                      <a:r>
                        <a:rPr lang="en-US" sz="1800" b="1" spc="-35" dirty="0">
                          <a:latin typeface="Times New Roman"/>
                          <a:ea typeface="Times New Roman"/>
                          <a:cs typeface="Times New Roman"/>
                        </a:rPr>
                        <a:t>: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42900" marR="0" lvl="0" indent="-342900" algn="just">
                        <a:spcBef>
                          <a:spcPts val="80"/>
                        </a:spcBef>
                        <a:spcAft>
                          <a:spcPts val="0"/>
                        </a:spcAft>
                        <a:buSzPts val="1100"/>
                        <a:buFont typeface="+mj-lt"/>
                        <a:buAutoNum type="arabicPeriod"/>
                      </a:pPr>
                      <a:r>
                        <a:rPr lang="en-US" sz="1800" u="sng" spc="-10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4"/>
                        </a:rPr>
                        <a:t>https://docs.python.org/3/tutorial/datastructures.html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42900" marR="0" lvl="0" indent="-342900" algn="just">
                        <a:spcBef>
                          <a:spcPts val="80"/>
                        </a:spcBef>
                        <a:spcAft>
                          <a:spcPts val="0"/>
                        </a:spcAft>
                        <a:buSzPts val="1100"/>
                        <a:buFont typeface="+mj-lt"/>
                        <a:buAutoNum type="arabicPeriod"/>
                      </a:pPr>
                      <a:r>
                        <a:rPr lang="en-US" sz="1800" u="sng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  <a:hlinkClick r:id="rId5"/>
                        </a:rPr>
                        <a:t>https://www.w3schools.com/dsa/dsa_intro.php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marL="342900" marR="0" lvl="0" indent="-342900">
                        <a:spcBef>
                          <a:spcPts val="75"/>
                        </a:spcBef>
                        <a:spcAft>
                          <a:spcPts val="0"/>
                        </a:spcAft>
                        <a:buSzPts val="1100"/>
                        <a:buFont typeface="+mj-lt"/>
                        <a:buAutoNum type="arabicPeriod"/>
                      </a:pPr>
                      <a:r>
                        <a:rPr lang="en-US" sz="1800" u="sng" dirty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https://</a:t>
                      </a:r>
                      <a:r>
                        <a:rPr lang="en-US" sz="1800" u="sng" dirty="0" smtClean="0">
                          <a:solidFill>
                            <a:srgbClr val="0000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www.geeksforgeeks.org/python-data-structures/</a:t>
                      </a:r>
                      <a:endParaRPr lang="en-US" sz="1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9696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>
    <mc:Choice xmlns=""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=""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C01 – DATA </a:t>
            </a:r>
            <a:r>
              <a:rPr lang="en-US" sz="2400" b="1" dirty="0" smtClean="0">
                <a:latin typeface="Poppins" pitchFamily="2" charset="77"/>
                <a:cs typeface="Poppins" pitchFamily="2" charset="77"/>
              </a:rPr>
              <a:t>STRUCTURES USING   PYTHON</a:t>
            </a:r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xtreme Shadow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45058B0D91A7444BDF69F20EF097C18" ma:contentTypeVersion="14" ma:contentTypeDescription="Create a new document." ma:contentTypeScope="" ma:versionID="0ede872240208156a106060c7bf37a70">
  <xsd:schema xmlns:xsd="http://www.w3.org/2001/XMLSchema" xmlns:xs="http://www.w3.org/2001/XMLSchema" xmlns:p="http://schemas.microsoft.com/office/2006/metadata/properties" xmlns:ns3="d43ee83c-3e71-4748-8ebc-8eaadf793425" xmlns:ns4="0125a647-8023-46ae-ae6e-85cf36d841bd" targetNamespace="http://schemas.microsoft.com/office/2006/metadata/properties" ma:root="true" ma:fieldsID="e836ceb473825fb8f3d8aa266dca4abb" ns3:_="" ns4:_="">
    <xsd:import namespace="d43ee83c-3e71-4748-8ebc-8eaadf793425"/>
    <xsd:import namespace="0125a647-8023-46ae-ae6e-85cf36d841bd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3ee83c-3e71-4748-8ebc-8eaadf79342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5a647-8023-46ae-ae6e-85cf36d84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DA00F5F-5366-4B1C-9406-30DECA796A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9A6ECA-0C1B-4F00-836D-A696F073E5C2}">
  <ds:schemaRefs>
    <ds:schemaRef ds:uri="0125a647-8023-46ae-ae6e-85cf36d841bd"/>
    <ds:schemaRef ds:uri="d43ee83c-3e71-4748-8ebc-8eaadf79342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BBD0A98-E68B-4DAA-8964-2F739D6D4075}">
  <ds:schemaRefs>
    <ds:schemaRef ds:uri="0125a647-8023-46ae-ae6e-85cf36d841bd"/>
    <ds:schemaRef ds:uri="d43ee83c-3e71-4748-8ebc-8eaadf79342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323</TotalTime>
  <Words>495</Words>
  <Application>Microsoft Office PowerPoint</Application>
  <PresentationFormat>Custom</PresentationFormat>
  <Paragraphs>127</Paragraphs>
  <Slides>13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1_Office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: FUNDMENTALS OF ORGANIZATIONAL BEHAVIOUR</dc:title>
  <dc:creator>Younus Sayyad</dc:creator>
  <cp:lastModifiedBy>Administrator</cp:lastModifiedBy>
  <cp:revision>73</cp:revision>
  <dcterms:created xsi:type="dcterms:W3CDTF">2020-02-08T09:57:44Z</dcterms:created>
  <dcterms:modified xsi:type="dcterms:W3CDTF">2024-12-14T06:42:25Z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0x010100845058B0D91A7444BDF69F20EF097C18</vt:lpwstr>
  </property>
</Properties>
</file>