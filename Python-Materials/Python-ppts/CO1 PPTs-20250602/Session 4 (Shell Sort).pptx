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313" r:id="rId5"/>
    <p:sldId id="300" r:id="rId6"/>
    <p:sldId id="258" r:id="rId7"/>
    <p:sldId id="288" r:id="rId8"/>
    <p:sldId id="290" r:id="rId9"/>
    <p:sldId id="306" r:id="rId10"/>
    <p:sldId id="307" r:id="rId11"/>
    <p:sldId id="308" r:id="rId12"/>
    <p:sldId id="309" r:id="rId13"/>
    <p:sldId id="311" r:id="rId14"/>
    <p:sldId id="312" r:id="rId15"/>
    <p:sldId id="305" r:id="rId16"/>
    <p:sldId id="299" r:id="rId17"/>
    <p:sldId id="285" r:id="rId18"/>
    <p:sldId id="287" r:id="rId19"/>
    <p:sldId id="301" r:id="rId20"/>
    <p:sldId id="302" r:id="rId21"/>
    <p:sldId id="314" r:id="rId22"/>
    <p:sldId id="31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80"/>
  </p:normalViewPr>
  <p:slideViewPr>
    <p:cSldViewPr snapToGrid="0">
      <p:cViewPr varScale="1">
        <p:scale>
          <a:sx n="60" d="100"/>
          <a:sy n="60" d="100"/>
        </p:scale>
        <p:origin x="816"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2555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scholarhat.com/tutorial/datastructures/arrays-in-data-structures" TargetMode="External"/><Relationship Id="rId4" Type="http://schemas.openxmlformats.org/officeDocument/2006/relationships/hyperlink" Target="https://www.scholarhat.com/tutorial/datastructures/insertion-sort-in-data-structure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w3schools.com/dsa/dsa_intro.php" TargetMode="External"/><Relationship Id="rId7" Type="http://schemas.openxmlformats.org/officeDocument/2006/relationships/hyperlink" Target="https://www.codecademy.com/learn/learn-data-structures-and-algorithms-with-python"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6" Type="http://schemas.openxmlformats.org/officeDocument/2006/relationships/hyperlink" Target="https://www.coursera.org/learn/python-data" TargetMode="External"/><Relationship Id="rId5" Type="http://schemas.openxmlformats.org/officeDocument/2006/relationships/hyperlink" Target="https://onlinecourses.nptel.ac.in/noc25_cs59/preview" TargetMode="External"/><Relationship Id="rId4" Type="http://schemas.openxmlformats.org/officeDocument/2006/relationships/hyperlink" Target="https://www.geeksforgeeks.org/python-data-structures/"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66234"/>
            <a:ext cx="6027459" cy="6623931"/>
          </a:xfrm>
          <a:prstGeom prst="rect">
            <a:avLst/>
          </a:prstGeom>
          <a:noFill/>
          <a:ln>
            <a:noFill/>
          </a:ln>
        </p:spPr>
      </p:pic>
      <p:sp>
        <p:nvSpPr>
          <p:cNvPr id="476" name="Google Shape;476;p16"/>
          <p:cNvSpPr txBox="1"/>
          <p:nvPr/>
        </p:nvSpPr>
        <p:spPr>
          <a:xfrm>
            <a:off x="4540107" y="2543953"/>
            <a:ext cx="7605177" cy="2554505"/>
          </a:xfrm>
          <a:prstGeom prst="rect">
            <a:avLst/>
          </a:prstGeom>
          <a:noFill/>
          <a:ln>
            <a:noFill/>
          </a:ln>
        </p:spPr>
        <p:txBody>
          <a:bodyPr spcFirstLastPara="1" wrap="square" lIns="91425" tIns="45700" rIns="91425" bIns="45700" anchor="t" anchorCtr="0">
            <a:spAutoFit/>
          </a:bodyPr>
          <a:lstStyle/>
          <a:p>
            <a:pPr lvl="1" algn="ctr"/>
            <a:r>
              <a:rPr lang="en-US" sz="3200" b="1" cap="all" dirty="0" smtClean="0">
                <a:ln/>
                <a:solidFill>
                  <a:srgbClr val="C00000"/>
                </a:solidFill>
                <a:cs typeface="Poppins" panose="00000500000000000000" pitchFamily="2" charset="0"/>
                <a:sym typeface="BioRhyme ExtraBold"/>
              </a:rPr>
              <a:t>Course: </a:t>
            </a:r>
            <a:r>
              <a:rPr lang="en-US" sz="3200" b="1" dirty="0" smtClean="0">
                <a:ln/>
                <a:solidFill>
                  <a:schemeClr val="accent1">
                    <a:lumMod val="75000"/>
                  </a:schemeClr>
                </a:solidFill>
                <a:cs typeface="Poppins" panose="00000500000000000000" pitchFamily="2" charset="0"/>
                <a:sym typeface="BioRhyme ExtraBold"/>
              </a:rPr>
              <a:t>Data Structures using Python</a:t>
            </a:r>
            <a:endParaRPr lang="en-US" sz="3200" b="1" cap="all" dirty="0" smtClean="0">
              <a:ln/>
              <a:solidFill>
                <a:schemeClr val="accent1">
                  <a:lumMod val="75000"/>
                </a:schemeClr>
              </a:solidFill>
              <a:cs typeface="Poppins" panose="00000500000000000000" pitchFamily="2" charset="0"/>
              <a:sym typeface="BioRhyme ExtraBold"/>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      Course code: </a:t>
            </a:r>
            <a:r>
              <a:rPr lang="en-US" sz="3200" b="1" cap="all" dirty="0" smtClean="0">
                <a:ln/>
                <a:solidFill>
                  <a:schemeClr val="accent1">
                    <a:lumMod val="75000"/>
                  </a:schemeClr>
                </a:solidFill>
                <a:cs typeface="Poppins" panose="00000500000000000000" pitchFamily="2" charset="0"/>
                <a:sym typeface="BioRhyme ExtraBold"/>
              </a:rPr>
              <a:t>24sc1204</a:t>
            </a:r>
            <a:r>
              <a:rPr lang="en-US" sz="3200" b="1" cap="all" dirty="0" smtClean="0">
                <a:ln/>
                <a:solidFill>
                  <a:srgbClr val="C00000"/>
                </a:solidFill>
                <a:cs typeface="Poppins" panose="00000500000000000000" pitchFamily="2" charset="0"/>
                <a:sym typeface="BioRhyme ExtraBold"/>
              </a:rPr>
              <a:t> </a:t>
            </a:r>
          </a:p>
          <a:p>
            <a:pPr lvl="2" algn="ctr"/>
            <a:endParaRPr lang="en-US" sz="3200" b="1" cap="all" dirty="0" smtClean="0">
              <a:ln/>
              <a:solidFill>
                <a:srgbClr val="C00000"/>
              </a:solidFill>
              <a:cs typeface="Poppins" panose="00000500000000000000" pitchFamily="2" charset="0"/>
              <a:sym typeface="BioRhyme ExtraBold"/>
            </a:endParaRPr>
          </a:p>
          <a:p>
            <a:pPr lvl="2" algn="ctr"/>
            <a:r>
              <a:rPr lang="en-US" sz="3200" b="1" cap="all" dirty="0" smtClean="0">
                <a:ln/>
                <a:solidFill>
                  <a:srgbClr val="C00000"/>
                </a:solidFill>
                <a:cs typeface="Poppins" panose="00000500000000000000" pitchFamily="2" charset="0"/>
                <a:sym typeface="BioRhyme ExtraBold"/>
              </a:rPr>
              <a:t>Topic</a:t>
            </a:r>
            <a:r>
              <a:rPr lang="en-US" sz="3200" b="1" cap="all" dirty="0">
                <a:ln/>
                <a:solidFill>
                  <a:srgbClr val="C00000"/>
                </a:solidFill>
                <a:cs typeface="Poppins" panose="00000500000000000000" pitchFamily="2" charset="0"/>
                <a:sym typeface="BioRhyme ExtraBold"/>
              </a:rPr>
              <a:t>: </a:t>
            </a:r>
            <a:r>
              <a:rPr lang="en-US" sz="3200" b="1" dirty="0" smtClean="0">
                <a:ln/>
                <a:solidFill>
                  <a:schemeClr val="accent1">
                    <a:lumMod val="75000"/>
                  </a:schemeClr>
                </a:solidFill>
                <a:cs typeface="Poppins" panose="00000500000000000000" pitchFamily="2" charset="0"/>
                <a:sym typeface="BioRhyme ExtraBold"/>
              </a:rPr>
              <a:t>SHELL </a:t>
            </a:r>
            <a:r>
              <a:rPr lang="en-US" sz="3200" b="1" dirty="0" smtClean="0">
                <a:ln/>
                <a:solidFill>
                  <a:schemeClr val="accent1">
                    <a:lumMod val="75000"/>
                  </a:schemeClr>
                </a:solidFill>
                <a:cs typeface="Poppins" panose="00000500000000000000" pitchFamily="2" charset="0"/>
                <a:sym typeface="BioRhyme ExtraBold"/>
              </a:rPr>
              <a:t>SORT</a:t>
            </a:r>
            <a:endParaRPr lang="en-US" sz="3200" b="1" dirty="0">
              <a:solidFill>
                <a:schemeClr val="accent1">
                  <a:lumMod val="75000"/>
                </a:schemeClr>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smtClean="0">
                <a:solidFill>
                  <a:srgbClr val="C00000"/>
                </a:solidFill>
                <a:cs typeface="Poppins" pitchFamily="2" charset="77"/>
              </a:rPr>
              <a:t>DEPARTMENT </a:t>
            </a:r>
            <a:r>
              <a:rPr lang="en-US" sz="4000" dirty="0">
                <a:solidFill>
                  <a:srgbClr val="C00000"/>
                </a:solidFill>
                <a:cs typeface="Poppins" pitchFamily="2" charset="77"/>
              </a:rPr>
              <a:t>BES-1</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10" name="Rounded Rectangle 17">
            <a:extLst>
              <a:ext uri="{FF2B5EF4-FFF2-40B4-BE49-F238E27FC236}">
                <a16:creationId xmlns:a16="http://schemas.microsoft.com/office/drawing/2014/main" id="{D530E72E-233E-E443-1A84-D3CD02ECB889}"/>
              </a:ext>
            </a:extLst>
          </p:cNvPr>
          <p:cNvSpPr/>
          <p:nvPr/>
        </p:nvSpPr>
        <p:spPr>
          <a:xfrm>
            <a:off x="7303784" y="6187961"/>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Session-01</a:t>
            </a:r>
            <a:endParaRPr lang="en-US" sz="2800" dirty="0"/>
          </a:p>
        </p:txBody>
      </p:sp>
    </p:spTree>
    <p:extLst>
      <p:ext uri="{BB962C8B-B14F-4D97-AF65-F5344CB8AC3E}">
        <p14:creationId xmlns:p14="http://schemas.microsoft.com/office/powerpoint/2010/main" val="254247127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43088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a:t>
            </a:r>
            <a:r>
              <a:rPr lang="en-US" sz="1600" dirty="0">
                <a:latin typeface="Poppins"/>
                <a:cs typeface="Poppins"/>
              </a:rPr>
              <a:t> Shell Sort</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Shell sort</a:t>
            </a:r>
          </a:p>
          <a:p>
            <a:pPr marL="342900" indent="-342900">
              <a:buAutoNum type="arabicPeriod"/>
            </a:pPr>
            <a:r>
              <a:rPr lang="en-US" sz="1600" dirty="0">
                <a:latin typeface="Arial" panose="020B0604020202020204" pitchFamily="34" charset="0"/>
              </a:rPr>
              <a:t>Describe sorting technique work</a:t>
            </a:r>
          </a:p>
          <a:p>
            <a:pPr marL="342900" indent="-342900">
              <a:buAutoNum type="arabicPeriod"/>
            </a:pPr>
            <a:r>
              <a:rPr lang="en-US" sz="1600" dirty="0">
                <a:latin typeface="Arial" panose="020B0604020202020204" pitchFamily="34" charset="0"/>
              </a:rPr>
              <a:t>List out the steps of the sorting algorithm</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Define Shell Sort</a:t>
            </a:r>
          </a:p>
          <a:p>
            <a:pPr marL="342900" indent="-342900">
              <a:buAutoNum type="arabicPeriod"/>
            </a:pPr>
            <a:r>
              <a:rPr lang="en-US" sz="1600" dirty="0">
                <a:latin typeface="Arial" panose="020B0604020202020204" pitchFamily="34" charset="0"/>
              </a:rPr>
              <a:t>Describe algorithm and complexity of Shell Sort</a:t>
            </a:r>
          </a:p>
          <a:p>
            <a:pPr marL="342900" indent="-342900">
              <a:buAutoNum type="arabicPeriod"/>
            </a:pPr>
            <a:r>
              <a:rPr lang="en-US" sz="1600" dirty="0">
                <a:latin typeface="Arial" panose="020B0604020202020204" pitchFamily="34" charset="0"/>
              </a:rPr>
              <a:t>Summarize Shell Sort</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42439" y="38811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357474" y="866152"/>
            <a:ext cx="10086536" cy="3231654"/>
          </a:xfrm>
          <a:prstGeom prst="rect">
            <a:avLst/>
          </a:prstGeom>
          <a:noFill/>
        </p:spPr>
        <p:txBody>
          <a:bodyPr wrap="square" rtlCol="0">
            <a:spAutoFit/>
          </a:bodyPr>
          <a:lstStyle/>
          <a:p>
            <a:endParaRPr lang="en-US" sz="2800" dirty="0"/>
          </a:p>
          <a:p>
            <a:r>
              <a:rPr lang="en-US" sz="2400" b="0" i="0" dirty="0">
                <a:solidFill>
                  <a:srgbClr val="022144"/>
                </a:solidFill>
                <a:effectLst/>
                <a:latin typeface="Times New Roman" panose="02020603050405020304" pitchFamily="18" charset="0"/>
                <a:cs typeface="Times New Roman" panose="02020603050405020304" pitchFamily="18" charset="0"/>
              </a:rPr>
              <a:t>The Shell Sort algorithm is an extension to the </a:t>
            </a:r>
            <a:r>
              <a:rPr lang="en-US" sz="2400" b="1" i="0" u="none" strike="noStrike" dirty="0">
                <a:effectLst/>
                <a:latin typeface="Times New Roman" panose="02020603050405020304" pitchFamily="18" charset="0"/>
                <a:cs typeface="Times New Roman" panose="02020603050405020304" pitchFamily="18" charset="0"/>
                <a:hlinkClick r:id="rId4"/>
              </a:rPr>
              <a:t>insertion sort</a:t>
            </a:r>
            <a:r>
              <a:rPr lang="en-US" sz="2400" b="0" i="0" dirty="0">
                <a:solidFill>
                  <a:srgbClr val="022144"/>
                </a:solidFill>
                <a:effectLst/>
                <a:latin typeface="Times New Roman" panose="02020603050405020304" pitchFamily="18" charset="0"/>
                <a:cs typeface="Times New Roman" panose="02020603050405020304" pitchFamily="18" charset="0"/>
              </a:rPr>
              <a:t> method</a:t>
            </a:r>
            <a:r>
              <a:rPr lang="en-US" sz="2400" dirty="0">
                <a:solidFill>
                  <a:srgbClr val="022144"/>
                </a:solidFill>
                <a:latin typeface="Times New Roman" panose="02020603050405020304" pitchFamily="18" charset="0"/>
                <a:cs typeface="Times New Roman" panose="02020603050405020304" pitchFamily="18" charset="0"/>
              </a:rPr>
              <a:t>.</a:t>
            </a:r>
            <a:r>
              <a:rPr lang="en-US" sz="2400" b="0" i="0" dirty="0">
                <a:solidFill>
                  <a:srgbClr val="022144"/>
                </a:solidFill>
                <a:effectLst/>
                <a:latin typeface="Times New Roman" panose="02020603050405020304" pitchFamily="18" charset="0"/>
                <a:cs typeface="Times New Roman" panose="02020603050405020304" pitchFamily="18" charset="0"/>
              </a:rPr>
              <a:t> </a:t>
            </a:r>
          </a:p>
          <a:p>
            <a:r>
              <a:rPr lang="en-US" sz="2400" b="0" i="0" dirty="0">
                <a:solidFill>
                  <a:srgbClr val="022144"/>
                </a:solidFill>
                <a:effectLst/>
                <a:latin typeface="Times New Roman" panose="02020603050405020304" pitchFamily="18" charset="0"/>
                <a:cs typeface="Times New Roman" panose="02020603050405020304" pitchFamily="18" charset="0"/>
              </a:rPr>
              <a:t>where it sorts subsets of elements that are distant from each other rather than adjacent. Here, an </a:t>
            </a:r>
            <a:r>
              <a:rPr lang="en-US" sz="2400" b="1" i="0" u="none" strike="noStrike" dirty="0">
                <a:effectLst/>
                <a:latin typeface="Times New Roman" panose="02020603050405020304" pitchFamily="18" charset="0"/>
                <a:cs typeface="Times New Roman" panose="02020603050405020304" pitchFamily="18" charset="0"/>
                <a:hlinkClick r:id="rId5"/>
              </a:rPr>
              <a:t>array</a:t>
            </a:r>
            <a:r>
              <a:rPr lang="en-US" sz="2400" b="0" i="0" dirty="0">
                <a:solidFill>
                  <a:srgbClr val="022144"/>
                </a:solidFill>
                <a:effectLst/>
                <a:latin typeface="Times New Roman" panose="02020603050405020304" pitchFamily="18" charset="0"/>
                <a:cs typeface="Times New Roman" panose="02020603050405020304" pitchFamily="18" charset="0"/>
              </a:rPr>
              <a:t> is made h-sorted for a large value of h. The value of h is kept reducing until it becomes 1. If all </a:t>
            </a:r>
            <a:r>
              <a:rPr lang="en-US" sz="2400" b="0" i="0" dirty="0" err="1">
                <a:solidFill>
                  <a:srgbClr val="022144"/>
                </a:solidFill>
                <a:effectLst/>
                <a:latin typeface="Times New Roman" panose="02020603050405020304" pitchFamily="18" charset="0"/>
                <a:cs typeface="Times New Roman" panose="02020603050405020304" pitchFamily="18" charset="0"/>
              </a:rPr>
              <a:t>sublists</a:t>
            </a:r>
            <a:r>
              <a:rPr lang="en-US" sz="2400" b="0" i="0" dirty="0">
                <a:solidFill>
                  <a:srgbClr val="022144"/>
                </a:solidFill>
                <a:effectLst/>
                <a:latin typeface="Times New Roman" panose="02020603050405020304" pitchFamily="18" charset="0"/>
                <a:cs typeface="Times New Roman" panose="02020603050405020304" pitchFamily="18" charset="0"/>
              </a:rPr>
              <a:t> of every </a:t>
            </a:r>
            <a:r>
              <a:rPr lang="en-US" sz="2400" b="0" i="0" dirty="0" err="1">
                <a:solidFill>
                  <a:srgbClr val="022144"/>
                </a:solidFill>
                <a:effectLst/>
                <a:latin typeface="Times New Roman" panose="02020603050405020304" pitchFamily="18" charset="0"/>
                <a:cs typeface="Times New Roman" panose="02020603050405020304" pitchFamily="18" charset="0"/>
              </a:rPr>
              <a:t>h’th</a:t>
            </a:r>
            <a:r>
              <a:rPr lang="en-US" sz="2400" b="0" i="0" dirty="0">
                <a:solidFill>
                  <a:srgbClr val="022144"/>
                </a:solidFill>
                <a:effectLst/>
                <a:latin typeface="Times New Roman" panose="02020603050405020304" pitchFamily="18" charset="0"/>
                <a:cs typeface="Times New Roman" panose="02020603050405020304" pitchFamily="18" charset="0"/>
              </a:rPr>
              <a:t> element are sorted then the array is said to be h-sorted.</a:t>
            </a:r>
            <a:endParaRPr lang="en-US" sz="2400" dirty="0">
              <a:latin typeface="Times New Roman" panose="02020603050405020304" pitchFamily="18" charset="0"/>
              <a:cs typeface="Times New Roman" panose="02020603050405020304" pitchFamily="18" charset="0"/>
            </a:endParaRPr>
          </a:p>
          <a:p>
            <a:endParaRPr lang="en-US" sz="2800" dirty="0"/>
          </a:p>
          <a:p>
            <a:endParaRPr lang="en-US" sz="2800"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39483" y="984738"/>
            <a:ext cx="10227212" cy="6062172"/>
          </a:xfrm>
          <a:prstGeom prst="rect">
            <a:avLst/>
          </a:prstGeom>
          <a:noFill/>
        </p:spPr>
        <p:txBody>
          <a:bodyPr wrap="square" rtlCol="0">
            <a:spAutoFit/>
          </a:bodyPr>
          <a:lstStyle/>
          <a:p>
            <a:r>
              <a:rPr lang="en-US" sz="3200" dirty="0"/>
              <a:t>Steps Involved in Shell sort-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gn="just">
              <a:lnSpc>
                <a:spcPct val="115000"/>
              </a:lnSpc>
              <a:spcAft>
                <a:spcPts val="1000"/>
              </a:spcAft>
            </a:pPr>
            <a:r>
              <a:rPr lang="en-US" sz="2800" dirty="0">
                <a:solidFill>
                  <a:srgbClr val="51565E"/>
                </a:solidFill>
              </a:rPr>
              <a:t>Step 1 − Start</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2 − Initialize the value of gap size. Example: h</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3 − Divide the list into smaller sub-part. Each must have         		equal intervals to h</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4 − Sort these sub-lists using insertion sort</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5 – Repeat this step 2 until the list is sorted.</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6 – Print a sorted list.</a:t>
            </a:r>
            <a:endParaRPr lang="en-IN" sz="2800" dirty="0">
              <a:solidFill>
                <a:srgbClr val="51565E"/>
              </a:solidFill>
            </a:endParaRPr>
          </a:p>
          <a:p>
            <a:pPr indent="457200" algn="just">
              <a:lnSpc>
                <a:spcPct val="115000"/>
              </a:lnSpc>
              <a:spcAft>
                <a:spcPts val="1000"/>
              </a:spcAft>
            </a:pPr>
            <a:r>
              <a:rPr lang="en-US" sz="2800" dirty="0">
                <a:solidFill>
                  <a:srgbClr val="51565E"/>
                </a:solidFill>
              </a:rPr>
              <a:t>Step 7 – Stop.</a:t>
            </a:r>
            <a:endParaRPr lang="en-IN" sz="2800" dirty="0">
              <a:solidFill>
                <a:srgbClr val="51565E"/>
              </a:solidFill>
            </a:endParaRPr>
          </a:p>
          <a:p>
            <a:endParaRPr lang="en-US" sz="2000" dirty="0"/>
          </a:p>
          <a:p>
            <a:endParaRPr lang="en-US" sz="20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52732" y="889667"/>
            <a:ext cx="10086536" cy="892552"/>
          </a:xfrm>
          <a:prstGeom prst="rect">
            <a:avLst/>
          </a:prstGeom>
          <a:noFill/>
        </p:spPr>
        <p:txBody>
          <a:bodyPr wrap="square" rtlCol="0">
            <a:spAutoFit/>
          </a:bodyPr>
          <a:lstStyle/>
          <a:p>
            <a:r>
              <a:rPr lang="en-US" sz="3200" dirty="0"/>
              <a:t>Working of Shell Sort</a:t>
            </a:r>
          </a:p>
          <a:p>
            <a:r>
              <a:rPr lang="en-US" sz="2000" dirty="0"/>
              <a:t>Suppose, we need to sort the following array</a:t>
            </a:r>
          </a:p>
        </p:txBody>
      </p:sp>
      <p:sp>
        <p:nvSpPr>
          <p:cNvPr id="7" name="TextBox 6">
            <a:extLst>
              <a:ext uri="{FF2B5EF4-FFF2-40B4-BE49-F238E27FC236}">
                <a16:creationId xmlns:a16="http://schemas.microsoft.com/office/drawing/2014/main" id="{8D992DB4-E370-1E44-8995-F9A1B3BA0C76}"/>
              </a:ext>
            </a:extLst>
          </p:cNvPr>
          <p:cNvSpPr txBox="1"/>
          <p:nvPr/>
        </p:nvSpPr>
        <p:spPr>
          <a:xfrm>
            <a:off x="995362" y="3856914"/>
            <a:ext cx="9582686" cy="1069395"/>
          </a:xfrm>
          <a:prstGeom prst="rect">
            <a:avLst/>
          </a:prstGeom>
          <a:noFill/>
        </p:spPr>
        <p:txBody>
          <a:bodyPr wrap="square">
            <a:spAutoFit/>
          </a:bodyPr>
          <a:lstStyle/>
          <a:p>
            <a:pPr algn="just">
              <a:lnSpc>
                <a:spcPct val="107000"/>
              </a:lnSpc>
              <a:spcAft>
                <a:spcPts val="800"/>
              </a:spcAft>
            </a:pPr>
            <a:r>
              <a:rPr lang="en-IN" dirty="0"/>
              <a:t>We will use the original sequence of shell sort, i.e., N/2, N/4,....,1 as the intervals.</a:t>
            </a:r>
          </a:p>
          <a:p>
            <a:pPr algn="just">
              <a:lnSpc>
                <a:spcPct val="107000"/>
              </a:lnSpc>
              <a:spcAft>
                <a:spcPts val="800"/>
              </a:spcAft>
            </a:pPr>
            <a:r>
              <a:rPr lang="en-IN" dirty="0"/>
              <a:t>In the first loop, n is equal to 8 (size of the array), so the elements are lying at the interval of 4 (n/2 = 4). Elements will be compared and swapped if they are not in order.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descr="Shell Sort Algorithm">
            <a:extLst>
              <a:ext uri="{FF2B5EF4-FFF2-40B4-BE49-F238E27FC236}">
                <a16:creationId xmlns:a16="http://schemas.microsoft.com/office/drawing/2014/main" id="{453C17E7-174B-2CA4-357A-6677A38C60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2125" y="2140026"/>
            <a:ext cx="7841529" cy="861060"/>
          </a:xfrm>
          <a:prstGeom prst="rect">
            <a:avLst/>
          </a:prstGeom>
          <a:noFill/>
          <a:ln>
            <a:noFill/>
          </a:ln>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1365758"/>
          </a:xfrm>
          <a:prstGeom prst="rect">
            <a:avLst/>
          </a:prstGeom>
          <a:noFill/>
        </p:spPr>
        <p:txBody>
          <a:bodyPr wrap="square" rtlCol="0">
            <a:spAutoFit/>
          </a:bodyPr>
          <a:lstStyle/>
          <a:p>
            <a:pPr algn="just">
              <a:lnSpc>
                <a:spcPct val="107000"/>
              </a:lnSpc>
              <a:spcAft>
                <a:spcPts val="800"/>
              </a:spcAft>
            </a:pP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Here, in the first loop, the element at the 0</a:t>
            </a:r>
            <a:r>
              <a:rPr lang="en-IN" sz="1800" kern="0" baseline="30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a:t>
            </a: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position will be compared with the element at 4</a:t>
            </a:r>
            <a:r>
              <a:rPr lang="en-IN" sz="1800" kern="0" baseline="30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a:t>
            </a: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position. If the 0</a:t>
            </a:r>
            <a:r>
              <a:rPr lang="en-IN" sz="1800" kern="0" baseline="30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a:t>
            </a: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element is greater, it will be swapped with the element at 4</a:t>
            </a:r>
            <a:r>
              <a:rPr lang="en-IN" sz="1800" kern="0" baseline="30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a:t>
            </a: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position. Otherwise, it remains the same. This process will continue for the remaining elements.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the interval of 4, the </a:t>
            </a:r>
            <a:r>
              <a:rPr lang="en-IN" sz="1800" kern="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sublists</a:t>
            </a: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are {33, 12}, {31, 17}, {40, 25}, {8, 42}.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Shell Sort Algorithm">
            <a:extLst>
              <a:ext uri="{FF2B5EF4-FFF2-40B4-BE49-F238E27FC236}">
                <a16:creationId xmlns:a16="http://schemas.microsoft.com/office/drawing/2014/main" id="{2E872E35-683A-7EDE-2F17-B1694EA13E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9447" y="2617783"/>
            <a:ext cx="8278762" cy="3429056"/>
          </a:xfrm>
          <a:prstGeom prst="rect">
            <a:avLst/>
          </a:prstGeom>
          <a:noFill/>
          <a:ln>
            <a:noFill/>
          </a:ln>
        </p:spPr>
      </p:pic>
    </p:spTree>
    <p:extLst>
      <p:ext uri="{BB962C8B-B14F-4D97-AF65-F5344CB8AC3E}">
        <p14:creationId xmlns:p14="http://schemas.microsoft.com/office/powerpoint/2010/main" val="39906578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494939"/>
            <a:ext cx="10086536" cy="1200329"/>
          </a:xfrm>
          <a:prstGeom prst="rect">
            <a:avLst/>
          </a:prstGeom>
          <a:noFill/>
        </p:spPr>
        <p:txBody>
          <a:bodyPr wrap="square" rtlCol="0">
            <a:spAutoFit/>
          </a:bodyPr>
          <a:lstStyle/>
          <a:p>
            <a:endParaRPr lang="en-US" dirty="0"/>
          </a:p>
          <a:p>
            <a:r>
              <a:rPr lang="en-IN" dirty="0"/>
              <a:t>Now, we have to compare the values in every sub-list. After comparing, we have to swap them if required in the original array. After comparing and swapping, the updated array will look as follows -</a:t>
            </a:r>
          </a:p>
          <a:p>
            <a:endParaRPr lang="en-US" dirty="0"/>
          </a:p>
        </p:txBody>
      </p:sp>
      <p:pic>
        <p:nvPicPr>
          <p:cNvPr id="4" name="Picture 3" descr="Shell Sort Algorithm">
            <a:extLst>
              <a:ext uri="{FF2B5EF4-FFF2-40B4-BE49-F238E27FC236}">
                <a16:creationId xmlns:a16="http://schemas.microsoft.com/office/drawing/2014/main" id="{70D70084-5BC1-D935-D139-F34FBDD9C0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6256" y="1568799"/>
            <a:ext cx="8589460" cy="861060"/>
          </a:xfrm>
          <a:prstGeom prst="rect">
            <a:avLst/>
          </a:prstGeom>
          <a:noFill/>
          <a:ln>
            <a:noFill/>
          </a:ln>
        </p:spPr>
      </p:pic>
      <p:sp>
        <p:nvSpPr>
          <p:cNvPr id="8" name="TextBox 7">
            <a:extLst>
              <a:ext uri="{FF2B5EF4-FFF2-40B4-BE49-F238E27FC236}">
                <a16:creationId xmlns:a16="http://schemas.microsoft.com/office/drawing/2014/main" id="{426AE31A-69C5-45EE-C49E-2745FFC1D6C9}"/>
              </a:ext>
            </a:extLst>
          </p:cNvPr>
          <p:cNvSpPr txBox="1"/>
          <p:nvPr/>
        </p:nvSpPr>
        <p:spPr>
          <a:xfrm>
            <a:off x="1189703" y="2590564"/>
            <a:ext cx="9861755" cy="1069395"/>
          </a:xfrm>
          <a:prstGeom prst="rect">
            <a:avLst/>
          </a:prstGeom>
          <a:noFill/>
        </p:spPr>
        <p:txBody>
          <a:bodyPr wrap="square">
            <a:spAutoFit/>
          </a:bodyPr>
          <a:lstStyle/>
          <a:p>
            <a:pPr algn="just">
              <a:lnSpc>
                <a:spcPct val="107000"/>
              </a:lnSpc>
              <a:spcAft>
                <a:spcPts val="800"/>
              </a:spcAft>
            </a:pPr>
            <a:r>
              <a:rPr lang="en-IN" dirty="0"/>
              <a:t>In the second loop, elements are lying at the interval of 2 (n/4 = 2), where n = 8.</a:t>
            </a:r>
          </a:p>
          <a:p>
            <a:pPr algn="just">
              <a:lnSpc>
                <a:spcPct val="107000"/>
              </a:lnSpc>
              <a:spcAft>
                <a:spcPts val="800"/>
              </a:spcAft>
            </a:pPr>
            <a:r>
              <a:rPr lang="en-IN" dirty="0"/>
              <a:t>Now, we are taking the interval of 2 to sort the rest of the array. With an interval of 2, two </a:t>
            </a:r>
            <a:r>
              <a:rPr lang="en-IN" dirty="0" err="1"/>
              <a:t>sublists</a:t>
            </a:r>
            <a:r>
              <a:rPr lang="en-IN" dirty="0"/>
              <a:t> will be generated - {12, 25, 33, 40}, and {17, 8, 31, 42}.</a:t>
            </a:r>
          </a:p>
        </p:txBody>
      </p:sp>
      <p:pic>
        <p:nvPicPr>
          <p:cNvPr id="9" name="Picture 8" descr="Shell Sort Algorithm">
            <a:extLst>
              <a:ext uri="{FF2B5EF4-FFF2-40B4-BE49-F238E27FC236}">
                <a16:creationId xmlns:a16="http://schemas.microsoft.com/office/drawing/2014/main" id="{136456B4-9BC1-9E40-CBF6-E2B2F09803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33832" y="3659959"/>
            <a:ext cx="8406580" cy="2331720"/>
          </a:xfrm>
          <a:prstGeom prst="rect">
            <a:avLst/>
          </a:prstGeom>
          <a:noFill/>
          <a:ln>
            <a:noFill/>
          </a:ln>
        </p:spPr>
      </p:pic>
    </p:spTree>
    <p:extLst>
      <p:ext uri="{BB962C8B-B14F-4D97-AF65-F5344CB8AC3E}">
        <p14:creationId xmlns:p14="http://schemas.microsoft.com/office/powerpoint/2010/main" val="30517299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923330"/>
          </a:xfrm>
          <a:prstGeom prst="rect">
            <a:avLst/>
          </a:prstGeom>
          <a:noFill/>
        </p:spPr>
        <p:txBody>
          <a:bodyPr wrap="square" rtlCol="0">
            <a:spAutoFit/>
          </a:bodyPr>
          <a:lstStyle/>
          <a:p>
            <a:r>
              <a:rPr lang="en-IN" dirty="0"/>
              <a:t>Now, we again have to compare the values in every sub-list. After comparing, we have to swap them if required in the original array. After comparing and swapping, the updated array will look as follows -</a:t>
            </a:r>
          </a:p>
          <a:p>
            <a:endParaRPr lang="en-US" dirty="0"/>
          </a:p>
        </p:txBody>
      </p:sp>
      <p:sp>
        <p:nvSpPr>
          <p:cNvPr id="7" name="TextBox 6">
            <a:extLst>
              <a:ext uri="{FF2B5EF4-FFF2-40B4-BE49-F238E27FC236}">
                <a16:creationId xmlns:a16="http://schemas.microsoft.com/office/drawing/2014/main" id="{30DB76A0-89A6-D847-9B69-0C595D978F00}"/>
              </a:ext>
            </a:extLst>
          </p:cNvPr>
          <p:cNvSpPr txBox="1"/>
          <p:nvPr/>
        </p:nvSpPr>
        <p:spPr>
          <a:xfrm>
            <a:off x="1225265" y="3995399"/>
            <a:ext cx="9994691" cy="966803"/>
          </a:xfrm>
          <a:prstGeom prst="rect">
            <a:avLst/>
          </a:prstGeom>
          <a:noFill/>
        </p:spPr>
        <p:txBody>
          <a:bodyPr wrap="square">
            <a:spAutoFit/>
          </a:bodyPr>
          <a:lstStyle/>
          <a:p>
            <a:pPr algn="just">
              <a:lnSpc>
                <a:spcPct val="107000"/>
              </a:lnSpc>
              <a:spcAft>
                <a:spcPts val="800"/>
              </a:spcAft>
            </a:pPr>
            <a:r>
              <a:rPr lang="en-IN" dirty="0"/>
              <a:t>In the third loop, elements are lying at the interval of 1 (n/8 = 1), where n = 8. At last, we use the interval of value 1 to sort the rest of the array elements. In this step, shell sort uses insertion sort to sort the array elements.</a:t>
            </a:r>
          </a:p>
        </p:txBody>
      </p:sp>
      <p:pic>
        <p:nvPicPr>
          <p:cNvPr id="2" name="Picture 1" descr="Shell Sort Algorithm">
            <a:extLst>
              <a:ext uri="{FF2B5EF4-FFF2-40B4-BE49-F238E27FC236}">
                <a16:creationId xmlns:a16="http://schemas.microsoft.com/office/drawing/2014/main" id="{6E1BB85F-4D84-AA9F-82AD-B203A05A74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0227" y="2292405"/>
            <a:ext cx="8578276" cy="792480"/>
          </a:xfrm>
          <a:prstGeom prst="rect">
            <a:avLst/>
          </a:prstGeom>
          <a:noFill/>
          <a:ln>
            <a:noFill/>
          </a:ln>
        </p:spPr>
      </p:pic>
    </p:spTree>
    <p:extLst>
      <p:ext uri="{BB962C8B-B14F-4D97-AF65-F5344CB8AC3E}">
        <p14:creationId xmlns:p14="http://schemas.microsoft.com/office/powerpoint/2010/main" val="38019144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2558050" y="5883847"/>
            <a:ext cx="6182827" cy="374077"/>
          </a:xfrm>
          <a:prstGeom prst="rect">
            <a:avLst/>
          </a:prstGeom>
          <a:noFill/>
        </p:spPr>
        <p:txBody>
          <a:bodyPr wrap="square" rtlCol="0">
            <a:spAutoFit/>
          </a:bodyPr>
          <a:lstStyle/>
          <a:p>
            <a:pPr algn="just">
              <a:lnSpc>
                <a:spcPct val="107000"/>
              </a:lnSpc>
              <a:spcAft>
                <a:spcPts val="800"/>
              </a:spcAft>
            </a:pPr>
            <a:r>
              <a:rPr lang="en-IN" sz="18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Now, the array is sorted in ascending order.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descr="Shell Sort Algorithm">
            <a:extLst>
              <a:ext uri="{FF2B5EF4-FFF2-40B4-BE49-F238E27FC236}">
                <a16:creationId xmlns:a16="http://schemas.microsoft.com/office/drawing/2014/main" id="{2C151FE1-5715-88ED-FE6F-BA4EBB3644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4854" y="600076"/>
            <a:ext cx="6641998" cy="5029200"/>
          </a:xfrm>
          <a:prstGeom prst="rect">
            <a:avLst/>
          </a:prstGeom>
          <a:noFill/>
          <a:ln>
            <a:noFill/>
          </a:ln>
        </p:spPr>
      </p:pic>
    </p:spTree>
    <p:extLst>
      <p:ext uri="{BB962C8B-B14F-4D97-AF65-F5344CB8AC3E}">
        <p14:creationId xmlns:p14="http://schemas.microsoft.com/office/powerpoint/2010/main" val="37425831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52732" y="1598867"/>
            <a:ext cx="10086536" cy="3939540"/>
          </a:xfrm>
          <a:prstGeom prst="rect">
            <a:avLst/>
          </a:prstGeom>
          <a:noFill/>
        </p:spPr>
        <p:txBody>
          <a:bodyPr wrap="square" rtlCol="0">
            <a:spAutoFit/>
          </a:bodyPr>
          <a:lstStyle/>
          <a:p>
            <a:pPr marL="0" indent="0">
              <a:buNone/>
            </a:pPr>
            <a:r>
              <a:rPr lang="en-IN" sz="1800" dirty="0">
                <a:solidFill>
                  <a:schemeClr val="tx1"/>
                </a:solidFill>
              </a:rPr>
              <a:t>P</a:t>
            </a:r>
            <a:r>
              <a:rPr lang="en-IN" sz="1800" b="0" i="0" dirty="0">
                <a:solidFill>
                  <a:schemeClr val="tx1"/>
                </a:solidFill>
                <a:effectLst/>
              </a:rPr>
              <a:t>rocedure begin: Shell sort</a:t>
            </a:r>
          </a:p>
          <a:p>
            <a:pPr marL="0" indent="0">
              <a:buNone/>
            </a:pPr>
            <a:r>
              <a:rPr lang="en-IN" sz="1800" dirty="0">
                <a:solidFill>
                  <a:schemeClr val="tx1"/>
                </a:solidFill>
                <a:effectLst/>
              </a:rPr>
              <a:t>	Calculate gap size ($gap)</a:t>
            </a:r>
            <a:r>
              <a:rPr lang="en-IN" sz="1800" dirty="0">
                <a:solidFill>
                  <a:schemeClr val="tx1"/>
                </a:solidFill>
              </a:rPr>
              <a:t> </a:t>
            </a:r>
          </a:p>
          <a:p>
            <a:pPr marL="0" indent="0">
              <a:buNone/>
            </a:pPr>
            <a:r>
              <a:rPr lang="en-IN" sz="1800" dirty="0">
                <a:solidFill>
                  <a:schemeClr val="tx1"/>
                </a:solidFill>
                <a:effectLst/>
              </a:rPr>
              <a:t>	WHILE $gap is greater than 0</a:t>
            </a:r>
            <a:r>
              <a:rPr lang="en-IN" sz="1800" dirty="0">
                <a:solidFill>
                  <a:schemeClr val="tx1"/>
                </a:solidFill>
              </a:rPr>
              <a:t> </a:t>
            </a:r>
          </a:p>
          <a:p>
            <a:pPr marL="0" indent="0">
              <a:buNone/>
            </a:pPr>
            <a:r>
              <a:rPr lang="en-IN" sz="1800" dirty="0">
                <a:solidFill>
                  <a:schemeClr val="tx1"/>
                </a:solidFill>
                <a:effectLst/>
              </a:rPr>
              <a:t>		FOR each element of the list, that is $gap apart</a:t>
            </a:r>
            <a:r>
              <a:rPr lang="en-IN" sz="1800" dirty="0">
                <a:solidFill>
                  <a:schemeClr val="tx1"/>
                </a:solidFill>
              </a:rPr>
              <a:t> </a:t>
            </a:r>
          </a:p>
          <a:p>
            <a:pPr marL="0" indent="0">
              <a:buNone/>
            </a:pPr>
            <a:r>
              <a:rPr lang="en-IN" sz="1800" dirty="0">
                <a:solidFill>
                  <a:schemeClr val="tx1"/>
                </a:solidFill>
                <a:effectLst/>
              </a:rPr>
              <a:t>			Extract the current item</a:t>
            </a:r>
            <a:r>
              <a:rPr lang="en-IN" sz="1800" dirty="0">
                <a:solidFill>
                  <a:schemeClr val="tx1"/>
                </a:solidFill>
              </a:rPr>
              <a:t> </a:t>
            </a:r>
          </a:p>
          <a:p>
            <a:pPr marL="0" indent="0">
              <a:buNone/>
            </a:pPr>
            <a:r>
              <a:rPr lang="en-IN" sz="1800" dirty="0">
                <a:solidFill>
                  <a:schemeClr val="tx1"/>
                </a:solidFill>
                <a:effectLst/>
              </a:rPr>
              <a:t>			Locate the position to insert</a:t>
            </a:r>
            <a:r>
              <a:rPr lang="en-IN" sz="1800" dirty="0">
                <a:solidFill>
                  <a:schemeClr val="tx1"/>
                </a:solidFill>
              </a:rPr>
              <a:t> </a:t>
            </a:r>
          </a:p>
          <a:p>
            <a:pPr marL="0" indent="0">
              <a:buNone/>
            </a:pPr>
            <a:r>
              <a:rPr lang="en-IN" sz="1800" dirty="0">
                <a:solidFill>
                  <a:schemeClr val="tx1"/>
                </a:solidFill>
                <a:effectLst/>
              </a:rPr>
              <a:t>			Insert the item to the position</a:t>
            </a:r>
            <a:r>
              <a:rPr lang="en-IN" sz="1800" dirty="0">
                <a:solidFill>
                  <a:schemeClr val="tx1"/>
                </a:solidFill>
              </a:rPr>
              <a:t> </a:t>
            </a:r>
          </a:p>
          <a:p>
            <a:pPr marL="0" indent="0">
              <a:buNone/>
            </a:pPr>
            <a:r>
              <a:rPr lang="en-IN" sz="1800" dirty="0">
                <a:solidFill>
                  <a:schemeClr val="tx1"/>
                </a:solidFill>
                <a:effectLst/>
              </a:rPr>
              <a:t>		END FOR</a:t>
            </a:r>
            <a:r>
              <a:rPr lang="en-IN" sz="1800" dirty="0">
                <a:solidFill>
                  <a:schemeClr val="tx1"/>
                </a:solidFill>
              </a:rPr>
              <a:t> </a:t>
            </a:r>
          </a:p>
          <a:p>
            <a:pPr marL="0" indent="0">
              <a:buNone/>
            </a:pPr>
            <a:r>
              <a:rPr lang="en-IN" sz="1800" dirty="0">
                <a:solidFill>
                  <a:schemeClr val="tx1"/>
                </a:solidFill>
                <a:effectLst/>
              </a:rPr>
              <a:t>		Calculate gap size ($gap)</a:t>
            </a:r>
            <a:r>
              <a:rPr lang="en-IN" sz="1800" dirty="0">
                <a:solidFill>
                  <a:schemeClr val="tx1"/>
                </a:solidFill>
              </a:rPr>
              <a:t> </a:t>
            </a:r>
          </a:p>
          <a:p>
            <a:pPr marL="0" indent="0">
              <a:buNone/>
            </a:pPr>
            <a:r>
              <a:rPr lang="en-IN" sz="1800" dirty="0">
                <a:solidFill>
                  <a:schemeClr val="tx1"/>
                </a:solidFill>
                <a:effectLst/>
              </a:rPr>
              <a:t>	END WHILE</a:t>
            </a:r>
          </a:p>
          <a:p>
            <a:pPr marL="0" indent="0">
              <a:buNone/>
            </a:pPr>
            <a:r>
              <a:rPr lang="en-IN" sz="1800" dirty="0">
                <a:solidFill>
                  <a:schemeClr val="tx1"/>
                </a:solidFill>
              </a:rPr>
              <a:t>End procedure</a:t>
            </a:r>
          </a:p>
          <a:p>
            <a:pPr marL="0" indent="0">
              <a:buNone/>
            </a:pPr>
            <a:endParaRPr lang="en-IN" sz="1800" dirty="0">
              <a:solidFill>
                <a:schemeClr val="tx1"/>
              </a:solidFill>
            </a:endParaRPr>
          </a:p>
          <a:p>
            <a:pPr marL="0" indent="0">
              <a:buNone/>
            </a:pPr>
            <a:endParaRPr lang="en-IN" sz="1800" dirty="0">
              <a:solidFill>
                <a:schemeClr val="tx1"/>
              </a:solidFill>
            </a:endParaRPr>
          </a:p>
          <a:p>
            <a:pPr marL="0" indent="0">
              <a:buNone/>
            </a:pPr>
            <a:r>
              <a:rPr lang="en-IN" sz="1600" i="1" dirty="0">
                <a:solidFill>
                  <a:schemeClr val="tx1"/>
                </a:solidFill>
              </a:rPr>
              <a:t>Note: Initially the $gap is half of length of the array and the $gap size is recalculated by dividing the gap by 2 every time</a:t>
            </a:r>
            <a:endParaRPr lang="en-US" sz="1600" i="1" dirty="0">
              <a:solidFill>
                <a:schemeClr val="tx1"/>
              </a:solidFill>
            </a:endParaRPr>
          </a:p>
        </p:txBody>
      </p:sp>
      <p:sp>
        <p:nvSpPr>
          <p:cNvPr id="7" name="TextBox 6">
            <a:extLst>
              <a:ext uri="{FF2B5EF4-FFF2-40B4-BE49-F238E27FC236}">
                <a16:creationId xmlns:a16="http://schemas.microsoft.com/office/drawing/2014/main" id="{10AA1C48-2CDB-3947-976D-F5D85E6EA2A1}"/>
              </a:ext>
            </a:extLst>
          </p:cNvPr>
          <p:cNvSpPr txBox="1"/>
          <p:nvPr/>
        </p:nvSpPr>
        <p:spPr>
          <a:xfrm>
            <a:off x="767255" y="751521"/>
            <a:ext cx="8376745" cy="461665"/>
          </a:xfrm>
          <a:prstGeom prst="rect">
            <a:avLst/>
          </a:prstGeom>
          <a:noFill/>
        </p:spPr>
        <p:txBody>
          <a:bodyPr wrap="square">
            <a:spAutoFit/>
          </a:bodyPr>
          <a:lstStyle/>
          <a:p>
            <a:r>
              <a:rPr lang="en-US" sz="2400" dirty="0"/>
              <a:t>Shell Sort Algorithm Pseudocode</a:t>
            </a:r>
          </a:p>
        </p:txBody>
      </p:sp>
    </p:spTree>
    <p:extLst>
      <p:ext uri="{BB962C8B-B14F-4D97-AF65-F5344CB8AC3E}">
        <p14:creationId xmlns:p14="http://schemas.microsoft.com/office/powerpoint/2010/main" val="5066446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10AA1C48-2CDB-3947-976D-F5D85E6EA2A1}"/>
              </a:ext>
            </a:extLst>
          </p:cNvPr>
          <p:cNvSpPr txBox="1"/>
          <p:nvPr/>
        </p:nvSpPr>
        <p:spPr>
          <a:xfrm>
            <a:off x="963771" y="1055668"/>
            <a:ext cx="8376745" cy="461665"/>
          </a:xfrm>
          <a:prstGeom prst="rect">
            <a:avLst/>
          </a:prstGeom>
          <a:noFill/>
        </p:spPr>
        <p:txBody>
          <a:bodyPr wrap="square">
            <a:spAutoFit/>
          </a:bodyPr>
          <a:lstStyle/>
          <a:p>
            <a:r>
              <a:rPr lang="en-US" sz="2400" dirty="0"/>
              <a:t>Shell Sort Implementation:</a:t>
            </a:r>
          </a:p>
        </p:txBody>
      </p:sp>
      <p:sp>
        <p:nvSpPr>
          <p:cNvPr id="2" name="Rectangle 1"/>
          <p:cNvSpPr/>
          <p:nvPr/>
        </p:nvSpPr>
        <p:spPr>
          <a:xfrm>
            <a:off x="995362" y="1887647"/>
            <a:ext cx="10271050" cy="3970318"/>
          </a:xfrm>
          <a:prstGeom prst="rect">
            <a:avLst/>
          </a:prstGeom>
        </p:spPr>
        <p:txBody>
          <a:bodyPr wrap="square">
            <a:spAutoFit/>
          </a:bodyPr>
          <a:lstStyle/>
          <a:p>
            <a:r>
              <a:rPr lang="en-IN" dirty="0" err="1"/>
              <a:t>def</a:t>
            </a:r>
            <a:r>
              <a:rPr lang="en-IN" dirty="0"/>
              <a:t> </a:t>
            </a:r>
            <a:r>
              <a:rPr lang="en-IN" dirty="0" err="1"/>
              <a:t>shell_sort</a:t>
            </a:r>
            <a:r>
              <a:rPr lang="en-IN" dirty="0"/>
              <a:t>(</a:t>
            </a:r>
            <a:r>
              <a:rPr lang="en-IN" dirty="0" err="1"/>
              <a:t>arr</a:t>
            </a:r>
            <a:r>
              <a:rPr lang="en-IN" dirty="0" smtClean="0"/>
              <a:t>):</a:t>
            </a:r>
          </a:p>
          <a:p>
            <a:r>
              <a:rPr lang="en-IN" dirty="0" smtClean="0"/>
              <a:t>    gap = len(</a:t>
            </a:r>
            <a:r>
              <a:rPr lang="en-IN" dirty="0" err="1" smtClean="0"/>
              <a:t>arr</a:t>
            </a:r>
            <a:r>
              <a:rPr lang="en-IN" dirty="0" smtClean="0"/>
              <a:t>) // 2  </a:t>
            </a:r>
            <a:endParaRPr lang="en-IN" dirty="0"/>
          </a:p>
          <a:p>
            <a:r>
              <a:rPr lang="en-IN" dirty="0"/>
              <a:t>    while gap &gt; 0:</a:t>
            </a:r>
          </a:p>
          <a:p>
            <a:r>
              <a:rPr lang="en-IN" dirty="0"/>
              <a:t>        </a:t>
            </a:r>
            <a:r>
              <a:rPr lang="en-IN" dirty="0" smtClean="0"/>
              <a:t>for </a:t>
            </a:r>
            <a:r>
              <a:rPr lang="en-IN" dirty="0" err="1"/>
              <a:t>i</a:t>
            </a:r>
            <a:r>
              <a:rPr lang="en-IN" dirty="0"/>
              <a:t> in range(gap, len(</a:t>
            </a:r>
            <a:r>
              <a:rPr lang="en-IN" dirty="0" err="1"/>
              <a:t>arr</a:t>
            </a:r>
            <a:r>
              <a:rPr lang="en-IN" dirty="0"/>
              <a:t>)):</a:t>
            </a:r>
          </a:p>
          <a:p>
            <a:r>
              <a:rPr lang="en-IN" dirty="0"/>
              <a:t>            temp = </a:t>
            </a:r>
            <a:r>
              <a:rPr lang="en-IN" dirty="0" err="1"/>
              <a:t>arr</a:t>
            </a:r>
            <a:r>
              <a:rPr lang="en-IN" dirty="0"/>
              <a:t>[</a:t>
            </a:r>
            <a:r>
              <a:rPr lang="en-IN" dirty="0" err="1"/>
              <a:t>i</a:t>
            </a:r>
            <a:r>
              <a:rPr lang="en-IN" dirty="0"/>
              <a:t>]</a:t>
            </a:r>
          </a:p>
          <a:p>
            <a:r>
              <a:rPr lang="en-IN" dirty="0"/>
              <a:t>            j = </a:t>
            </a:r>
            <a:r>
              <a:rPr lang="en-IN" dirty="0" err="1"/>
              <a:t>i</a:t>
            </a:r>
            <a:endParaRPr lang="en-IN" dirty="0"/>
          </a:p>
          <a:p>
            <a:r>
              <a:rPr lang="en-IN" dirty="0"/>
              <a:t>            </a:t>
            </a:r>
            <a:r>
              <a:rPr lang="en-IN" dirty="0" smtClean="0"/>
              <a:t>while </a:t>
            </a:r>
            <a:r>
              <a:rPr lang="en-IN" dirty="0"/>
              <a:t>j &gt;= gap and </a:t>
            </a:r>
            <a:r>
              <a:rPr lang="en-IN" dirty="0" err="1"/>
              <a:t>arr</a:t>
            </a:r>
            <a:r>
              <a:rPr lang="en-IN" dirty="0"/>
              <a:t>[j - gap] &gt; temp:</a:t>
            </a:r>
          </a:p>
          <a:p>
            <a:r>
              <a:rPr lang="en-IN" dirty="0"/>
              <a:t>                </a:t>
            </a:r>
            <a:r>
              <a:rPr lang="en-IN" dirty="0" err="1"/>
              <a:t>arr</a:t>
            </a:r>
            <a:r>
              <a:rPr lang="en-IN" dirty="0"/>
              <a:t>[j] = </a:t>
            </a:r>
            <a:r>
              <a:rPr lang="en-IN" dirty="0" err="1"/>
              <a:t>arr</a:t>
            </a:r>
            <a:r>
              <a:rPr lang="en-IN" dirty="0"/>
              <a:t>[j - gap]</a:t>
            </a:r>
          </a:p>
          <a:p>
            <a:r>
              <a:rPr lang="en-IN" dirty="0"/>
              <a:t>                j -= gap</a:t>
            </a:r>
          </a:p>
          <a:p>
            <a:r>
              <a:rPr lang="en-IN" dirty="0"/>
              <a:t>            </a:t>
            </a:r>
            <a:r>
              <a:rPr lang="en-IN" dirty="0" err="1"/>
              <a:t>arr</a:t>
            </a:r>
            <a:r>
              <a:rPr lang="en-IN" dirty="0"/>
              <a:t>[j] = </a:t>
            </a:r>
            <a:r>
              <a:rPr lang="en-IN" dirty="0" smtClean="0"/>
              <a:t>temp       </a:t>
            </a:r>
          </a:p>
          <a:p>
            <a:r>
              <a:rPr lang="en-IN" dirty="0" smtClean="0"/>
              <a:t>        gap //= 2</a:t>
            </a:r>
          </a:p>
          <a:p>
            <a:r>
              <a:rPr lang="en-IN" dirty="0" err="1" smtClean="0"/>
              <a:t>arr</a:t>
            </a:r>
            <a:r>
              <a:rPr lang="en-IN" dirty="0" smtClean="0"/>
              <a:t> </a:t>
            </a:r>
            <a:r>
              <a:rPr lang="en-IN" dirty="0"/>
              <a:t>= [12, 34, 54, 2, 3]</a:t>
            </a:r>
          </a:p>
          <a:p>
            <a:r>
              <a:rPr lang="en-IN" dirty="0" err="1"/>
              <a:t>shell_sort</a:t>
            </a:r>
            <a:r>
              <a:rPr lang="en-IN" dirty="0"/>
              <a:t>(</a:t>
            </a:r>
            <a:r>
              <a:rPr lang="en-IN" dirty="0" err="1"/>
              <a:t>arr</a:t>
            </a:r>
            <a:r>
              <a:rPr lang="en-IN" dirty="0"/>
              <a:t>)</a:t>
            </a:r>
          </a:p>
          <a:p>
            <a:r>
              <a:rPr lang="en-IN" dirty="0"/>
              <a:t>print("Sorted array is:", </a:t>
            </a:r>
            <a:r>
              <a:rPr lang="en-IN" dirty="0" err="1"/>
              <a:t>arr</a:t>
            </a:r>
            <a:r>
              <a:rPr lang="en-IN" dirty="0"/>
              <a:t>)</a:t>
            </a:r>
          </a:p>
        </p:txBody>
      </p:sp>
    </p:spTree>
    <p:extLst>
      <p:ext uri="{BB962C8B-B14F-4D97-AF65-F5344CB8AC3E}">
        <p14:creationId xmlns:p14="http://schemas.microsoft.com/office/powerpoint/2010/main" val="828582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8A3D6A97-0282-DD4B-918D-EE382034237B}"/>
              </a:ext>
            </a:extLst>
          </p:cNvPr>
          <p:cNvSpPr txBox="1"/>
          <p:nvPr/>
        </p:nvSpPr>
        <p:spPr>
          <a:xfrm>
            <a:off x="756745" y="2405455"/>
            <a:ext cx="8387255" cy="2246769"/>
          </a:xfrm>
          <a:prstGeom prst="rect">
            <a:avLst/>
          </a:prstGeom>
          <a:noFill/>
        </p:spPr>
        <p:txBody>
          <a:bodyPr wrap="square">
            <a:spAutoFit/>
          </a:bodyPr>
          <a:lstStyle/>
          <a:p>
            <a:r>
              <a:rPr lang="en-US" sz="2000" dirty="0">
                <a:solidFill>
                  <a:schemeClr val="tx1"/>
                </a:solidFill>
              </a:rPr>
              <a:t>Complexity in the Best Case: O(n*Log n) </a:t>
            </a:r>
          </a:p>
          <a:p>
            <a:endParaRPr lang="en-US" sz="2000" dirty="0">
              <a:solidFill>
                <a:schemeClr val="tx1"/>
              </a:solidFill>
            </a:endParaRPr>
          </a:p>
          <a:p>
            <a:r>
              <a:rPr lang="en-US" sz="2000" dirty="0">
                <a:solidFill>
                  <a:schemeClr val="tx1"/>
                </a:solidFill>
              </a:rPr>
              <a:t>Complexity in the Average Case: O(n*log n) </a:t>
            </a:r>
          </a:p>
          <a:p>
            <a:endParaRPr lang="en-US" sz="2000" dirty="0">
              <a:solidFill>
                <a:schemeClr val="tx1"/>
              </a:solidFill>
            </a:endParaRPr>
          </a:p>
          <a:p>
            <a:r>
              <a:rPr lang="en-US" sz="2000" dirty="0">
                <a:solidFill>
                  <a:schemeClr val="tx1"/>
                </a:solidFill>
              </a:rPr>
              <a:t>Complexity in the Worst-Case Scenario: O (n2)</a:t>
            </a:r>
          </a:p>
          <a:p>
            <a:pPr marL="0" indent="0">
              <a:buNone/>
            </a:pPr>
            <a:r>
              <a:rPr lang="en-US" sz="2000" dirty="0">
                <a:solidFill>
                  <a:schemeClr val="tx1"/>
                </a:solidFill>
              </a:rPr>
              <a:t/>
            </a:r>
            <a:br>
              <a:rPr lang="en-US" sz="2000" dirty="0">
                <a:solidFill>
                  <a:schemeClr val="tx1"/>
                </a:solidFill>
              </a:rPr>
            </a:br>
            <a:endParaRPr lang="en-US" sz="2000" dirty="0">
              <a:solidFill>
                <a:schemeClr val="tx1"/>
              </a:solidFill>
            </a:endParaRPr>
          </a:p>
        </p:txBody>
      </p:sp>
      <p:sp>
        <p:nvSpPr>
          <p:cNvPr id="5" name="TextBox 4">
            <a:extLst>
              <a:ext uri="{FF2B5EF4-FFF2-40B4-BE49-F238E27FC236}">
                <a16:creationId xmlns:a16="http://schemas.microsoft.com/office/drawing/2014/main" id="{2C354995-6AB8-DC44-AC95-BCA579C7CB35}"/>
              </a:ext>
            </a:extLst>
          </p:cNvPr>
          <p:cNvSpPr txBox="1"/>
          <p:nvPr/>
        </p:nvSpPr>
        <p:spPr>
          <a:xfrm>
            <a:off x="756745" y="1190819"/>
            <a:ext cx="5182957" cy="523220"/>
          </a:xfrm>
          <a:prstGeom prst="rect">
            <a:avLst/>
          </a:prstGeom>
          <a:noFill/>
        </p:spPr>
        <p:txBody>
          <a:bodyPr wrap="none" rtlCol="0">
            <a:spAutoFit/>
          </a:bodyPr>
          <a:lstStyle/>
          <a:p>
            <a:r>
              <a:rPr lang="en-US" sz="2800" dirty="0"/>
              <a:t>Complexity of Shell Sort Algorithm</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3693319"/>
          </a:xfrm>
          <a:prstGeom prst="rect">
            <a:avLst/>
          </a:prstGeom>
          <a:noFill/>
        </p:spPr>
        <p:txBody>
          <a:bodyPr wrap="square" rtlCol="0">
            <a:spAutoFit/>
          </a:bodyPr>
          <a:lstStyle/>
          <a:p>
            <a:endParaRPr lang="en-US" dirty="0"/>
          </a:p>
          <a:p>
            <a:pPr algn="l" fontAlgn="base">
              <a:buFont typeface="Arial" panose="020B0604020202020204" pitchFamily="34" charset="0"/>
              <a:buChar char="•"/>
            </a:pPr>
            <a:r>
              <a:rPr lang="en-IN" sz="2400" dirty="0">
                <a:solidFill>
                  <a:srgbClr val="3C484E"/>
                </a:solidFill>
                <a:latin typeface="Times New Roman" panose="02020603050405020304" pitchFamily="18" charset="0"/>
                <a:cs typeface="Times New Roman" panose="02020603050405020304" pitchFamily="18" charset="0"/>
              </a:rPr>
              <a:t>S</a:t>
            </a:r>
            <a:r>
              <a:rPr lang="en-IN" sz="2400" b="0" i="0" dirty="0">
                <a:solidFill>
                  <a:srgbClr val="3C484E"/>
                </a:solidFill>
                <a:effectLst/>
                <a:latin typeface="Times New Roman" panose="02020603050405020304" pitchFamily="18" charset="0"/>
                <a:cs typeface="Times New Roman" panose="02020603050405020304" pitchFamily="18" charset="0"/>
              </a:rPr>
              <a:t>ince Shell sort can be implemented using little code and does not use the call stack, some implementations of the </a:t>
            </a:r>
            <a:r>
              <a:rPr lang="en-IN" sz="2400" b="0" i="0" dirty="0" err="1">
                <a:solidFill>
                  <a:srgbClr val="3C484E"/>
                </a:solidFill>
                <a:effectLst/>
                <a:latin typeface="Times New Roman" panose="02020603050405020304" pitchFamily="18" charset="0"/>
                <a:cs typeface="Times New Roman" panose="02020603050405020304" pitchFamily="18" charset="0"/>
              </a:rPr>
              <a:t>qsort</a:t>
            </a:r>
            <a:r>
              <a:rPr lang="en-IN" sz="2400" b="0" i="0" dirty="0">
                <a:solidFill>
                  <a:srgbClr val="3C484E"/>
                </a:solidFill>
                <a:effectLst/>
                <a:latin typeface="Times New Roman" panose="02020603050405020304" pitchFamily="18" charset="0"/>
                <a:cs typeface="Times New Roman" panose="02020603050405020304" pitchFamily="18" charset="0"/>
              </a:rPr>
              <a:t> function in the C standard library targeted at embedded systems use it instead of quicksort. Shell sort is, for example, used in the </a:t>
            </a:r>
            <a:r>
              <a:rPr lang="en-IN" sz="2400" b="0" i="0" dirty="0" err="1">
                <a:solidFill>
                  <a:srgbClr val="3C484E"/>
                </a:solidFill>
                <a:effectLst/>
                <a:latin typeface="Times New Roman" panose="02020603050405020304" pitchFamily="18" charset="0"/>
                <a:cs typeface="Times New Roman" panose="02020603050405020304" pitchFamily="18" charset="0"/>
              </a:rPr>
              <a:t>uClibc</a:t>
            </a:r>
            <a:r>
              <a:rPr lang="en-IN" sz="2400" b="0" i="0" dirty="0">
                <a:solidFill>
                  <a:srgbClr val="3C484E"/>
                </a:solidFill>
                <a:effectLst/>
                <a:latin typeface="Times New Roman" panose="02020603050405020304" pitchFamily="18" charset="0"/>
                <a:cs typeface="Times New Roman" panose="02020603050405020304" pitchFamily="18" charset="0"/>
              </a:rPr>
              <a:t> library. For similar reasons, an implementation of Shell sort is present in the Linux kernel.</a:t>
            </a:r>
          </a:p>
          <a:p>
            <a:pPr algn="l" fontAlgn="base">
              <a:buFont typeface="Arial" panose="020B0604020202020204" pitchFamily="34" charset="0"/>
              <a:buChar char="•"/>
            </a:pPr>
            <a:endParaRPr lang="en-IN" sz="2400" b="0" i="0" dirty="0">
              <a:solidFill>
                <a:srgbClr val="3C484E"/>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IN" sz="2400" b="0" i="0" dirty="0">
                <a:solidFill>
                  <a:srgbClr val="3C484E"/>
                </a:solidFill>
                <a:effectLst/>
                <a:latin typeface="Times New Roman" panose="02020603050405020304" pitchFamily="18" charset="0"/>
                <a:cs typeface="Times New Roman" panose="02020603050405020304" pitchFamily="18" charset="0"/>
              </a:rPr>
              <a:t>Shell sort can also serve as a sub-algorithm of introspective sort, to sort short subarrays and to prevent a slowdown when the recursion depth exceeds a given limit. This principle is employed, for instance, in the bzip2 compressor.</a:t>
            </a: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AutoShape 2" descr="Shell Sort working">
            <a:extLst>
              <a:ext uri="{FF2B5EF4-FFF2-40B4-BE49-F238E27FC236}">
                <a16:creationId xmlns:a16="http://schemas.microsoft.com/office/drawing/2014/main" id="{8D71D719-9427-AD4D-8369-7F3E423402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compare each value from the sub list and interchange">
            <a:extLst>
              <a:ext uri="{FF2B5EF4-FFF2-40B4-BE49-F238E27FC236}">
                <a16:creationId xmlns:a16="http://schemas.microsoft.com/office/drawing/2014/main" id="{6169AE6A-77F7-204C-ACFC-6EC13C90D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362" y="1270000"/>
            <a:ext cx="3771418" cy="2159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hell Sort in Data Structure 4">
            <a:extLst>
              <a:ext uri="{FF2B5EF4-FFF2-40B4-BE49-F238E27FC236}">
                <a16:creationId xmlns:a16="http://schemas.microsoft.com/office/drawing/2014/main" id="{5E176615-D1BF-F44F-A149-CEEFF38233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9808" y="1270000"/>
            <a:ext cx="4709936" cy="2006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hell Sort in Data Structure 6">
            <a:extLst>
              <a:ext uri="{FF2B5EF4-FFF2-40B4-BE49-F238E27FC236}">
                <a16:creationId xmlns:a16="http://schemas.microsoft.com/office/drawing/2014/main" id="{AE0AC1F2-148A-934B-8F10-7F9925E28A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9808" y="4615355"/>
            <a:ext cx="4709936" cy="74067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ell Sort in Data Structure 14">
            <a:extLst>
              <a:ext uri="{FF2B5EF4-FFF2-40B4-BE49-F238E27FC236}">
                <a16:creationId xmlns:a16="http://schemas.microsoft.com/office/drawing/2014/main" id="{6603BECF-E244-3841-8D9A-95FB8D5517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103" y="4615355"/>
            <a:ext cx="4709936" cy="726075"/>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a:extLst>
              <a:ext uri="{FF2B5EF4-FFF2-40B4-BE49-F238E27FC236}">
                <a16:creationId xmlns:a16="http://schemas.microsoft.com/office/drawing/2014/main" id="{4F68A978-3201-EC44-961A-270127EE8975}"/>
              </a:ext>
            </a:extLst>
          </p:cNvPr>
          <p:cNvSpPr/>
          <p:nvPr/>
        </p:nvSpPr>
        <p:spPr>
          <a:xfrm>
            <a:off x="5209763" y="1445868"/>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396DA3FC-6D36-EE4F-A0AE-5EA30E7CD3A0}"/>
              </a:ext>
            </a:extLst>
          </p:cNvPr>
          <p:cNvSpPr/>
          <p:nvPr/>
        </p:nvSpPr>
        <p:spPr>
          <a:xfrm rot="10800000">
            <a:off x="5444358" y="4781104"/>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68D4DF98-5120-8C4B-9D13-493368666AB6}"/>
              </a:ext>
            </a:extLst>
          </p:cNvPr>
          <p:cNvSpPr/>
          <p:nvPr/>
        </p:nvSpPr>
        <p:spPr>
          <a:xfrm rot="5400000">
            <a:off x="8538955" y="3688255"/>
            <a:ext cx="651642" cy="3945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2308324"/>
          </a:xfrm>
          <a:prstGeom prst="rect">
            <a:avLst/>
          </a:prstGeom>
          <a:noFill/>
        </p:spPr>
        <p:txBody>
          <a:bodyPr wrap="square" rtlCol="0">
            <a:spAutoFit/>
          </a:bodyPr>
          <a:lstStyle/>
          <a:p>
            <a:pPr algn="just"/>
            <a:r>
              <a:rPr lang="en-IN" sz="2400" dirty="0">
                <a:latin typeface="urw-din"/>
              </a:rPr>
              <a:t>Shell Sort </a:t>
            </a:r>
            <a:r>
              <a:rPr lang="en-IN" sz="2400" b="0" i="0" dirty="0">
                <a:effectLst/>
                <a:latin typeface="urw-din"/>
              </a:rPr>
              <a:t>is mainly a variation of Insertion Sort. In insertion sort, we move elements only one position ahead. When an element has to be moved far ahead, many movements are involved. The idea of Shell Sort is to allow the exchange of far items. In Shell sort, we make the array h-sorted for a large value of h. We keep reducing the value of h until it becomes 1. An array is said to be h-sorted if all </a:t>
            </a:r>
            <a:r>
              <a:rPr lang="en-IN" sz="2400" b="0" i="0" dirty="0" err="1">
                <a:effectLst/>
                <a:latin typeface="urw-din"/>
              </a:rPr>
              <a:t>sublists</a:t>
            </a:r>
            <a:r>
              <a:rPr lang="en-IN" sz="2400" b="0" i="0" dirty="0">
                <a:effectLst/>
                <a:latin typeface="urw-din"/>
              </a:rPr>
              <a:t> of every </a:t>
            </a:r>
            <a:r>
              <a:rPr lang="en-IN" sz="2400" b="0" i="0" dirty="0" err="1">
                <a:effectLst/>
                <a:latin typeface="urw-din"/>
              </a:rPr>
              <a:t>h</a:t>
            </a:r>
            <a:r>
              <a:rPr lang="en-IN" sz="2400" b="0" i="0" baseline="30000" dirty="0" err="1">
                <a:effectLst/>
                <a:latin typeface="urw-din"/>
              </a:rPr>
              <a:t>th</a:t>
            </a:r>
            <a:r>
              <a:rPr lang="en-IN" sz="2400" b="0" i="0" dirty="0">
                <a:effectLst/>
                <a:latin typeface="urw-din"/>
              </a:rPr>
              <a:t> element are sorted.</a:t>
            </a:r>
            <a:endParaRPr lang="en-US" sz="24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147547" y="1098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rPr>
              <a:t>Who invented the shell sort algorithm?</a:t>
            </a:r>
            <a:r>
              <a:rPr lang="en-IN" sz="1600" dirty="0">
                <a:solidFill>
                  <a:schemeClr val="bg1"/>
                </a:solidFill>
              </a:rPr>
              <a:t>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482110" cy="174943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John Von Neumann</a:t>
            </a:r>
            <a:endParaRPr lang="en-IN" dirty="0"/>
          </a:p>
          <a:p>
            <a:r>
              <a:rPr lang="en-US" dirty="0"/>
              <a:t>b) Donald Shell</a:t>
            </a:r>
            <a:endParaRPr lang="en-IN" dirty="0"/>
          </a:p>
          <a:p>
            <a:r>
              <a:rPr lang="en-US" dirty="0"/>
              <a:t>c) Tony Hoare</a:t>
            </a:r>
            <a:endParaRPr lang="en-IN" dirty="0"/>
          </a:p>
          <a:p>
            <a:r>
              <a:rPr lang="en-US" dirty="0"/>
              <a:t>d) Alan Shell</a:t>
            </a:r>
            <a:endParaRPr lang="en-IN"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IN" dirty="0">
                <a:solidFill>
                  <a:schemeClr val="bg1"/>
                </a:solidFill>
              </a:rPr>
              <a:t>The worst case running time of shell sort, using Shell’s increments is?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349904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O(N)</a:t>
            </a:r>
          </a:p>
          <a:p>
            <a:pPr marL="342900" indent="-342900">
              <a:lnSpc>
                <a:spcPct val="150000"/>
              </a:lnSpc>
              <a:buAutoNum type="alphaLcParenBoth"/>
            </a:pPr>
            <a:r>
              <a:rPr lang="en-IN" dirty="0"/>
              <a:t>O(N log N)</a:t>
            </a:r>
          </a:p>
          <a:p>
            <a:pPr marL="342900" indent="-342900">
              <a:lnSpc>
                <a:spcPct val="150000"/>
              </a:lnSpc>
              <a:buAutoNum type="alphaLcParenBoth"/>
            </a:pPr>
            <a:r>
              <a:rPr lang="en-IN" dirty="0"/>
              <a:t>O(log N)</a:t>
            </a:r>
          </a:p>
          <a:p>
            <a:pPr marL="342900" indent="-342900">
              <a:lnSpc>
                <a:spcPct val="150000"/>
              </a:lnSpc>
              <a:buAutoNum type="alphaLcParenBoth"/>
            </a:pPr>
            <a:r>
              <a:rPr lang="en-IN" dirty="0"/>
              <a:t>O(N</a:t>
            </a:r>
            <a:r>
              <a:rPr lang="en-IN" baseline="30000" dirty="0"/>
              <a:t>2</a:t>
            </a:r>
            <a:r>
              <a:rPr lang="en-IN" dirty="0"/>
              <a:t>)</a:t>
            </a:r>
            <a:endParaRPr lang="en-US"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308324"/>
          </a:xfrm>
          <a:prstGeom prst="rect">
            <a:avLst/>
          </a:prstGeom>
          <a:noFill/>
        </p:spPr>
        <p:txBody>
          <a:bodyPr wrap="square" rtlCol="0">
            <a:spAutoFit/>
          </a:bodyPr>
          <a:lstStyle/>
          <a:p>
            <a:pPr>
              <a:lnSpc>
                <a:spcPct val="200000"/>
              </a:lnSpc>
            </a:pPr>
            <a:r>
              <a:rPr lang="en-US" b="1" dirty="0"/>
              <a:t>1. Describe what is Shell sort</a:t>
            </a:r>
          </a:p>
          <a:p>
            <a:pPr>
              <a:lnSpc>
                <a:spcPct val="200000"/>
              </a:lnSpc>
            </a:pPr>
            <a:r>
              <a:rPr lang="en-US" b="1" dirty="0"/>
              <a:t>2. List out steps involved in Shell sort</a:t>
            </a:r>
          </a:p>
          <a:p>
            <a:pPr marL="342900" indent="-342900">
              <a:lnSpc>
                <a:spcPct val="200000"/>
              </a:lnSpc>
            </a:pPr>
            <a:r>
              <a:rPr lang="en-US" b="1" dirty="0"/>
              <a:t>3. Analyze time complexity of Shell sort</a:t>
            </a:r>
          </a:p>
          <a:p>
            <a:pPr marL="342900" indent="-342900">
              <a:lnSpc>
                <a:spcPct val="200000"/>
              </a:lnSpc>
            </a:pPr>
            <a:r>
              <a:rPr lang="en-US" b="1" dirty="0"/>
              <a:t>4. Summarize the working principle of Shell sort</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747932" y="628740"/>
            <a:ext cx="11596468" cy="7155805"/>
          </a:xfrm>
          <a:prstGeom prst="rect">
            <a:avLst/>
          </a:prstGeom>
          <a:noFill/>
        </p:spPr>
        <p:txBody>
          <a:bodyPr wrap="square" rtlCol="0">
            <a:spAutoFit/>
          </a:bodyPr>
          <a:lstStyle/>
          <a:p>
            <a:pPr>
              <a:lnSpc>
                <a:spcPct val="150000"/>
              </a:lnSpc>
            </a:pPr>
            <a:r>
              <a:rPr lang="en-US" b="1" dirty="0"/>
              <a:t>Reference Books</a:t>
            </a:r>
            <a:r>
              <a:rPr lang="en-US" b="1" dirty="0" smtClean="0"/>
              <a:t>:</a:t>
            </a:r>
          </a:p>
          <a:p>
            <a:pPr>
              <a:lnSpc>
                <a:spcPct val="150000"/>
              </a:lnSpc>
            </a:pPr>
            <a:endParaRPr lang="en-US" b="1" dirty="0" smtClean="0"/>
          </a:p>
          <a:p>
            <a:pPr>
              <a:lnSpc>
                <a:spcPct val="150000"/>
              </a:lnSpc>
            </a:pPr>
            <a:endParaRPr lang="en-US" dirty="0" smtClean="0"/>
          </a:p>
          <a:p>
            <a:pPr>
              <a:lnSpc>
                <a:spcPct val="150000"/>
              </a:lnSpc>
            </a:pPr>
            <a:endParaRPr lang="en-US" dirty="0"/>
          </a:p>
          <a:p>
            <a:pPr>
              <a:lnSpc>
                <a:spcPct val="150000"/>
              </a:lnSpc>
            </a:pPr>
            <a:endParaRPr lang="en-US" dirty="0" smtClean="0"/>
          </a:p>
          <a:p>
            <a:pPr>
              <a:lnSpc>
                <a:spcPct val="150000"/>
              </a:lnSpc>
            </a:pPr>
            <a:endParaRPr lang="en-US" dirty="0"/>
          </a:p>
          <a:p>
            <a:pPr>
              <a:lnSpc>
                <a:spcPct val="150000"/>
              </a:lnSpc>
            </a:pPr>
            <a:r>
              <a:rPr lang="en-US" b="1" dirty="0" smtClean="0"/>
              <a:t>Sites </a:t>
            </a:r>
            <a:r>
              <a:rPr lang="en-US" b="1" dirty="0"/>
              <a:t>and Web links:</a:t>
            </a:r>
          </a:p>
          <a:p>
            <a:pPr marL="800100" lvl="1" indent="-342900">
              <a:lnSpc>
                <a:spcPct val="150000"/>
              </a:lnSpc>
              <a:buAutoNum type="arabicPeriod"/>
            </a:pPr>
            <a:r>
              <a:rPr lang="en-US" dirty="0" smtClean="0">
                <a:hlinkClick r:id="rId2"/>
              </a:rPr>
              <a:t>https</a:t>
            </a:r>
            <a:r>
              <a:rPr lang="en-US" dirty="0">
                <a:hlinkClick r:id="rId2"/>
              </a:rPr>
              <a:t>://</a:t>
            </a:r>
            <a:r>
              <a:rPr lang="en-US" dirty="0" smtClean="0">
                <a:hlinkClick r:id="rId2"/>
              </a:rPr>
              <a:t>docs.python.org/3/tutorial/datastructures.html</a:t>
            </a:r>
            <a:endParaRPr lang="en-US" dirty="0" smtClean="0"/>
          </a:p>
          <a:p>
            <a:pPr marL="800100" lvl="1" indent="-342900">
              <a:lnSpc>
                <a:spcPct val="150000"/>
              </a:lnSpc>
              <a:buAutoNum type="arabicPeriod"/>
            </a:pPr>
            <a:r>
              <a:rPr lang="en-US" dirty="0" smtClean="0">
                <a:hlinkClick r:id="rId3"/>
              </a:rPr>
              <a:t>https</a:t>
            </a:r>
            <a:r>
              <a:rPr lang="en-US" dirty="0">
                <a:hlinkClick r:id="rId3"/>
              </a:rPr>
              <a:t>://</a:t>
            </a:r>
            <a:r>
              <a:rPr lang="en-US" dirty="0" smtClean="0">
                <a:hlinkClick r:id="rId3"/>
              </a:rPr>
              <a:t>www.w3schools.com/dsa/dsa_intro.php</a:t>
            </a:r>
            <a:endParaRPr lang="en-US" dirty="0"/>
          </a:p>
          <a:p>
            <a:pPr marL="800100" lvl="1" indent="-342900">
              <a:lnSpc>
                <a:spcPct val="150000"/>
              </a:lnSpc>
              <a:buAutoNum type="arabicPeriod" startAt="3"/>
            </a:pPr>
            <a:r>
              <a:rPr lang="en-US" dirty="0" smtClean="0">
                <a:hlinkClick r:id="rId4"/>
              </a:rPr>
              <a:t>https</a:t>
            </a:r>
            <a:r>
              <a:rPr lang="en-US" dirty="0">
                <a:hlinkClick r:id="rId4"/>
              </a:rPr>
              <a:t>://</a:t>
            </a:r>
            <a:r>
              <a:rPr lang="en-US" dirty="0" smtClean="0">
                <a:hlinkClick r:id="rId4"/>
              </a:rPr>
              <a:t>www.geeksforgeeks.org/python-data-structures/</a:t>
            </a:r>
            <a:endParaRPr lang="en-US" dirty="0" smtClean="0"/>
          </a:p>
          <a:p>
            <a:pPr marL="800100" lvl="1" indent="-342900">
              <a:lnSpc>
                <a:spcPct val="150000"/>
              </a:lnSpc>
              <a:buAutoNum type="arabicPeriod" startAt="3"/>
            </a:pPr>
            <a:r>
              <a:rPr lang="en-US" dirty="0" smtClean="0">
                <a:hlinkClick r:id="rId5"/>
              </a:rPr>
              <a:t>https</a:t>
            </a:r>
            <a:r>
              <a:rPr lang="en-US" dirty="0">
                <a:hlinkClick r:id="rId5"/>
              </a:rPr>
              <a:t>://</a:t>
            </a:r>
            <a:r>
              <a:rPr lang="en-US" dirty="0" smtClean="0">
                <a:hlinkClick r:id="rId5"/>
              </a:rPr>
              <a:t>onlinecourses.nptel.ac.in/noc25_cs59/preview</a:t>
            </a:r>
            <a:endParaRPr lang="en-US" dirty="0" smtClean="0"/>
          </a:p>
          <a:p>
            <a:pPr marL="800100" lvl="1" indent="-342900">
              <a:lnSpc>
                <a:spcPct val="150000"/>
              </a:lnSpc>
              <a:buAutoNum type="arabicPeriod" startAt="3"/>
            </a:pPr>
            <a:r>
              <a:rPr lang="en-US" dirty="0" smtClean="0">
                <a:hlinkClick r:id="rId6"/>
              </a:rPr>
              <a:t>https</a:t>
            </a:r>
            <a:r>
              <a:rPr lang="en-US" dirty="0">
                <a:hlinkClick r:id="rId6"/>
              </a:rPr>
              <a:t>://</a:t>
            </a:r>
            <a:r>
              <a:rPr lang="en-US" dirty="0" smtClean="0">
                <a:hlinkClick r:id="rId6"/>
              </a:rPr>
              <a:t>www.coursera.org/learn/python-data</a:t>
            </a:r>
            <a:endParaRPr lang="en-US" dirty="0" smtClean="0"/>
          </a:p>
          <a:p>
            <a:pPr marL="800100" lvl="1" indent="-342900">
              <a:lnSpc>
                <a:spcPct val="150000"/>
              </a:lnSpc>
              <a:buAutoNum type="arabicPeriod" startAt="3"/>
            </a:pPr>
            <a:r>
              <a:rPr lang="en-US" dirty="0" smtClean="0">
                <a:hlinkClick r:id="rId7"/>
              </a:rPr>
              <a:t>https</a:t>
            </a:r>
            <a:r>
              <a:rPr lang="en-US" dirty="0">
                <a:hlinkClick r:id="rId7"/>
              </a:rPr>
              <a:t>://</a:t>
            </a:r>
            <a:r>
              <a:rPr lang="en-US" dirty="0" smtClean="0">
                <a:hlinkClick r:id="rId7"/>
              </a:rPr>
              <a:t>www.codecademy.com/learn/learn-data-structures-and-algorithms-with-python</a:t>
            </a:r>
            <a:endParaRPr lang="en-US" dirty="0" smtClean="0"/>
          </a:p>
          <a:p>
            <a:pPr lvl="1">
              <a:lnSpc>
                <a:spcPct val="150000"/>
              </a:lnSpc>
            </a:pPr>
            <a:endParaRPr lang="en-US" dirty="0"/>
          </a:p>
          <a:p>
            <a:pPr lvl="1">
              <a:lnSpc>
                <a:spcPct val="150000"/>
              </a:lnSpc>
            </a:pPr>
            <a:endParaRPr lang="en-US" dirty="0"/>
          </a:p>
          <a:p>
            <a:pPr lvl="1">
              <a:lnSpc>
                <a:spcPct val="150000"/>
              </a:lnSpc>
            </a:pP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
        <p:nvSpPr>
          <p:cNvPr id="6" name="Footer Placeholder 4">
            <a:extLst>
              <a:ext uri="{FF2B5EF4-FFF2-40B4-BE49-F238E27FC236}">
                <a16:creationId xmlns:a16="http://schemas.microsoft.com/office/drawing/2014/main" id="{C59A143E-7875-43E7-97E0-3557B9071E49}"/>
              </a:ext>
            </a:extLst>
          </p:cNvPr>
          <p:cNvSpPr>
            <a:spLocks noGrp="1"/>
          </p:cNvSpPr>
          <p:nvPr>
            <p:ph type="ftr" sz="quarter" idx="11"/>
          </p:nvPr>
        </p:nvSpPr>
        <p:spPr>
          <a:xfrm>
            <a:off x="272868" y="6458858"/>
            <a:ext cx="11797211" cy="399142"/>
          </a:xfrm>
        </p:spPr>
        <p:txBody>
          <a:bodyPr/>
          <a:lstStyle/>
          <a:p>
            <a:pPr algn="l">
              <a:defRPr/>
            </a:pPr>
            <a:r>
              <a:rPr lang="en-US" sz="2000" b="1" dirty="0">
                <a:solidFill>
                  <a:srgbClr val="002060"/>
                </a:solidFill>
                <a:latin typeface="Times New Roman" pitchFamily="18" charset="0"/>
                <a:cs typeface="Times New Roman" pitchFamily="18" charset="0"/>
              </a:rPr>
              <a:t>KLEF                                           </a:t>
            </a:r>
            <a:r>
              <a:rPr lang="en-US" sz="2000" b="1" dirty="0" smtClean="0">
                <a:solidFill>
                  <a:srgbClr val="002060"/>
                </a:solidFill>
                <a:latin typeface="Times New Roman" pitchFamily="18" charset="0"/>
                <a:cs typeface="Times New Roman" pitchFamily="18" charset="0"/>
              </a:rPr>
              <a:t>			DSP           				      BES-1</a:t>
            </a:r>
            <a:endParaRPr lang="en-US" sz="2000" b="1" dirty="0">
              <a:solidFill>
                <a:srgbClr val="002060"/>
              </a:solidFill>
              <a:latin typeface="Times New Roman" pitchFamily="18" charset="0"/>
              <a:cs typeface="Times New Roman" pitchFamily="18" charset="0"/>
            </a:endParaRPr>
          </a:p>
        </p:txBody>
      </p:sp>
      <p:sp>
        <p:nvSpPr>
          <p:cNvPr id="8" name="Rectangle 7"/>
          <p:cNvSpPr/>
          <p:nvPr/>
        </p:nvSpPr>
        <p:spPr>
          <a:xfrm>
            <a:off x="935665" y="1241013"/>
            <a:ext cx="11134414" cy="1779974"/>
          </a:xfrm>
          <a:prstGeom prst="rect">
            <a:avLst/>
          </a:prstGeom>
        </p:spPr>
        <p:txBody>
          <a:bodyPr wrap="square">
            <a:spAutoFit/>
          </a:bodyPr>
          <a:lstStyle/>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dirty="0">
              <a:latin typeface="Times New Roman" panose="02020603050405020304" pitchFamily="18" charset="0"/>
              <a:ea typeface="Times New Roman" panose="02020603050405020304" pitchFamily="18" charset="0"/>
            </a:endParaRPr>
          </a:p>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Data Structures and Algorithms, </a:t>
            </a:r>
            <a:r>
              <a:rPr lang="en-US" dirty="0" err="1">
                <a:latin typeface="Times New Roman" panose="02020603050405020304" pitchFamily="18" charset="0"/>
                <a:ea typeface="Times New Roman" panose="02020603050405020304" pitchFamily="18" charset="0"/>
              </a:rPr>
              <a:t>A.V.Aho</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J.E.Hopcroft</a:t>
            </a:r>
            <a:r>
              <a:rPr lang="en-US" dirty="0">
                <a:latin typeface="Times New Roman" panose="02020603050405020304" pitchFamily="18" charset="0"/>
                <a:ea typeface="Times New Roman" panose="02020603050405020304" pitchFamily="18" charset="0"/>
              </a:rPr>
              <a:t>, and </a:t>
            </a:r>
            <a:r>
              <a:rPr lang="en-US" dirty="0" err="1">
                <a:latin typeface="Times New Roman" panose="02020603050405020304" pitchFamily="18" charset="0"/>
                <a:ea typeface="Times New Roman" panose="02020603050405020304" pitchFamily="18" charset="0"/>
              </a:rPr>
              <a:t>J.D.Ullman</a:t>
            </a:r>
            <a:r>
              <a:rPr lang="en-US" dirty="0">
                <a:latin typeface="Times New Roman" panose="02020603050405020304" pitchFamily="18" charset="0"/>
                <a:ea typeface="Times New Roman" panose="02020603050405020304" pitchFamily="18" charset="0"/>
              </a:rPr>
              <a:t>, Pearson Education, First Edition Reprint2003.</a:t>
            </a:r>
            <a:endParaRPr lang="en-IN" dirty="0">
              <a:latin typeface="Times New Roman" panose="02020603050405020304" pitchFamily="18" charset="0"/>
              <a:ea typeface="Times New Roman" panose="02020603050405020304" pitchFamily="18" charset="0"/>
            </a:endParaRPr>
          </a:p>
          <a:p>
            <a:pPr marL="342900" lvl="0" indent="-342900">
              <a:spcBef>
                <a:spcPts val="75"/>
              </a:spcBef>
              <a:spcAft>
                <a:spcPts val="0"/>
              </a:spcAft>
              <a:buFont typeface="+mj-lt"/>
              <a:buAutoNum type="arabicPeriod"/>
            </a:pPr>
            <a:r>
              <a:rPr lang="en-US" dirty="0">
                <a:latin typeface="Times New Roman" panose="02020603050405020304" pitchFamily="18" charset="0"/>
                <a:ea typeface="Times New Roman" panose="02020603050405020304" pitchFamily="18" charset="0"/>
              </a:rPr>
              <a:t>Advanced Guide to Python 3 Programming, John Hunt, 4</a:t>
            </a:r>
            <a:r>
              <a:rPr lang="en-US" baseline="30000" dirty="0">
                <a:latin typeface="Times New Roman" panose="02020603050405020304" pitchFamily="18" charset="0"/>
                <a:ea typeface="Times New Roman" panose="02020603050405020304" pitchFamily="18" charset="0"/>
              </a:rPr>
              <a:t>th</a:t>
            </a:r>
            <a:r>
              <a:rPr lang="en-US" dirty="0">
                <a:latin typeface="Times New Roman" panose="02020603050405020304" pitchFamily="18" charset="0"/>
                <a:ea typeface="Times New Roman" panose="02020603050405020304" pitchFamily="18" charset="0"/>
              </a:rPr>
              <a:t> Edition, Springer Nature Switzerland AG 2019.</a:t>
            </a:r>
            <a:endParaRPr lang="en-IN" dirty="0">
              <a:latin typeface="Times New Roman" panose="02020603050405020304" pitchFamily="18" charset="0"/>
              <a:ea typeface="Times New Roman" panose="02020603050405020304" pitchFamily="18" charset="0"/>
            </a:endParaRPr>
          </a:p>
          <a:p>
            <a:pPr marL="342900" indent="-342900" algn="just">
              <a:buFont typeface="+mj-lt"/>
              <a:buAutoNum type="arabicPeriod"/>
            </a:pPr>
            <a:r>
              <a:rPr lang="en-US" dirty="0" smtClean="0">
                <a:latin typeface="Calibri" panose="020F0502020204030204" pitchFamily="34" charset="0"/>
                <a:ea typeface="Calibri" panose="020F0502020204030204" pitchFamily="34" charset="0"/>
                <a:cs typeface="Times New Roman" panose="02020603050405020304" pitchFamily="18" charset="0"/>
              </a:rPr>
              <a:t>Python </a:t>
            </a:r>
            <a:r>
              <a:rPr lang="en-US" dirty="0">
                <a:latin typeface="Calibri" panose="020F0502020204030204" pitchFamily="34" charset="0"/>
                <a:ea typeface="Calibri" panose="020F0502020204030204" pitchFamily="34" charset="0"/>
                <a:cs typeface="Times New Roman" panose="02020603050405020304" pitchFamily="18" charset="0"/>
              </a:rPr>
              <a:t>Basics: A Practice Introduction to Python 3, David Amos, Dan Bader, </a:t>
            </a:r>
            <a:r>
              <a:rPr lang="en-US" dirty="0" smtClean="0">
                <a:latin typeface="Calibri" panose="020F0502020204030204" pitchFamily="34" charset="0"/>
                <a:ea typeface="Calibri" panose="020F0502020204030204" pitchFamily="34" charset="0"/>
                <a:cs typeface="Times New Roman" panose="02020603050405020304" pitchFamily="18" charset="0"/>
              </a:rPr>
              <a:t>Joanna Jablonski</a:t>
            </a:r>
            <a:r>
              <a:rPr lang="en-US" dirty="0">
                <a:latin typeface="Calibri" panose="020F0502020204030204" pitchFamily="34" charset="0"/>
                <a:ea typeface="Calibri" panose="020F0502020204030204" pitchFamily="34" charset="0"/>
                <a:cs typeface="Times New Roman" panose="02020603050405020304" pitchFamily="18" charset="0"/>
              </a:rPr>
              <a:t>, Fletcher </a:t>
            </a:r>
            <a:r>
              <a:rPr lang="en-US" dirty="0" err="1" smtClean="0">
                <a:latin typeface="Calibri" panose="020F0502020204030204" pitchFamily="34" charset="0"/>
                <a:ea typeface="Calibri" panose="020F0502020204030204" pitchFamily="34" charset="0"/>
                <a:cs typeface="Times New Roman" panose="02020603050405020304" pitchFamily="18" charset="0"/>
              </a:rPr>
              <a:t>Heisler</a:t>
            </a:r>
            <a:r>
              <a:rPr lang="en-US" dirty="0">
                <a:latin typeface="Calibri" panose="020F0502020204030204" pitchFamily="34" charset="0"/>
                <a:ea typeface="Calibri" panose="020F0502020204030204" pitchFamily="34" charset="0"/>
                <a:cs typeface="Times New Roman" panose="02020603050405020304" pitchFamily="18" charset="0"/>
              </a:rPr>
              <a:t>, 4</a:t>
            </a:r>
            <a:r>
              <a:rPr lang="en-US" baseline="30000" dirty="0">
                <a:latin typeface="Calibri" panose="020F0502020204030204" pitchFamily="34" charset="0"/>
                <a:ea typeface="Calibri" panose="020F0502020204030204" pitchFamily="34" charset="0"/>
                <a:cs typeface="Times New Roman" panose="02020603050405020304" pitchFamily="18" charset="0"/>
              </a:rPr>
              <a:t>th</a:t>
            </a: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smtClean="0">
                <a:latin typeface="Calibri" panose="020F0502020204030204" pitchFamily="34" charset="0"/>
                <a:ea typeface="Calibri" panose="020F0502020204030204" pitchFamily="34" charset="0"/>
                <a:cs typeface="Times New Roman" panose="02020603050405020304" pitchFamily="18" charset="0"/>
              </a:rPr>
              <a:t>                            edition</a:t>
            </a:r>
            <a:r>
              <a:rPr lang="en-US" dirty="0">
                <a:latin typeface="Calibri" panose="020F0502020204030204" pitchFamily="34" charset="0"/>
                <a:ea typeface="Calibri" panose="020F0502020204030204" pitchFamily="34" charset="0"/>
                <a:cs typeface="Times New Roman" panose="02020603050405020304" pitchFamily="18" charset="0"/>
              </a:rPr>
              <a:t>, Real Python.</a:t>
            </a:r>
            <a:endParaRPr lang="en-IN" dirty="0"/>
          </a:p>
        </p:txBody>
      </p:sp>
    </p:spTree>
    <p:extLst>
      <p:ext uri="{BB962C8B-B14F-4D97-AF65-F5344CB8AC3E}">
        <p14:creationId xmlns:p14="http://schemas.microsoft.com/office/powerpoint/2010/main" val="69586015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Data Structures using Python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327373085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198</TotalTime>
  <Words>903</Words>
  <Application>Microsoft Office PowerPoint</Application>
  <PresentationFormat>Widescreen</PresentationFormat>
  <Paragraphs>145</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BioRhyme ExtraBold</vt:lpstr>
      <vt:lpstr>Calibri</vt:lpstr>
      <vt:lpstr>Calibri Light</vt:lpstr>
      <vt:lpstr>Poppins</vt:lpstr>
      <vt:lpstr>Times New Roman</vt:lpstr>
      <vt:lpstr>urw-din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LENOVO</cp:lastModifiedBy>
  <cp:revision>29</cp:revision>
  <dcterms:created xsi:type="dcterms:W3CDTF">2020-02-08T09:57:44Z</dcterms:created>
  <dcterms:modified xsi:type="dcterms:W3CDTF">2024-12-14T10:41:49Z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