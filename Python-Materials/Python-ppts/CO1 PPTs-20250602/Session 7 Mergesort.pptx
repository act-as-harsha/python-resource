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comments/comment1.xml" ContentType="application/vnd.openxmlformats-officedocument.presentationml.comment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4"/>
  </p:notesMasterIdLst>
  <p:sldIdLst>
    <p:sldId id="271" r:id="rId5"/>
    <p:sldId id="300" r:id="rId6"/>
    <p:sldId id="299" r:id="rId7"/>
    <p:sldId id="258" r:id="rId8"/>
    <p:sldId id="285" r:id="rId9"/>
    <p:sldId id="317" r:id="rId10"/>
    <p:sldId id="333" r:id="rId11"/>
    <p:sldId id="306" r:id="rId12"/>
    <p:sldId id="287" r:id="rId13"/>
    <p:sldId id="308" r:id="rId14"/>
    <p:sldId id="357" r:id="rId15"/>
    <p:sldId id="358" r:id="rId16"/>
    <p:sldId id="359" r:id="rId17"/>
    <p:sldId id="309" r:id="rId18"/>
    <p:sldId id="311" r:id="rId19"/>
    <p:sldId id="307" r:id="rId20"/>
    <p:sldId id="313" r:id="rId21"/>
    <p:sldId id="312" r:id="rId22"/>
    <p:sldId id="314" r:id="rId23"/>
    <p:sldId id="315" r:id="rId24"/>
    <p:sldId id="350" r:id="rId25"/>
    <p:sldId id="316" r:id="rId26"/>
    <p:sldId id="356" r:id="rId27"/>
    <p:sldId id="301" r:id="rId28"/>
    <p:sldId id="361" r:id="rId29"/>
    <p:sldId id="360" r:id="rId30"/>
    <p:sldId id="302" r:id="rId31"/>
    <p:sldId id="303" r:id="rId32"/>
    <p:sldId id="30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00"/>
    <a:srgbClr val="FF9900"/>
    <a:srgbClr val="E84845"/>
    <a:srgbClr val="FAD2D2"/>
    <a:srgbClr val="F89E4C"/>
    <a:srgbClr val="A81E24"/>
    <a:srgbClr val="FFF2CC"/>
    <a:srgbClr val="CF2F33"/>
    <a:srgbClr val="BA2532"/>
    <a:srgbClr val="E3293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9"/>
    <p:restoredTop sz="94689"/>
  </p:normalViewPr>
  <p:slideViewPr>
    <p:cSldViewPr snapToGrid="0">
      <p:cViewPr varScale="1">
        <p:scale>
          <a:sx n="61" d="100"/>
          <a:sy n="61" d="100"/>
        </p:scale>
        <p:origin x="-760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30T22:09:03.311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3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4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datastructures.html" TargetMode="External"/><Relationship Id="rId2" Type="http://schemas.openxmlformats.org/officeDocument/2006/relationships/hyperlink" Target="http://greenteapress.com/wp/think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geeksforgeeks.org/python-data-structures/" TargetMode="External"/><Relationship Id="rId4" Type="http://schemas.openxmlformats.org/officeDocument/2006/relationships/hyperlink" Target="https://www.w3schools.com/dsa/dsa_intro.php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021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</a:t>
            </a:r>
            <a:r>
              <a:rPr lang="en-US" sz="3200" b="1" cap="all" dirty="0" smtClean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STRUCTURES Using python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24sc1204</a:t>
            </a:r>
            <a:endParaRPr lang="en-US" sz="3200" b="1" cap="all" dirty="0"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cs typeface="Poppins" panose="00000500000000000000" pitchFamily="2" charset="0"/>
              </a:rPr>
              <a:t>Merge </a:t>
            </a:r>
            <a:r>
              <a:rPr lang="en-US" sz="4000" b="1" cap="all" dirty="0" smtClean="0">
                <a:solidFill>
                  <a:srgbClr val="C00000"/>
                </a:solidFill>
                <a:cs typeface="Poppins" panose="00000500000000000000" pitchFamily="2" charset="0"/>
              </a:rPr>
              <a:t>sort analysis &amp;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 smtClean="0"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implementation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5103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</a:p>
        </p:txBody>
      </p:sp>
      <p:sp>
        <p:nvSpPr>
          <p:cNvPr id="8" name="Google Shape;502;p17"/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- 7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670" y="84455"/>
            <a:ext cx="4107815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10147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familiarize students with the basic concept of Merge Sort its concepts its time complexity</a:t>
            </a:r>
          </a:p>
          <a:p>
            <a:pPr>
              <a:lnSpc>
                <a:spcPct val="150000"/>
              </a:lnSpc>
            </a:pP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20" y="1807210"/>
            <a:ext cx="5012055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197100"/>
            <a:ext cx="8791575" cy="21793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Demonstrate: Merge Sort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Describe: Merge Sort Algorithm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out the: Application of Merge Sort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the: time complexity of merge sort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3225" y="4587875"/>
            <a:ext cx="3870960" cy="41338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5000625"/>
            <a:ext cx="8791575" cy="17259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Algorithm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 of merge sort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Summarize: Merge Sort Algorithm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 bldLvl="0" animBg="1"/>
      <p:bldP spid="9" grpId="0" bldLvl="0" animBg="1"/>
      <p:bldP spid="29" grpId="0" bldLvl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Outcomes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632460" y="1273810"/>
            <a:ext cx="10537190" cy="4779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33046" y="2374866"/>
            <a:ext cx="11268222" cy="232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a Sorting Algorithm?</a:t>
            </a:r>
          </a:p>
          <a:p>
            <a:pPr marR="196850" algn="just">
              <a:spcBef>
                <a:spcPts val="100"/>
              </a:spcBef>
              <a:buSzPct val="94000"/>
              <a:tabLst>
                <a:tab pos="217170" algn="l"/>
              </a:tabLst>
            </a:pPr>
            <a:endParaRPr lang="en-US" sz="2000" spc="-5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Merge Sort?</a:t>
            </a:r>
          </a:p>
          <a:p>
            <a:pPr marR="196850" algn="just">
              <a:spcBef>
                <a:spcPts val="100"/>
              </a:spcBef>
              <a:buSzPct val="94000"/>
              <a:tabLst>
                <a:tab pos="217170" algn="l"/>
              </a:tabLst>
            </a:pPr>
            <a:endParaRPr lang="en-US" sz="2000" spc="-5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Merge Sort Approach?</a:t>
            </a:r>
          </a:p>
          <a:p>
            <a:pPr marR="196850" algn="just">
              <a:spcBef>
                <a:spcPts val="100"/>
              </a:spcBef>
              <a:buSzPct val="94000"/>
              <a:tabLst>
                <a:tab pos="217170" algn="l"/>
              </a:tabLst>
            </a:pPr>
            <a:endParaRPr lang="en-US" sz="2000" spc="-5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 Complexity of Merge Sort?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INTRODUCTION </a:t>
            </a:r>
            <a:endParaRPr lang="en-US" sz="2400" dirty="0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435429" y="805543"/>
            <a:ext cx="1136468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smtClean="0"/>
              <a:t>Merge Sort</a:t>
            </a:r>
            <a:r>
              <a:rPr lang="en-US" sz="2400" dirty="0" smtClean="0"/>
              <a:t> is a divide-and-conquer algorithm that divides the array into two halves, sorts them recursively, and then merges the two sorted halves into a single sorted array.</a:t>
            </a:r>
          </a:p>
          <a:p>
            <a:pPr algn="just"/>
            <a:r>
              <a:rPr lang="en-US" sz="2400" dirty="0" smtClean="0"/>
              <a:t>In ascending order, we will merge the two halves such that smaller elements come before larger elements.</a:t>
            </a:r>
          </a:p>
          <a:p>
            <a:pPr algn="just"/>
            <a:r>
              <a:rPr lang="en-US" sz="2400" b="1" dirty="0" smtClean="0"/>
              <a:t>Steps for Merge Sort (Ascending Order):</a:t>
            </a:r>
            <a:endParaRPr lang="en-US" sz="2400" dirty="0" smtClean="0"/>
          </a:p>
          <a:p>
            <a:pPr lvl="0" algn="just"/>
            <a:r>
              <a:rPr lang="en-US" sz="2400" b="1" dirty="0" smtClean="0"/>
              <a:t>Divide</a:t>
            </a:r>
            <a:r>
              <a:rPr lang="en-US" sz="2400" dirty="0" smtClean="0"/>
              <a:t> the array into two halves.</a:t>
            </a:r>
          </a:p>
          <a:p>
            <a:pPr lvl="0" algn="just"/>
            <a:r>
              <a:rPr lang="en-US" sz="2400" b="1" dirty="0" smtClean="0"/>
              <a:t>Recursively</a:t>
            </a:r>
            <a:r>
              <a:rPr lang="en-US" sz="2400" dirty="0" smtClean="0"/>
              <a:t> sort both halves.</a:t>
            </a:r>
          </a:p>
          <a:p>
            <a:pPr lvl="0" algn="just"/>
            <a:r>
              <a:rPr lang="en-US" sz="2400" b="1" dirty="0" smtClean="0"/>
              <a:t>Merge</a:t>
            </a:r>
            <a:r>
              <a:rPr lang="en-US" sz="2400" dirty="0" smtClean="0"/>
              <a:t> the sorted halves while ensuring the array remains sorted in ascending order.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1366339" y="3968116"/>
            <a:ext cx="3065780" cy="2693942"/>
          </a:xfrm>
          <a:prstGeom prst="rect">
            <a:avLst/>
          </a:prstGeom>
        </p:spPr>
      </p:pic>
      <p:pic>
        <p:nvPicPr>
          <p:cNvPr id="100" name="Content Placeholder 99"/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6008915" y="3898083"/>
            <a:ext cx="5736772" cy="2778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782196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Approach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3657" y="838199"/>
            <a:ext cx="11342914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To sort an array A[n1,n2.. . ….nr]: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n-element sequence to be sorted into two subsequences of n/2 elements each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Conquer: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the subsequences recursively using merge sort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size of the sequences is 1 there is nothing more to do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or Merge: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the two sorted subsequences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7509" y="1110057"/>
            <a:ext cx="1024127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  <a:r>
              <a:rPr lang="en-US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defined as a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</a:t>
            </a:r>
            <a:r>
              <a:rPr lang="en-US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works by dividing an array into smaller subarrays, sorting each subarray, and then merging the sorted subarrays back together to form the final sorted array.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2845" y="365125"/>
            <a:ext cx="8910955" cy="538389"/>
          </a:xfrm>
        </p:spPr>
        <p:txBody>
          <a:bodyPr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merge_sort-divide-and-conquer-img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37979" y="1147771"/>
            <a:ext cx="4874747" cy="469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720850" y="603250"/>
            <a:ext cx="5022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 sort Example:</a:t>
            </a:r>
          </a:p>
        </p:txBody>
      </p:sp>
      <p:pic>
        <p:nvPicPr>
          <p:cNvPr id="3" name="Content Placeholder 2" descr="merge sort1"/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290445" y="1280795"/>
            <a:ext cx="7610475" cy="4890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215761" y="13570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105535" y="781685"/>
            <a:ext cx="10064115" cy="5205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                                                     </a:t>
            </a:r>
          </a:p>
          <a:p>
            <a:r>
              <a:rPr lang="en-US" dirty="0"/>
              <a:t>                                              1             2            3             4             5              6           7             8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502367" y="1829324"/>
            <a:ext cx="80645" cy="751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4700" y="2668905"/>
            <a:ext cx="553720" cy="3600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 flipV="1">
            <a:off x="5986668" y="1703950"/>
            <a:ext cx="1270" cy="854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81675" y="2557780"/>
            <a:ext cx="619125" cy="412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 flipV="1">
            <a:off x="9006179" y="1794830"/>
            <a:ext cx="22225" cy="763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32850" y="2602230"/>
            <a:ext cx="5861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2362" y="3137095"/>
            <a:ext cx="10367889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Call ----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A,first,last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 an array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----- Starting index of an array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----- End index of an array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------ (first + last)/2	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3215640" y="1377950"/>
          <a:ext cx="6207760" cy="432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970"/>
                <a:gridCol w="775970"/>
                <a:gridCol w="775970"/>
                <a:gridCol w="775970"/>
                <a:gridCol w="775970"/>
                <a:gridCol w="775970"/>
                <a:gridCol w="775970"/>
                <a:gridCol w="775970"/>
              </a:tblGrid>
              <a:tr h="432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  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   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bldLvl="0" animBg="1"/>
      <p:bldP spid="11" grpId="0" bldLvl="0" animBg="1"/>
      <p:bldP spid="1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4771" y="1148714"/>
            <a:ext cx="10232572" cy="5186771"/>
          </a:xfrm>
          <a:prstGeom prst="rect">
            <a:avLst/>
          </a:prstGeom>
        </p:spPr>
      </p:pic>
      <p:sp>
        <p:nvSpPr>
          <p:cNvPr id="4" name="Rounded Rectangle 17"/>
          <p:cNvSpPr/>
          <p:nvPr/>
        </p:nvSpPr>
        <p:spPr>
          <a:xfrm>
            <a:off x="2595521" y="176436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14928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990725" y="85887"/>
            <a:ext cx="7706092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036271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4029" y="1035685"/>
            <a:ext cx="10504714" cy="5343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990725" y="85887"/>
            <a:ext cx="7706092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Python Code for Merge Sort Ascending order</a:t>
            </a:r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036271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2771" y="813253"/>
            <a:ext cx="11517086" cy="5685517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def </a:t>
            </a:r>
            <a:r>
              <a:rPr lang="en-US" dirty="0" err="1" smtClean="0"/>
              <a:t>merge_sort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):</a:t>
            </a:r>
          </a:p>
          <a:p>
            <a:pPr>
              <a:buNone/>
            </a:pPr>
            <a:r>
              <a:rPr lang="en-US" dirty="0" smtClean="0"/>
              <a:t>    # Base case: If the array has only one element, it's already sorted.</a:t>
            </a:r>
          </a:p>
          <a:p>
            <a:pPr>
              <a:buNone/>
            </a:pPr>
            <a:r>
              <a:rPr lang="en-US" dirty="0" smtClean="0"/>
              <a:t>    if </a:t>
            </a:r>
            <a:r>
              <a:rPr lang="en-US" dirty="0" err="1" smtClean="0"/>
              <a:t>len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) &lt;= 1:</a:t>
            </a:r>
          </a:p>
          <a:p>
            <a:pPr>
              <a:buNone/>
            </a:pPr>
            <a:r>
              <a:rPr lang="en-US" dirty="0" smtClean="0"/>
              <a:t>        return </a:t>
            </a:r>
            <a:r>
              <a:rPr lang="en-US" dirty="0" err="1" smtClean="0"/>
              <a:t>arr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					# Step 1: Divide the array into two halves</a:t>
            </a:r>
          </a:p>
          <a:p>
            <a:pPr>
              <a:buNone/>
            </a:pPr>
            <a:r>
              <a:rPr lang="en-US" dirty="0" smtClean="0"/>
              <a:t>    mid = </a:t>
            </a:r>
            <a:r>
              <a:rPr lang="en-US" dirty="0" err="1" smtClean="0"/>
              <a:t>len</a:t>
            </a:r>
            <a:r>
              <a:rPr lang="en-US" dirty="0" smtClean="0"/>
              <a:t>(</a:t>
            </a:r>
            <a:r>
              <a:rPr lang="en-US" dirty="0" err="1" smtClean="0"/>
              <a:t>arr</a:t>
            </a:r>
            <a:r>
              <a:rPr lang="en-US" dirty="0" smtClean="0"/>
              <a:t>) // 2  		# Find the middle index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left_half</a:t>
            </a:r>
            <a:r>
              <a:rPr lang="en-US" dirty="0" smtClean="0"/>
              <a:t> = </a:t>
            </a:r>
            <a:r>
              <a:rPr lang="en-US" dirty="0" err="1" smtClean="0"/>
              <a:t>arr</a:t>
            </a:r>
            <a:r>
              <a:rPr lang="en-US" dirty="0" smtClean="0"/>
              <a:t>[:mid] 		 # Left half of the array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right_half</a:t>
            </a:r>
            <a:r>
              <a:rPr lang="en-US" dirty="0" smtClean="0"/>
              <a:t> = </a:t>
            </a:r>
            <a:r>
              <a:rPr lang="en-US" dirty="0" err="1" smtClean="0"/>
              <a:t>arr</a:t>
            </a:r>
            <a:r>
              <a:rPr lang="en-US" dirty="0" smtClean="0"/>
              <a:t>[mid:]  		# Right half of the array</a:t>
            </a:r>
          </a:p>
          <a:p>
            <a:pPr>
              <a:buNone/>
            </a:pPr>
            <a:r>
              <a:rPr lang="en-US" dirty="0" smtClean="0"/>
              <a:t>    					# Step 2: Recursively sort both halves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left_half</a:t>
            </a:r>
            <a:r>
              <a:rPr lang="en-US" dirty="0" smtClean="0"/>
              <a:t> = </a:t>
            </a:r>
            <a:r>
              <a:rPr lang="en-US" dirty="0" err="1" smtClean="0"/>
              <a:t>merge_sort</a:t>
            </a:r>
            <a:r>
              <a:rPr lang="en-US" dirty="0" smtClean="0"/>
              <a:t>(</a:t>
            </a:r>
            <a:r>
              <a:rPr lang="en-US" dirty="0" err="1" smtClean="0"/>
              <a:t>left_half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err="1" smtClean="0"/>
              <a:t>right_half</a:t>
            </a:r>
            <a:r>
              <a:rPr lang="en-US" dirty="0" smtClean="0"/>
              <a:t> = </a:t>
            </a:r>
            <a:r>
              <a:rPr lang="en-US" dirty="0" err="1" smtClean="0"/>
              <a:t>merge_sort</a:t>
            </a:r>
            <a:r>
              <a:rPr lang="en-US" dirty="0" smtClean="0"/>
              <a:t>(</a:t>
            </a:r>
            <a:r>
              <a:rPr lang="en-US" dirty="0" err="1" smtClean="0"/>
              <a:t>right_half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    # Step 3: Merge the sorted halves and return the sorted array</a:t>
            </a:r>
          </a:p>
          <a:p>
            <a:r>
              <a:rPr lang="en-US" dirty="0" smtClean="0"/>
              <a:t>    return merge(</a:t>
            </a:r>
            <a:r>
              <a:rPr lang="en-US" dirty="0" err="1" smtClean="0"/>
              <a:t>left_half</a:t>
            </a:r>
            <a:r>
              <a:rPr lang="en-US" dirty="0" smtClean="0"/>
              <a:t>, </a:t>
            </a:r>
            <a:r>
              <a:rPr lang="en-US" dirty="0" err="1" smtClean="0"/>
              <a:t>right_half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990725" y="85887"/>
            <a:ext cx="7706092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Python Code for Merge Sort Ascending order</a:t>
            </a:r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036271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2771" y="813253"/>
            <a:ext cx="11517086" cy="5685517"/>
          </a:xfrm>
        </p:spPr>
        <p:txBody>
          <a:bodyPr/>
          <a:lstStyle/>
          <a:p>
            <a:pPr>
              <a:buNone/>
            </a:pPr>
            <a:r>
              <a:rPr lang="en-US" sz="1800" dirty="0" smtClean="0"/>
              <a:t>def merge(left, right):</a:t>
            </a:r>
          </a:p>
          <a:p>
            <a:pPr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sorted_array</a:t>
            </a:r>
            <a:r>
              <a:rPr lang="en-US" sz="1800" dirty="0" smtClean="0"/>
              <a:t> = []</a:t>
            </a:r>
          </a:p>
          <a:p>
            <a:pPr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i</a:t>
            </a:r>
            <a:r>
              <a:rPr lang="en-US" sz="1800" dirty="0" smtClean="0"/>
              <a:t> = j = 0</a:t>
            </a:r>
          </a:p>
          <a:p>
            <a:pPr>
              <a:buNone/>
            </a:pPr>
            <a:r>
              <a:rPr lang="en-US" sz="1800" dirty="0" smtClean="0"/>
              <a:t>    # Merge the two halves into a sorted array</a:t>
            </a:r>
          </a:p>
          <a:p>
            <a:pPr>
              <a:buNone/>
            </a:pPr>
            <a:r>
              <a:rPr lang="en-US" sz="1800" dirty="0" smtClean="0"/>
              <a:t>    while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dirty="0" err="1" smtClean="0"/>
              <a:t>len</a:t>
            </a:r>
            <a:r>
              <a:rPr lang="en-US" sz="1800" dirty="0" smtClean="0"/>
              <a:t>(left) and j &lt; </a:t>
            </a:r>
            <a:r>
              <a:rPr lang="en-US" sz="1800" dirty="0" err="1" smtClean="0"/>
              <a:t>len</a:t>
            </a:r>
            <a:r>
              <a:rPr lang="en-US" sz="1800" dirty="0" smtClean="0"/>
              <a:t>(right):</a:t>
            </a:r>
          </a:p>
          <a:p>
            <a:pPr>
              <a:buNone/>
            </a:pPr>
            <a:r>
              <a:rPr lang="en-US" sz="1800" dirty="0" smtClean="0"/>
              <a:t>        if left[</a:t>
            </a:r>
            <a:r>
              <a:rPr lang="en-US" sz="1800" dirty="0" err="1" smtClean="0"/>
              <a:t>i</a:t>
            </a:r>
            <a:r>
              <a:rPr lang="en-US" sz="1800" dirty="0" smtClean="0"/>
              <a:t>] &lt; right[j]:</a:t>
            </a:r>
          </a:p>
          <a:p>
            <a:pPr>
              <a:buNone/>
            </a:pPr>
            <a:r>
              <a:rPr lang="en-US" sz="1800" dirty="0" smtClean="0"/>
              <a:t>            </a:t>
            </a:r>
            <a:r>
              <a:rPr lang="en-US" sz="1800" dirty="0" err="1" smtClean="0"/>
              <a:t>sorted_array.append</a:t>
            </a:r>
            <a:r>
              <a:rPr lang="en-US" sz="1800" dirty="0" smtClean="0"/>
              <a:t>(left[</a:t>
            </a:r>
            <a:r>
              <a:rPr lang="en-US" sz="1800" dirty="0" err="1" smtClean="0"/>
              <a:t>i</a:t>
            </a:r>
            <a:r>
              <a:rPr lang="en-US" sz="1800" dirty="0" smtClean="0"/>
              <a:t>])</a:t>
            </a:r>
          </a:p>
          <a:p>
            <a:pPr>
              <a:buNone/>
            </a:pPr>
            <a:r>
              <a:rPr lang="en-US" sz="1800" dirty="0" smtClean="0"/>
              <a:t>            </a:t>
            </a:r>
            <a:r>
              <a:rPr lang="en-US" sz="1800" dirty="0" err="1" smtClean="0"/>
              <a:t>i</a:t>
            </a:r>
            <a:r>
              <a:rPr lang="en-US" sz="1800" dirty="0" smtClean="0"/>
              <a:t> += 1</a:t>
            </a:r>
          </a:p>
          <a:p>
            <a:pPr>
              <a:buNone/>
            </a:pPr>
            <a:r>
              <a:rPr lang="en-US" sz="1800" dirty="0" smtClean="0"/>
              <a:t>        else:</a:t>
            </a:r>
          </a:p>
          <a:p>
            <a:pPr>
              <a:buNone/>
            </a:pPr>
            <a:r>
              <a:rPr lang="en-US" sz="1800" dirty="0" smtClean="0"/>
              <a:t>            </a:t>
            </a:r>
            <a:r>
              <a:rPr lang="en-US" sz="1800" dirty="0" err="1" smtClean="0"/>
              <a:t>sorted_array.append</a:t>
            </a:r>
            <a:r>
              <a:rPr lang="en-US" sz="1800" dirty="0" smtClean="0"/>
              <a:t>(right[j])</a:t>
            </a:r>
          </a:p>
          <a:p>
            <a:pPr>
              <a:buNone/>
            </a:pPr>
            <a:r>
              <a:rPr lang="en-US" sz="1800" dirty="0" smtClean="0"/>
              <a:t>            j += 1</a:t>
            </a:r>
          </a:p>
          <a:p>
            <a:pPr>
              <a:buNone/>
            </a:pPr>
            <a:r>
              <a:rPr lang="en-US" sz="1800" dirty="0" smtClean="0"/>
              <a:t># If there are remaining elements in left half</a:t>
            </a:r>
          </a:p>
          <a:p>
            <a:pPr>
              <a:buNone/>
            </a:pPr>
            <a:r>
              <a:rPr lang="en-US" sz="1800" dirty="0" smtClean="0"/>
              <a:t>    while </a:t>
            </a:r>
            <a:r>
              <a:rPr lang="en-US" sz="1800" dirty="0" err="1" smtClean="0"/>
              <a:t>i</a:t>
            </a:r>
            <a:r>
              <a:rPr lang="en-US" sz="1800" dirty="0" smtClean="0"/>
              <a:t> &lt; </a:t>
            </a:r>
            <a:r>
              <a:rPr lang="en-US" sz="1800" dirty="0" err="1" smtClean="0"/>
              <a:t>len</a:t>
            </a:r>
            <a:r>
              <a:rPr lang="en-US" sz="1800" dirty="0" smtClean="0"/>
              <a:t>(left):</a:t>
            </a:r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sorted_array.append</a:t>
            </a:r>
            <a:r>
              <a:rPr lang="en-US" sz="1800" dirty="0" smtClean="0"/>
              <a:t>(left[</a:t>
            </a:r>
            <a:r>
              <a:rPr lang="en-US" sz="1800" dirty="0" err="1" smtClean="0"/>
              <a:t>i</a:t>
            </a:r>
            <a:r>
              <a:rPr lang="en-US" sz="1800" dirty="0" smtClean="0"/>
              <a:t>])</a:t>
            </a:r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i</a:t>
            </a:r>
            <a:r>
              <a:rPr lang="en-US" sz="1800" dirty="0" smtClean="0"/>
              <a:t> += 1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   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990725" y="85887"/>
            <a:ext cx="7706092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Python Code for Merge Sort Ascending order</a:t>
            </a:r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036271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2771" y="740229"/>
            <a:ext cx="11473543" cy="5758541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# If there are remaining elements in right half</a:t>
            </a:r>
          </a:p>
          <a:p>
            <a:pPr>
              <a:buNone/>
            </a:pPr>
            <a:r>
              <a:rPr lang="en-US" sz="2400" dirty="0" smtClean="0"/>
              <a:t>    while j &lt; </a:t>
            </a:r>
            <a:r>
              <a:rPr lang="en-US" sz="2400" dirty="0" err="1" smtClean="0"/>
              <a:t>len</a:t>
            </a:r>
            <a:r>
              <a:rPr lang="en-US" sz="2400" dirty="0" smtClean="0"/>
              <a:t>(right):</a:t>
            </a:r>
          </a:p>
          <a:p>
            <a:pPr>
              <a:buNone/>
            </a:pPr>
            <a:r>
              <a:rPr lang="en-US" sz="2400" dirty="0" smtClean="0"/>
              <a:t>        </a:t>
            </a:r>
            <a:r>
              <a:rPr lang="en-US" sz="2400" dirty="0" err="1" smtClean="0"/>
              <a:t>sorted_array.append</a:t>
            </a:r>
            <a:r>
              <a:rPr lang="en-US" sz="2400" dirty="0" smtClean="0"/>
              <a:t>(right[j])</a:t>
            </a:r>
          </a:p>
          <a:p>
            <a:pPr>
              <a:buNone/>
            </a:pPr>
            <a:r>
              <a:rPr lang="en-US" sz="2400" dirty="0" smtClean="0"/>
              <a:t>        j += 1</a:t>
            </a:r>
          </a:p>
          <a:p>
            <a:pPr>
              <a:buNone/>
            </a:pPr>
            <a:r>
              <a:rPr lang="en-US" sz="2400" dirty="0" smtClean="0"/>
              <a:t>    return </a:t>
            </a:r>
            <a:r>
              <a:rPr lang="en-US" sz="2400" dirty="0" err="1" smtClean="0"/>
              <a:t>sorted_array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# Example usage:</a:t>
            </a:r>
          </a:p>
          <a:p>
            <a:pPr>
              <a:buNone/>
            </a:pPr>
            <a:r>
              <a:rPr lang="en-US" sz="2400" dirty="0" err="1" smtClean="0"/>
              <a:t>arr</a:t>
            </a:r>
            <a:r>
              <a:rPr lang="en-US" sz="2400" dirty="0" smtClean="0"/>
              <a:t> = [12, 11, 13, 5, 6, 7]</a:t>
            </a:r>
          </a:p>
          <a:p>
            <a:pPr>
              <a:buNone/>
            </a:pPr>
            <a:r>
              <a:rPr lang="en-US" sz="2400" dirty="0" smtClean="0"/>
              <a:t>print("Original array:", </a:t>
            </a:r>
            <a:r>
              <a:rPr lang="en-US" sz="2400" dirty="0" err="1" smtClean="0"/>
              <a:t>arr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err="1" smtClean="0"/>
              <a:t>sorted_array</a:t>
            </a:r>
            <a:r>
              <a:rPr lang="en-US" sz="2400" dirty="0" smtClean="0"/>
              <a:t> = </a:t>
            </a:r>
            <a:r>
              <a:rPr lang="en-US" sz="2400" dirty="0" err="1" smtClean="0"/>
              <a:t>merge_sort</a:t>
            </a:r>
            <a:r>
              <a:rPr lang="en-US" sz="2400" dirty="0" smtClean="0"/>
              <a:t>(</a:t>
            </a:r>
            <a:r>
              <a:rPr lang="en-US" sz="2400" dirty="0" err="1" smtClean="0"/>
              <a:t>arr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smtClean="0"/>
              <a:t>print("Sorted array in ascending order:", </a:t>
            </a:r>
            <a:r>
              <a:rPr lang="en-US" sz="2400" dirty="0" err="1" smtClean="0"/>
              <a:t>sorted_array</a:t>
            </a:r>
            <a:r>
              <a:rPr lang="en-US" sz="2400" dirty="0" smtClean="0"/>
              <a:t>)</a:t>
            </a:r>
          </a:p>
          <a:p>
            <a:pPr>
              <a:buNone/>
            </a:pPr>
            <a:r>
              <a:rPr lang="en-US" sz="2400" dirty="0" err="1" smtClean="0"/>
              <a:t>OUTPUT:Original</a:t>
            </a:r>
            <a:r>
              <a:rPr lang="en-US" sz="2400" dirty="0" smtClean="0"/>
              <a:t> array: [12, 11, 13, 5, 6, 7]</a:t>
            </a:r>
          </a:p>
          <a:p>
            <a:pPr>
              <a:buNone/>
            </a:pPr>
            <a:r>
              <a:rPr lang="en-US" sz="2400" dirty="0" smtClean="0"/>
              <a:t> Sorted array in ascending order: [5, 6, 7, 11, 12, 13]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of Merging Two Sorted Arrays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74370" y="996315"/>
            <a:ext cx="10515600" cy="533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a1    a1                                                                                                      </a:t>
            </a:r>
            <a:r>
              <a:rPr lang="en-US" dirty="0"/>
              <a:t>a2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a1                             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66280" y="3120390"/>
          <a:ext cx="3935730" cy="4921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1975"/>
                <a:gridCol w="598805"/>
                <a:gridCol w="525780"/>
                <a:gridCol w="561975"/>
                <a:gridCol w="561975"/>
                <a:gridCol w="561975"/>
                <a:gridCol w="563245"/>
              </a:tblGrid>
              <a:tr h="4921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V="1">
            <a:off x="3287383" y="1615874"/>
            <a:ext cx="0" cy="638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8698463" y="1536549"/>
            <a:ext cx="11430" cy="501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38805" y="2254250"/>
            <a:ext cx="285750" cy="208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8581390" y="2030730"/>
            <a:ext cx="19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7383183" y="3675767"/>
            <a:ext cx="10160" cy="593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flipH="1">
            <a:off x="7218680" y="4270375"/>
            <a:ext cx="1753870" cy="95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22" name="Oval Callout 21"/>
          <p:cNvSpPr/>
          <p:nvPr/>
        </p:nvSpPr>
        <p:spPr>
          <a:xfrm>
            <a:off x="8921931" y="4472521"/>
            <a:ext cx="2795451" cy="1084217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Now..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Now…Lets merge a1 &amp; a2 as a single array ‘A’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37739" y="2967334"/>
            <a:ext cx="544899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en-US" sz="2400" b="1" dirty="0"/>
              <a:t>Check whether a1[</a:t>
            </a:r>
            <a:r>
              <a:rPr lang="en-US" sz="2400" b="1" dirty="0" err="1"/>
              <a:t>i</a:t>
            </a:r>
            <a:r>
              <a:rPr lang="en-US" sz="2400" b="1" dirty="0"/>
              <a:t>]&lt;a2[j] or a2[j]&lt;a1[</a:t>
            </a:r>
            <a:r>
              <a:rPr lang="en-US" sz="2400" b="1" dirty="0" err="1"/>
              <a:t>i</a:t>
            </a:r>
            <a:r>
              <a:rPr lang="en-US" sz="2400" b="1" dirty="0"/>
              <a:t>] </a:t>
            </a:r>
          </a:p>
          <a:p>
            <a:pPr algn="just"/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 If a1[</a:t>
            </a:r>
            <a:r>
              <a:rPr lang="en-US" sz="2400" dirty="0" err="1"/>
              <a:t>i</a:t>
            </a:r>
            <a:r>
              <a:rPr lang="en-US" sz="2400" dirty="0"/>
              <a:t>]&lt;a2[j] then place the value in array and increment </a:t>
            </a:r>
            <a:r>
              <a:rPr lang="en-US" sz="2400" dirty="0" err="1"/>
              <a:t>i</a:t>
            </a:r>
            <a:r>
              <a:rPr lang="en-US" sz="2400" dirty="0"/>
              <a:t> &amp; k</a:t>
            </a:r>
          </a:p>
          <a:p>
            <a:pPr algn="just"/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 If a2[j]&lt;a1[</a:t>
            </a:r>
            <a:r>
              <a:rPr lang="en-US" sz="2400" dirty="0" err="1"/>
              <a:t>i</a:t>
            </a:r>
            <a:r>
              <a:rPr lang="en-US" sz="2400" dirty="0"/>
              <a:t>] then place the value in array and increment j &amp; k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2783840" y="1044575"/>
          <a:ext cx="3914140" cy="55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535"/>
                <a:gridCol w="978535"/>
                <a:gridCol w="978535"/>
                <a:gridCol w="978535"/>
              </a:tblGrid>
              <a:tr h="558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8263890" y="1066165"/>
          <a:ext cx="2194560" cy="47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</a:tblGrid>
              <a:tr h="477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3" grpId="0"/>
      <p:bldP spid="14" grpId="0"/>
      <p:bldP spid="21" grpId="0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of Merging Two Sorted Arrays Cont…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5080"/>
            <a:ext cx="1990725" cy="815975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744085" y="6276340"/>
            <a:ext cx="50355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236898" y="1682500"/>
            <a:ext cx="22860" cy="598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993733" y="1671412"/>
            <a:ext cx="0" cy="4743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5107480" y="6076118"/>
            <a:ext cx="11430" cy="682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939513" y="4790936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8594053" y="4808107"/>
            <a:ext cx="0" cy="352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224540" y="2588455"/>
            <a:ext cx="7388664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 a2[j]&lt;a1[i] so put the value of a2[j] to A[k], increment j and k</a:t>
            </a:r>
          </a:p>
          <a:p>
            <a:endParaRPr lang="en-US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42360" y="3136265"/>
          <a:ext cx="3340973" cy="4457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7282"/>
                <a:gridCol w="477282"/>
                <a:gridCol w="477282"/>
                <a:gridCol w="477282"/>
                <a:gridCol w="477281"/>
                <a:gridCol w="477282"/>
                <a:gridCol w="477282"/>
              </a:tblGrid>
              <a:tr h="445770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V="1">
            <a:off x="3853881" y="3645880"/>
            <a:ext cx="256900" cy="217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flipH="1">
            <a:off x="3826510" y="3728085"/>
            <a:ext cx="28130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4131" y="3516022"/>
            <a:ext cx="43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546251" y="4262512"/>
          <a:ext cx="2546256" cy="46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64"/>
                <a:gridCol w="636564"/>
                <a:gridCol w="636564"/>
                <a:gridCol w="636564"/>
              </a:tblGrid>
              <a:tr h="4642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   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593955" y="3869853"/>
            <a:ext cx="118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43" name="TextBox 42"/>
          <p:cNvSpPr txBox="1"/>
          <p:nvPr/>
        </p:nvSpPr>
        <p:spPr>
          <a:xfrm flipH="1">
            <a:off x="3446585" y="3924886"/>
            <a:ext cx="5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79090" y="5193030"/>
            <a:ext cx="1228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8515350" y="5192395"/>
            <a:ext cx="15367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j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4197350" y="5587365"/>
          <a:ext cx="4492367" cy="4819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7241"/>
                <a:gridCol w="686134"/>
                <a:gridCol w="642243"/>
                <a:gridCol w="641131"/>
                <a:gridCol w="642243"/>
                <a:gridCol w="641132"/>
                <a:gridCol w="642243"/>
              </a:tblGrid>
              <a:tr h="481965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575425" y="1985010"/>
            <a:ext cx="333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757795" y="1645285"/>
            <a:ext cx="1779905" cy="482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dirty="0"/>
              <a:t>a2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575425" y="6094730"/>
            <a:ext cx="410210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8" name="Text Box 7"/>
          <p:cNvSpPr txBox="1"/>
          <p:nvPr/>
        </p:nvSpPr>
        <p:spPr>
          <a:xfrm>
            <a:off x="5497195" y="5271135"/>
            <a:ext cx="31369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sz="half" idx="1"/>
          </p:nvPr>
        </p:nvGraphicFramePr>
        <p:xfrm>
          <a:off x="1813560" y="1165225"/>
          <a:ext cx="3342640" cy="46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660"/>
                <a:gridCol w="835660"/>
                <a:gridCol w="835660"/>
                <a:gridCol w="835660"/>
              </a:tblGrid>
              <a:tr h="46355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uFillTx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Content Placeholder 15"/>
          <p:cNvGraphicFramePr>
            <a:graphicFrameLocks noGrp="1"/>
          </p:cNvGraphicFramePr>
          <p:nvPr>
            <p:ph sz="half" idx="2"/>
          </p:nvPr>
        </p:nvGraphicFramePr>
        <p:xfrm>
          <a:off x="6642100" y="1132205"/>
          <a:ext cx="2273935" cy="502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640"/>
                <a:gridCol w="802005"/>
                <a:gridCol w="669290"/>
              </a:tblGrid>
              <a:tr h="5022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ext Box 21"/>
          <p:cNvSpPr txBox="1"/>
          <p:nvPr/>
        </p:nvSpPr>
        <p:spPr>
          <a:xfrm>
            <a:off x="2141220" y="2199005"/>
            <a:ext cx="737870" cy="77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i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3143250" y="1569720"/>
            <a:ext cx="113474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/>
              <a:t>a1</a:t>
            </a:r>
          </a:p>
        </p:txBody>
      </p:sp>
      <p:sp>
        <p:nvSpPr>
          <p:cNvPr id="27" name="Text Box 26"/>
          <p:cNvSpPr txBox="1"/>
          <p:nvPr/>
        </p:nvSpPr>
        <p:spPr>
          <a:xfrm>
            <a:off x="8515985" y="4213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7680325" y="4215130"/>
          <a:ext cx="1761490" cy="53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665"/>
                <a:gridCol w="621030"/>
                <a:gridCol w="518795"/>
              </a:tblGrid>
              <a:tr h="53086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/>
      <p:bldP spid="37" grpId="0"/>
      <p:bldP spid="42" grpId="0"/>
      <p:bldP spid="43" grpId="0"/>
      <p:bldP spid="45" grpId="0"/>
      <p:bldP spid="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10599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Cont</a:t>
            </a:r>
            <a:r>
              <a:rPr lang="en-US" sz="2400" dirty="0"/>
              <a:t>….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s 6"/>
          <p:cNvSpPr/>
          <p:nvPr/>
        </p:nvSpPr>
        <p:spPr>
          <a:xfrm>
            <a:off x="9613900" y="5236210"/>
            <a:ext cx="636270" cy="397510"/>
          </a:xfrm>
          <a:prstGeom prst="rect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7867015" y="3215640"/>
            <a:ext cx="396240" cy="37465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2861310" y="1220470"/>
            <a:ext cx="7915910" cy="4573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35860" y="138430"/>
            <a:ext cx="7510145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s 6"/>
          <p:cNvSpPr/>
          <p:nvPr/>
        </p:nvSpPr>
        <p:spPr>
          <a:xfrm>
            <a:off x="7967980" y="3337560"/>
            <a:ext cx="488315" cy="37528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2436495" y="1278890"/>
            <a:ext cx="7872095" cy="4556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891030" y="84455"/>
            <a:ext cx="8054975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s 5"/>
          <p:cNvSpPr/>
          <p:nvPr/>
        </p:nvSpPr>
        <p:spPr>
          <a:xfrm>
            <a:off x="10036175" y="5241290"/>
            <a:ext cx="487045" cy="396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8104505" y="3186430"/>
            <a:ext cx="431165" cy="37465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2465705" y="1469390"/>
            <a:ext cx="8057515" cy="458406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9118600" y="4139565"/>
            <a:ext cx="274320" cy="15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Placeholder 9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3265805" y="1345565"/>
            <a:ext cx="7175500" cy="3975735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>
            <a:off x="8735060" y="3618865"/>
            <a:ext cx="339725" cy="284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3698875" y="1269365"/>
            <a:ext cx="6166485" cy="4523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1235" y="84455"/>
            <a:ext cx="6414770" cy="7067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310" y="1252220"/>
            <a:ext cx="10086340" cy="3984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Box 5"/>
          <p:cNvSpPr txBox="1"/>
          <p:nvPr/>
        </p:nvSpPr>
        <p:spPr>
          <a:xfrm>
            <a:off x="1293495" y="5539105"/>
            <a:ext cx="9966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                               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3127375" y="1549400"/>
            <a:ext cx="6937375" cy="4072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23795" y="84455"/>
            <a:ext cx="7522210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Time Complexity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32835" y="741045"/>
            <a:ext cx="4903470" cy="5382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23795" y="84455"/>
            <a:ext cx="7522210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Time Complexity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 Complexity of merge sort </a:t>
            </a:r>
            <a:r>
              <a:rPr lang="en-US" b="0" i="0" dirty="0">
                <a:solidFill>
                  <a:srgbClr val="E8EAED"/>
                </a:solidFill>
                <a:effectLst/>
                <a:latin typeface="Google Sans"/>
              </a:rPr>
              <a:t> </a:t>
            </a:r>
            <a:r>
              <a:rPr lang="en-US" dirty="0"/>
              <a:t>is O(n*Log n) in all the 3 cases (worst, average and best) as merge sort always divides the array in two halves and takes linear time to merge two halves.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2150" y="819150"/>
            <a:ext cx="5797550" cy="4177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689636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Advantage and Disadvantages of merge sort</a:t>
            </a:r>
            <a:endParaRPr lang="en-US" sz="24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2254" y="783771"/>
          <a:ext cx="11081660" cy="5388428"/>
        </p:xfrm>
        <a:graphic>
          <a:graphicData uri="http://schemas.openxmlformats.org/drawingml/2006/table">
            <a:tbl>
              <a:tblPr/>
              <a:tblGrid>
                <a:gridCol w="5540830"/>
                <a:gridCol w="5540830"/>
              </a:tblGrid>
              <a:tr h="598714">
                <a:tc>
                  <a:txBody>
                    <a:bodyPr/>
                    <a:lstStyle/>
                    <a:p>
                      <a:r>
                        <a:rPr lang="en-US" b="1"/>
                        <a:t>Advantages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Disadvantages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lang="pt-BR" b="1"/>
                        <a:t>Time Complexity</a:t>
                      </a:r>
                      <a:r>
                        <a:rPr lang="pt-BR"/>
                        <a:t>: 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Space Complexity</a:t>
                      </a:r>
                      <a:r>
                        <a:rPr lang="en-US"/>
                        <a:t>: O(n) (requires extra space)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lang="en-US" b="1"/>
                        <a:t>Stable Sorting</a:t>
                      </a:r>
                      <a:r>
                        <a:rPr lang="en-US"/>
                        <a:t>: Maintains relative order of equal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Not In-Place</a:t>
                      </a:r>
                      <a:r>
                        <a:rPr lang="en-US"/>
                        <a:t>: Requires additional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lang="en-US" b="1"/>
                        <a:t>Consistent Performance</a:t>
                      </a:r>
                      <a:r>
                        <a:rPr lang="en-US"/>
                        <a:t>: No worst-case O(n²) like Quick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Slower for small datasets</a:t>
                      </a:r>
                      <a:r>
                        <a:rPr lang="en-US"/>
                        <a:t>: For small arrays, simpler algorithms might be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lang="en-US" b="1"/>
                        <a:t>Efficient for Large Data</a:t>
                      </a:r>
                      <a:r>
                        <a:rPr lang="en-US"/>
                        <a:t>: Works well with large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Complex to Implement</a:t>
                      </a:r>
                      <a:r>
                        <a:rPr lang="en-US"/>
                        <a:t>: Slightly more complex than simpler sorting algorithms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lang="en-US" b="1"/>
                        <a:t>Works Well with Linked Lists</a:t>
                      </a:r>
                      <a:r>
                        <a:rPr lang="en-US"/>
                        <a:t>: Efficient for linked 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Overhead in Recursive Calls</a:t>
                      </a:r>
                      <a:r>
                        <a:rPr lang="en-US" dirty="0"/>
                        <a:t>: Adds function call overhead due to recursion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6896364" cy="66721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Real-Time Applications of Merge Sort:</a:t>
            </a:r>
            <a:endParaRPr lang="en-US" sz="2400" dirty="0" smtClean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315686" y="870858"/>
            <a:ext cx="11484427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External Sorting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: Handling large datasets that can't fit into memory, like in databases and file systems.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Merging Sorted Files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: Combining multiple pre-sorted datasets or files into one sorted dataset, e.g., log file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Sorting Linked Lists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: Efficiently sorting data stored in linked lists, suitable for memory-constrained 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IoT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 Data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: Sorting large volumes of real-time sensor data in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IoT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Analytics and Reporting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: Sorting large datasets for analytics or reporting purposes.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Real-Time Merging of Data Streams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Calibri" pitchFamily="34" charset="0"/>
              </a:rPr>
              <a:t>: Sorting and merging real-time data streams, such as in financial trading systems or live data feeds.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What is the best case time complexity of merge sort?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 log n)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</a:t>
            </a:r>
            <a:r>
              <a:rPr lang="en-US" sz="1600" baseline="30000" dirty="0"/>
              <a:t>2</a:t>
            </a:r>
            <a:r>
              <a:rPr lang="en-US" sz="1600" dirty="0"/>
              <a:t> log n)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 log 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</p:txBody>
      </p:sp>
      <p:sp>
        <p:nvSpPr>
          <p:cNvPr id="13" name="Google Shape;502;p17"/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2.Merge sort is preferred for arrays over linked lists.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133185" y="4727197"/>
            <a:ext cx="2901705" cy="103764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a) true</a:t>
            </a:r>
            <a:br>
              <a:rPr lang="en-IN" dirty="0"/>
            </a:br>
            <a:r>
              <a:rPr lang="en-IN" dirty="0"/>
              <a:t>b) false</a:t>
            </a:r>
            <a:endParaRPr lang="en-US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45414" y="471554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Describe Sorting and what are the key steps involved in implementing Merge Sort?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List out the applications of Merge Sort. 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Analyze Time and Space Complexity of Merge Sort.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Summarize the Merge Sort algorithm with an example.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1340" y="751982"/>
            <a:ext cx="1082248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Textbooks:</a:t>
            </a:r>
            <a:endParaRPr lang="en-US" sz="2000" dirty="0" smtClean="0"/>
          </a:p>
          <a:p>
            <a:pPr lvl="0"/>
            <a:r>
              <a:rPr lang="en-US" sz="2000" dirty="0" smtClean="0"/>
              <a:t>Mark Allen Weiss, Data Structures and Algorithm Analysis in C, 2010, Second Edition, Pearson Education.</a:t>
            </a:r>
          </a:p>
          <a:p>
            <a:pPr lvl="0"/>
            <a:r>
              <a:rPr lang="en-US" sz="2000" dirty="0" smtClean="0"/>
              <a:t>Allen B. Downey, ”Think Python: How to Think Like a Computer Scientist’’, 2nd edition, Updated for Python 3, </a:t>
            </a:r>
            <a:r>
              <a:rPr lang="en-US" sz="2000" dirty="0" err="1" smtClean="0"/>
              <a:t>Shroff</a:t>
            </a:r>
            <a:r>
              <a:rPr lang="en-US" sz="2000" dirty="0" smtClean="0"/>
              <a:t>/O’Reilly Publishers, 2016 (</a:t>
            </a:r>
            <a:r>
              <a:rPr lang="en-US" sz="2000" u="sng" dirty="0" smtClean="0">
                <a:hlinkClick r:id="rId2"/>
              </a:rPr>
              <a:t>http://greenteapress.com/wp/thinkpython/</a:t>
            </a:r>
            <a:r>
              <a:rPr lang="en-US" sz="2000" dirty="0" smtClean="0"/>
              <a:t>)</a:t>
            </a:r>
          </a:p>
          <a:p>
            <a:pPr lvl="0"/>
            <a:r>
              <a:rPr lang="en-US" sz="2000" dirty="0" smtClean="0"/>
              <a:t>Data Structures and algorithms using python, 2011,Rance D, </a:t>
            </a:r>
            <a:r>
              <a:rPr lang="en-US" sz="2000" dirty="0" err="1" smtClean="0"/>
              <a:t>Necaise</a:t>
            </a:r>
            <a:r>
              <a:rPr lang="en-US" sz="2000" dirty="0" smtClean="0"/>
              <a:t>, </a:t>
            </a:r>
            <a:r>
              <a:rPr lang="en-US" sz="2000" dirty="0" err="1" smtClean="0"/>
              <a:t>himilton</a:t>
            </a:r>
            <a:r>
              <a:rPr lang="en-US" sz="2000" dirty="0" smtClean="0"/>
              <a:t> printing</a:t>
            </a:r>
          </a:p>
          <a:p>
            <a:r>
              <a:rPr lang="en-US" sz="2000" b="1" dirty="0" err="1" smtClean="0"/>
              <a:t>ReferenceBooks</a:t>
            </a:r>
            <a:r>
              <a:rPr lang="en-US" sz="2000" b="1" dirty="0" smtClean="0"/>
              <a:t>:</a:t>
            </a:r>
            <a:endParaRPr lang="en-US" sz="2000" dirty="0" smtClean="0"/>
          </a:p>
          <a:p>
            <a:pPr lvl="0"/>
            <a:r>
              <a:rPr lang="en-US" sz="2000" dirty="0" smtClean="0"/>
              <a:t>Data Structures and Algorithm Analysis in PYTHON, 2010, Mark Allen Weiss, Second Edition, Pearson Education.</a:t>
            </a:r>
          </a:p>
          <a:p>
            <a:pPr lvl="0"/>
            <a:r>
              <a:rPr lang="en-US" sz="2000" dirty="0" smtClean="0"/>
              <a:t>Data Structures and Algorithms, </a:t>
            </a:r>
            <a:r>
              <a:rPr lang="en-US" sz="2000" dirty="0" err="1" smtClean="0"/>
              <a:t>A.V.Aho</a:t>
            </a:r>
            <a:r>
              <a:rPr lang="en-US" sz="2000" dirty="0" smtClean="0"/>
              <a:t>, </a:t>
            </a:r>
            <a:r>
              <a:rPr lang="en-US" sz="2000" dirty="0" err="1" smtClean="0"/>
              <a:t>J.E.Hopcroft</a:t>
            </a:r>
            <a:r>
              <a:rPr lang="en-US" sz="2000" dirty="0" smtClean="0"/>
              <a:t>, and </a:t>
            </a:r>
            <a:r>
              <a:rPr lang="en-US" sz="2000" dirty="0" err="1" smtClean="0"/>
              <a:t>J.D.Ullman</a:t>
            </a:r>
            <a:r>
              <a:rPr lang="en-US" sz="2000" dirty="0" smtClean="0"/>
              <a:t>, Pearson Education, First Edition Reprint2003.</a:t>
            </a:r>
          </a:p>
          <a:p>
            <a:pPr lvl="0"/>
            <a:r>
              <a:rPr lang="en-US" sz="2000" dirty="0" smtClean="0"/>
              <a:t>Advanced Guide to Python 3 Programming, John Hunt, 4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Edition, Springer Nature Switzerland AG 2019.</a:t>
            </a:r>
          </a:p>
          <a:p>
            <a:pPr lvl="0"/>
            <a:r>
              <a:rPr lang="en-US" sz="2000" dirty="0" smtClean="0"/>
              <a:t>Python Basics: A Practice Introduction to Python 3, David Amos, Dan Bader, Joanna </a:t>
            </a:r>
            <a:r>
              <a:rPr lang="en-US" sz="2000" dirty="0" err="1" smtClean="0"/>
              <a:t>Jablonski</a:t>
            </a:r>
            <a:r>
              <a:rPr lang="en-US" sz="2000" dirty="0" smtClean="0"/>
              <a:t>, Fletcher </a:t>
            </a:r>
            <a:r>
              <a:rPr lang="en-US" sz="2000" dirty="0" err="1" smtClean="0"/>
              <a:t>Heisler</a:t>
            </a:r>
            <a:r>
              <a:rPr lang="en-US" sz="2000" dirty="0" smtClean="0"/>
              <a:t>, 4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edition, Real Python.</a:t>
            </a:r>
          </a:p>
          <a:p>
            <a:r>
              <a:rPr lang="en-US" sz="2000" b="1" dirty="0" err="1" smtClean="0"/>
              <a:t>WebLinks</a:t>
            </a:r>
            <a:r>
              <a:rPr lang="en-US" sz="2000" b="1" dirty="0" smtClean="0"/>
              <a:t>:</a:t>
            </a:r>
            <a:endParaRPr lang="en-US" sz="2000" dirty="0" smtClean="0"/>
          </a:p>
          <a:p>
            <a:pPr lvl="0"/>
            <a:r>
              <a:rPr lang="en-US" sz="2000" u="sng" dirty="0" smtClean="0">
                <a:hlinkClick r:id="rId3"/>
              </a:rPr>
              <a:t>https://docs.python.org/3/tutorial/datastructures.html</a:t>
            </a:r>
            <a:endParaRPr lang="en-US" sz="2000" dirty="0" smtClean="0"/>
          </a:p>
          <a:p>
            <a:pPr lvl="0"/>
            <a:r>
              <a:rPr lang="en-US" sz="2000" u="sng" dirty="0" smtClean="0">
                <a:hlinkClick r:id="rId4"/>
              </a:rPr>
              <a:t>https://www.w3schools.com/dsa/dsa_intro.php</a:t>
            </a:r>
            <a:endParaRPr lang="en-US" sz="2000" dirty="0" smtClean="0"/>
          </a:p>
          <a:p>
            <a:pPr lvl="0"/>
            <a:r>
              <a:rPr lang="en-US" sz="2000" u="sng" dirty="0" smtClean="0">
                <a:hlinkClick r:id="rId5"/>
              </a:rPr>
              <a:t>https://</a:t>
            </a:r>
            <a:r>
              <a:rPr lang="en-US" sz="2000" u="sng" smtClean="0">
                <a:hlinkClick r:id="rId5"/>
              </a:rPr>
              <a:t>www.geeksforgeeks.org/python-data-structures</a:t>
            </a:r>
            <a:r>
              <a:rPr lang="en-US" sz="2000" u="sng" smtClean="0">
                <a:hlinkClick r:id="rId5"/>
              </a:rPr>
              <a:t>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EBBD0A98-E68B-4DAA-8964-2F739D6D40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1175</Words>
  <Application>WPS Presentation</Application>
  <PresentationFormat>Custom</PresentationFormat>
  <Paragraphs>465</Paragraphs>
  <Slides>29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1_Office Theme</vt:lpstr>
      <vt:lpstr>Slide 1</vt:lpstr>
      <vt:lpstr>Slide 2</vt:lpstr>
      <vt:lpstr>Slide 3</vt:lpstr>
      <vt:lpstr>Slide 4</vt:lpstr>
      <vt:lpstr>Slide 5</vt:lpstr>
      <vt:lpstr>Merge sort: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Administrator</cp:lastModifiedBy>
  <cp:revision>147</cp:revision>
  <dcterms:created xsi:type="dcterms:W3CDTF">2020-02-08T09:57:00Z</dcterms:created>
  <dcterms:modified xsi:type="dcterms:W3CDTF">2024-12-14T06:38:45Z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85FD31CBC9EB430589D4EC1401389C74_12</vt:lpwstr>
  </property>
  <property fmtid="{D5CDD505-2E9C-101B-9397-08002B2CF9AE}" pid="4" name="KSOProductBuildVer">
    <vt:lpwstr>1033-12.2.0.13359</vt:lpwstr>
  </property>
</Properties>
</file>