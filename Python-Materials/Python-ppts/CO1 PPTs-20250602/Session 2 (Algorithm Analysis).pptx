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6"/>
  </p:notesMasterIdLst>
  <p:sldIdLst>
    <p:sldId id="341" r:id="rId5"/>
    <p:sldId id="300" r:id="rId6"/>
    <p:sldId id="320" r:id="rId7"/>
    <p:sldId id="325" r:id="rId8"/>
    <p:sldId id="331" r:id="rId9"/>
    <p:sldId id="329" r:id="rId10"/>
    <p:sldId id="327" r:id="rId11"/>
    <p:sldId id="328" r:id="rId12"/>
    <p:sldId id="321" r:id="rId13"/>
    <p:sldId id="324" r:id="rId14"/>
    <p:sldId id="347" r:id="rId15"/>
    <p:sldId id="343" r:id="rId16"/>
    <p:sldId id="345" r:id="rId17"/>
    <p:sldId id="346" r:id="rId18"/>
    <p:sldId id="338" r:id="rId19"/>
    <p:sldId id="342" r:id="rId20"/>
    <p:sldId id="333" r:id="rId21"/>
    <p:sldId id="335" r:id="rId22"/>
    <p:sldId id="336" r:id="rId23"/>
    <p:sldId id="339" r:id="rId24"/>
    <p:sldId id="34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2933" autoAdjust="0"/>
  </p:normalViewPr>
  <p:slideViewPr>
    <p:cSldViewPr snapToGrid="0">
      <p:cViewPr varScale="1">
        <p:scale>
          <a:sx n="60" d="100"/>
          <a:sy n="60" d="100"/>
        </p:scale>
        <p:origin x="816" y="4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20355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11</a:t>
            </a:fld>
            <a:endParaRPr lang="en-US"/>
          </a:p>
        </p:txBody>
      </p:sp>
    </p:spTree>
    <p:extLst>
      <p:ext uri="{BB962C8B-B14F-4D97-AF65-F5344CB8AC3E}">
        <p14:creationId xmlns:p14="http://schemas.microsoft.com/office/powerpoint/2010/main" val="150012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54E4ADD7-897F-4F47-A317-DE24AB827DD3}" type="slidenum">
              <a:rPr lang="en-US" smtClean="0"/>
              <a:pPr/>
              <a:t>18</a:t>
            </a:fld>
            <a:endParaRPr lang="en-US"/>
          </a:p>
        </p:txBody>
      </p:sp>
    </p:spTree>
    <p:extLst>
      <p:ext uri="{BB962C8B-B14F-4D97-AF65-F5344CB8AC3E}">
        <p14:creationId xmlns:p14="http://schemas.microsoft.com/office/powerpoint/2010/main" val="1644999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image" Target="../media/image8.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www.w3schools.com/dsa/dsa_intro.php" TargetMode="External"/><Relationship Id="rId7" Type="http://schemas.openxmlformats.org/officeDocument/2006/relationships/hyperlink" Target="https://www.codecademy.com/learn/learn-data-structures-and-algorithms-with-python" TargetMode="External"/><Relationship Id="rId2" Type="http://schemas.openxmlformats.org/officeDocument/2006/relationships/hyperlink" Target="https://docs.python.org/3/tutorial/datastructures.html" TargetMode="External"/><Relationship Id="rId1" Type="http://schemas.openxmlformats.org/officeDocument/2006/relationships/slideLayout" Target="../slideLayouts/slideLayout2.xml"/><Relationship Id="rId6" Type="http://schemas.openxmlformats.org/officeDocument/2006/relationships/hyperlink" Target="https://www.coursera.org/learn/python-data" TargetMode="External"/><Relationship Id="rId5" Type="http://schemas.openxmlformats.org/officeDocument/2006/relationships/hyperlink" Target="https://onlinecourses.nptel.ac.in/noc25_cs59/preview" TargetMode="External"/><Relationship Id="rId4" Type="http://schemas.openxmlformats.org/officeDocument/2006/relationships/hyperlink" Target="https://www.geeksforgeeks.org/python-data-structures/"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66234"/>
            <a:ext cx="6027459" cy="6623931"/>
          </a:xfrm>
          <a:prstGeom prst="rect">
            <a:avLst/>
          </a:prstGeom>
          <a:noFill/>
          <a:ln>
            <a:noFill/>
          </a:ln>
        </p:spPr>
      </p:pic>
      <p:sp>
        <p:nvSpPr>
          <p:cNvPr id="476" name="Google Shape;476;p16"/>
          <p:cNvSpPr txBox="1"/>
          <p:nvPr/>
        </p:nvSpPr>
        <p:spPr>
          <a:xfrm>
            <a:off x="4540107" y="2543953"/>
            <a:ext cx="7605177" cy="2554505"/>
          </a:xfrm>
          <a:prstGeom prst="rect">
            <a:avLst/>
          </a:prstGeom>
          <a:noFill/>
          <a:ln>
            <a:noFill/>
          </a:ln>
        </p:spPr>
        <p:txBody>
          <a:bodyPr spcFirstLastPara="1" wrap="square" lIns="91425" tIns="45700" rIns="91425" bIns="45700" anchor="t" anchorCtr="0">
            <a:spAutoFit/>
          </a:bodyPr>
          <a:lstStyle/>
          <a:p>
            <a:pPr lvl="1" algn="ctr"/>
            <a:r>
              <a:rPr lang="en-US" sz="3200" b="1" cap="all" dirty="0" smtClean="0">
                <a:ln/>
                <a:solidFill>
                  <a:srgbClr val="C00000"/>
                </a:solidFill>
                <a:cs typeface="Poppins" panose="00000500000000000000" pitchFamily="2" charset="0"/>
                <a:sym typeface="BioRhyme ExtraBold"/>
              </a:rPr>
              <a:t>Course: </a:t>
            </a:r>
            <a:r>
              <a:rPr lang="en-US" sz="3200" b="1" dirty="0" smtClean="0">
                <a:ln/>
                <a:solidFill>
                  <a:schemeClr val="accent1">
                    <a:lumMod val="75000"/>
                  </a:schemeClr>
                </a:solidFill>
                <a:cs typeface="Poppins" panose="00000500000000000000" pitchFamily="2" charset="0"/>
                <a:sym typeface="BioRhyme ExtraBold"/>
              </a:rPr>
              <a:t>Data Structures using Python</a:t>
            </a:r>
            <a:endParaRPr lang="en-US" sz="3200" b="1" cap="all" dirty="0" smtClean="0">
              <a:ln/>
              <a:solidFill>
                <a:schemeClr val="accent1">
                  <a:lumMod val="75000"/>
                </a:schemeClr>
              </a:solidFill>
              <a:cs typeface="Poppins" panose="00000500000000000000" pitchFamily="2" charset="0"/>
              <a:sym typeface="BioRhyme ExtraBold"/>
            </a:endParaRPr>
          </a:p>
          <a:p>
            <a:pPr marR="0" lvl="0" indent="0" algn="ctr">
              <a:spcBef>
                <a:spcPts val="0"/>
              </a:spcBef>
              <a:spcAft>
                <a:spcPts val="0"/>
              </a:spcAft>
              <a:buNone/>
            </a:pPr>
            <a:endParaRPr lang="en-US" sz="3200" b="1" cap="all" dirty="0">
              <a:ln/>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3200" b="1" cap="all" dirty="0" smtClean="0">
                <a:ln/>
                <a:solidFill>
                  <a:srgbClr val="C00000"/>
                </a:solidFill>
                <a:cs typeface="Poppins" panose="00000500000000000000" pitchFamily="2" charset="0"/>
                <a:sym typeface="BioRhyme ExtraBold"/>
              </a:rPr>
              <a:t>      Course code: </a:t>
            </a:r>
            <a:r>
              <a:rPr lang="en-US" sz="3200" b="1" cap="all" dirty="0" smtClean="0">
                <a:ln/>
                <a:solidFill>
                  <a:schemeClr val="accent1">
                    <a:lumMod val="75000"/>
                  </a:schemeClr>
                </a:solidFill>
                <a:cs typeface="Poppins" panose="00000500000000000000" pitchFamily="2" charset="0"/>
                <a:sym typeface="BioRhyme ExtraBold"/>
              </a:rPr>
              <a:t>24sc1204</a:t>
            </a:r>
            <a:r>
              <a:rPr lang="en-US" sz="3200" b="1" cap="all" dirty="0" smtClean="0">
                <a:ln/>
                <a:solidFill>
                  <a:srgbClr val="C00000"/>
                </a:solidFill>
                <a:cs typeface="Poppins" panose="00000500000000000000" pitchFamily="2" charset="0"/>
                <a:sym typeface="BioRhyme ExtraBold"/>
              </a:rPr>
              <a:t> </a:t>
            </a:r>
          </a:p>
          <a:p>
            <a:pPr lvl="2" algn="ctr"/>
            <a:endParaRPr lang="en-US" sz="3200" b="1" cap="all" dirty="0" smtClean="0">
              <a:ln/>
              <a:solidFill>
                <a:srgbClr val="C00000"/>
              </a:solidFill>
              <a:cs typeface="Poppins" panose="00000500000000000000" pitchFamily="2" charset="0"/>
              <a:sym typeface="BioRhyme ExtraBold"/>
            </a:endParaRPr>
          </a:p>
          <a:p>
            <a:pPr lvl="2" algn="ctr"/>
            <a:r>
              <a:rPr lang="en-US" sz="3200" b="1" cap="all" dirty="0" smtClean="0">
                <a:ln/>
                <a:solidFill>
                  <a:srgbClr val="C00000"/>
                </a:solidFill>
                <a:cs typeface="Poppins" panose="00000500000000000000" pitchFamily="2" charset="0"/>
                <a:sym typeface="BioRhyme ExtraBold"/>
              </a:rPr>
              <a:t>Topic</a:t>
            </a:r>
            <a:r>
              <a:rPr lang="en-US" sz="3200" b="1" cap="all" dirty="0">
                <a:ln/>
                <a:solidFill>
                  <a:srgbClr val="C00000"/>
                </a:solidFill>
                <a:cs typeface="Poppins" panose="00000500000000000000" pitchFamily="2" charset="0"/>
                <a:sym typeface="BioRhyme ExtraBold"/>
              </a:rPr>
              <a:t>: </a:t>
            </a:r>
            <a:r>
              <a:rPr lang="en-US" sz="3200" b="1" dirty="0" smtClean="0">
                <a:ln/>
                <a:solidFill>
                  <a:schemeClr val="accent1">
                    <a:lumMod val="75000"/>
                  </a:schemeClr>
                </a:solidFill>
                <a:cs typeface="Poppins" panose="00000500000000000000" pitchFamily="2" charset="0"/>
                <a:sym typeface="BioRhyme ExtraBold"/>
              </a:rPr>
              <a:t>Algorithmic Analysis</a:t>
            </a:r>
            <a:endParaRPr lang="en-US" sz="3200" b="1" dirty="0">
              <a:solidFill>
                <a:schemeClr val="accent1">
                  <a:lumMod val="75000"/>
                </a:schemeClr>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smtClean="0">
                <a:solidFill>
                  <a:srgbClr val="C00000"/>
                </a:solidFill>
                <a:cs typeface="Poppins" pitchFamily="2" charset="77"/>
              </a:rPr>
              <a:t>DEPARTMENT </a:t>
            </a:r>
            <a:r>
              <a:rPr lang="en-US" sz="4000" dirty="0">
                <a:solidFill>
                  <a:srgbClr val="C00000"/>
                </a:solidFill>
                <a:cs typeface="Poppins" pitchFamily="2" charset="77"/>
              </a:rPr>
              <a:t>BES-1</a:t>
            </a: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
        <p:nvSpPr>
          <p:cNvPr id="10" name="Rounded Rectangle 17">
            <a:extLst>
              <a:ext uri="{FF2B5EF4-FFF2-40B4-BE49-F238E27FC236}">
                <a16:creationId xmlns:a16="http://schemas.microsoft.com/office/drawing/2014/main" id="{D530E72E-233E-E443-1A84-D3CD02ECB889}"/>
              </a:ext>
            </a:extLst>
          </p:cNvPr>
          <p:cNvSpPr/>
          <p:nvPr/>
        </p:nvSpPr>
        <p:spPr>
          <a:xfrm>
            <a:off x="7303784" y="6187961"/>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Session-02</a:t>
            </a:r>
            <a:endParaRPr lang="en-US" sz="2800" dirty="0"/>
          </a:p>
        </p:txBody>
      </p:sp>
    </p:spTree>
    <p:extLst>
      <p:ext uri="{BB962C8B-B14F-4D97-AF65-F5344CB8AC3E}">
        <p14:creationId xmlns:p14="http://schemas.microsoft.com/office/powerpoint/2010/main" val="42358755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404727"/>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95362" y="1203219"/>
            <a:ext cx="10731286" cy="877163"/>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a:t>
            </a:r>
            <a:r>
              <a:rPr lang="en-US" sz="1600" b="0" i="0" dirty="0" smtClean="0">
                <a:effectLst/>
                <a:latin typeface="Poppins"/>
                <a:cs typeface="Poppins"/>
              </a:rPr>
              <a:t>with </a:t>
            </a:r>
            <a:r>
              <a:rPr lang="en-IN" dirty="0" smtClean="0"/>
              <a:t>algorithmic analysis to evaluate time complexities</a:t>
            </a:r>
            <a:r>
              <a:rPr lang="en-US" sz="1600" b="0" i="0" dirty="0" smtClean="0">
                <a:effectLst/>
                <a:latin typeface="Poppins"/>
                <a:cs typeface="Poppins"/>
              </a:rPr>
              <a:t>.</a:t>
            </a:r>
            <a:endParaRPr lang="en-US" sz="1600" b="0" i="0" dirty="0">
              <a:effectLst/>
              <a:latin typeface="Poppins"/>
              <a:cs typeface="Poppins"/>
            </a:endParaRP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212970" y="2326168"/>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995362" y="2938317"/>
            <a:ext cx="10731286" cy="1107996"/>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endParaRPr lang="en-US" sz="1600" dirty="0">
              <a:latin typeface="Arial" panose="020B0604020202020204" pitchFamily="34" charset="0"/>
            </a:endParaRPr>
          </a:p>
          <a:p>
            <a:pPr marL="285750" indent="-285750">
              <a:buFont typeface="Wingdings" panose="05000000000000000000" pitchFamily="2" charset="2"/>
              <a:buChar char="§"/>
            </a:pPr>
            <a:r>
              <a:rPr lang="en-IN" dirty="0" smtClean="0"/>
              <a:t>Analyse the algorithm to run time complexity.</a:t>
            </a:r>
          </a:p>
          <a:p>
            <a:pPr marL="285750" indent="-285750">
              <a:buFont typeface="Wingdings" panose="05000000000000000000" pitchFamily="2" charset="2"/>
              <a:buChar char="§"/>
            </a:pPr>
            <a:r>
              <a:rPr lang="en-US" sz="1600" b="0" i="0" dirty="0" smtClean="0">
                <a:effectLst/>
                <a:latin typeface="Poppins"/>
                <a:cs typeface="Poppins"/>
              </a:rPr>
              <a:t>Analyze the time and space complexities of algorithms</a:t>
            </a:r>
            <a:endParaRPr lang="en-US" sz="1600" b="0" i="0" dirty="0">
              <a:effectLst/>
              <a:latin typeface="Poppins"/>
              <a:cs typeface="Poppins"/>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0" y="1165982"/>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80962" y="3189003"/>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536001"/>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80962" y="5398836"/>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995362" y="5148150"/>
            <a:ext cx="10731286" cy="1138773"/>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285750" lvl="0" indent="-285750">
              <a:buFont typeface="Wingdings" panose="05000000000000000000" pitchFamily="2" charset="2"/>
              <a:buChar char="§"/>
            </a:pPr>
            <a:r>
              <a:rPr lang="en-IN" dirty="0" smtClean="0"/>
              <a:t>Evaluate the time complexities of the different Algorithmic </a:t>
            </a:r>
            <a:r>
              <a:rPr lang="en-IN" dirty="0"/>
              <a:t>solutions for various types of </a:t>
            </a:r>
            <a:r>
              <a:rPr lang="en-IN" dirty="0" smtClean="0"/>
              <a:t>Problems.</a:t>
            </a:r>
            <a:endParaRPr lang="en-IN" dirty="0"/>
          </a:p>
          <a:p>
            <a:pPr marL="285750" indent="-285750">
              <a:buFont typeface="Wingdings" panose="05000000000000000000" pitchFamily="2" charset="2"/>
              <a:buChar char="§"/>
            </a:pPr>
            <a:r>
              <a:rPr lang="en-IN" dirty="0" smtClean="0"/>
              <a:t>Write the notations for</a:t>
            </a:r>
            <a:r>
              <a:rPr lang="en-US" dirty="0" smtClean="0"/>
              <a:t> </a:t>
            </a:r>
            <a:r>
              <a:rPr lang="en-US" dirty="0"/>
              <a:t>calculating the running time complexity of </a:t>
            </a:r>
            <a:r>
              <a:rPr lang="en-US" dirty="0" smtClean="0"/>
              <a:t>different algorithms</a:t>
            </a:r>
            <a:endParaRPr lang="en-US" sz="1600" b="0" i="0" dirty="0">
              <a:effectLst/>
              <a:latin typeface="Arial" panose="020B0604020202020204" pitchFamily="34" charset="0"/>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8" name="Rounded Rectangle 17">
            <a:extLst>
              <a:ext uri="{FF2B5EF4-FFF2-40B4-BE49-F238E27FC236}">
                <a16:creationId xmlns:a16="http://schemas.microsoft.com/office/drawing/2014/main" id="{39DC903D-9003-4F3D-87E9-EE7D5BEB5D03}"/>
              </a:ext>
            </a:extLst>
          </p:cNvPr>
          <p:cNvSpPr/>
          <p:nvPr/>
        </p:nvSpPr>
        <p:spPr>
          <a:xfrm>
            <a:off x="3473653" y="1069159"/>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smtClean="0">
                <a:ln w="0"/>
                <a:solidFill>
                  <a:schemeClr val="bg1"/>
                </a:solidFill>
                <a:effectLst>
                  <a:outerShdw blurRad="38100" dist="19050" dir="2700000" algn="tl" rotWithShape="0">
                    <a:schemeClr val="dk1">
                      <a:alpha val="40000"/>
                    </a:schemeClr>
                  </a:outerShdw>
                </a:effectLst>
                <a:latin typeface="inter-regular"/>
                <a:cs typeface="Poppins" panose="00000500000000000000" pitchFamily="2" charset="0"/>
              </a:rPr>
              <a:t>ASYMPTOTIC NOTATIONS</a:t>
            </a:r>
            <a:endParaRPr lang="en-US" dirty="0">
              <a:ln w="0"/>
              <a:solidFill>
                <a:schemeClr val="bg1"/>
              </a:solidFill>
              <a:effectLst>
                <a:outerShdw blurRad="38100" dist="19050" dir="2700000" algn="tl" rotWithShape="0">
                  <a:schemeClr val="dk1">
                    <a:alpha val="40000"/>
                  </a:schemeClr>
                </a:outerShdw>
              </a:effectLst>
              <a:latin typeface="inter-regular"/>
              <a:cs typeface="Poppins" panose="00000500000000000000" pitchFamily="2" charset="0"/>
            </a:endParaRPr>
          </a:p>
        </p:txBody>
      </p:sp>
      <p:sp>
        <p:nvSpPr>
          <p:cNvPr id="6" name="Content Placeholder 2">
            <a:extLst>
              <a:ext uri="{FF2B5EF4-FFF2-40B4-BE49-F238E27FC236}">
                <a16:creationId xmlns:a16="http://schemas.microsoft.com/office/drawing/2014/main" id="{D498F8BB-622F-BFA4-C632-67AFA4330F98}"/>
              </a:ext>
            </a:extLst>
          </p:cNvPr>
          <p:cNvSpPr>
            <a:spLocks noGrp="1"/>
          </p:cNvSpPr>
          <p:nvPr>
            <p:ph idx="1"/>
          </p:nvPr>
        </p:nvSpPr>
        <p:spPr>
          <a:xfrm>
            <a:off x="2516706" y="1581271"/>
            <a:ext cx="9060024" cy="4979017"/>
          </a:xfrm>
        </p:spPr>
        <p:txBody>
          <a:bodyPr>
            <a:normAutofit/>
          </a:bodyPr>
          <a:lstStyle/>
          <a:p>
            <a:pPr marR="709930">
              <a:lnSpc>
                <a:spcPct val="148000"/>
              </a:lnSpc>
              <a:spcBef>
                <a:spcPts val="1045"/>
              </a:spcBef>
              <a:spcAft>
                <a:spcPts val="0"/>
              </a:spcAft>
              <a:buFont typeface="Wingdings" panose="05000000000000000000" pitchFamily="2" charset="2"/>
              <a:buChar char="Ø"/>
            </a:pPr>
            <a:r>
              <a:rPr lang="en-US" sz="1800" dirty="0">
                <a:latin typeface="inter-regular"/>
                <a:ea typeface="Times New Roman" panose="02020603050405020304" pitchFamily="18" charset="0"/>
              </a:rPr>
              <a:t>The performance of an algorithm can change with a change in the input </a:t>
            </a:r>
            <a:r>
              <a:rPr lang="en-US" sz="1800" dirty="0" smtClean="0">
                <a:latin typeface="inter-regular"/>
                <a:ea typeface="Times New Roman" panose="02020603050405020304" pitchFamily="18" charset="0"/>
              </a:rPr>
              <a:t>size</a:t>
            </a:r>
          </a:p>
          <a:p>
            <a:pPr marR="709930">
              <a:lnSpc>
                <a:spcPct val="148000"/>
              </a:lnSpc>
              <a:spcBef>
                <a:spcPts val="1045"/>
              </a:spcBef>
              <a:spcAft>
                <a:spcPts val="0"/>
              </a:spcAft>
              <a:buFont typeface="Wingdings" panose="05000000000000000000" pitchFamily="2" charset="2"/>
              <a:buChar char="Ø"/>
            </a:pPr>
            <a:r>
              <a:rPr lang="en-US" sz="1800" dirty="0">
                <a:latin typeface="inter-regular"/>
                <a:ea typeface="Times New Roman" panose="02020603050405020304" pitchFamily="18" charset="0"/>
              </a:rPr>
              <a:t>Asymptotic Notations can describe an algorithm's run time when the input tends toward a specific or limiting value. </a:t>
            </a:r>
            <a:endParaRPr lang="en-US" sz="1800" dirty="0" smtClean="0">
              <a:latin typeface="inter-regular"/>
              <a:ea typeface="Times New Roman" panose="02020603050405020304" pitchFamily="18" charset="0"/>
            </a:endParaRPr>
          </a:p>
          <a:p>
            <a:pPr marR="709930">
              <a:lnSpc>
                <a:spcPct val="148000"/>
              </a:lnSpc>
              <a:spcBef>
                <a:spcPts val="1045"/>
              </a:spcBef>
              <a:spcAft>
                <a:spcPts val="0"/>
              </a:spcAft>
              <a:buFont typeface="Wingdings" panose="05000000000000000000" pitchFamily="2" charset="2"/>
              <a:buChar char="Ø"/>
            </a:pPr>
            <a:r>
              <a:rPr lang="en-US" sz="1800" dirty="0" smtClean="0">
                <a:latin typeface="inter-regular"/>
                <a:ea typeface="Times New Roman" panose="02020603050405020304" pitchFamily="18" charset="0"/>
              </a:rPr>
              <a:t>Asymptotic </a:t>
            </a:r>
            <a:r>
              <a:rPr lang="en-US" sz="1800" dirty="0">
                <a:latin typeface="inter-regular"/>
                <a:ea typeface="Times New Roman" panose="02020603050405020304" pitchFamily="18" charset="0"/>
              </a:rPr>
              <a:t>analysis helps to analyze the algorithm performance change in the order of input size. </a:t>
            </a:r>
            <a:endParaRPr lang="en-US" sz="1800" dirty="0" smtClean="0">
              <a:latin typeface="inter-regular"/>
              <a:ea typeface="Times New Roman" panose="02020603050405020304" pitchFamily="18" charset="0"/>
            </a:endParaRPr>
          </a:p>
          <a:p>
            <a:pPr marR="709930">
              <a:lnSpc>
                <a:spcPct val="148000"/>
              </a:lnSpc>
              <a:spcBef>
                <a:spcPts val="1045"/>
              </a:spcBef>
              <a:spcAft>
                <a:spcPts val="0"/>
              </a:spcAft>
              <a:buFont typeface="Wingdings" panose="05000000000000000000" pitchFamily="2" charset="2"/>
              <a:buChar char="Ø"/>
            </a:pPr>
            <a:r>
              <a:rPr lang="en-US" sz="1800" dirty="0">
                <a:latin typeface="inter-regular"/>
                <a:ea typeface="Times New Roman" panose="02020603050405020304" pitchFamily="18" charset="0"/>
              </a:rPr>
              <a:t>Usually, the analysis of an algorithm used for calculating the</a:t>
            </a:r>
            <a:r>
              <a:rPr lang="en-US" sz="1800" spc="-340" dirty="0">
                <a:latin typeface="inter-regular"/>
                <a:ea typeface="Times New Roman" panose="02020603050405020304" pitchFamily="18" charset="0"/>
              </a:rPr>
              <a:t>  </a:t>
            </a:r>
            <a:r>
              <a:rPr lang="en-US" sz="1800" dirty="0">
                <a:latin typeface="inter-regular"/>
                <a:ea typeface="Times New Roman" panose="02020603050405020304" pitchFamily="18" charset="0"/>
              </a:rPr>
              <a:t>running time</a:t>
            </a:r>
            <a:r>
              <a:rPr lang="en-US" sz="1800" spc="-5" dirty="0">
                <a:latin typeface="inter-regular"/>
                <a:ea typeface="Times New Roman" panose="02020603050405020304" pitchFamily="18" charset="0"/>
              </a:rPr>
              <a:t> </a:t>
            </a:r>
            <a:r>
              <a:rPr lang="en-US" sz="1800" dirty="0">
                <a:latin typeface="inter-regular"/>
                <a:ea typeface="Times New Roman" panose="02020603050405020304" pitchFamily="18" charset="0"/>
              </a:rPr>
              <a:t>complexity</a:t>
            </a:r>
            <a:r>
              <a:rPr lang="en-US" sz="1800" spc="-25" dirty="0">
                <a:latin typeface="inter-regular"/>
                <a:ea typeface="Times New Roman" panose="02020603050405020304" pitchFamily="18" charset="0"/>
              </a:rPr>
              <a:t> </a:t>
            </a:r>
            <a:r>
              <a:rPr lang="en-US" sz="1800" dirty="0">
                <a:latin typeface="inter-regular"/>
                <a:ea typeface="Times New Roman" panose="02020603050405020304" pitchFamily="18" charset="0"/>
              </a:rPr>
              <a:t>of</a:t>
            </a:r>
            <a:r>
              <a:rPr lang="en-US" sz="1800" spc="-5" dirty="0">
                <a:latin typeface="inter-regular"/>
                <a:ea typeface="Times New Roman" panose="02020603050405020304" pitchFamily="18" charset="0"/>
              </a:rPr>
              <a:t> </a:t>
            </a:r>
            <a:r>
              <a:rPr lang="en-US" sz="1800" dirty="0">
                <a:latin typeface="inter-regular"/>
                <a:ea typeface="Times New Roman" panose="02020603050405020304" pitchFamily="18" charset="0"/>
              </a:rPr>
              <a:t>an</a:t>
            </a:r>
            <a:r>
              <a:rPr lang="en-US" sz="1800" spc="5" dirty="0">
                <a:latin typeface="inter-regular"/>
                <a:ea typeface="Times New Roman" panose="02020603050405020304" pitchFamily="18" charset="0"/>
              </a:rPr>
              <a:t> </a:t>
            </a:r>
            <a:r>
              <a:rPr lang="en-US" sz="1800" dirty="0">
                <a:latin typeface="inter-regular"/>
                <a:ea typeface="Times New Roman" panose="02020603050405020304" pitchFamily="18" charset="0"/>
              </a:rPr>
              <a:t>algorithm </a:t>
            </a:r>
            <a:r>
              <a:rPr lang="en-US" sz="1800" dirty="0" smtClean="0">
                <a:latin typeface="inter-regular"/>
                <a:ea typeface="Times New Roman" panose="02020603050405020304" pitchFamily="18" charset="0"/>
              </a:rPr>
              <a:t>is </a:t>
            </a:r>
            <a:r>
              <a:rPr lang="en-US" sz="1800" dirty="0">
                <a:latin typeface="inter-regular"/>
                <a:ea typeface="Times New Roman" panose="02020603050405020304" pitchFamily="18" charset="0"/>
              </a:rPr>
              <a:t>done based on three A</a:t>
            </a:r>
            <a:r>
              <a:rPr lang="en-US" sz="1800" dirty="0" smtClean="0">
                <a:latin typeface="inter-regular"/>
                <a:ea typeface="Times New Roman" panose="02020603050405020304" pitchFamily="18" charset="0"/>
              </a:rPr>
              <a:t>symptotic </a:t>
            </a:r>
            <a:r>
              <a:rPr lang="en-US" sz="1800" dirty="0">
                <a:latin typeface="inter-regular"/>
                <a:ea typeface="Times New Roman" panose="02020603050405020304" pitchFamily="18" charset="0"/>
              </a:rPr>
              <a:t>N</a:t>
            </a:r>
            <a:r>
              <a:rPr lang="en-US" sz="1800" dirty="0" smtClean="0">
                <a:latin typeface="inter-regular"/>
                <a:ea typeface="Times New Roman" panose="02020603050405020304" pitchFamily="18" charset="0"/>
              </a:rPr>
              <a:t>otations:</a:t>
            </a:r>
            <a:endParaRPr lang="en-US" sz="1800" dirty="0">
              <a:latin typeface="inter-regular"/>
              <a:ea typeface="Times New Roman" panose="02020603050405020304" pitchFamily="18" charset="0"/>
            </a:endParaRPr>
          </a:p>
          <a:p>
            <a:pPr marR="709930" lvl="2">
              <a:lnSpc>
                <a:spcPct val="148000"/>
              </a:lnSpc>
              <a:spcBef>
                <a:spcPts val="1045"/>
              </a:spcBef>
              <a:buFont typeface="Wingdings" panose="05000000000000000000" pitchFamily="2" charset="2"/>
              <a:buChar char="v"/>
            </a:pPr>
            <a:r>
              <a:rPr lang="en-US" sz="1800" dirty="0">
                <a:latin typeface="inter-regular"/>
                <a:ea typeface="Times New Roman" panose="02020603050405020304" pitchFamily="18" charset="0"/>
              </a:rPr>
              <a:t>Best Case (Omega Notation (Ω))</a:t>
            </a:r>
          </a:p>
          <a:p>
            <a:pPr marR="709930" lvl="2">
              <a:lnSpc>
                <a:spcPct val="148000"/>
              </a:lnSpc>
              <a:spcBef>
                <a:spcPts val="1045"/>
              </a:spcBef>
              <a:buFont typeface="Wingdings" panose="05000000000000000000" pitchFamily="2" charset="2"/>
              <a:buChar char="v"/>
            </a:pPr>
            <a:r>
              <a:rPr lang="en-US" sz="1800" dirty="0">
                <a:latin typeface="inter-regular"/>
                <a:ea typeface="Times New Roman" panose="02020603050405020304" pitchFamily="18" charset="0"/>
              </a:rPr>
              <a:t>Average Case (Theta Notation (Θ))</a:t>
            </a:r>
          </a:p>
          <a:p>
            <a:pPr marR="709930" lvl="2">
              <a:lnSpc>
                <a:spcPct val="148000"/>
              </a:lnSpc>
              <a:spcBef>
                <a:spcPts val="1045"/>
              </a:spcBef>
              <a:buFont typeface="Wingdings" panose="05000000000000000000" pitchFamily="2" charset="2"/>
              <a:buChar char="v"/>
            </a:pPr>
            <a:r>
              <a:rPr lang="en-US" sz="1800" dirty="0">
                <a:latin typeface="inter-regular"/>
                <a:ea typeface="Times New Roman" panose="02020603050405020304" pitchFamily="18" charset="0"/>
              </a:rPr>
              <a:t>Worst Case </a:t>
            </a:r>
            <a:r>
              <a:rPr lang="en-US" sz="1800" dirty="0" smtClean="0">
                <a:latin typeface="inter-regular"/>
                <a:ea typeface="Times New Roman" panose="02020603050405020304" pitchFamily="18" charset="0"/>
              </a:rPr>
              <a:t>(Big-O </a:t>
            </a:r>
            <a:r>
              <a:rPr lang="en-US" sz="1800" dirty="0">
                <a:latin typeface="inter-regular"/>
                <a:ea typeface="Times New Roman" panose="02020603050405020304" pitchFamily="18" charset="0"/>
              </a:rPr>
              <a:t>Notation(O</a:t>
            </a:r>
            <a:r>
              <a:rPr lang="en-US" sz="1800" dirty="0" smtClean="0">
                <a:latin typeface="inter-regular"/>
                <a:ea typeface="Times New Roman" panose="02020603050405020304" pitchFamily="18" charset="0"/>
              </a:rPr>
              <a:t>))</a:t>
            </a:r>
          </a:p>
        </p:txBody>
      </p:sp>
      <p:sp>
        <p:nvSpPr>
          <p:cNvPr id="5" name="Footer Placeholder 4">
            <a:extLst>
              <a:ext uri="{FF2B5EF4-FFF2-40B4-BE49-F238E27FC236}">
                <a16:creationId xmlns:a16="http://schemas.microsoft.com/office/drawing/2014/main" id="{C59A143E-7875-43E7-97E0-3557B9071E49}"/>
              </a:ext>
            </a:extLst>
          </p:cNvPr>
          <p:cNvSpPr>
            <a:spLocks noGrp="1"/>
          </p:cNvSpPr>
          <p:nvPr>
            <p:ph type="ftr" sz="quarter" idx="11"/>
          </p:nvPr>
        </p:nvSpPr>
        <p:spPr>
          <a:xfrm>
            <a:off x="272868" y="6458858"/>
            <a:ext cx="11797211" cy="399142"/>
          </a:xfrm>
        </p:spPr>
        <p:txBody>
          <a:bodyPr/>
          <a:lstStyle/>
          <a:p>
            <a:pPr algn="l">
              <a:defRPr/>
            </a:pPr>
            <a:r>
              <a:rPr lang="en-US" sz="2000" b="1" dirty="0">
                <a:solidFill>
                  <a:srgbClr val="002060"/>
                </a:solidFill>
                <a:latin typeface="Times New Roman" pitchFamily="18" charset="0"/>
                <a:cs typeface="Times New Roman" pitchFamily="18" charset="0"/>
              </a:rPr>
              <a:t>KLEF                                           </a:t>
            </a:r>
            <a:r>
              <a:rPr lang="en-US" sz="2000" b="1" dirty="0" smtClean="0">
                <a:solidFill>
                  <a:srgbClr val="002060"/>
                </a:solidFill>
                <a:latin typeface="Times New Roman" pitchFamily="18" charset="0"/>
                <a:cs typeface="Times New Roman" pitchFamily="18" charset="0"/>
              </a:rPr>
              <a:t>			DS           				      BES-1</a:t>
            </a:r>
            <a:endParaRPr lang="en-US" sz="2000" b="1" dirty="0">
              <a:solidFill>
                <a:srgbClr val="002060"/>
              </a:solidFill>
              <a:latin typeface="Times New Roman" pitchFamily="18" charset="0"/>
              <a:cs typeface="Times New Roman" pitchFamily="18" charset="0"/>
            </a:endParaRPr>
          </a:p>
        </p:txBody>
      </p:sp>
      <p:sp>
        <p:nvSpPr>
          <p:cNvPr id="7" name="Rounded Rectangle 17">
            <a:extLst>
              <a:ext uri="{FF2B5EF4-FFF2-40B4-BE49-F238E27FC236}">
                <a16:creationId xmlns:a16="http://schemas.microsoft.com/office/drawing/2014/main" id="{39DC903D-9003-4F3D-87E9-EE7D5BEB5D03}"/>
              </a:ext>
            </a:extLst>
          </p:cNvPr>
          <p:cNvSpPr/>
          <p:nvPr/>
        </p:nvSpPr>
        <p:spPr>
          <a:xfrm>
            <a:off x="2516706" y="181113"/>
            <a:ext cx="8077199" cy="56426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600" dirty="0" smtClean="0">
                <a:ln w="0"/>
                <a:solidFill>
                  <a:schemeClr val="bg1"/>
                </a:solidFill>
                <a:effectLst>
                  <a:outerShdw blurRad="38100" dist="19050" dir="2700000" algn="tl" rotWithShape="0">
                    <a:schemeClr val="dk1">
                      <a:alpha val="40000"/>
                    </a:schemeClr>
                  </a:outerShdw>
                </a:effectLst>
                <a:latin typeface="inter-regular"/>
                <a:cs typeface="Poppins" panose="00000500000000000000" pitchFamily="2" charset="0"/>
              </a:rPr>
              <a:t>ALGORITHM ANALYSIS</a:t>
            </a:r>
            <a:endParaRPr lang="en-US" sz="3600" dirty="0">
              <a:ln w="0"/>
              <a:solidFill>
                <a:schemeClr val="bg1"/>
              </a:solidFill>
              <a:effectLst>
                <a:outerShdw blurRad="38100" dist="19050" dir="2700000" algn="tl" rotWithShape="0">
                  <a:schemeClr val="dk1">
                    <a:alpha val="40000"/>
                  </a:schemeClr>
                </a:outerShdw>
              </a:effectLst>
              <a:latin typeface="inter-regular"/>
              <a:cs typeface="Poppins" panose="00000500000000000000" pitchFamily="2" charset="0"/>
            </a:endParaRPr>
          </a:p>
        </p:txBody>
      </p:sp>
    </p:spTree>
    <p:extLst>
      <p:ext uri="{BB962C8B-B14F-4D97-AF65-F5344CB8AC3E}">
        <p14:creationId xmlns:p14="http://schemas.microsoft.com/office/powerpoint/2010/main" val="78285375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7"/>
                                        </p:tgtEl>
                                      </p:cBhvr>
                                    </p:animEffect>
                                    <p:animScale>
                                      <p:cBhvr>
                                        <p:cTn id="12"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8" name="Rounded Rectangle 17">
            <a:extLst>
              <a:ext uri="{FF2B5EF4-FFF2-40B4-BE49-F238E27FC236}">
                <a16:creationId xmlns:a16="http://schemas.microsoft.com/office/drawing/2014/main" id="{39DC903D-9003-4F3D-87E9-EE7D5BEB5D03}"/>
              </a:ext>
            </a:extLst>
          </p:cNvPr>
          <p:cNvSpPr/>
          <p:nvPr/>
        </p:nvSpPr>
        <p:spPr>
          <a:xfrm>
            <a:off x="3443173" y="385676"/>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smtClean="0">
                <a:ln w="0"/>
                <a:solidFill>
                  <a:schemeClr val="bg1"/>
                </a:solidFill>
                <a:effectLst>
                  <a:outerShdw blurRad="38100" dist="19050" dir="2700000" algn="tl" rotWithShape="0">
                    <a:schemeClr val="dk1">
                      <a:alpha val="40000"/>
                    </a:schemeClr>
                  </a:outerShdw>
                </a:effectLst>
                <a:latin typeface="inter-regular"/>
                <a:cs typeface="Poppins" panose="00000500000000000000" pitchFamily="2" charset="0"/>
              </a:rPr>
              <a:t>OMEGA NOTATION (</a:t>
            </a:r>
            <a:r>
              <a:rPr lang="el-GR" dirty="0" smtClean="0">
                <a:ln w="0"/>
                <a:solidFill>
                  <a:schemeClr val="bg1"/>
                </a:solidFill>
                <a:effectLst>
                  <a:outerShdw blurRad="38100" dist="19050" dir="2700000" algn="tl" rotWithShape="0">
                    <a:schemeClr val="dk1">
                      <a:alpha val="40000"/>
                    </a:schemeClr>
                  </a:outerShdw>
                </a:effectLst>
                <a:latin typeface="inter-regular"/>
                <a:cs typeface="Poppins" panose="00000500000000000000" pitchFamily="2" charset="0"/>
              </a:rPr>
              <a:t>Ω</a:t>
            </a:r>
            <a:r>
              <a:rPr lang="en-US" dirty="0" smtClean="0">
                <a:ln w="0"/>
                <a:solidFill>
                  <a:schemeClr val="bg1"/>
                </a:solidFill>
                <a:effectLst>
                  <a:outerShdw blurRad="38100" dist="19050" dir="2700000" algn="tl" rotWithShape="0">
                    <a:schemeClr val="dk1">
                      <a:alpha val="40000"/>
                    </a:schemeClr>
                  </a:outerShdw>
                </a:effectLst>
                <a:latin typeface="inter-regular"/>
                <a:cs typeface="Poppins" panose="00000500000000000000" pitchFamily="2" charset="0"/>
              </a:rPr>
              <a:t>)</a:t>
            </a:r>
            <a:endParaRPr lang="en-US" dirty="0">
              <a:ln w="0"/>
              <a:solidFill>
                <a:schemeClr val="bg1"/>
              </a:solidFill>
              <a:effectLst>
                <a:outerShdw blurRad="38100" dist="19050" dir="2700000" algn="tl" rotWithShape="0">
                  <a:schemeClr val="dk1">
                    <a:alpha val="40000"/>
                  </a:schemeClr>
                </a:outerShdw>
              </a:effectLst>
              <a:latin typeface="inter-regular"/>
              <a:cs typeface="Poppins" panose="00000500000000000000" pitchFamily="2" charset="0"/>
            </a:endParaRPr>
          </a:p>
        </p:txBody>
      </p:sp>
      <p:sp>
        <p:nvSpPr>
          <p:cNvPr id="6" name="Content Placeholder 2">
            <a:extLst>
              <a:ext uri="{FF2B5EF4-FFF2-40B4-BE49-F238E27FC236}">
                <a16:creationId xmlns:a16="http://schemas.microsoft.com/office/drawing/2014/main" id="{D498F8BB-622F-BFA4-C632-67AFA4330F98}"/>
              </a:ext>
            </a:extLst>
          </p:cNvPr>
          <p:cNvSpPr>
            <a:spLocks noGrp="1"/>
          </p:cNvSpPr>
          <p:nvPr>
            <p:ph idx="1"/>
          </p:nvPr>
        </p:nvSpPr>
        <p:spPr>
          <a:xfrm>
            <a:off x="1702628" y="852773"/>
            <a:ext cx="9977120" cy="5429984"/>
          </a:xfrm>
        </p:spPr>
        <p:txBody>
          <a:bodyPr>
            <a:normAutofit fontScale="85000" lnSpcReduction="10000"/>
          </a:bodyPr>
          <a:lstStyle/>
          <a:p>
            <a:pPr marR="709930">
              <a:lnSpc>
                <a:spcPct val="148000"/>
              </a:lnSpc>
              <a:spcBef>
                <a:spcPts val="1045"/>
              </a:spcBef>
              <a:spcAft>
                <a:spcPts val="0"/>
              </a:spcAft>
              <a:buFont typeface="Wingdings" panose="05000000000000000000" pitchFamily="2" charset="2"/>
              <a:buChar char="Ø"/>
            </a:pPr>
            <a:r>
              <a:rPr lang="en-US" sz="1800" dirty="0">
                <a:latin typeface="inter-regular"/>
              </a:rPr>
              <a:t>It basically describes the best-case scenario which is opposite to the big O notation.</a:t>
            </a:r>
          </a:p>
          <a:p>
            <a:pPr marR="709930">
              <a:lnSpc>
                <a:spcPct val="148000"/>
              </a:lnSpc>
              <a:spcBef>
                <a:spcPts val="1045"/>
              </a:spcBef>
              <a:spcAft>
                <a:spcPts val="0"/>
              </a:spcAft>
              <a:buFont typeface="Wingdings" panose="05000000000000000000" pitchFamily="2" charset="2"/>
              <a:buChar char="Ø"/>
            </a:pPr>
            <a:r>
              <a:rPr lang="en-US" sz="1800" dirty="0">
                <a:latin typeface="inter-regular"/>
              </a:rPr>
              <a:t>It is the formal way to represent the lower bound of an algorithm's running time. It measures the best amount of time an algorithm can possibly take to complete or the best-case time complexity</a:t>
            </a:r>
            <a:r>
              <a:rPr lang="en-US" sz="1800" dirty="0" smtClean="0">
                <a:latin typeface="inter-regular"/>
              </a:rPr>
              <a:t>.</a:t>
            </a:r>
            <a:endParaRPr lang="en-US" sz="1800" dirty="0">
              <a:latin typeface="inter-regular"/>
            </a:endParaRPr>
          </a:p>
          <a:p>
            <a:pPr marR="709930">
              <a:lnSpc>
                <a:spcPct val="148000"/>
              </a:lnSpc>
              <a:spcBef>
                <a:spcPts val="1045"/>
              </a:spcBef>
              <a:spcAft>
                <a:spcPts val="0"/>
              </a:spcAft>
              <a:buFont typeface="Wingdings" panose="05000000000000000000" pitchFamily="2" charset="2"/>
              <a:buChar char="Ø"/>
            </a:pPr>
            <a:r>
              <a:rPr lang="en-US" sz="1800" dirty="0">
                <a:latin typeface="inter-regular"/>
              </a:rPr>
              <a:t>It determines what is the fastest time that an algorithm can  run</a:t>
            </a:r>
            <a:r>
              <a:rPr lang="en-US" sz="1800" dirty="0" smtClean="0">
                <a:latin typeface="inter-regular"/>
              </a:rPr>
              <a:t>.</a:t>
            </a:r>
          </a:p>
          <a:p>
            <a:pPr marR="709930">
              <a:lnSpc>
                <a:spcPct val="148000"/>
              </a:lnSpc>
              <a:spcBef>
                <a:spcPts val="1045"/>
              </a:spcBef>
              <a:spcAft>
                <a:spcPts val="0"/>
              </a:spcAft>
              <a:buFont typeface="Wingdings" panose="05000000000000000000" pitchFamily="2" charset="2"/>
              <a:buChar char="Ø"/>
            </a:pPr>
            <a:r>
              <a:rPr lang="en-US" sz="1800" dirty="0">
                <a:latin typeface="inter-regular"/>
              </a:rPr>
              <a:t>Follow the steps below to calculate Ω for a program:</a:t>
            </a:r>
          </a:p>
          <a:p>
            <a:pPr marR="709930" lvl="1">
              <a:lnSpc>
                <a:spcPct val="148000"/>
              </a:lnSpc>
              <a:spcBef>
                <a:spcPts val="1045"/>
              </a:spcBef>
            </a:pPr>
            <a:r>
              <a:rPr lang="en-US" sz="1900" dirty="0">
                <a:latin typeface="inter-regular"/>
              </a:rPr>
              <a:t>Break the program into smaller segments.</a:t>
            </a:r>
          </a:p>
          <a:p>
            <a:pPr marR="709930" lvl="1">
              <a:lnSpc>
                <a:spcPct val="148000"/>
              </a:lnSpc>
              <a:spcBef>
                <a:spcPts val="1045"/>
              </a:spcBef>
            </a:pPr>
            <a:r>
              <a:rPr lang="en-US" sz="1900" dirty="0">
                <a:latin typeface="inter-regular"/>
              </a:rPr>
              <a:t>Find the number of operations performed for each segment(in terms of the input size) assuming the given input is such that the program takes the least amount of time.</a:t>
            </a:r>
          </a:p>
          <a:p>
            <a:pPr marR="709930" lvl="1">
              <a:lnSpc>
                <a:spcPct val="148000"/>
              </a:lnSpc>
              <a:spcBef>
                <a:spcPts val="1045"/>
              </a:spcBef>
            </a:pPr>
            <a:r>
              <a:rPr lang="en-US" sz="1900" dirty="0">
                <a:latin typeface="inter-regular"/>
              </a:rPr>
              <a:t>Add up all the operations and simplify it, let’s say it is f(n).</a:t>
            </a:r>
          </a:p>
          <a:p>
            <a:pPr marR="709930" lvl="1">
              <a:lnSpc>
                <a:spcPct val="148000"/>
              </a:lnSpc>
              <a:spcBef>
                <a:spcPts val="1045"/>
              </a:spcBef>
            </a:pPr>
            <a:r>
              <a:rPr lang="en-US" sz="1900" dirty="0">
                <a:latin typeface="inter-regular"/>
              </a:rPr>
              <a:t>Remove all the constants and choose the term having the least order or any other function which is always less than f(n) when n tends to infinity, let say it is g(n) then, Omega (Ω) of f(n) is Ω(g(n)).</a:t>
            </a:r>
          </a:p>
          <a:p>
            <a:pPr marR="709930">
              <a:lnSpc>
                <a:spcPct val="148000"/>
              </a:lnSpc>
              <a:spcBef>
                <a:spcPts val="1045"/>
              </a:spcBef>
              <a:spcAft>
                <a:spcPts val="0"/>
              </a:spcAft>
              <a:buFont typeface="Wingdings" panose="05000000000000000000" pitchFamily="2" charset="2"/>
              <a:buChar char="Ø"/>
            </a:pPr>
            <a:endParaRPr lang="en-US" sz="1800" dirty="0">
              <a:latin typeface="inter-regular"/>
            </a:endParaRPr>
          </a:p>
        </p:txBody>
      </p:sp>
      <p:sp>
        <p:nvSpPr>
          <p:cNvPr id="5" name="Footer Placeholder 4">
            <a:extLst>
              <a:ext uri="{FF2B5EF4-FFF2-40B4-BE49-F238E27FC236}">
                <a16:creationId xmlns:a16="http://schemas.microsoft.com/office/drawing/2014/main" id="{C59A143E-7875-43E7-97E0-3557B9071E49}"/>
              </a:ext>
            </a:extLst>
          </p:cNvPr>
          <p:cNvSpPr>
            <a:spLocks noGrp="1"/>
          </p:cNvSpPr>
          <p:nvPr>
            <p:ph type="ftr" sz="quarter" idx="11"/>
          </p:nvPr>
        </p:nvSpPr>
        <p:spPr>
          <a:xfrm>
            <a:off x="272868" y="6458858"/>
            <a:ext cx="11797211" cy="399142"/>
          </a:xfrm>
        </p:spPr>
        <p:txBody>
          <a:bodyPr/>
          <a:lstStyle/>
          <a:p>
            <a:pPr algn="l">
              <a:defRPr/>
            </a:pPr>
            <a:r>
              <a:rPr lang="en-US" sz="2000" b="1" dirty="0">
                <a:solidFill>
                  <a:srgbClr val="002060"/>
                </a:solidFill>
                <a:latin typeface="Times New Roman" pitchFamily="18" charset="0"/>
                <a:cs typeface="Times New Roman" pitchFamily="18" charset="0"/>
              </a:rPr>
              <a:t>KLEF                                           </a:t>
            </a:r>
            <a:r>
              <a:rPr lang="en-US" sz="2000" b="1" dirty="0" smtClean="0">
                <a:solidFill>
                  <a:srgbClr val="002060"/>
                </a:solidFill>
                <a:latin typeface="Times New Roman" pitchFamily="18" charset="0"/>
                <a:cs typeface="Times New Roman" pitchFamily="18" charset="0"/>
              </a:rPr>
              <a:t>			DS           				      BES-1</a:t>
            </a:r>
            <a:endParaRPr lang="en-US" sz="2000" b="1" dirty="0">
              <a:solidFill>
                <a:srgbClr val="002060"/>
              </a:solidFill>
              <a:latin typeface="Times New Roman" pitchFamily="18" charset="0"/>
              <a:cs typeface="Times New Roman" pitchFamily="18" charset="0"/>
            </a:endParaRPr>
          </a:p>
        </p:txBody>
      </p:sp>
    </p:spTree>
    <p:extLst>
      <p:ext uri="{BB962C8B-B14F-4D97-AF65-F5344CB8AC3E}">
        <p14:creationId xmlns:p14="http://schemas.microsoft.com/office/powerpoint/2010/main" val="71379703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8" name="Rounded Rectangle 17">
            <a:extLst>
              <a:ext uri="{FF2B5EF4-FFF2-40B4-BE49-F238E27FC236}">
                <a16:creationId xmlns:a16="http://schemas.microsoft.com/office/drawing/2014/main" id="{39DC903D-9003-4F3D-87E9-EE7D5BEB5D03}"/>
              </a:ext>
            </a:extLst>
          </p:cNvPr>
          <p:cNvSpPr/>
          <p:nvPr/>
        </p:nvSpPr>
        <p:spPr>
          <a:xfrm>
            <a:off x="3402533" y="103880"/>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smtClean="0">
                <a:ln w="0"/>
                <a:solidFill>
                  <a:schemeClr val="bg1"/>
                </a:solidFill>
                <a:effectLst>
                  <a:outerShdw blurRad="38100" dist="19050" dir="2700000" algn="tl" rotWithShape="0">
                    <a:schemeClr val="dk1">
                      <a:alpha val="40000"/>
                    </a:schemeClr>
                  </a:outerShdw>
                </a:effectLst>
                <a:latin typeface="inter-regular"/>
                <a:cs typeface="Poppins" panose="00000500000000000000" pitchFamily="2" charset="0"/>
              </a:rPr>
              <a:t>OMEGA NOTATION (</a:t>
            </a:r>
            <a:r>
              <a:rPr lang="el-GR" dirty="0" smtClean="0">
                <a:ln w="0"/>
                <a:solidFill>
                  <a:schemeClr val="bg1"/>
                </a:solidFill>
                <a:effectLst>
                  <a:outerShdw blurRad="38100" dist="19050" dir="2700000" algn="tl" rotWithShape="0">
                    <a:schemeClr val="dk1">
                      <a:alpha val="40000"/>
                    </a:schemeClr>
                  </a:outerShdw>
                </a:effectLst>
                <a:latin typeface="inter-regular"/>
                <a:cs typeface="Poppins" panose="00000500000000000000" pitchFamily="2" charset="0"/>
              </a:rPr>
              <a:t>Ω</a:t>
            </a:r>
            <a:r>
              <a:rPr lang="en-US" dirty="0" smtClean="0">
                <a:ln w="0"/>
                <a:solidFill>
                  <a:schemeClr val="bg1"/>
                </a:solidFill>
                <a:effectLst>
                  <a:outerShdw blurRad="38100" dist="19050" dir="2700000" algn="tl" rotWithShape="0">
                    <a:schemeClr val="dk1">
                      <a:alpha val="40000"/>
                    </a:schemeClr>
                  </a:outerShdw>
                </a:effectLst>
                <a:latin typeface="inter-regular"/>
                <a:cs typeface="Poppins" panose="00000500000000000000" pitchFamily="2" charset="0"/>
              </a:rPr>
              <a:t>)</a:t>
            </a:r>
            <a:endParaRPr lang="en-US" dirty="0">
              <a:ln w="0"/>
              <a:solidFill>
                <a:schemeClr val="bg1"/>
              </a:solidFill>
              <a:effectLst>
                <a:outerShdw blurRad="38100" dist="19050" dir="2700000" algn="tl" rotWithShape="0">
                  <a:schemeClr val="dk1">
                    <a:alpha val="40000"/>
                  </a:schemeClr>
                </a:outerShdw>
              </a:effectLst>
              <a:latin typeface="inter-regular"/>
              <a:cs typeface="Poppins" panose="00000500000000000000" pitchFamily="2" charset="0"/>
            </a:endParaRPr>
          </a:p>
        </p:txBody>
      </p:sp>
      <p:sp>
        <p:nvSpPr>
          <p:cNvPr id="6" name="Content Placeholder 2">
            <a:extLst>
              <a:ext uri="{FF2B5EF4-FFF2-40B4-BE49-F238E27FC236}">
                <a16:creationId xmlns:a16="http://schemas.microsoft.com/office/drawing/2014/main" id="{D498F8BB-622F-BFA4-C632-67AFA4330F98}"/>
              </a:ext>
            </a:extLst>
          </p:cNvPr>
          <p:cNvSpPr>
            <a:spLocks noGrp="1"/>
          </p:cNvSpPr>
          <p:nvPr>
            <p:ph idx="1"/>
          </p:nvPr>
        </p:nvSpPr>
        <p:spPr>
          <a:xfrm>
            <a:off x="1514620" y="600076"/>
            <a:ext cx="9977120" cy="5019040"/>
          </a:xfrm>
        </p:spPr>
        <p:txBody>
          <a:bodyPr>
            <a:normAutofit/>
          </a:bodyPr>
          <a:lstStyle/>
          <a:p>
            <a:pPr marL="0" marR="709930" indent="0">
              <a:lnSpc>
                <a:spcPct val="148000"/>
              </a:lnSpc>
              <a:spcBef>
                <a:spcPts val="1045"/>
              </a:spcBef>
              <a:buNone/>
            </a:pPr>
            <a:r>
              <a:rPr lang="en-US" sz="2000" b="1" dirty="0"/>
              <a:t>Mathematical Representation of </a:t>
            </a:r>
            <a:r>
              <a:rPr lang="en-US" sz="2000" b="1" dirty="0" smtClean="0"/>
              <a:t>Omega notation</a:t>
            </a:r>
            <a:r>
              <a:rPr lang="en-US" sz="2000" b="1" dirty="0"/>
              <a:t>:</a:t>
            </a:r>
          </a:p>
          <a:p>
            <a:pPr marL="0" marR="709930" indent="0">
              <a:lnSpc>
                <a:spcPct val="148000"/>
              </a:lnSpc>
              <a:spcBef>
                <a:spcPts val="1045"/>
              </a:spcBef>
              <a:spcAft>
                <a:spcPts val="0"/>
              </a:spcAft>
              <a:buNone/>
            </a:pPr>
            <a:r>
              <a:rPr lang="en-US" sz="2000" dirty="0" smtClean="0">
                <a:latin typeface="inter-regular"/>
              </a:rPr>
              <a:t>Omega </a:t>
            </a:r>
            <a:r>
              <a:rPr lang="en-US" sz="2000" dirty="0">
                <a:latin typeface="inter-regular"/>
              </a:rPr>
              <a:t>(Ω) notation specifies the asymptotic lower bound for a function f(n). For a given function g(n), Ω(g(n)) is denoted by</a:t>
            </a:r>
            <a:r>
              <a:rPr lang="en-US" sz="2000" dirty="0" smtClean="0">
                <a:latin typeface="inter-regular"/>
              </a:rPr>
              <a:t>:</a:t>
            </a:r>
            <a:endParaRPr lang="en-US" sz="2000" dirty="0">
              <a:latin typeface="inter-regular"/>
            </a:endParaRPr>
          </a:p>
          <a:p>
            <a:pPr marL="0" marR="709930" indent="0">
              <a:lnSpc>
                <a:spcPct val="148000"/>
              </a:lnSpc>
              <a:spcBef>
                <a:spcPts val="1045"/>
              </a:spcBef>
              <a:spcAft>
                <a:spcPts val="0"/>
              </a:spcAft>
              <a:buNone/>
            </a:pPr>
            <a:r>
              <a:rPr lang="en-US" sz="2000" b="1" dirty="0" smtClean="0">
                <a:latin typeface="inter-regular"/>
              </a:rPr>
              <a:t>Ω (g(n)) = {f(n): there exist positive constants c and n0 such that 0 ≤ c*g(n) ≤ f(n) for all n ≥ n0}. </a:t>
            </a:r>
            <a:endParaRPr lang="en-US" sz="2000" dirty="0">
              <a:latin typeface="inter-regular"/>
            </a:endParaRPr>
          </a:p>
          <a:p>
            <a:pPr marL="0" marR="709930" indent="0">
              <a:lnSpc>
                <a:spcPct val="148000"/>
              </a:lnSpc>
              <a:spcBef>
                <a:spcPts val="1045"/>
              </a:spcBef>
              <a:spcAft>
                <a:spcPts val="0"/>
              </a:spcAft>
              <a:buNone/>
            </a:pPr>
            <a:r>
              <a:rPr lang="en-US" sz="2000" dirty="0">
                <a:latin typeface="inter-regular"/>
              </a:rPr>
              <a:t>This means that, f(n) = Ω(g(n)), If there are positive constants n0 and c such that, to the right of n0 the f(n) always lies on or above c*g(n).</a:t>
            </a:r>
          </a:p>
        </p:txBody>
      </p:sp>
      <p:sp>
        <p:nvSpPr>
          <p:cNvPr id="5" name="Footer Placeholder 4">
            <a:extLst>
              <a:ext uri="{FF2B5EF4-FFF2-40B4-BE49-F238E27FC236}">
                <a16:creationId xmlns:a16="http://schemas.microsoft.com/office/drawing/2014/main" id="{C59A143E-7875-43E7-97E0-3557B9071E49}"/>
              </a:ext>
            </a:extLst>
          </p:cNvPr>
          <p:cNvSpPr>
            <a:spLocks noGrp="1"/>
          </p:cNvSpPr>
          <p:nvPr>
            <p:ph type="ftr" sz="quarter" idx="11"/>
          </p:nvPr>
        </p:nvSpPr>
        <p:spPr>
          <a:xfrm>
            <a:off x="272868" y="6458858"/>
            <a:ext cx="11797211" cy="399142"/>
          </a:xfrm>
        </p:spPr>
        <p:txBody>
          <a:bodyPr/>
          <a:lstStyle/>
          <a:p>
            <a:pPr algn="l">
              <a:defRPr/>
            </a:pPr>
            <a:r>
              <a:rPr lang="en-US" sz="2000" b="1" dirty="0">
                <a:solidFill>
                  <a:srgbClr val="002060"/>
                </a:solidFill>
                <a:latin typeface="Times New Roman" pitchFamily="18" charset="0"/>
                <a:cs typeface="Times New Roman" pitchFamily="18" charset="0"/>
              </a:rPr>
              <a:t>KLEF                                           </a:t>
            </a:r>
            <a:r>
              <a:rPr lang="en-US" sz="2000" b="1" dirty="0" smtClean="0">
                <a:solidFill>
                  <a:srgbClr val="002060"/>
                </a:solidFill>
                <a:latin typeface="Times New Roman" pitchFamily="18" charset="0"/>
                <a:cs typeface="Times New Roman" pitchFamily="18" charset="0"/>
              </a:rPr>
              <a:t>			DS           				      BES-1</a:t>
            </a:r>
            <a:endParaRPr lang="en-US" sz="2000" b="1" dirty="0">
              <a:solidFill>
                <a:srgbClr val="002060"/>
              </a:solidFill>
              <a:latin typeface="Times New Roman" pitchFamily="18" charset="0"/>
              <a:cs typeface="Times New Roman" pitchFamily="18" charset="0"/>
            </a:endParaRPr>
          </a:p>
        </p:txBody>
      </p:sp>
      <p:pic>
        <p:nvPicPr>
          <p:cNvPr id="2" name="Picture 1"/>
          <p:cNvPicPr>
            <a:picLocks noChangeAspect="1"/>
          </p:cNvPicPr>
          <p:nvPr/>
        </p:nvPicPr>
        <p:blipFill>
          <a:blip r:embed="rId3"/>
          <a:stretch>
            <a:fillRect/>
          </a:stretch>
        </p:blipFill>
        <p:spPr>
          <a:xfrm>
            <a:off x="4890770" y="4277633"/>
            <a:ext cx="2857500" cy="2181225"/>
          </a:xfrm>
          <a:prstGeom prst="rect">
            <a:avLst/>
          </a:prstGeom>
        </p:spPr>
      </p:pic>
    </p:spTree>
    <p:extLst>
      <p:ext uri="{BB962C8B-B14F-4D97-AF65-F5344CB8AC3E}">
        <p14:creationId xmlns:p14="http://schemas.microsoft.com/office/powerpoint/2010/main" val="162127659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8" name="Rounded Rectangle 17">
            <a:extLst>
              <a:ext uri="{FF2B5EF4-FFF2-40B4-BE49-F238E27FC236}">
                <a16:creationId xmlns:a16="http://schemas.microsoft.com/office/drawing/2014/main" id="{39DC903D-9003-4F3D-87E9-EE7D5BEB5D03}"/>
              </a:ext>
            </a:extLst>
          </p:cNvPr>
          <p:cNvSpPr/>
          <p:nvPr/>
        </p:nvSpPr>
        <p:spPr>
          <a:xfrm>
            <a:off x="3473653" y="171277"/>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smtClean="0">
                <a:ln w="0"/>
                <a:solidFill>
                  <a:schemeClr val="bg1"/>
                </a:solidFill>
                <a:effectLst>
                  <a:outerShdw blurRad="38100" dist="19050" dir="2700000" algn="tl" rotWithShape="0">
                    <a:schemeClr val="dk1">
                      <a:alpha val="40000"/>
                    </a:schemeClr>
                  </a:outerShdw>
                </a:effectLst>
                <a:latin typeface="inter-regular"/>
                <a:cs typeface="Poppins" panose="00000500000000000000" pitchFamily="2" charset="0"/>
              </a:rPr>
              <a:t>THETA NOTATION (</a:t>
            </a:r>
            <a:r>
              <a:rPr lang="en-US" dirty="0">
                <a:latin typeface="inter-regular"/>
                <a:ea typeface="Times New Roman" panose="02020603050405020304" pitchFamily="18" charset="0"/>
              </a:rPr>
              <a:t>Θ</a:t>
            </a:r>
            <a:r>
              <a:rPr lang="en-US" dirty="0" smtClean="0">
                <a:ln w="0"/>
                <a:solidFill>
                  <a:schemeClr val="bg1"/>
                </a:solidFill>
                <a:effectLst>
                  <a:outerShdw blurRad="38100" dist="19050" dir="2700000" algn="tl" rotWithShape="0">
                    <a:schemeClr val="dk1">
                      <a:alpha val="40000"/>
                    </a:schemeClr>
                  </a:outerShdw>
                </a:effectLst>
                <a:latin typeface="inter-regular"/>
                <a:cs typeface="Poppins" panose="00000500000000000000" pitchFamily="2" charset="0"/>
              </a:rPr>
              <a:t>)</a:t>
            </a:r>
            <a:endParaRPr lang="en-US" dirty="0">
              <a:ln w="0"/>
              <a:solidFill>
                <a:schemeClr val="bg1"/>
              </a:solidFill>
              <a:effectLst>
                <a:outerShdw blurRad="38100" dist="19050" dir="2700000" algn="tl" rotWithShape="0">
                  <a:schemeClr val="dk1">
                    <a:alpha val="40000"/>
                  </a:schemeClr>
                </a:outerShdw>
              </a:effectLst>
              <a:latin typeface="inter-regular"/>
              <a:cs typeface="Poppins" panose="00000500000000000000" pitchFamily="2" charset="0"/>
            </a:endParaRPr>
          </a:p>
        </p:txBody>
      </p:sp>
      <p:sp>
        <p:nvSpPr>
          <p:cNvPr id="6" name="Content Placeholder 2">
            <a:extLst>
              <a:ext uri="{FF2B5EF4-FFF2-40B4-BE49-F238E27FC236}">
                <a16:creationId xmlns:a16="http://schemas.microsoft.com/office/drawing/2014/main" id="{D498F8BB-622F-BFA4-C632-67AFA4330F98}"/>
              </a:ext>
            </a:extLst>
          </p:cNvPr>
          <p:cNvSpPr>
            <a:spLocks noGrp="1"/>
          </p:cNvSpPr>
          <p:nvPr>
            <p:ph idx="1"/>
          </p:nvPr>
        </p:nvSpPr>
        <p:spPr>
          <a:xfrm>
            <a:off x="2086418" y="600076"/>
            <a:ext cx="9784715" cy="5858782"/>
          </a:xfrm>
        </p:spPr>
        <p:txBody>
          <a:bodyPr>
            <a:normAutofit/>
          </a:bodyPr>
          <a:lstStyle/>
          <a:p>
            <a:pPr marR="709930">
              <a:lnSpc>
                <a:spcPct val="148000"/>
              </a:lnSpc>
              <a:spcBef>
                <a:spcPts val="1045"/>
              </a:spcBef>
              <a:spcAft>
                <a:spcPts val="0"/>
              </a:spcAft>
              <a:buFont typeface="Wingdings" panose="05000000000000000000" pitchFamily="2" charset="2"/>
              <a:buChar char="Ø"/>
            </a:pPr>
            <a:r>
              <a:rPr lang="en-US" sz="1800" dirty="0">
                <a:latin typeface="inter-regular"/>
              </a:rPr>
              <a:t>The theta notation mainly describes the average case scenarios.</a:t>
            </a:r>
          </a:p>
          <a:p>
            <a:pPr marR="709930">
              <a:lnSpc>
                <a:spcPct val="148000"/>
              </a:lnSpc>
              <a:spcBef>
                <a:spcPts val="1045"/>
              </a:spcBef>
              <a:spcAft>
                <a:spcPts val="0"/>
              </a:spcAft>
              <a:buFont typeface="Wingdings" panose="05000000000000000000" pitchFamily="2" charset="2"/>
              <a:buChar char="Ø"/>
            </a:pPr>
            <a:r>
              <a:rPr lang="en-US" sz="1800" dirty="0">
                <a:latin typeface="inter-regular"/>
              </a:rPr>
              <a:t>It represents the realistic time complexity of an algorithm. </a:t>
            </a:r>
            <a:endParaRPr lang="en-US" sz="1800" dirty="0" smtClean="0">
              <a:latin typeface="inter-regular"/>
            </a:endParaRPr>
          </a:p>
          <a:p>
            <a:pPr marR="709930">
              <a:lnSpc>
                <a:spcPct val="148000"/>
              </a:lnSpc>
              <a:spcBef>
                <a:spcPts val="1045"/>
              </a:spcBef>
              <a:spcAft>
                <a:spcPts val="0"/>
              </a:spcAft>
              <a:buFont typeface="Wingdings" panose="05000000000000000000" pitchFamily="2" charset="2"/>
              <a:buChar char="Ø"/>
            </a:pPr>
            <a:r>
              <a:rPr lang="en-US" sz="1800" dirty="0" smtClean="0">
                <a:latin typeface="inter-regular"/>
              </a:rPr>
              <a:t>Every </a:t>
            </a:r>
            <a:r>
              <a:rPr lang="en-US" sz="1800" dirty="0">
                <a:latin typeface="inter-regular"/>
              </a:rPr>
              <a:t>time, an algorithm does not perform worst or best, in real-world problems, algorithms mainly fluctuate between the worst-case and best-case, and this gives us the average case of the algorithm</a:t>
            </a:r>
            <a:r>
              <a:rPr lang="en-US" sz="1800" dirty="0" smtClean="0">
                <a:latin typeface="inter-regular"/>
              </a:rPr>
              <a:t>.</a:t>
            </a:r>
          </a:p>
          <a:p>
            <a:pPr marR="709930">
              <a:lnSpc>
                <a:spcPct val="148000"/>
              </a:lnSpc>
              <a:spcBef>
                <a:spcPts val="1045"/>
              </a:spcBef>
              <a:spcAft>
                <a:spcPts val="0"/>
              </a:spcAft>
              <a:buFont typeface="Wingdings" panose="05000000000000000000" pitchFamily="2" charset="2"/>
              <a:buChar char="Ø"/>
            </a:pPr>
            <a:r>
              <a:rPr lang="en-US" sz="1800" dirty="0">
                <a:latin typeface="inter-regular"/>
              </a:rPr>
              <a:t>Follow the steps below to calculate Θ for a program:</a:t>
            </a:r>
          </a:p>
          <a:p>
            <a:pPr marR="709930" lvl="1">
              <a:lnSpc>
                <a:spcPct val="148000"/>
              </a:lnSpc>
              <a:spcBef>
                <a:spcPts val="1045"/>
              </a:spcBef>
            </a:pPr>
            <a:r>
              <a:rPr lang="en-US" sz="1800" dirty="0">
                <a:latin typeface="inter-regular"/>
              </a:rPr>
              <a:t>Break the program into smaller segments.</a:t>
            </a:r>
          </a:p>
          <a:p>
            <a:pPr marR="709930" lvl="1">
              <a:lnSpc>
                <a:spcPct val="148000"/>
              </a:lnSpc>
              <a:spcBef>
                <a:spcPts val="1045"/>
              </a:spcBef>
            </a:pPr>
            <a:r>
              <a:rPr lang="en-US" sz="1800" dirty="0">
                <a:latin typeface="inter-regular"/>
              </a:rPr>
              <a:t>Find all types of inputs and calculate the number of operations they take to be executed. Make sure that the input cases are equally distributed.</a:t>
            </a:r>
          </a:p>
          <a:p>
            <a:pPr marR="709930" lvl="1">
              <a:lnSpc>
                <a:spcPct val="148000"/>
              </a:lnSpc>
              <a:spcBef>
                <a:spcPts val="1045"/>
              </a:spcBef>
            </a:pPr>
            <a:r>
              <a:rPr lang="en-US" sz="1800" dirty="0">
                <a:latin typeface="inter-regular"/>
              </a:rPr>
              <a:t>Find the sum of all the calculated values and divide the sum by the total number of inputs let say the function of n obtained is g(n) after removing all the constants, then in Θ notation, it’s represented as Θ(g(n)). </a:t>
            </a:r>
          </a:p>
          <a:p>
            <a:pPr marR="709930">
              <a:lnSpc>
                <a:spcPct val="148000"/>
              </a:lnSpc>
              <a:spcBef>
                <a:spcPts val="1045"/>
              </a:spcBef>
              <a:spcAft>
                <a:spcPts val="0"/>
              </a:spcAft>
              <a:buFont typeface="Wingdings" panose="05000000000000000000" pitchFamily="2" charset="2"/>
              <a:buChar char="Ø"/>
            </a:pPr>
            <a:endParaRPr lang="en-US" sz="1800" dirty="0">
              <a:latin typeface="inter-regular"/>
            </a:endParaRPr>
          </a:p>
        </p:txBody>
      </p:sp>
      <p:sp>
        <p:nvSpPr>
          <p:cNvPr id="5" name="Footer Placeholder 4">
            <a:extLst>
              <a:ext uri="{FF2B5EF4-FFF2-40B4-BE49-F238E27FC236}">
                <a16:creationId xmlns:a16="http://schemas.microsoft.com/office/drawing/2014/main" id="{C59A143E-7875-43E7-97E0-3557B9071E49}"/>
              </a:ext>
            </a:extLst>
          </p:cNvPr>
          <p:cNvSpPr>
            <a:spLocks noGrp="1"/>
          </p:cNvSpPr>
          <p:nvPr>
            <p:ph type="ftr" sz="quarter" idx="11"/>
          </p:nvPr>
        </p:nvSpPr>
        <p:spPr>
          <a:xfrm>
            <a:off x="272868" y="6458858"/>
            <a:ext cx="11797211" cy="399142"/>
          </a:xfrm>
        </p:spPr>
        <p:txBody>
          <a:bodyPr/>
          <a:lstStyle/>
          <a:p>
            <a:pPr algn="l">
              <a:defRPr/>
            </a:pPr>
            <a:r>
              <a:rPr lang="en-US" sz="2000" b="1" dirty="0">
                <a:solidFill>
                  <a:srgbClr val="002060"/>
                </a:solidFill>
                <a:latin typeface="Times New Roman" pitchFamily="18" charset="0"/>
                <a:cs typeface="Times New Roman" pitchFamily="18" charset="0"/>
              </a:rPr>
              <a:t>KLEF                                           </a:t>
            </a:r>
            <a:r>
              <a:rPr lang="en-US" sz="2000" b="1" dirty="0" smtClean="0">
                <a:solidFill>
                  <a:srgbClr val="002060"/>
                </a:solidFill>
                <a:latin typeface="Times New Roman" pitchFamily="18" charset="0"/>
                <a:cs typeface="Times New Roman" pitchFamily="18" charset="0"/>
              </a:rPr>
              <a:t>			DS           				      BES-1</a:t>
            </a:r>
            <a:endParaRPr lang="en-US" sz="2000" b="1" dirty="0">
              <a:solidFill>
                <a:srgbClr val="002060"/>
              </a:solidFill>
              <a:latin typeface="Times New Roman" pitchFamily="18" charset="0"/>
              <a:cs typeface="Times New Roman" pitchFamily="18" charset="0"/>
            </a:endParaRPr>
          </a:p>
        </p:txBody>
      </p:sp>
    </p:spTree>
    <p:extLst>
      <p:ext uri="{BB962C8B-B14F-4D97-AF65-F5344CB8AC3E}">
        <p14:creationId xmlns:p14="http://schemas.microsoft.com/office/powerpoint/2010/main" val="260869126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8" name="Rounded Rectangle 17">
            <a:extLst>
              <a:ext uri="{FF2B5EF4-FFF2-40B4-BE49-F238E27FC236}">
                <a16:creationId xmlns:a16="http://schemas.microsoft.com/office/drawing/2014/main" id="{39DC903D-9003-4F3D-87E9-EE7D5BEB5D03}"/>
              </a:ext>
            </a:extLst>
          </p:cNvPr>
          <p:cNvSpPr/>
          <p:nvPr/>
        </p:nvSpPr>
        <p:spPr>
          <a:xfrm>
            <a:off x="3463493" y="8563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smtClean="0">
                <a:ln w="0"/>
                <a:solidFill>
                  <a:schemeClr val="bg1"/>
                </a:solidFill>
                <a:effectLst>
                  <a:outerShdw blurRad="38100" dist="19050" dir="2700000" algn="tl" rotWithShape="0">
                    <a:schemeClr val="dk1">
                      <a:alpha val="40000"/>
                    </a:schemeClr>
                  </a:outerShdw>
                </a:effectLst>
                <a:latin typeface="inter-regular"/>
                <a:cs typeface="Poppins" panose="00000500000000000000" pitchFamily="2" charset="0"/>
              </a:rPr>
              <a:t>THETA NOTATION (</a:t>
            </a:r>
            <a:r>
              <a:rPr lang="en-US" dirty="0">
                <a:latin typeface="inter-regular"/>
                <a:ea typeface="Times New Roman" panose="02020603050405020304" pitchFamily="18" charset="0"/>
              </a:rPr>
              <a:t>Θ</a:t>
            </a:r>
            <a:r>
              <a:rPr lang="en-US" dirty="0" smtClean="0">
                <a:ln w="0"/>
                <a:solidFill>
                  <a:schemeClr val="bg1"/>
                </a:solidFill>
                <a:effectLst>
                  <a:outerShdw blurRad="38100" dist="19050" dir="2700000" algn="tl" rotWithShape="0">
                    <a:schemeClr val="dk1">
                      <a:alpha val="40000"/>
                    </a:schemeClr>
                  </a:outerShdw>
                </a:effectLst>
                <a:latin typeface="inter-regular"/>
                <a:cs typeface="Poppins" panose="00000500000000000000" pitchFamily="2" charset="0"/>
              </a:rPr>
              <a:t>)</a:t>
            </a:r>
            <a:endParaRPr lang="en-US" dirty="0">
              <a:ln w="0"/>
              <a:solidFill>
                <a:schemeClr val="bg1"/>
              </a:solidFill>
              <a:effectLst>
                <a:outerShdw blurRad="38100" dist="19050" dir="2700000" algn="tl" rotWithShape="0">
                  <a:schemeClr val="dk1">
                    <a:alpha val="40000"/>
                  </a:schemeClr>
                </a:outerShdw>
              </a:effectLst>
              <a:latin typeface="inter-regular"/>
              <a:cs typeface="Poppins" panose="00000500000000000000" pitchFamily="2" charset="0"/>
            </a:endParaRPr>
          </a:p>
        </p:txBody>
      </p:sp>
      <p:sp>
        <p:nvSpPr>
          <p:cNvPr id="6" name="Content Placeholder 2">
            <a:extLst>
              <a:ext uri="{FF2B5EF4-FFF2-40B4-BE49-F238E27FC236}">
                <a16:creationId xmlns:a16="http://schemas.microsoft.com/office/drawing/2014/main" id="{D498F8BB-622F-BFA4-C632-67AFA4330F98}"/>
              </a:ext>
            </a:extLst>
          </p:cNvPr>
          <p:cNvSpPr>
            <a:spLocks noGrp="1"/>
          </p:cNvSpPr>
          <p:nvPr>
            <p:ph idx="1"/>
          </p:nvPr>
        </p:nvSpPr>
        <p:spPr>
          <a:xfrm>
            <a:off x="1127760" y="544457"/>
            <a:ext cx="11064240" cy="3579772"/>
          </a:xfrm>
        </p:spPr>
        <p:txBody>
          <a:bodyPr>
            <a:normAutofit fontScale="92500" lnSpcReduction="10000"/>
          </a:bodyPr>
          <a:lstStyle/>
          <a:p>
            <a:pPr marL="0" marR="709930" indent="0">
              <a:lnSpc>
                <a:spcPct val="148000"/>
              </a:lnSpc>
              <a:spcBef>
                <a:spcPts val="1045"/>
              </a:spcBef>
              <a:buNone/>
            </a:pPr>
            <a:r>
              <a:rPr lang="en-US" b="1" dirty="0"/>
              <a:t>Mathematical Representation of Theta </a:t>
            </a:r>
            <a:r>
              <a:rPr lang="en-US" b="1" dirty="0" smtClean="0"/>
              <a:t>notation:</a:t>
            </a:r>
            <a:endParaRPr lang="en-US" b="1" dirty="0"/>
          </a:p>
          <a:p>
            <a:pPr marL="0" marR="709930" indent="0">
              <a:lnSpc>
                <a:spcPct val="148000"/>
              </a:lnSpc>
              <a:spcBef>
                <a:spcPts val="1045"/>
              </a:spcBef>
              <a:spcAft>
                <a:spcPts val="0"/>
              </a:spcAft>
              <a:buNone/>
            </a:pPr>
            <a:r>
              <a:rPr lang="en-US" sz="2000" dirty="0" smtClean="0">
                <a:latin typeface="inter-regular"/>
              </a:rPr>
              <a:t>Theta(Θ</a:t>
            </a:r>
            <a:r>
              <a:rPr lang="en-US" sz="2000" dirty="0">
                <a:latin typeface="inter-regular"/>
              </a:rPr>
              <a:t>) notation specifies a bound for a function f(n). For a given function g(n), Θ(g(n)) is denoted by</a:t>
            </a:r>
            <a:r>
              <a:rPr lang="en-US" sz="2000" dirty="0" smtClean="0">
                <a:latin typeface="inter-regular"/>
              </a:rPr>
              <a:t>:</a:t>
            </a:r>
            <a:endParaRPr lang="en-US" sz="2000" dirty="0">
              <a:latin typeface="inter-regular"/>
            </a:endParaRPr>
          </a:p>
          <a:p>
            <a:pPr marL="0" marR="709930" indent="0">
              <a:lnSpc>
                <a:spcPct val="148000"/>
              </a:lnSpc>
              <a:spcBef>
                <a:spcPts val="1045"/>
              </a:spcBef>
              <a:spcAft>
                <a:spcPts val="0"/>
              </a:spcAft>
              <a:buNone/>
            </a:pPr>
            <a:r>
              <a:rPr lang="en-US" sz="2000" b="1" dirty="0">
                <a:latin typeface="inter-regular"/>
              </a:rPr>
              <a:t>Θ (g(n)) = {f(n): there exist positive constants c1, c2 and n0 such that 0 ≤ c1*g(n) ≤ f(n) ≤ c2*g(n) for all n ≥ n0}. </a:t>
            </a:r>
          </a:p>
          <a:p>
            <a:pPr marL="0" marR="709930" indent="0">
              <a:lnSpc>
                <a:spcPct val="148000"/>
              </a:lnSpc>
              <a:spcBef>
                <a:spcPts val="1045"/>
              </a:spcBef>
              <a:spcAft>
                <a:spcPts val="0"/>
              </a:spcAft>
              <a:buNone/>
            </a:pPr>
            <a:r>
              <a:rPr lang="en-US" sz="2000" dirty="0">
                <a:latin typeface="inter-regular"/>
              </a:rPr>
              <a:t>This means that, f(n) = Θ(g(n)), If there are positive constants n0 and c such that, to the right of n0 the f(n) always lies on or above c1*g(n) and below c2*g(n).</a:t>
            </a:r>
          </a:p>
        </p:txBody>
      </p:sp>
      <p:sp>
        <p:nvSpPr>
          <p:cNvPr id="5" name="Footer Placeholder 4">
            <a:extLst>
              <a:ext uri="{FF2B5EF4-FFF2-40B4-BE49-F238E27FC236}">
                <a16:creationId xmlns:a16="http://schemas.microsoft.com/office/drawing/2014/main" id="{C59A143E-7875-43E7-97E0-3557B9071E49}"/>
              </a:ext>
            </a:extLst>
          </p:cNvPr>
          <p:cNvSpPr>
            <a:spLocks noGrp="1"/>
          </p:cNvSpPr>
          <p:nvPr>
            <p:ph type="ftr" sz="quarter" idx="11"/>
          </p:nvPr>
        </p:nvSpPr>
        <p:spPr>
          <a:xfrm>
            <a:off x="272868" y="6458858"/>
            <a:ext cx="11797211" cy="399142"/>
          </a:xfrm>
        </p:spPr>
        <p:txBody>
          <a:bodyPr/>
          <a:lstStyle/>
          <a:p>
            <a:pPr algn="l">
              <a:defRPr/>
            </a:pPr>
            <a:r>
              <a:rPr lang="en-US" sz="2000" b="1" dirty="0">
                <a:solidFill>
                  <a:srgbClr val="002060"/>
                </a:solidFill>
                <a:latin typeface="Times New Roman" pitchFamily="18" charset="0"/>
                <a:cs typeface="Times New Roman" pitchFamily="18" charset="0"/>
              </a:rPr>
              <a:t>KLEF                                           </a:t>
            </a:r>
            <a:r>
              <a:rPr lang="en-US" sz="2000" b="1" dirty="0" smtClean="0">
                <a:solidFill>
                  <a:srgbClr val="002060"/>
                </a:solidFill>
                <a:latin typeface="Times New Roman" pitchFamily="18" charset="0"/>
                <a:cs typeface="Times New Roman" pitchFamily="18" charset="0"/>
              </a:rPr>
              <a:t>			DS           				      BES-1</a:t>
            </a:r>
            <a:endParaRPr lang="en-US" sz="2000" b="1" dirty="0">
              <a:solidFill>
                <a:srgbClr val="002060"/>
              </a:solidFill>
              <a:latin typeface="Times New Roman" pitchFamily="18" charset="0"/>
              <a:cs typeface="Times New Roman" pitchFamily="18" charset="0"/>
            </a:endParaRPr>
          </a:p>
        </p:txBody>
      </p:sp>
      <p:pic>
        <p:nvPicPr>
          <p:cNvPr id="3" name="Picture 2"/>
          <p:cNvPicPr>
            <a:picLocks noChangeAspect="1"/>
          </p:cNvPicPr>
          <p:nvPr/>
        </p:nvPicPr>
        <p:blipFill>
          <a:blip r:embed="rId3"/>
          <a:stretch>
            <a:fillRect/>
          </a:stretch>
        </p:blipFill>
        <p:spPr>
          <a:xfrm>
            <a:off x="6421353" y="3983036"/>
            <a:ext cx="3243435" cy="2475822"/>
          </a:xfrm>
          <a:prstGeom prst="rect">
            <a:avLst/>
          </a:prstGeom>
        </p:spPr>
      </p:pic>
    </p:spTree>
    <p:extLst>
      <p:ext uri="{BB962C8B-B14F-4D97-AF65-F5344CB8AC3E}">
        <p14:creationId xmlns:p14="http://schemas.microsoft.com/office/powerpoint/2010/main" val="273247193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8" name="Rounded Rectangle 17">
            <a:extLst>
              <a:ext uri="{FF2B5EF4-FFF2-40B4-BE49-F238E27FC236}">
                <a16:creationId xmlns:a16="http://schemas.microsoft.com/office/drawing/2014/main" id="{39DC903D-9003-4F3D-87E9-EE7D5BEB5D03}"/>
              </a:ext>
            </a:extLst>
          </p:cNvPr>
          <p:cNvSpPr/>
          <p:nvPr/>
        </p:nvSpPr>
        <p:spPr>
          <a:xfrm>
            <a:off x="3473653" y="358713"/>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smtClean="0">
                <a:ln w="0"/>
                <a:solidFill>
                  <a:schemeClr val="bg1"/>
                </a:solidFill>
                <a:effectLst>
                  <a:outerShdw blurRad="38100" dist="19050" dir="2700000" algn="tl" rotWithShape="0">
                    <a:schemeClr val="dk1">
                      <a:alpha val="40000"/>
                    </a:schemeClr>
                  </a:outerShdw>
                </a:effectLst>
                <a:latin typeface="inter-regular"/>
                <a:cs typeface="Poppins" panose="00000500000000000000" pitchFamily="2" charset="0"/>
              </a:rPr>
              <a:t>THETA NOTATION (</a:t>
            </a:r>
            <a:r>
              <a:rPr lang="en-US" dirty="0">
                <a:latin typeface="inter-regular"/>
                <a:ea typeface="Times New Roman" panose="02020603050405020304" pitchFamily="18" charset="0"/>
              </a:rPr>
              <a:t>Θ</a:t>
            </a:r>
            <a:r>
              <a:rPr lang="en-US" dirty="0" smtClean="0">
                <a:ln w="0"/>
                <a:solidFill>
                  <a:schemeClr val="bg1"/>
                </a:solidFill>
                <a:effectLst>
                  <a:outerShdw blurRad="38100" dist="19050" dir="2700000" algn="tl" rotWithShape="0">
                    <a:schemeClr val="dk1">
                      <a:alpha val="40000"/>
                    </a:schemeClr>
                  </a:outerShdw>
                </a:effectLst>
                <a:latin typeface="inter-regular"/>
                <a:cs typeface="Poppins" panose="00000500000000000000" pitchFamily="2" charset="0"/>
              </a:rPr>
              <a:t>)-Example</a:t>
            </a:r>
            <a:endParaRPr lang="en-US" dirty="0">
              <a:ln w="0"/>
              <a:solidFill>
                <a:schemeClr val="bg1"/>
              </a:solidFill>
              <a:effectLst>
                <a:outerShdw blurRad="38100" dist="19050" dir="2700000" algn="tl" rotWithShape="0">
                  <a:schemeClr val="dk1">
                    <a:alpha val="40000"/>
                  </a:schemeClr>
                </a:outerShdw>
              </a:effectLst>
              <a:latin typeface="inter-regular"/>
              <a:cs typeface="Poppins" panose="00000500000000000000" pitchFamily="2" charset="0"/>
            </a:endParaRPr>
          </a:p>
        </p:txBody>
      </p:sp>
      <p:sp>
        <p:nvSpPr>
          <p:cNvPr id="6" name="Content Placeholder 2">
            <a:extLst>
              <a:ext uri="{FF2B5EF4-FFF2-40B4-BE49-F238E27FC236}">
                <a16:creationId xmlns:a16="http://schemas.microsoft.com/office/drawing/2014/main" id="{D498F8BB-622F-BFA4-C632-67AFA4330F98}"/>
              </a:ext>
            </a:extLst>
          </p:cNvPr>
          <p:cNvSpPr>
            <a:spLocks noGrp="1"/>
          </p:cNvSpPr>
          <p:nvPr>
            <p:ph idx="1"/>
          </p:nvPr>
        </p:nvSpPr>
        <p:spPr>
          <a:xfrm>
            <a:off x="731520" y="1144628"/>
            <a:ext cx="11338559" cy="5134252"/>
          </a:xfrm>
        </p:spPr>
        <p:txBody>
          <a:bodyPr>
            <a:normAutofit/>
          </a:bodyPr>
          <a:lstStyle/>
          <a:p>
            <a:pPr marL="0" marR="709930" indent="0">
              <a:lnSpc>
                <a:spcPct val="148000"/>
              </a:lnSpc>
              <a:spcBef>
                <a:spcPts val="1045"/>
              </a:spcBef>
              <a:spcAft>
                <a:spcPts val="0"/>
              </a:spcAft>
              <a:buNone/>
            </a:pPr>
            <a:r>
              <a:rPr lang="en-US" sz="1800" dirty="0">
                <a:latin typeface="inter-regular"/>
              </a:rPr>
              <a:t>Example: In a linear search problem, let’s assume that all the cases are uniformly distributed (including the case when the key is absent in the array). So, sum all the cases when the key is present at positions 1, 2, 3, ……, n and not present, and divide the sum by n + 1.</a:t>
            </a:r>
          </a:p>
          <a:p>
            <a:pPr marL="0" marR="709930" indent="0">
              <a:lnSpc>
                <a:spcPct val="148000"/>
              </a:lnSpc>
              <a:spcBef>
                <a:spcPts val="1045"/>
              </a:spcBef>
              <a:spcAft>
                <a:spcPts val="0"/>
              </a:spcAft>
              <a:buNone/>
            </a:pPr>
            <a:endParaRPr lang="en-US" sz="1800" dirty="0">
              <a:latin typeface="inter-regular"/>
            </a:endParaRPr>
          </a:p>
          <a:p>
            <a:pPr marL="0" marR="709930" indent="0">
              <a:lnSpc>
                <a:spcPct val="148000"/>
              </a:lnSpc>
              <a:spcBef>
                <a:spcPts val="1045"/>
              </a:spcBef>
              <a:spcAft>
                <a:spcPts val="0"/>
              </a:spcAft>
              <a:buNone/>
            </a:pPr>
            <a:endParaRPr lang="en-US" sz="1800" dirty="0">
              <a:latin typeface="inter-regular"/>
            </a:endParaRPr>
          </a:p>
          <a:p>
            <a:pPr marL="0" marR="709930" indent="0">
              <a:lnSpc>
                <a:spcPct val="148000"/>
              </a:lnSpc>
              <a:spcBef>
                <a:spcPts val="1045"/>
              </a:spcBef>
              <a:spcAft>
                <a:spcPts val="0"/>
              </a:spcAft>
              <a:buNone/>
            </a:pPr>
            <a:endParaRPr lang="en-US" sz="1800" dirty="0" smtClean="0">
              <a:latin typeface="inter-regular"/>
            </a:endParaRPr>
          </a:p>
          <a:p>
            <a:pPr marL="0" marR="709930" indent="0">
              <a:lnSpc>
                <a:spcPct val="148000"/>
              </a:lnSpc>
              <a:spcBef>
                <a:spcPts val="1045"/>
              </a:spcBef>
              <a:spcAft>
                <a:spcPts val="0"/>
              </a:spcAft>
              <a:buNone/>
            </a:pPr>
            <a:endParaRPr lang="en-US" sz="1800" dirty="0">
              <a:latin typeface="inter-regular"/>
            </a:endParaRPr>
          </a:p>
          <a:p>
            <a:pPr marL="0" marR="709930" indent="0">
              <a:lnSpc>
                <a:spcPct val="148000"/>
              </a:lnSpc>
              <a:spcBef>
                <a:spcPts val="1045"/>
              </a:spcBef>
              <a:spcAft>
                <a:spcPts val="0"/>
              </a:spcAft>
              <a:buNone/>
            </a:pPr>
            <a:r>
              <a:rPr lang="en-US" sz="1800" dirty="0" smtClean="0">
                <a:latin typeface="inter-regular"/>
              </a:rPr>
              <a:t>Since </a:t>
            </a:r>
            <a:r>
              <a:rPr lang="en-US" sz="1800" dirty="0">
                <a:latin typeface="inter-regular"/>
              </a:rPr>
              <a:t>all the types of inputs are considered while calculating the average time complexity, it is one of the best analysis methods for an algorithm.</a:t>
            </a:r>
          </a:p>
        </p:txBody>
      </p:sp>
      <p:sp>
        <p:nvSpPr>
          <p:cNvPr id="5" name="Footer Placeholder 4">
            <a:extLst>
              <a:ext uri="{FF2B5EF4-FFF2-40B4-BE49-F238E27FC236}">
                <a16:creationId xmlns:a16="http://schemas.microsoft.com/office/drawing/2014/main" id="{C59A143E-7875-43E7-97E0-3557B9071E49}"/>
              </a:ext>
            </a:extLst>
          </p:cNvPr>
          <p:cNvSpPr>
            <a:spLocks noGrp="1"/>
          </p:cNvSpPr>
          <p:nvPr>
            <p:ph type="ftr" sz="quarter" idx="11"/>
          </p:nvPr>
        </p:nvSpPr>
        <p:spPr>
          <a:xfrm>
            <a:off x="272868" y="6458858"/>
            <a:ext cx="11797211" cy="399142"/>
          </a:xfrm>
        </p:spPr>
        <p:txBody>
          <a:bodyPr/>
          <a:lstStyle/>
          <a:p>
            <a:pPr algn="l">
              <a:defRPr/>
            </a:pPr>
            <a:r>
              <a:rPr lang="en-US" sz="2000" b="1" dirty="0">
                <a:solidFill>
                  <a:srgbClr val="002060"/>
                </a:solidFill>
                <a:latin typeface="Times New Roman" pitchFamily="18" charset="0"/>
                <a:cs typeface="Times New Roman" pitchFamily="18" charset="0"/>
              </a:rPr>
              <a:t>KLEF                                           </a:t>
            </a:r>
            <a:r>
              <a:rPr lang="en-US" sz="2000" b="1" dirty="0" smtClean="0">
                <a:solidFill>
                  <a:srgbClr val="002060"/>
                </a:solidFill>
                <a:latin typeface="Times New Roman" pitchFamily="18" charset="0"/>
                <a:cs typeface="Times New Roman" pitchFamily="18" charset="0"/>
              </a:rPr>
              <a:t>			DS           				      BES-1</a:t>
            </a:r>
            <a:endParaRPr lang="en-US" sz="2000" b="1" dirty="0">
              <a:solidFill>
                <a:srgbClr val="002060"/>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4" name="Rectangle 3"/>
              <p:cNvSpPr/>
              <p:nvPr/>
            </p:nvSpPr>
            <p:spPr>
              <a:xfrm>
                <a:off x="2509520" y="2501020"/>
                <a:ext cx="6096000" cy="1792735"/>
              </a:xfrm>
              <a:prstGeom prst="rect">
                <a:avLst/>
              </a:prstGeom>
            </p:spPr>
            <p:txBody>
              <a:bodyPr>
                <a:spAutoFit/>
              </a:bodyPr>
              <a:lstStyle/>
              <a:p>
                <a:pPr>
                  <a:spcBef>
                    <a:spcPts val="555"/>
                  </a:spcBef>
                  <a:spcAft>
                    <a:spcPts val="0"/>
                  </a:spcAft>
                </a:pPr>
                <a:r>
                  <a:rPr lang="en-US" dirty="0">
                    <a:latin typeface="inter-regular"/>
                    <a:ea typeface="Times New Roman" panose="02020603050405020304" pitchFamily="18" charset="0"/>
                  </a:rPr>
                  <a:t>Average case time </a:t>
                </a:r>
                <a:r>
                  <a:rPr lang="en-US" dirty="0" smtClean="0">
                    <a:latin typeface="inter-regular"/>
                    <a:ea typeface="Times New Roman" panose="02020603050405020304" pitchFamily="18" charset="0"/>
                  </a:rPr>
                  <a:t>complexity =   </a:t>
                </a:r>
                <a14:m>
                  <m:oMath xmlns:m="http://schemas.openxmlformats.org/officeDocument/2006/math">
                    <m:f>
                      <m:fPr>
                        <m:ctrlPr>
                          <a:rPr lang="en-IN" i="1">
                            <a:effectLst/>
                            <a:latin typeface="Cambria Math" panose="02040503050406030204" pitchFamily="18" charset="0"/>
                            <a:ea typeface="Times New Roman" panose="02020603050405020304" pitchFamily="18" charset="0"/>
                          </a:rPr>
                        </m:ctrlPr>
                      </m:fPr>
                      <m:num>
                        <m:nary>
                          <m:naryPr>
                            <m:chr m:val="∑"/>
                            <m:grow m:val="on"/>
                            <m:ctrlPr>
                              <a:rPr lang="en-IN" i="1">
                                <a:effectLst/>
                                <a:latin typeface="Cambria Math" panose="02040503050406030204" pitchFamily="18" charset="0"/>
                                <a:ea typeface="Times New Roman" panose="02020603050405020304" pitchFamily="18" charset="0"/>
                              </a:rPr>
                            </m:ctrlPr>
                          </m:naryPr>
                          <m:sub>
                            <m:r>
                              <a:rPr lang="en-US" i="1">
                                <a:effectLst/>
                                <a:latin typeface="Cambria Math" panose="02040503050406030204" pitchFamily="18" charset="0"/>
                                <a:ea typeface="Cambria Math" panose="02040503050406030204" pitchFamily="18" charset="0"/>
                                <a:cs typeface="Cambria Math" panose="02040503050406030204" pitchFamily="18" charset="0"/>
                              </a:rPr>
                              <m:t>𝑖</m:t>
                            </m:r>
                            <m:r>
                              <a:rPr lang="en-US" i="1">
                                <a:effectLst/>
                                <a:latin typeface="Cambria Math" panose="02040503050406030204" pitchFamily="18" charset="0"/>
                                <a:ea typeface="Cambria Math" panose="02040503050406030204" pitchFamily="18" charset="0"/>
                                <a:cs typeface="Cambria Math" panose="02040503050406030204" pitchFamily="18" charset="0"/>
                              </a:rPr>
                              <m:t>=0</m:t>
                            </m:r>
                          </m:sub>
                          <m:sup>
                            <m:r>
                              <a:rPr lang="en-US" i="1">
                                <a:effectLst/>
                                <a:latin typeface="Cambria Math" panose="02040503050406030204" pitchFamily="18" charset="0"/>
                                <a:ea typeface="Cambria Math" panose="02040503050406030204" pitchFamily="18" charset="0"/>
                                <a:cs typeface="Cambria Math" panose="02040503050406030204" pitchFamily="18" charset="0"/>
                              </a:rPr>
                              <m:t>𝑛</m:t>
                            </m:r>
                            <m:r>
                              <a:rPr lang="en-US" i="1">
                                <a:effectLst/>
                                <a:latin typeface="Cambria Math" panose="02040503050406030204" pitchFamily="18" charset="0"/>
                                <a:ea typeface="Cambria Math" panose="02040503050406030204" pitchFamily="18" charset="0"/>
                                <a:cs typeface="Cambria Math" panose="02040503050406030204" pitchFamily="18" charset="0"/>
                              </a:rPr>
                              <m:t>+1</m:t>
                            </m:r>
                          </m:sup>
                          <m:e>
                            <m:r>
                              <a:rPr lang="en-US" i="1">
                                <a:effectLst/>
                                <a:latin typeface="Cambria Math" panose="02040503050406030204" pitchFamily="18" charset="0"/>
                                <a:ea typeface="Times New Roman" panose="02020603050405020304" pitchFamily="18" charset="0"/>
                              </a:rPr>
                              <m:t>𝜃</m:t>
                            </m:r>
                            <m:r>
                              <a:rPr lang="en-US" i="1">
                                <a:effectLst/>
                                <a:latin typeface="Cambria Math" panose="02040503050406030204" pitchFamily="18" charset="0"/>
                                <a:ea typeface="Times New Roman" panose="02020603050405020304" pitchFamily="18" charset="0"/>
                              </a:rPr>
                              <m:t>(</m:t>
                            </m:r>
                            <m:r>
                              <a:rPr lang="en-US" i="1">
                                <a:effectLst/>
                                <a:latin typeface="Cambria Math" panose="02040503050406030204" pitchFamily="18" charset="0"/>
                                <a:ea typeface="Times New Roman" panose="02020603050405020304" pitchFamily="18" charset="0"/>
                              </a:rPr>
                              <m:t>𝑖</m:t>
                            </m:r>
                            <m:r>
                              <a:rPr lang="en-US" i="1">
                                <a:effectLst/>
                                <a:latin typeface="Cambria Math" panose="02040503050406030204" pitchFamily="18" charset="0"/>
                                <a:ea typeface="Times New Roman" panose="02020603050405020304" pitchFamily="18" charset="0"/>
                              </a:rPr>
                              <m:t>)</m:t>
                            </m:r>
                          </m:e>
                        </m:nary>
                      </m:num>
                      <m:den>
                        <m:r>
                          <m:rPr>
                            <m:sty m:val="p"/>
                          </m:rPr>
                          <a:rPr lang="en-US">
                            <a:effectLst/>
                            <a:latin typeface="Cambria Math" panose="02040503050406030204" pitchFamily="18" charset="0"/>
                            <a:ea typeface="Times New Roman" panose="02020603050405020304" pitchFamily="18" charset="0"/>
                            <a:cs typeface="Cambria Math" panose="02040503050406030204" pitchFamily="18" charset="0"/>
                          </a:rPr>
                          <m:t>n</m:t>
                        </m:r>
                        <m:r>
                          <a:rPr lang="en-US">
                            <a:effectLst/>
                            <a:latin typeface="Cambria Math" panose="02040503050406030204" pitchFamily="18" charset="0"/>
                            <a:ea typeface="Times New Roman" panose="02020603050405020304" pitchFamily="18" charset="0"/>
                            <a:cs typeface="Cambria Math" panose="02040503050406030204" pitchFamily="18" charset="0"/>
                          </a:rPr>
                          <m:t>+1</m:t>
                        </m:r>
                      </m:den>
                    </m:f>
                  </m:oMath>
                </a14:m>
                <a:endParaRPr lang="en-IN" dirty="0">
                  <a:effectLst/>
                  <a:latin typeface="inter-regular"/>
                  <a:ea typeface="Times New Roman" panose="02020603050405020304" pitchFamily="18" charset="0"/>
                </a:endParaRPr>
              </a:p>
              <a:p>
                <a:pPr marL="742950" lvl="1" indent="-285750">
                  <a:spcBef>
                    <a:spcPts val="555"/>
                  </a:spcBef>
                  <a:spcAft>
                    <a:spcPts val="0"/>
                  </a:spcAft>
                  <a:buFont typeface="Wingdings" panose="05000000000000000000" pitchFamily="2" charset="2"/>
                  <a:buChar char=""/>
                </a:pPr>
                <a14:m>
                  <m:oMath xmlns:m="http://schemas.openxmlformats.org/officeDocument/2006/math">
                    <m:f>
                      <m:f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IN" i="1">
                            <a:effectLst/>
                            <a:latin typeface="Cambria Math" panose="02040503050406030204" pitchFamily="18" charset="0"/>
                            <a:ea typeface="Times New Roman" panose="02020603050405020304" pitchFamily="18" charset="0"/>
                            <a:cs typeface="Times New Roman" panose="02020603050405020304" pitchFamily="18" charset="0"/>
                          </a:rPr>
                          <m:t>𝜃</m:t>
                        </m:r>
                        <m:r>
                          <a:rPr lang="en-IN" i="1">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IN" i="1">
                                <a:effectLst/>
                                <a:latin typeface="Cambria Math" panose="02040503050406030204" pitchFamily="18" charset="0"/>
                                <a:ea typeface="Times New Roman" panose="02020603050405020304" pitchFamily="18" charset="0"/>
                                <a:cs typeface="Times New Roman" panose="02020603050405020304" pitchFamily="18" charset="0"/>
                              </a:rPr>
                              <m:t>𝑛</m:t>
                            </m:r>
                            <m:r>
                              <a:rPr lang="en-IN" i="1">
                                <a:effectLst/>
                                <a:latin typeface="Cambria Math" panose="02040503050406030204" pitchFamily="18" charset="0"/>
                                <a:ea typeface="Times New Roman" panose="02020603050405020304" pitchFamily="18" charset="0"/>
                                <a:cs typeface="Times New Roman" panose="02020603050405020304" pitchFamily="18" charset="0"/>
                              </a:rPr>
                              <m:t>+1</m:t>
                            </m:r>
                          </m:e>
                        </m:d>
                        <m:r>
                          <a:rPr lang="en-IN" i="1">
                            <a:effectLst/>
                            <a:latin typeface="Cambria Math" panose="02040503050406030204" pitchFamily="18" charset="0"/>
                            <a:ea typeface="Times New Roman" panose="02020603050405020304" pitchFamily="18" charset="0"/>
                            <a:cs typeface="Times New Roman" panose="02020603050405020304" pitchFamily="18" charset="0"/>
                          </a:rPr>
                          <m:t>∗(</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𝑛</m:t>
                        </m:r>
                        <m:r>
                          <a:rPr lang="en-IN" i="1">
                            <a:effectLst/>
                            <a:latin typeface="Cambria Math" panose="02040503050406030204" pitchFamily="18" charset="0"/>
                            <a:ea typeface="Times New Roman" panose="02020603050405020304" pitchFamily="18" charset="0"/>
                            <a:cs typeface="Times New Roman" panose="02020603050405020304" pitchFamily="18" charset="0"/>
                          </a:rPr>
                          <m:t>+2)/2)</m:t>
                        </m:r>
                      </m:num>
                      <m:den>
                        <m:r>
                          <m:rPr>
                            <m:sty m:val="p"/>
                          </m:rPr>
                          <a:rPr lang="en-IN">
                            <a:effectLst/>
                            <a:latin typeface="Cambria Math" panose="02040503050406030204" pitchFamily="18" charset="0"/>
                            <a:ea typeface="Times New Roman" panose="02020603050405020304" pitchFamily="18" charset="0"/>
                            <a:cs typeface="Cambria Math" panose="02040503050406030204" pitchFamily="18" charset="0"/>
                          </a:rPr>
                          <m:t>n</m:t>
                        </m:r>
                        <m:r>
                          <a:rPr lang="en-IN">
                            <a:effectLst/>
                            <a:latin typeface="Cambria Math" panose="02040503050406030204" pitchFamily="18" charset="0"/>
                            <a:ea typeface="Times New Roman" panose="02020603050405020304" pitchFamily="18" charset="0"/>
                            <a:cs typeface="Cambria Math" panose="02040503050406030204" pitchFamily="18" charset="0"/>
                          </a:rPr>
                          <m:t>+1</m:t>
                        </m:r>
                      </m:den>
                    </m:f>
                  </m:oMath>
                </a14:m>
                <a:endParaRPr lang="en-IN" dirty="0">
                  <a:effectLst/>
                  <a:latin typeface="inter-regular"/>
                  <a:ea typeface="Times New Roman" panose="02020603050405020304" pitchFamily="18" charset="0"/>
                  <a:cs typeface="Times New Roman" panose="02020603050405020304" pitchFamily="18" charset="0"/>
                </a:endParaRPr>
              </a:p>
              <a:p>
                <a:pPr marL="742950" lvl="1" indent="-285750">
                  <a:spcBef>
                    <a:spcPts val="555"/>
                  </a:spcBef>
                  <a:spcAft>
                    <a:spcPts val="0"/>
                  </a:spcAft>
                  <a:buFont typeface="Wingdings" panose="05000000000000000000" pitchFamily="2" charset="2"/>
                  <a:buChar char=""/>
                </a:pPr>
                <a14:m>
                  <m:oMath xmlns:m="http://schemas.openxmlformats.org/officeDocument/2006/math">
                    <m:r>
                      <a:rPr lang="en-IN" i="1">
                        <a:effectLst/>
                        <a:latin typeface="Cambria Math" panose="02040503050406030204" pitchFamily="18" charset="0"/>
                        <a:ea typeface="Times New Roman" panose="02020603050405020304" pitchFamily="18" charset="0"/>
                        <a:cs typeface="Times New Roman" panose="02020603050405020304" pitchFamily="18" charset="0"/>
                      </a:rPr>
                      <m:t>𝜃</m:t>
                    </m:r>
                    <m:r>
                      <a:rPr lang="en-IN" i="1">
                        <a:effectLst/>
                        <a:latin typeface="Cambria Math" panose="02040503050406030204" pitchFamily="18" charset="0"/>
                        <a:ea typeface="Times New Roman" panose="02020603050405020304" pitchFamily="18" charset="0"/>
                        <a:cs typeface="Times New Roman" panose="02020603050405020304" pitchFamily="18" charset="0"/>
                      </a:rPr>
                      <m:t>(1+</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𝑛</m:t>
                    </m:r>
                    <m:r>
                      <a:rPr lang="en-IN" i="1">
                        <a:effectLst/>
                        <a:latin typeface="Cambria Math" panose="02040503050406030204" pitchFamily="18" charset="0"/>
                        <a:ea typeface="Times New Roman" panose="02020603050405020304" pitchFamily="18" charset="0"/>
                        <a:cs typeface="Times New Roman" panose="02020603050405020304" pitchFamily="18" charset="0"/>
                      </a:rPr>
                      <m:t>/2)</m:t>
                    </m:r>
                  </m:oMath>
                </a14:m>
                <a:endParaRPr lang="en-IN" dirty="0">
                  <a:effectLst/>
                  <a:latin typeface="inter-regular"/>
                  <a:ea typeface="Times New Roman" panose="02020603050405020304" pitchFamily="18" charset="0"/>
                  <a:cs typeface="Times New Roman" panose="02020603050405020304" pitchFamily="18" charset="0"/>
                </a:endParaRPr>
              </a:p>
              <a:p>
                <a:pPr marL="742950" lvl="1" indent="-285750">
                  <a:spcBef>
                    <a:spcPts val="555"/>
                  </a:spcBef>
                  <a:spcAft>
                    <a:spcPts val="0"/>
                  </a:spcAft>
                  <a:buFont typeface="Wingdings" panose="05000000000000000000" pitchFamily="2" charset="2"/>
                  <a:buChar char=""/>
                </a:pPr>
                <a14:m>
                  <m:oMath xmlns:m="http://schemas.openxmlformats.org/officeDocument/2006/math">
                    <m:r>
                      <a:rPr lang="en-IN" i="1">
                        <a:effectLst/>
                        <a:latin typeface="Cambria Math" panose="02040503050406030204" pitchFamily="18" charset="0"/>
                        <a:ea typeface="Times New Roman" panose="02020603050405020304" pitchFamily="18" charset="0"/>
                        <a:cs typeface="Times New Roman" panose="02020603050405020304" pitchFamily="18" charset="0"/>
                      </a:rPr>
                      <m:t>𝜃</m:t>
                    </m:r>
                    <m:r>
                      <a:rPr lang="en-IN" i="1">
                        <a:effectLst/>
                        <a:latin typeface="Cambria Math" panose="02040503050406030204" pitchFamily="18" charset="0"/>
                        <a:ea typeface="Times New Roman" panose="02020603050405020304" pitchFamily="18" charset="0"/>
                        <a:cs typeface="Times New Roman" panose="02020603050405020304" pitchFamily="18" charset="0"/>
                      </a:rPr>
                      <m:t>(</m:t>
                    </m:r>
                    <m:r>
                      <a:rPr lang="en-IN" i="1">
                        <a:effectLst/>
                        <a:latin typeface="Cambria Math" panose="02040503050406030204" pitchFamily="18" charset="0"/>
                        <a:ea typeface="Times New Roman" panose="02020603050405020304" pitchFamily="18" charset="0"/>
                        <a:cs typeface="Times New Roman" panose="02020603050405020304" pitchFamily="18" charset="0"/>
                      </a:rPr>
                      <m:t>𝑛</m:t>
                    </m:r>
                    <m:r>
                      <a:rPr lang="en-IN" i="1">
                        <a:effectLst/>
                        <a:latin typeface="Cambria Math" panose="02040503050406030204" pitchFamily="18" charset="0"/>
                        <a:ea typeface="Times New Roman" panose="02020603050405020304" pitchFamily="18" charset="0"/>
                        <a:cs typeface="Times New Roman" panose="02020603050405020304" pitchFamily="18" charset="0"/>
                      </a:rPr>
                      <m:t>)</m:t>
                    </m:r>
                  </m:oMath>
                </a14:m>
                <a:endParaRPr lang="en-IN" dirty="0">
                  <a:effectLst/>
                  <a:latin typeface="inter-regular"/>
                  <a:ea typeface="Times New Roman" panose="02020603050405020304" pitchFamily="18" charset="0"/>
                  <a:cs typeface="Times New Roman" panose="020206030504050203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2509520" y="2501020"/>
                <a:ext cx="6096000" cy="1792735"/>
              </a:xfrm>
              <a:prstGeom prst="rect">
                <a:avLst/>
              </a:prstGeom>
              <a:blipFill>
                <a:blip r:embed="rId3"/>
                <a:stretch>
                  <a:fillRect l="-900" b="-4422"/>
                </a:stretch>
              </a:blipFill>
            </p:spPr>
            <p:txBody>
              <a:bodyPr/>
              <a:lstStyle/>
              <a:p>
                <a:r>
                  <a:rPr lang="en-IN">
                    <a:noFill/>
                  </a:rPr>
                  <a:t> </a:t>
                </a:r>
              </a:p>
            </p:txBody>
          </p:sp>
        </mc:Fallback>
      </mc:AlternateContent>
    </p:spTree>
    <p:extLst>
      <p:ext uri="{BB962C8B-B14F-4D97-AF65-F5344CB8AC3E}">
        <p14:creationId xmlns:p14="http://schemas.microsoft.com/office/powerpoint/2010/main" val="68235165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8" name="Rounded Rectangle 17">
            <a:extLst>
              <a:ext uri="{FF2B5EF4-FFF2-40B4-BE49-F238E27FC236}">
                <a16:creationId xmlns:a16="http://schemas.microsoft.com/office/drawing/2014/main" id="{39DC903D-9003-4F3D-87E9-EE7D5BEB5D03}"/>
              </a:ext>
            </a:extLst>
          </p:cNvPr>
          <p:cNvSpPr/>
          <p:nvPr/>
        </p:nvSpPr>
        <p:spPr>
          <a:xfrm>
            <a:off x="3473653" y="30003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smtClean="0">
                <a:ln w="0"/>
                <a:solidFill>
                  <a:schemeClr val="bg1"/>
                </a:solidFill>
                <a:effectLst>
                  <a:outerShdw blurRad="38100" dist="19050" dir="2700000" algn="tl" rotWithShape="0">
                    <a:schemeClr val="dk1">
                      <a:alpha val="40000"/>
                    </a:schemeClr>
                  </a:outerShdw>
                </a:effectLst>
                <a:latin typeface="inter-regular"/>
                <a:cs typeface="Poppins" panose="00000500000000000000" pitchFamily="2" charset="0"/>
              </a:rPr>
              <a:t>BIG-O NOTATION (O)</a:t>
            </a:r>
            <a:endParaRPr lang="en-US" dirty="0">
              <a:ln w="0"/>
              <a:solidFill>
                <a:schemeClr val="bg1"/>
              </a:solidFill>
              <a:effectLst>
                <a:outerShdw blurRad="38100" dist="19050" dir="2700000" algn="tl" rotWithShape="0">
                  <a:schemeClr val="dk1">
                    <a:alpha val="40000"/>
                  </a:schemeClr>
                </a:outerShdw>
              </a:effectLst>
              <a:latin typeface="inter-regular"/>
              <a:cs typeface="Poppins" panose="00000500000000000000" pitchFamily="2" charset="0"/>
            </a:endParaRPr>
          </a:p>
        </p:txBody>
      </p:sp>
      <p:sp>
        <p:nvSpPr>
          <p:cNvPr id="6" name="Content Placeholder 2">
            <a:extLst>
              <a:ext uri="{FF2B5EF4-FFF2-40B4-BE49-F238E27FC236}">
                <a16:creationId xmlns:a16="http://schemas.microsoft.com/office/drawing/2014/main" id="{D498F8BB-622F-BFA4-C632-67AFA4330F98}"/>
              </a:ext>
            </a:extLst>
          </p:cNvPr>
          <p:cNvSpPr>
            <a:spLocks noGrp="1"/>
          </p:cNvSpPr>
          <p:nvPr>
            <p:ph idx="1"/>
          </p:nvPr>
        </p:nvSpPr>
        <p:spPr>
          <a:xfrm>
            <a:off x="1733107" y="728836"/>
            <a:ext cx="10042333" cy="6012206"/>
          </a:xfrm>
        </p:spPr>
        <p:txBody>
          <a:bodyPr>
            <a:normAutofit fontScale="77500" lnSpcReduction="20000"/>
          </a:bodyPr>
          <a:lstStyle/>
          <a:p>
            <a:pPr marR="709930">
              <a:lnSpc>
                <a:spcPct val="148000"/>
              </a:lnSpc>
              <a:spcBef>
                <a:spcPts val="1045"/>
              </a:spcBef>
              <a:spcAft>
                <a:spcPts val="0"/>
              </a:spcAft>
              <a:buFont typeface="Wingdings" panose="05000000000000000000" pitchFamily="2" charset="2"/>
              <a:buChar char="Ø"/>
            </a:pPr>
            <a:r>
              <a:rPr lang="en-US" sz="1800" dirty="0">
                <a:latin typeface="inter-regular"/>
              </a:rPr>
              <a:t>Big-O notation represents the upper bound of the running time of an algorithm. Therefore, it gives the worst-case complexity of an algorithm</a:t>
            </a:r>
            <a:r>
              <a:rPr lang="en-US" sz="1800" dirty="0" smtClean="0">
                <a:latin typeface="inter-regular"/>
              </a:rPr>
              <a:t>.</a:t>
            </a:r>
            <a:endParaRPr lang="en-US" sz="1800" dirty="0">
              <a:latin typeface="inter-regular"/>
            </a:endParaRPr>
          </a:p>
          <a:p>
            <a:pPr marR="709930" lvl="1">
              <a:lnSpc>
                <a:spcPct val="148000"/>
              </a:lnSpc>
              <a:spcBef>
                <a:spcPts val="1045"/>
              </a:spcBef>
            </a:pPr>
            <a:r>
              <a:rPr lang="en-US" sz="1400" dirty="0">
                <a:latin typeface="inter-regular"/>
              </a:rPr>
              <a:t>.</a:t>
            </a:r>
            <a:r>
              <a:rPr lang="en-US" sz="1800" dirty="0">
                <a:latin typeface="inter-regular"/>
              </a:rPr>
              <a:t>It is the most widely used notation for Asymptotic analysis.</a:t>
            </a:r>
          </a:p>
          <a:p>
            <a:pPr marR="709930" lvl="1">
              <a:lnSpc>
                <a:spcPct val="148000"/>
              </a:lnSpc>
              <a:spcBef>
                <a:spcPts val="1045"/>
              </a:spcBef>
            </a:pPr>
            <a:r>
              <a:rPr lang="en-US" sz="1800" dirty="0">
                <a:latin typeface="inter-regular"/>
              </a:rPr>
              <a:t>.It specifies the upper </a:t>
            </a:r>
            <a:r>
              <a:rPr lang="en-US" sz="1800" dirty="0" smtClean="0">
                <a:latin typeface="inter-regular"/>
              </a:rPr>
              <a:t>bound </a:t>
            </a:r>
            <a:r>
              <a:rPr lang="en-US" sz="1800" dirty="0">
                <a:latin typeface="inter-regular"/>
              </a:rPr>
              <a:t>of </a:t>
            </a:r>
            <a:r>
              <a:rPr lang="en-US" sz="1800" dirty="0" smtClean="0">
                <a:latin typeface="inter-regular"/>
              </a:rPr>
              <a:t>a function.</a:t>
            </a:r>
            <a:endParaRPr lang="en-US" sz="1800" dirty="0">
              <a:latin typeface="inter-regular"/>
            </a:endParaRPr>
          </a:p>
          <a:p>
            <a:pPr marR="709930" lvl="1">
              <a:lnSpc>
                <a:spcPct val="148000"/>
              </a:lnSpc>
              <a:spcBef>
                <a:spcPts val="1045"/>
              </a:spcBef>
            </a:pPr>
            <a:r>
              <a:rPr lang="en-US" sz="1800" dirty="0">
                <a:latin typeface="inter-regular"/>
              </a:rPr>
              <a:t>.The maximum time required by an algorithm or the worst-case time complexity.</a:t>
            </a:r>
          </a:p>
          <a:p>
            <a:pPr marR="709930" lvl="1">
              <a:lnSpc>
                <a:spcPct val="148000"/>
              </a:lnSpc>
              <a:spcBef>
                <a:spcPts val="1045"/>
              </a:spcBef>
            </a:pPr>
            <a:r>
              <a:rPr lang="en-US" sz="1800" dirty="0">
                <a:latin typeface="inter-regular"/>
              </a:rPr>
              <a:t>.It returns the highest possible output value(big-O) for a given input.</a:t>
            </a:r>
          </a:p>
          <a:p>
            <a:pPr marR="709930" lvl="1">
              <a:lnSpc>
                <a:spcPct val="148000"/>
              </a:lnSpc>
              <a:spcBef>
                <a:spcPts val="1045"/>
              </a:spcBef>
            </a:pPr>
            <a:r>
              <a:rPr lang="en-US" sz="1800" dirty="0">
                <a:latin typeface="inter-regular"/>
              </a:rPr>
              <a:t>.Big-Oh(Worst Case) It is defined as the condition that allows an algorithm to complete statement execution in the longest amount of time possible</a:t>
            </a:r>
            <a:r>
              <a:rPr lang="en-US" sz="1800" dirty="0" smtClean="0">
                <a:latin typeface="inter-regular"/>
              </a:rPr>
              <a:t>.</a:t>
            </a:r>
          </a:p>
          <a:p>
            <a:pPr marR="709930">
              <a:lnSpc>
                <a:spcPct val="148000"/>
              </a:lnSpc>
              <a:spcBef>
                <a:spcPts val="1045"/>
              </a:spcBef>
              <a:spcAft>
                <a:spcPts val="0"/>
              </a:spcAft>
              <a:buFont typeface="Wingdings" panose="05000000000000000000" pitchFamily="2" charset="2"/>
              <a:buChar char="Ø"/>
            </a:pPr>
            <a:r>
              <a:rPr lang="en-US" sz="1800" dirty="0">
                <a:latin typeface="inter-regular"/>
              </a:rPr>
              <a:t>Follow the steps below to calculate O for a program:</a:t>
            </a:r>
          </a:p>
          <a:p>
            <a:pPr marR="709930" lvl="1">
              <a:lnSpc>
                <a:spcPct val="148000"/>
              </a:lnSpc>
              <a:spcBef>
                <a:spcPts val="1045"/>
              </a:spcBef>
            </a:pPr>
            <a:r>
              <a:rPr lang="en-US" sz="1800" dirty="0">
                <a:latin typeface="inter-regular"/>
              </a:rPr>
              <a:t>Break the program into smaller segments.</a:t>
            </a:r>
          </a:p>
          <a:p>
            <a:pPr marR="709930" lvl="1">
              <a:lnSpc>
                <a:spcPct val="148000"/>
              </a:lnSpc>
              <a:spcBef>
                <a:spcPts val="1045"/>
              </a:spcBef>
            </a:pPr>
            <a:r>
              <a:rPr lang="en-US" sz="1800" dirty="0">
                <a:latin typeface="inter-regular"/>
              </a:rPr>
              <a:t>Find the number of operations performed for each segment (in terms of the input size) assuming the given input is such that the program takes the maximum time </a:t>
            </a:r>
            <a:r>
              <a:rPr lang="en-US" sz="1800" dirty="0" err="1">
                <a:latin typeface="inter-regular"/>
              </a:rPr>
              <a:t>i.e</a:t>
            </a:r>
            <a:r>
              <a:rPr lang="en-US" sz="1800" dirty="0">
                <a:latin typeface="inter-regular"/>
              </a:rPr>
              <a:t> the worst-case scenario.</a:t>
            </a:r>
          </a:p>
          <a:p>
            <a:pPr marR="709930" lvl="1">
              <a:lnSpc>
                <a:spcPct val="148000"/>
              </a:lnSpc>
              <a:spcBef>
                <a:spcPts val="1045"/>
              </a:spcBef>
            </a:pPr>
            <a:r>
              <a:rPr lang="en-US" sz="1800" dirty="0">
                <a:latin typeface="inter-regular"/>
              </a:rPr>
              <a:t>Add up all the operations and simplify it, let’s say it is f(n).</a:t>
            </a:r>
          </a:p>
          <a:p>
            <a:pPr marR="709930" lvl="1">
              <a:lnSpc>
                <a:spcPct val="148000"/>
              </a:lnSpc>
              <a:spcBef>
                <a:spcPts val="1045"/>
              </a:spcBef>
            </a:pPr>
            <a:r>
              <a:rPr lang="en-US" sz="1800" dirty="0">
                <a:latin typeface="inter-regular"/>
              </a:rPr>
              <a:t>Remove all the constants and choose the term having the highest order because for n tends to infinity the constants and the lower order terms in f(n) will be insignificant, let say the function is g(n) then, big-O notation is O(g(n)).</a:t>
            </a:r>
            <a:endParaRPr lang="en-IN" sz="1800" dirty="0">
              <a:latin typeface="inter-regular"/>
            </a:endParaRPr>
          </a:p>
          <a:p>
            <a:pPr marR="709930" lvl="1">
              <a:lnSpc>
                <a:spcPct val="148000"/>
              </a:lnSpc>
              <a:spcBef>
                <a:spcPts val="1045"/>
              </a:spcBef>
            </a:pPr>
            <a:endParaRPr lang="en-US" sz="1800" dirty="0">
              <a:latin typeface="inter-regular"/>
            </a:endParaRPr>
          </a:p>
          <a:p>
            <a:pPr marL="0" marR="709930" indent="0">
              <a:lnSpc>
                <a:spcPct val="148000"/>
              </a:lnSpc>
              <a:spcBef>
                <a:spcPts val="1045"/>
              </a:spcBef>
              <a:spcAft>
                <a:spcPts val="0"/>
              </a:spcAft>
              <a:buNone/>
            </a:pPr>
            <a:endParaRPr lang="en-IN" sz="1800" dirty="0">
              <a:latin typeface="inter-regular"/>
            </a:endParaRPr>
          </a:p>
        </p:txBody>
      </p:sp>
      <p:sp>
        <p:nvSpPr>
          <p:cNvPr id="5" name="Footer Placeholder 4">
            <a:extLst>
              <a:ext uri="{FF2B5EF4-FFF2-40B4-BE49-F238E27FC236}">
                <a16:creationId xmlns:a16="http://schemas.microsoft.com/office/drawing/2014/main" id="{C59A143E-7875-43E7-97E0-3557B9071E49}"/>
              </a:ext>
            </a:extLst>
          </p:cNvPr>
          <p:cNvSpPr>
            <a:spLocks noGrp="1"/>
          </p:cNvSpPr>
          <p:nvPr>
            <p:ph type="ftr" sz="quarter" idx="11"/>
          </p:nvPr>
        </p:nvSpPr>
        <p:spPr>
          <a:xfrm>
            <a:off x="272868" y="6458858"/>
            <a:ext cx="11797211" cy="399142"/>
          </a:xfrm>
        </p:spPr>
        <p:txBody>
          <a:bodyPr/>
          <a:lstStyle/>
          <a:p>
            <a:pPr algn="l">
              <a:defRPr/>
            </a:pPr>
            <a:r>
              <a:rPr lang="en-US" sz="2000" b="1" dirty="0">
                <a:solidFill>
                  <a:srgbClr val="002060"/>
                </a:solidFill>
                <a:latin typeface="Times New Roman" pitchFamily="18" charset="0"/>
                <a:cs typeface="Times New Roman" pitchFamily="18" charset="0"/>
              </a:rPr>
              <a:t>KLEF                                           </a:t>
            </a:r>
            <a:r>
              <a:rPr lang="en-US" sz="2000" b="1" dirty="0" smtClean="0">
                <a:solidFill>
                  <a:srgbClr val="002060"/>
                </a:solidFill>
                <a:latin typeface="Times New Roman" pitchFamily="18" charset="0"/>
                <a:cs typeface="Times New Roman" pitchFamily="18" charset="0"/>
              </a:rPr>
              <a:t>			DS           				      BES-1</a:t>
            </a:r>
            <a:endParaRPr lang="en-US" sz="2000" b="1" dirty="0">
              <a:solidFill>
                <a:srgbClr val="002060"/>
              </a:solidFill>
              <a:latin typeface="Times New Roman" pitchFamily="18" charset="0"/>
              <a:cs typeface="Times New Roman" pitchFamily="18" charset="0"/>
            </a:endParaRPr>
          </a:p>
        </p:txBody>
      </p:sp>
    </p:spTree>
    <p:extLst>
      <p:ext uri="{BB962C8B-B14F-4D97-AF65-F5344CB8AC3E}">
        <p14:creationId xmlns:p14="http://schemas.microsoft.com/office/powerpoint/2010/main" val="254703771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8" name="Rounded Rectangle 17">
            <a:extLst>
              <a:ext uri="{FF2B5EF4-FFF2-40B4-BE49-F238E27FC236}">
                <a16:creationId xmlns:a16="http://schemas.microsoft.com/office/drawing/2014/main" id="{39DC903D-9003-4F3D-87E9-EE7D5BEB5D03}"/>
              </a:ext>
            </a:extLst>
          </p:cNvPr>
          <p:cNvSpPr/>
          <p:nvPr/>
        </p:nvSpPr>
        <p:spPr>
          <a:xfrm>
            <a:off x="3392373" y="19916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smtClean="0">
                <a:ln w="0"/>
                <a:solidFill>
                  <a:schemeClr val="bg1"/>
                </a:solidFill>
                <a:effectLst>
                  <a:outerShdw blurRad="38100" dist="19050" dir="2700000" algn="tl" rotWithShape="0">
                    <a:schemeClr val="dk1">
                      <a:alpha val="40000"/>
                    </a:schemeClr>
                  </a:outerShdw>
                </a:effectLst>
                <a:latin typeface="inter-regular"/>
                <a:cs typeface="Poppins" panose="00000500000000000000" pitchFamily="2" charset="0"/>
              </a:rPr>
              <a:t>BIG-O NOTATION (O)</a:t>
            </a:r>
            <a:endParaRPr lang="en-US" dirty="0">
              <a:ln w="0"/>
              <a:solidFill>
                <a:schemeClr val="bg1"/>
              </a:solidFill>
              <a:effectLst>
                <a:outerShdw blurRad="38100" dist="19050" dir="2700000" algn="tl" rotWithShape="0">
                  <a:schemeClr val="dk1">
                    <a:alpha val="40000"/>
                  </a:schemeClr>
                </a:outerShdw>
              </a:effectLst>
              <a:latin typeface="inter-regular"/>
              <a:cs typeface="Poppins" panose="00000500000000000000" pitchFamily="2" charset="0"/>
            </a:endParaRPr>
          </a:p>
        </p:txBody>
      </p:sp>
      <p:sp>
        <p:nvSpPr>
          <p:cNvPr id="6" name="Content Placeholder 2">
            <a:extLst>
              <a:ext uri="{FF2B5EF4-FFF2-40B4-BE49-F238E27FC236}">
                <a16:creationId xmlns:a16="http://schemas.microsoft.com/office/drawing/2014/main" id="{D498F8BB-622F-BFA4-C632-67AFA4330F98}"/>
              </a:ext>
            </a:extLst>
          </p:cNvPr>
          <p:cNvSpPr>
            <a:spLocks noGrp="1"/>
          </p:cNvSpPr>
          <p:nvPr>
            <p:ph idx="1"/>
          </p:nvPr>
        </p:nvSpPr>
        <p:spPr>
          <a:xfrm>
            <a:off x="995362" y="600076"/>
            <a:ext cx="11919131" cy="4758332"/>
          </a:xfrm>
        </p:spPr>
        <p:txBody>
          <a:bodyPr>
            <a:normAutofit/>
          </a:bodyPr>
          <a:lstStyle/>
          <a:p>
            <a:pPr marL="0" marR="709930" indent="0">
              <a:lnSpc>
                <a:spcPct val="148000"/>
              </a:lnSpc>
              <a:spcBef>
                <a:spcPts val="1045"/>
              </a:spcBef>
              <a:buNone/>
            </a:pPr>
            <a:r>
              <a:rPr lang="en-US" b="1" dirty="0"/>
              <a:t>Mathematical Representation of </a:t>
            </a:r>
            <a:r>
              <a:rPr lang="en-US" b="1" dirty="0" smtClean="0"/>
              <a:t>Big-O notation:</a:t>
            </a:r>
            <a:endParaRPr lang="en-US" b="1" dirty="0"/>
          </a:p>
          <a:p>
            <a:pPr marL="0" marR="709930" indent="0">
              <a:lnSpc>
                <a:spcPct val="148000"/>
              </a:lnSpc>
              <a:spcBef>
                <a:spcPts val="1045"/>
              </a:spcBef>
              <a:spcAft>
                <a:spcPts val="0"/>
              </a:spcAft>
              <a:buNone/>
            </a:pPr>
            <a:r>
              <a:rPr lang="en-US" sz="1800" dirty="0" smtClean="0">
                <a:latin typeface="inter-regular"/>
              </a:rPr>
              <a:t>Big </a:t>
            </a:r>
            <a:r>
              <a:rPr lang="en-US" sz="1800" dirty="0">
                <a:latin typeface="inter-regular"/>
              </a:rPr>
              <a:t>– O (O) notation specifies the asymptotic upper bound for a function f(n). </a:t>
            </a:r>
            <a:endParaRPr lang="en-US" sz="1800" dirty="0" smtClean="0">
              <a:latin typeface="inter-regular"/>
            </a:endParaRPr>
          </a:p>
          <a:p>
            <a:pPr marL="0" marR="709930" indent="0">
              <a:lnSpc>
                <a:spcPct val="148000"/>
              </a:lnSpc>
              <a:spcBef>
                <a:spcPts val="1045"/>
              </a:spcBef>
              <a:spcAft>
                <a:spcPts val="0"/>
              </a:spcAft>
              <a:buNone/>
            </a:pPr>
            <a:r>
              <a:rPr lang="en-US" sz="1800" dirty="0" smtClean="0">
                <a:latin typeface="inter-regular"/>
              </a:rPr>
              <a:t>For </a:t>
            </a:r>
            <a:r>
              <a:rPr lang="en-US" sz="1800" dirty="0">
                <a:latin typeface="inter-regular"/>
              </a:rPr>
              <a:t>a given function g(n), O(g(n)) is denoted by</a:t>
            </a:r>
            <a:r>
              <a:rPr lang="en-US" sz="1800" dirty="0" smtClean="0">
                <a:latin typeface="inter-regular"/>
              </a:rPr>
              <a:t>:</a:t>
            </a:r>
          </a:p>
          <a:p>
            <a:pPr marL="0" marR="709930" indent="0">
              <a:lnSpc>
                <a:spcPct val="148000"/>
              </a:lnSpc>
              <a:spcBef>
                <a:spcPts val="1045"/>
              </a:spcBef>
              <a:spcAft>
                <a:spcPts val="0"/>
              </a:spcAft>
              <a:buNone/>
            </a:pPr>
            <a:r>
              <a:rPr lang="en-US" sz="2000" b="1" dirty="0" smtClean="0">
                <a:latin typeface="inter-regular"/>
              </a:rPr>
              <a:t>O </a:t>
            </a:r>
            <a:r>
              <a:rPr lang="en-US" sz="2000" b="1" dirty="0">
                <a:latin typeface="inter-regular"/>
              </a:rPr>
              <a:t>(g(n)) = {f(n): there exist positive constants c and n0 such that f(n) ≤ c*g(n) for all n ≥ n0}. </a:t>
            </a:r>
            <a:endParaRPr lang="en-US" sz="2000" b="1" dirty="0" smtClean="0">
              <a:latin typeface="inter-regular"/>
            </a:endParaRPr>
          </a:p>
          <a:p>
            <a:pPr marL="0" marR="709930" indent="0">
              <a:lnSpc>
                <a:spcPct val="148000"/>
              </a:lnSpc>
              <a:spcBef>
                <a:spcPts val="1045"/>
              </a:spcBef>
              <a:spcAft>
                <a:spcPts val="0"/>
              </a:spcAft>
              <a:buNone/>
            </a:pPr>
            <a:r>
              <a:rPr lang="en-US" sz="1800" dirty="0" smtClean="0">
                <a:latin typeface="inter-regular"/>
              </a:rPr>
              <a:t>This </a:t>
            </a:r>
            <a:r>
              <a:rPr lang="en-US" sz="1800" dirty="0">
                <a:latin typeface="inter-regular"/>
              </a:rPr>
              <a:t>means that, f(n) = O(g(n)), If there are positive constants n0 and c such that, to the right of n0 the f(n) always lies on or below c*g(n).</a:t>
            </a:r>
            <a:endParaRPr lang="en-IN" sz="1800" dirty="0">
              <a:latin typeface="inter-regular"/>
            </a:endParaRPr>
          </a:p>
        </p:txBody>
      </p:sp>
      <p:sp>
        <p:nvSpPr>
          <p:cNvPr id="5" name="Footer Placeholder 4">
            <a:extLst>
              <a:ext uri="{FF2B5EF4-FFF2-40B4-BE49-F238E27FC236}">
                <a16:creationId xmlns:a16="http://schemas.microsoft.com/office/drawing/2014/main" id="{C59A143E-7875-43E7-97E0-3557B9071E49}"/>
              </a:ext>
            </a:extLst>
          </p:cNvPr>
          <p:cNvSpPr>
            <a:spLocks noGrp="1"/>
          </p:cNvSpPr>
          <p:nvPr>
            <p:ph type="ftr" sz="quarter" idx="11"/>
          </p:nvPr>
        </p:nvSpPr>
        <p:spPr>
          <a:xfrm>
            <a:off x="272868" y="6458858"/>
            <a:ext cx="11797211" cy="399142"/>
          </a:xfrm>
        </p:spPr>
        <p:txBody>
          <a:bodyPr/>
          <a:lstStyle/>
          <a:p>
            <a:pPr algn="l">
              <a:defRPr/>
            </a:pPr>
            <a:r>
              <a:rPr lang="en-US" sz="2000" b="1" dirty="0">
                <a:solidFill>
                  <a:srgbClr val="002060"/>
                </a:solidFill>
                <a:latin typeface="Times New Roman" pitchFamily="18" charset="0"/>
                <a:cs typeface="Times New Roman" pitchFamily="18" charset="0"/>
              </a:rPr>
              <a:t>KLEF                                           </a:t>
            </a:r>
            <a:r>
              <a:rPr lang="en-US" sz="2000" b="1" dirty="0" smtClean="0">
                <a:solidFill>
                  <a:srgbClr val="002060"/>
                </a:solidFill>
                <a:latin typeface="Times New Roman" pitchFamily="18" charset="0"/>
                <a:cs typeface="Times New Roman" pitchFamily="18" charset="0"/>
              </a:rPr>
              <a:t>			DS           				      BES-1</a:t>
            </a:r>
            <a:endParaRPr lang="en-US" sz="2000" b="1" dirty="0">
              <a:solidFill>
                <a:srgbClr val="002060"/>
              </a:solidFill>
              <a:latin typeface="Times New Roman" pitchFamily="18" charset="0"/>
              <a:cs typeface="Times New Roman" pitchFamily="18" charset="0"/>
            </a:endParaRPr>
          </a:p>
        </p:txBody>
      </p:sp>
      <p:pic>
        <p:nvPicPr>
          <p:cNvPr id="3" name="Picture 2"/>
          <p:cNvPicPr>
            <a:picLocks noChangeAspect="1"/>
          </p:cNvPicPr>
          <p:nvPr/>
        </p:nvPicPr>
        <p:blipFill>
          <a:blip r:embed="rId3"/>
          <a:stretch>
            <a:fillRect/>
          </a:stretch>
        </p:blipFill>
        <p:spPr>
          <a:xfrm>
            <a:off x="4728210" y="3547245"/>
            <a:ext cx="3325671" cy="2538595"/>
          </a:xfrm>
          <a:prstGeom prst="rect">
            <a:avLst/>
          </a:prstGeom>
        </p:spPr>
      </p:pic>
    </p:spTree>
    <p:extLst>
      <p:ext uri="{BB962C8B-B14F-4D97-AF65-F5344CB8AC3E}">
        <p14:creationId xmlns:p14="http://schemas.microsoft.com/office/powerpoint/2010/main" val="233317906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13" name="Footer Placeholder 4">
            <a:extLst>
              <a:ext uri="{FF2B5EF4-FFF2-40B4-BE49-F238E27FC236}">
                <a16:creationId xmlns:a16="http://schemas.microsoft.com/office/drawing/2014/main" id="{C59A143E-7875-43E7-97E0-3557B9071E49}"/>
              </a:ext>
            </a:extLst>
          </p:cNvPr>
          <p:cNvSpPr>
            <a:spLocks noGrp="1"/>
          </p:cNvSpPr>
          <p:nvPr>
            <p:ph type="ftr" sz="quarter" idx="11"/>
          </p:nvPr>
        </p:nvSpPr>
        <p:spPr>
          <a:xfrm>
            <a:off x="120468" y="6493201"/>
            <a:ext cx="11797211" cy="399142"/>
          </a:xfrm>
        </p:spPr>
        <p:txBody>
          <a:bodyPr/>
          <a:lstStyle/>
          <a:p>
            <a:pPr algn="l">
              <a:defRPr/>
            </a:pPr>
            <a:r>
              <a:rPr lang="en-US" sz="2000" b="1" dirty="0">
                <a:solidFill>
                  <a:srgbClr val="002060"/>
                </a:solidFill>
                <a:latin typeface="Times New Roman" pitchFamily="18" charset="0"/>
                <a:cs typeface="Times New Roman" pitchFamily="18" charset="0"/>
              </a:rPr>
              <a:t>KLEF                                           			DS           				      BES-1</a:t>
            </a:r>
          </a:p>
        </p:txBody>
      </p:sp>
      <p:pic>
        <p:nvPicPr>
          <p:cNvPr id="32770" name="Picture 2" descr="https://miro.medium.com/v2/resize:fit:700/1*BKgI_iENpAqfKIbTlVf3UQ.png"/>
          <p:cNvPicPr>
            <a:picLocks noChangeAspect="1" noChangeArrowheads="1"/>
          </p:cNvPicPr>
          <p:nvPr/>
        </p:nvPicPr>
        <p:blipFill>
          <a:blip r:embed="rId4"/>
          <a:srcRect r="848"/>
          <a:stretch>
            <a:fillRect/>
          </a:stretch>
        </p:blipFill>
        <p:spPr bwMode="auto">
          <a:xfrm>
            <a:off x="1463040" y="731520"/>
            <a:ext cx="10180321" cy="5509260"/>
          </a:xfrm>
          <a:prstGeom prst="rect">
            <a:avLst/>
          </a:prstGeom>
          <a:noFill/>
        </p:spPr>
      </p:pic>
      <p:sp>
        <p:nvSpPr>
          <p:cNvPr id="8" name="Rounded Rectangle 17">
            <a:extLst>
              <a:ext uri="{FF2B5EF4-FFF2-40B4-BE49-F238E27FC236}">
                <a16:creationId xmlns:a16="http://schemas.microsoft.com/office/drawing/2014/main" id="{39DC903D-9003-4F3D-87E9-EE7D5BEB5D03}"/>
              </a:ext>
            </a:extLst>
          </p:cNvPr>
          <p:cNvSpPr/>
          <p:nvPr/>
        </p:nvSpPr>
        <p:spPr>
          <a:xfrm>
            <a:off x="3819093" y="34856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rPr>
              <a:t>COMMON TIME COMPLEXITIES </a:t>
            </a:r>
          </a:p>
        </p:txBody>
      </p:sp>
    </p:spTree>
    <p:extLst>
      <p:ext uri="{BB962C8B-B14F-4D97-AF65-F5344CB8AC3E}">
        <p14:creationId xmlns:p14="http://schemas.microsoft.com/office/powerpoint/2010/main" val="210804145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254442063"/>
              </p:ext>
            </p:extLst>
          </p:nvPr>
        </p:nvGraphicFramePr>
        <p:xfrm>
          <a:off x="7315200" y="1895157"/>
          <a:ext cx="4002722" cy="3106945"/>
        </p:xfrm>
        <a:graphic>
          <a:graphicData uri="http://schemas.openxmlformats.org/drawingml/2006/table">
            <a:tbl>
              <a:tblPr/>
              <a:tblGrid>
                <a:gridCol w="2201689">
                  <a:extLst>
                    <a:ext uri="{9D8B030D-6E8A-4147-A177-3AD203B41FA5}">
                      <a16:colId xmlns:a16="http://schemas.microsoft.com/office/drawing/2014/main" val="20000"/>
                    </a:ext>
                  </a:extLst>
                </a:gridCol>
                <a:gridCol w="1801033">
                  <a:extLst>
                    <a:ext uri="{9D8B030D-6E8A-4147-A177-3AD203B41FA5}">
                      <a16:colId xmlns:a16="http://schemas.microsoft.com/office/drawing/2014/main" val="20001"/>
                    </a:ext>
                  </a:extLst>
                </a:gridCol>
              </a:tblGrid>
              <a:tr h="493250">
                <a:tc>
                  <a:txBody>
                    <a:bodyPr/>
                    <a:lstStyle/>
                    <a:p>
                      <a:pPr marL="0" marR="0" algn="ctr">
                        <a:lnSpc>
                          <a:spcPct val="115000"/>
                        </a:lnSpc>
                        <a:spcBef>
                          <a:spcPts val="0"/>
                        </a:spcBef>
                        <a:spcAft>
                          <a:spcPts val="1000"/>
                        </a:spcAft>
                      </a:pPr>
                      <a:r>
                        <a:rPr lang="en-US" sz="2400" b="1" dirty="0">
                          <a:latin typeface="Calibri"/>
                          <a:ea typeface="Calibri"/>
                          <a:cs typeface="Times New Roman"/>
                        </a:rPr>
                        <a:t>CODE</a:t>
                      </a:r>
                      <a:endParaRPr lang="en-US" sz="18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400" b="1" dirty="0">
                          <a:latin typeface="Calibri"/>
                          <a:ea typeface="Calibri"/>
                          <a:cs typeface="Times New Roman"/>
                        </a:rPr>
                        <a:t>STEP COUNT</a:t>
                      </a:r>
                      <a:endParaRPr lang="en-US" sz="18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09973">
                <a:tc>
                  <a:txBody>
                    <a:bodyPr/>
                    <a:lstStyle/>
                    <a:p>
                      <a:pPr marL="0" marR="0" indent="0" algn="l" defTabSz="914400" rtl="0" eaLnBrk="1" fontAlgn="auto" latinLnBrk="0" hangingPunct="1">
                        <a:lnSpc>
                          <a:spcPct val="115000"/>
                        </a:lnSpc>
                        <a:spcBef>
                          <a:spcPts val="0"/>
                        </a:spcBef>
                        <a:spcAft>
                          <a:spcPts val="1000"/>
                        </a:spcAft>
                        <a:buClrTx/>
                        <a:buSzTx/>
                        <a:buFontTx/>
                        <a:buNone/>
                        <a:tabLst/>
                        <a:defRPr/>
                      </a:pPr>
                      <a:r>
                        <a:rPr lang="en-US" sz="2400" dirty="0"/>
                        <a:t>If (n %2 ==0)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800" baseline="0" dirty="0">
                          <a:latin typeface="Calibri"/>
                          <a:ea typeface="Calibri"/>
                          <a:cs typeface="Times New Roman"/>
                        </a:rPr>
                        <a:t>      </a:t>
                      </a:r>
                      <a:r>
                        <a:rPr lang="en-US" sz="1800" dirty="0">
                          <a:latin typeface="Calibri"/>
                          <a:ea typeface="Calibri"/>
                          <a:cs typeface="Times New Roman"/>
                        </a:rPr>
                        <a:t>1</a:t>
                      </a:r>
                      <a:endParaRPr lang="en-US" sz="1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31466">
                <a:tc>
                  <a:txBody>
                    <a:bodyPr/>
                    <a:lstStyle/>
                    <a:p>
                      <a:pPr marL="0" marR="0">
                        <a:lnSpc>
                          <a:spcPct val="115000"/>
                        </a:lnSpc>
                        <a:spcBef>
                          <a:spcPts val="0"/>
                        </a:spcBef>
                        <a:spcAft>
                          <a:spcPts val="1000"/>
                        </a:spcAft>
                      </a:pPr>
                      <a:r>
                        <a:rPr lang="en-US" sz="2000" dirty="0"/>
                        <a:t>   </a:t>
                      </a:r>
                      <a:r>
                        <a:rPr lang="en-US" sz="2000" dirty="0" smtClean="0"/>
                        <a:t>print(“</a:t>
                      </a:r>
                      <a:r>
                        <a:rPr lang="en-US" sz="2000" dirty="0"/>
                        <a:t>Even</a:t>
                      </a:r>
                      <a:r>
                        <a:rPr lang="en-US" sz="2000" dirty="0" smtClean="0"/>
                        <a:t>”)</a:t>
                      </a:r>
                      <a:endParaRPr lang="en-US" sz="16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800" baseline="0" dirty="0">
                          <a:latin typeface="+mn-lt"/>
                          <a:ea typeface="Calibri"/>
                          <a:cs typeface="Times New Roman"/>
                        </a:rPr>
                        <a:t>       </a:t>
                      </a:r>
                      <a:r>
                        <a:rPr lang="en-US" sz="1800" dirty="0">
                          <a:latin typeface="+mn-lt"/>
                          <a:ea typeface="Calibri"/>
                          <a:cs typeface="Times New Roman"/>
                        </a:rPr>
                        <a:t>1</a:t>
                      </a:r>
                      <a:endParaRPr lang="en-US" sz="1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06367">
                <a:tc>
                  <a:txBody>
                    <a:bodyPr/>
                    <a:lstStyle/>
                    <a:p>
                      <a:pPr marL="0" marR="0">
                        <a:lnSpc>
                          <a:spcPct val="115000"/>
                        </a:lnSpc>
                        <a:spcBef>
                          <a:spcPts val="0"/>
                        </a:spcBef>
                        <a:spcAft>
                          <a:spcPts val="1000"/>
                        </a:spcAft>
                      </a:pPr>
                      <a:r>
                        <a:rPr lang="en-US" sz="2400" dirty="0" smtClean="0">
                          <a:latin typeface="Calibri"/>
                          <a:ea typeface="Calibri"/>
                          <a:cs typeface="Times New Roman"/>
                        </a:rPr>
                        <a:t>else</a:t>
                      </a:r>
                      <a:endParaRPr lang="en-US" sz="11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400" dirty="0">
                          <a:latin typeface="Calibri"/>
                          <a:ea typeface="Calibri"/>
                          <a:cs typeface="Times New Roman"/>
                        </a:rPr>
                        <a:t>         </a:t>
                      </a:r>
                      <a:r>
                        <a:rPr lang="en-US" sz="1400" dirty="0">
                          <a:latin typeface="+mn-lt"/>
                          <a:ea typeface="Calibri"/>
                          <a:cs typeface="Times New Roman"/>
                        </a:rPr>
                        <a:t>1</a:t>
                      </a:r>
                      <a:endParaRPr lang="en-US" sz="1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06367">
                <a:tc>
                  <a:txBody>
                    <a:bodyPr/>
                    <a:lstStyle/>
                    <a:p>
                      <a:pPr marL="0" marR="0">
                        <a:lnSpc>
                          <a:spcPct val="115000"/>
                        </a:lnSpc>
                        <a:spcBef>
                          <a:spcPts val="0"/>
                        </a:spcBef>
                        <a:spcAft>
                          <a:spcPts val="1000"/>
                        </a:spcAft>
                      </a:pPr>
                      <a:r>
                        <a:rPr lang="en-US" sz="2400" dirty="0"/>
                        <a:t>   </a:t>
                      </a:r>
                      <a:r>
                        <a:rPr lang="en-US" sz="2400" dirty="0" smtClean="0"/>
                        <a:t>print(“</a:t>
                      </a:r>
                      <a:r>
                        <a:rPr lang="en-US" sz="2400" dirty="0"/>
                        <a:t>Odd</a:t>
                      </a:r>
                      <a:r>
                        <a:rPr lang="en-US" sz="2400" dirty="0" smtClean="0"/>
                        <a:t>”)</a:t>
                      </a:r>
                      <a:endParaRPr lang="en-US" sz="11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400" dirty="0">
                          <a:latin typeface="Calibri"/>
                          <a:ea typeface="Calibri"/>
                          <a:cs typeface="Times New Roman"/>
                        </a:rPr>
                        <a:t>           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06367">
                <a:tc>
                  <a:txBody>
                    <a:bodyPr/>
                    <a:lstStyle/>
                    <a:p>
                      <a:pPr marL="0" marR="0">
                        <a:lnSpc>
                          <a:spcPct val="115000"/>
                        </a:lnSpc>
                        <a:spcBef>
                          <a:spcPts val="0"/>
                        </a:spcBef>
                        <a:spcAft>
                          <a:spcPts val="1000"/>
                        </a:spcAft>
                      </a:pPr>
                      <a:endParaRPr lang="en-US" sz="11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endParaRPr lang="en-US" sz="1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524641">
                <a:tc>
                  <a:txBody>
                    <a:bodyPr/>
                    <a:lstStyle/>
                    <a:p>
                      <a:pPr marL="0" marR="0">
                        <a:lnSpc>
                          <a:spcPct val="115000"/>
                        </a:lnSpc>
                        <a:spcBef>
                          <a:spcPts val="0"/>
                        </a:spcBef>
                        <a:spcAft>
                          <a:spcPts val="1000"/>
                        </a:spcAft>
                      </a:pPr>
                      <a:r>
                        <a:rPr lang="en-US" sz="2000" dirty="0">
                          <a:latin typeface="Calibri"/>
                          <a:ea typeface="Calibri"/>
                          <a:cs typeface="Times New Roman"/>
                        </a:rPr>
                        <a:t>TOTAL COST</a:t>
                      </a:r>
                      <a:endParaRPr lang="en-US" sz="16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dirty="0">
                          <a:latin typeface="Calibri"/>
                          <a:ea typeface="Calibri"/>
                          <a:cs typeface="Times New Roman"/>
                        </a:rPr>
                        <a:t>         4</a:t>
                      </a:r>
                      <a:endParaRPr lang="en-US" sz="16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TextBox 5"/>
          <p:cNvSpPr txBox="1"/>
          <p:nvPr/>
        </p:nvSpPr>
        <p:spPr>
          <a:xfrm>
            <a:off x="528320" y="5567680"/>
            <a:ext cx="6888480" cy="830997"/>
          </a:xfrm>
          <a:prstGeom prst="rect">
            <a:avLst/>
          </a:prstGeom>
          <a:noFill/>
        </p:spPr>
        <p:txBody>
          <a:bodyPr wrap="square" rtlCol="0">
            <a:spAutoFit/>
          </a:bodyPr>
          <a:lstStyle/>
          <a:p>
            <a:r>
              <a:rPr lang="en-US" sz="2400" dirty="0"/>
              <a:t>High coefficient should be considered , others ignored </a:t>
            </a:r>
          </a:p>
          <a:p>
            <a:r>
              <a:rPr lang="en-US" sz="2400" dirty="0"/>
              <a:t> Time complexity  :  O(1) , as it takes constant time</a:t>
            </a:r>
          </a:p>
        </p:txBody>
      </p:sp>
      <p:sp>
        <p:nvSpPr>
          <p:cNvPr id="7" name="TextBox 6"/>
          <p:cNvSpPr txBox="1"/>
          <p:nvPr/>
        </p:nvSpPr>
        <p:spPr>
          <a:xfrm>
            <a:off x="508000" y="1849120"/>
            <a:ext cx="3434080" cy="3190240"/>
          </a:xfrm>
          <a:prstGeom prst="rect">
            <a:avLst/>
          </a:prstGeom>
          <a:noFill/>
          <a:ln>
            <a:solidFill>
              <a:schemeClr val="tx1"/>
            </a:solidFill>
          </a:ln>
        </p:spPr>
        <p:txBody>
          <a:bodyPr wrap="square" rtlCol="0">
            <a:spAutoFit/>
          </a:bodyPr>
          <a:lstStyle/>
          <a:p>
            <a:r>
              <a:rPr lang="en-US" sz="2800" dirty="0"/>
              <a:t>Examples :</a:t>
            </a:r>
          </a:p>
          <a:p>
            <a:endParaRPr lang="en-US" sz="2800" dirty="0"/>
          </a:p>
          <a:p>
            <a:pPr marL="342900" indent="-342900">
              <a:buAutoNum type="arabicPeriod"/>
            </a:pPr>
            <a:r>
              <a:rPr lang="en-US" sz="2800" dirty="0"/>
              <a:t>Odd or even number</a:t>
            </a:r>
          </a:p>
          <a:p>
            <a:pPr marL="342900" indent="-342900">
              <a:buAutoNum type="arabicPeriod"/>
            </a:pPr>
            <a:endParaRPr lang="en-US" sz="2800" dirty="0"/>
          </a:p>
          <a:p>
            <a:pPr marL="342900" indent="-342900">
              <a:buAutoNum type="arabicPeriod"/>
            </a:pPr>
            <a:r>
              <a:rPr lang="en-US" sz="2800" dirty="0"/>
              <a:t>Accessing an element of an array</a:t>
            </a:r>
            <a:endParaRPr lang="en-US" dirty="0"/>
          </a:p>
        </p:txBody>
      </p:sp>
      <p:sp>
        <p:nvSpPr>
          <p:cNvPr id="8" name="TextBox 7"/>
          <p:cNvSpPr txBox="1"/>
          <p:nvPr/>
        </p:nvSpPr>
        <p:spPr>
          <a:xfrm>
            <a:off x="4307840" y="1849120"/>
            <a:ext cx="2844800" cy="2893100"/>
          </a:xfrm>
          <a:prstGeom prst="rect">
            <a:avLst/>
          </a:prstGeom>
          <a:noFill/>
          <a:ln>
            <a:solidFill>
              <a:schemeClr val="tx1"/>
            </a:solidFill>
          </a:ln>
        </p:spPr>
        <p:txBody>
          <a:bodyPr wrap="square" rtlCol="0">
            <a:spAutoFit/>
          </a:bodyPr>
          <a:lstStyle/>
          <a:p>
            <a:r>
              <a:rPr lang="en-US" dirty="0"/>
              <a:t>     </a:t>
            </a:r>
            <a:r>
              <a:rPr lang="en-US" sz="2400" u="sng" dirty="0"/>
              <a:t>CODE SNIPPET</a:t>
            </a:r>
            <a:endParaRPr lang="en-US" u="sng" dirty="0"/>
          </a:p>
          <a:p>
            <a:r>
              <a:rPr lang="en-US" dirty="0"/>
              <a:t> </a:t>
            </a:r>
          </a:p>
          <a:p>
            <a:r>
              <a:rPr lang="en-US" sz="2800" dirty="0"/>
              <a:t>If (n %2 ==0)</a:t>
            </a:r>
          </a:p>
          <a:p>
            <a:r>
              <a:rPr lang="en-US" sz="2800" dirty="0" smtClean="0"/>
              <a:t>    print(“</a:t>
            </a:r>
            <a:r>
              <a:rPr lang="en-US" sz="2800" dirty="0"/>
              <a:t>Even</a:t>
            </a:r>
            <a:r>
              <a:rPr lang="en-US" sz="2800" dirty="0" smtClean="0"/>
              <a:t>”)</a:t>
            </a:r>
            <a:endParaRPr lang="en-US" sz="2800" dirty="0"/>
          </a:p>
          <a:p>
            <a:r>
              <a:rPr lang="en-US" sz="2800" dirty="0" smtClean="0"/>
              <a:t>else</a:t>
            </a:r>
            <a:endParaRPr lang="en-US" sz="2800" dirty="0"/>
          </a:p>
          <a:p>
            <a:r>
              <a:rPr lang="en-US" sz="2800" dirty="0"/>
              <a:t>    </a:t>
            </a:r>
            <a:r>
              <a:rPr lang="en-US" sz="2800" dirty="0" smtClean="0"/>
              <a:t>print(“</a:t>
            </a:r>
            <a:r>
              <a:rPr lang="en-US" sz="2800" dirty="0"/>
              <a:t>Odd</a:t>
            </a:r>
            <a:r>
              <a:rPr lang="en-US" sz="2800" dirty="0" smtClean="0"/>
              <a:t>”)</a:t>
            </a:r>
          </a:p>
          <a:p>
            <a:endParaRPr lang="en-US" sz="2800" dirty="0"/>
          </a:p>
        </p:txBody>
      </p:sp>
      <p:sp>
        <p:nvSpPr>
          <p:cNvPr id="9" name="Rounded Rectangle 17">
            <a:extLst>
              <a:ext uri="{FF2B5EF4-FFF2-40B4-BE49-F238E27FC236}">
                <a16:creationId xmlns:a16="http://schemas.microsoft.com/office/drawing/2014/main" id="{39DC903D-9003-4F3D-87E9-EE7D5BEB5D03}"/>
              </a:ext>
            </a:extLst>
          </p:cNvPr>
          <p:cNvSpPr/>
          <p:nvPr/>
        </p:nvSpPr>
        <p:spPr>
          <a:xfrm>
            <a:off x="2945333" y="51112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rPr>
              <a:t>TIME COMPLEXITY - EXAMPLES</a:t>
            </a:r>
          </a:p>
        </p:txBody>
      </p:sp>
    </p:spTree>
    <p:extLst>
      <p:ext uri="{BB962C8B-B14F-4D97-AF65-F5344CB8AC3E}">
        <p14:creationId xmlns:p14="http://schemas.microsoft.com/office/powerpoint/2010/main" val="2356767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xit" presetSubtype="16" fill="hold" grpId="0" nodeType="clickEffect">
                                  <p:stCondLst>
                                    <p:cond delay="0"/>
                                  </p:stCondLst>
                                  <p:childTnLst>
                                    <p:animEffect transition="out" filter="box(in)">
                                      <p:cBhvr>
                                        <p:cTn id="6" dur="3000"/>
                                        <p:tgtEl>
                                          <p:spTgt spid="9"/>
                                        </p:tgtEl>
                                      </p:cBhvr>
                                    </p:animEffect>
                                    <p:set>
                                      <p:cBhvr>
                                        <p:cTn id="7" dur="1" fill="hold">
                                          <p:stCondLst>
                                            <p:cond delay="2999"/>
                                          </p:stCondLst>
                                        </p:cTn>
                                        <p:tgtEl>
                                          <p:spTgt spid="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ppt_x"/>
                                          </p:val>
                                        </p:tav>
                                        <p:tav tm="100000">
                                          <p:val>
                                            <p:strVal val="#ppt_x"/>
                                          </p:val>
                                        </p:tav>
                                      </p:tavLst>
                                    </p:anim>
                                    <p:anim calcmode="lin" valueType="num">
                                      <p:cBhvr additive="base">
                                        <p:cTn id="17" dur="500" fill="hold"/>
                                        <p:tgtEl>
                                          <p:spTgt spid="8"/>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ppt_x"/>
                                          </p:val>
                                        </p:tav>
                                        <p:tav tm="100000">
                                          <p:val>
                                            <p:strVal val="#ppt_x"/>
                                          </p:val>
                                        </p:tav>
                                      </p:tavLst>
                                    </p:anim>
                                    <p:anim calcmode="lin" valueType="num">
                                      <p:cBhvr additive="base">
                                        <p:cTn id="21" dur="500" fill="hold"/>
                                        <p:tgtEl>
                                          <p:spTgt spid="5"/>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ppt_x"/>
                                          </p:val>
                                        </p:tav>
                                        <p:tav tm="100000">
                                          <p:val>
                                            <p:strVal val="#ppt_x"/>
                                          </p:val>
                                        </p:tav>
                                      </p:tavLst>
                                    </p:anim>
                                    <p:anim calcmode="lin" valueType="num">
                                      <p:cBhvr additive="base">
                                        <p:cTn id="25" dur="500" fill="hold"/>
                                        <p:tgtEl>
                                          <p:spTgt spid="6"/>
                                        </p:tgtEl>
                                        <p:attrNameLst>
                                          <p:attrName>ppt_y</p:attrName>
                                        </p:attrNameLst>
                                      </p:cBhvr>
                                      <p:tavLst>
                                        <p:tav tm="0">
                                          <p:val>
                                            <p:strVal val="1+#ppt_h/2"/>
                                          </p:val>
                                        </p:tav>
                                        <p:tav tm="100000">
                                          <p:val>
                                            <p:strVal val="#ppt_y"/>
                                          </p:val>
                                        </p:tav>
                                      </p:tavLst>
                                    </p:anim>
                                  </p:childTnLst>
                                </p:cTn>
                              </p:par>
                              <p:par>
                                <p:cTn id="26" presetID="2" presetClass="entr" presetSubtype="4" fill="hold" grpId="1" nodeType="with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additive="base">
                                        <p:cTn id="28" dur="500" fill="hold"/>
                                        <p:tgtEl>
                                          <p:spTgt spid="9"/>
                                        </p:tgtEl>
                                        <p:attrNameLst>
                                          <p:attrName>ppt_x</p:attrName>
                                        </p:attrNameLst>
                                      </p:cBhvr>
                                      <p:tavLst>
                                        <p:tav tm="0">
                                          <p:val>
                                            <p:strVal val="#ppt_x"/>
                                          </p:val>
                                        </p:tav>
                                        <p:tav tm="100000">
                                          <p:val>
                                            <p:strVal val="#ppt_x"/>
                                          </p:val>
                                        </p:tav>
                                      </p:tavLst>
                                    </p:anim>
                                    <p:anim calcmode="lin" valueType="num">
                                      <p:cBhvr additive="base">
                                        <p:cTn id="29"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P spid="9" grpId="0" animBg="1"/>
      <p:bldP spid="9"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30509871"/>
              </p:ext>
            </p:extLst>
          </p:nvPr>
        </p:nvGraphicFramePr>
        <p:xfrm>
          <a:off x="7315200" y="1895157"/>
          <a:ext cx="4338084" cy="2421662"/>
        </p:xfrm>
        <a:graphic>
          <a:graphicData uri="http://schemas.openxmlformats.org/drawingml/2006/table">
            <a:tbl>
              <a:tblPr/>
              <a:tblGrid>
                <a:gridCol w="2386154">
                  <a:extLst>
                    <a:ext uri="{9D8B030D-6E8A-4147-A177-3AD203B41FA5}">
                      <a16:colId xmlns:a16="http://schemas.microsoft.com/office/drawing/2014/main" val="20000"/>
                    </a:ext>
                  </a:extLst>
                </a:gridCol>
                <a:gridCol w="1951930">
                  <a:extLst>
                    <a:ext uri="{9D8B030D-6E8A-4147-A177-3AD203B41FA5}">
                      <a16:colId xmlns:a16="http://schemas.microsoft.com/office/drawing/2014/main" val="20001"/>
                    </a:ext>
                  </a:extLst>
                </a:gridCol>
              </a:tblGrid>
              <a:tr h="480244">
                <a:tc>
                  <a:txBody>
                    <a:bodyPr/>
                    <a:lstStyle/>
                    <a:p>
                      <a:pPr marL="0" marR="0" algn="ctr">
                        <a:lnSpc>
                          <a:spcPct val="115000"/>
                        </a:lnSpc>
                        <a:spcBef>
                          <a:spcPts val="0"/>
                        </a:spcBef>
                        <a:spcAft>
                          <a:spcPts val="1000"/>
                        </a:spcAft>
                      </a:pPr>
                      <a:r>
                        <a:rPr lang="en-US" sz="2400" b="1" dirty="0">
                          <a:latin typeface="Calibri"/>
                          <a:ea typeface="Calibri"/>
                          <a:cs typeface="Times New Roman"/>
                        </a:rPr>
                        <a:t>CODE</a:t>
                      </a:r>
                      <a:endParaRPr lang="en-US" sz="18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400" b="1" dirty="0">
                          <a:latin typeface="Calibri"/>
                          <a:ea typeface="Calibri"/>
                          <a:cs typeface="Times New Roman"/>
                        </a:rPr>
                        <a:t>STEP COUNT</a:t>
                      </a:r>
                      <a:endParaRPr lang="en-US" sz="18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12232">
                <a:tc>
                  <a:txBody>
                    <a:bodyPr/>
                    <a:lstStyle/>
                    <a:p>
                      <a:r>
                        <a:rPr lang="en-US" sz="2400" dirty="0" smtClean="0"/>
                        <a:t>for </a:t>
                      </a:r>
                      <a:r>
                        <a:rPr lang="en-US" sz="2400" dirty="0" err="1" smtClean="0"/>
                        <a:t>i</a:t>
                      </a:r>
                      <a:r>
                        <a:rPr lang="en-US" sz="2400" dirty="0" smtClean="0"/>
                        <a:t> in range(0, n)</a:t>
                      </a:r>
                      <a:endParaRPr lang="en-US" sz="2400"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800" dirty="0">
                          <a:latin typeface="Calibri"/>
                          <a:ea typeface="Calibri"/>
                          <a:cs typeface="Times New Roman"/>
                        </a:rPr>
                        <a:t>n</a:t>
                      </a:r>
                      <a:r>
                        <a:rPr lang="en-US" sz="1800" dirty="0" smtClean="0">
                          <a:latin typeface="Calibri"/>
                          <a:ea typeface="Calibri"/>
                          <a:cs typeface="Times New Roman"/>
                        </a:rPr>
                        <a:t>+1</a:t>
                      </a:r>
                      <a:endParaRPr lang="en-US" sz="1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20089">
                <a:tc>
                  <a:txBody>
                    <a:bodyPr/>
                    <a:lstStyle/>
                    <a:p>
                      <a:pPr marL="0" marR="0">
                        <a:lnSpc>
                          <a:spcPct val="115000"/>
                        </a:lnSpc>
                        <a:spcBef>
                          <a:spcPts val="0"/>
                        </a:spcBef>
                        <a:spcAft>
                          <a:spcPts val="1000"/>
                        </a:spcAft>
                      </a:pPr>
                      <a:r>
                        <a:rPr lang="en-US" sz="2000" dirty="0">
                          <a:latin typeface="Calibri"/>
                          <a:ea typeface="Calibri"/>
                          <a:cs typeface="Times New Roman"/>
                        </a:rPr>
                        <a:t>                </a:t>
                      </a:r>
                      <a:r>
                        <a:rPr lang="en-US" sz="2000" dirty="0" smtClean="0">
                          <a:latin typeface="Calibri"/>
                          <a:ea typeface="Calibri"/>
                          <a:cs typeface="Times New Roman"/>
                        </a:rPr>
                        <a:t>s=</a:t>
                      </a:r>
                      <a:r>
                        <a:rPr lang="en-US" sz="2000" dirty="0" err="1" smtClean="0">
                          <a:latin typeface="Calibri"/>
                          <a:ea typeface="Calibri"/>
                          <a:cs typeface="Times New Roman"/>
                        </a:rPr>
                        <a:t>s+i</a:t>
                      </a:r>
                      <a:endParaRPr lang="en-US" sz="16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800" dirty="0">
                          <a:latin typeface="Calibri"/>
                          <a:ea typeface="Calibri"/>
                          <a:cs typeface="Times New Roman"/>
                        </a:rPr>
                        <a:t>n</a:t>
                      </a:r>
                      <a:endParaRPr lang="en-US" sz="1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98289">
                <a:tc>
                  <a:txBody>
                    <a:bodyPr/>
                    <a:lstStyle/>
                    <a:p>
                      <a:pPr marL="0" marR="0">
                        <a:lnSpc>
                          <a:spcPct val="115000"/>
                        </a:lnSpc>
                        <a:spcBef>
                          <a:spcPts val="0"/>
                        </a:spcBef>
                        <a:spcAft>
                          <a:spcPts val="1000"/>
                        </a:spcAft>
                      </a:pPr>
                      <a:r>
                        <a:rPr lang="en-US" sz="1400" dirty="0">
                          <a:latin typeface="Calibri"/>
                          <a:ea typeface="Calibri"/>
                          <a:cs typeface="Times New Roman"/>
                        </a:rPr>
                        <a:t>       </a:t>
                      </a:r>
                      <a:endParaRPr lang="en-US" sz="11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endParaRPr lang="en-US" sz="1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10808">
                <a:tc>
                  <a:txBody>
                    <a:bodyPr/>
                    <a:lstStyle/>
                    <a:p>
                      <a:pPr marL="0" marR="0">
                        <a:lnSpc>
                          <a:spcPct val="115000"/>
                        </a:lnSpc>
                        <a:spcBef>
                          <a:spcPts val="0"/>
                        </a:spcBef>
                        <a:spcAft>
                          <a:spcPts val="1000"/>
                        </a:spcAft>
                      </a:pPr>
                      <a:r>
                        <a:rPr lang="en-US" sz="2000" dirty="0">
                          <a:latin typeface="Calibri"/>
                          <a:ea typeface="Calibri"/>
                          <a:cs typeface="Times New Roman"/>
                        </a:rPr>
                        <a:t>TOTAL COST</a:t>
                      </a:r>
                      <a:endParaRPr lang="en-US" sz="16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dirty="0" smtClean="0">
                          <a:latin typeface="Calibri"/>
                          <a:ea typeface="Calibri"/>
                          <a:cs typeface="Times New Roman"/>
                        </a:rPr>
                        <a:t>2n+1</a:t>
                      </a:r>
                      <a:endParaRPr lang="en-US" sz="16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Box 5"/>
          <p:cNvSpPr txBox="1"/>
          <p:nvPr/>
        </p:nvSpPr>
        <p:spPr>
          <a:xfrm>
            <a:off x="2174239" y="4937760"/>
            <a:ext cx="7416327" cy="830997"/>
          </a:xfrm>
          <a:prstGeom prst="rect">
            <a:avLst/>
          </a:prstGeom>
          <a:noFill/>
        </p:spPr>
        <p:txBody>
          <a:bodyPr wrap="square" rtlCol="0">
            <a:spAutoFit/>
          </a:bodyPr>
          <a:lstStyle/>
          <a:p>
            <a:r>
              <a:rPr lang="en-US" sz="2400" dirty="0"/>
              <a:t>High coefficient should be considered , others ignored </a:t>
            </a:r>
          </a:p>
          <a:p>
            <a:r>
              <a:rPr lang="en-US" sz="2400" dirty="0" smtClean="0"/>
              <a:t>Time </a:t>
            </a:r>
            <a:r>
              <a:rPr lang="en-US" sz="2400" dirty="0"/>
              <a:t>complexity  :  O(n)</a:t>
            </a:r>
          </a:p>
        </p:txBody>
      </p:sp>
      <p:sp>
        <p:nvSpPr>
          <p:cNvPr id="7" name="TextBox 6"/>
          <p:cNvSpPr txBox="1"/>
          <p:nvPr/>
        </p:nvSpPr>
        <p:spPr>
          <a:xfrm>
            <a:off x="508000" y="1828800"/>
            <a:ext cx="3434080" cy="2677656"/>
          </a:xfrm>
          <a:prstGeom prst="rect">
            <a:avLst/>
          </a:prstGeom>
          <a:noFill/>
          <a:ln>
            <a:solidFill>
              <a:schemeClr val="tx1"/>
            </a:solidFill>
          </a:ln>
        </p:spPr>
        <p:txBody>
          <a:bodyPr wrap="square" rtlCol="0">
            <a:spAutoFit/>
          </a:bodyPr>
          <a:lstStyle/>
          <a:p>
            <a:r>
              <a:rPr lang="en-US" sz="2800" dirty="0"/>
              <a:t>Examples :</a:t>
            </a:r>
          </a:p>
          <a:p>
            <a:endParaRPr lang="en-US" sz="2800" dirty="0"/>
          </a:p>
          <a:p>
            <a:pPr marL="342900" indent="-342900">
              <a:buAutoNum type="arabicPeriod"/>
            </a:pPr>
            <a:r>
              <a:rPr lang="en-US" sz="2800" dirty="0"/>
              <a:t>Traversing an Array, Linked List.</a:t>
            </a:r>
          </a:p>
          <a:p>
            <a:pPr marL="342900" indent="-342900">
              <a:buAutoNum type="arabicPeriod"/>
            </a:pPr>
            <a:endParaRPr lang="en-US" sz="2800" dirty="0"/>
          </a:p>
          <a:p>
            <a:pPr marL="342900" indent="-342900">
              <a:buAutoNum type="arabicPeriod"/>
            </a:pPr>
            <a:r>
              <a:rPr lang="en-US" sz="2800" dirty="0"/>
              <a:t>Linear search</a:t>
            </a:r>
            <a:endParaRPr lang="en-US" dirty="0"/>
          </a:p>
        </p:txBody>
      </p:sp>
      <p:sp>
        <p:nvSpPr>
          <p:cNvPr id="8" name="TextBox 7"/>
          <p:cNvSpPr txBox="1"/>
          <p:nvPr/>
        </p:nvSpPr>
        <p:spPr>
          <a:xfrm>
            <a:off x="4226560" y="1930400"/>
            <a:ext cx="2844800" cy="1600438"/>
          </a:xfrm>
          <a:prstGeom prst="rect">
            <a:avLst/>
          </a:prstGeom>
          <a:noFill/>
          <a:ln>
            <a:solidFill>
              <a:schemeClr val="tx1"/>
            </a:solidFill>
          </a:ln>
        </p:spPr>
        <p:txBody>
          <a:bodyPr wrap="square" rtlCol="0">
            <a:spAutoFit/>
          </a:bodyPr>
          <a:lstStyle/>
          <a:p>
            <a:r>
              <a:rPr lang="en-US" dirty="0"/>
              <a:t>     </a:t>
            </a:r>
            <a:r>
              <a:rPr lang="en-US" sz="2400" u="sng" dirty="0"/>
              <a:t>CODE SNIPPET</a:t>
            </a:r>
            <a:endParaRPr lang="en-US" u="sng" dirty="0"/>
          </a:p>
          <a:p>
            <a:r>
              <a:rPr lang="en-US" dirty="0"/>
              <a:t> </a:t>
            </a:r>
          </a:p>
          <a:p>
            <a:r>
              <a:rPr lang="en-US" sz="2800" dirty="0"/>
              <a:t>f</a:t>
            </a:r>
            <a:r>
              <a:rPr lang="en-US" sz="2800" dirty="0" smtClean="0"/>
              <a:t>or </a:t>
            </a:r>
            <a:r>
              <a:rPr lang="en-US" sz="2800" dirty="0" err="1" smtClean="0"/>
              <a:t>i</a:t>
            </a:r>
            <a:r>
              <a:rPr lang="en-US" sz="2800" dirty="0" smtClean="0"/>
              <a:t> in range(0, n)</a:t>
            </a:r>
            <a:endParaRPr lang="en-US" sz="2800" dirty="0"/>
          </a:p>
          <a:p>
            <a:r>
              <a:rPr lang="en-US" sz="2800" dirty="0" smtClean="0"/>
              <a:t>    s=</a:t>
            </a:r>
            <a:r>
              <a:rPr lang="en-US" sz="2800" dirty="0" err="1" smtClean="0"/>
              <a:t>s+i</a:t>
            </a:r>
            <a:endParaRPr lang="en-US" sz="2800" dirty="0"/>
          </a:p>
        </p:txBody>
      </p:sp>
      <p:sp>
        <p:nvSpPr>
          <p:cNvPr id="10" name="Rounded Rectangle 17">
            <a:extLst>
              <a:ext uri="{FF2B5EF4-FFF2-40B4-BE49-F238E27FC236}">
                <a16:creationId xmlns:a16="http://schemas.microsoft.com/office/drawing/2014/main" id="{39DC903D-9003-4F3D-87E9-EE7D5BEB5D03}"/>
              </a:ext>
            </a:extLst>
          </p:cNvPr>
          <p:cNvSpPr/>
          <p:nvPr/>
        </p:nvSpPr>
        <p:spPr>
          <a:xfrm>
            <a:off x="2945333" y="51112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rPr>
              <a:t>TIME COMPLEXITY - EXAMPLES</a:t>
            </a:r>
          </a:p>
        </p:txBody>
      </p:sp>
    </p:spTree>
    <p:extLst>
      <p:ext uri="{BB962C8B-B14F-4D97-AF65-F5344CB8AC3E}">
        <p14:creationId xmlns:p14="http://schemas.microsoft.com/office/powerpoint/2010/main" val="214078436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10"/>
                                        </p:tgtEl>
                                      </p:cBhvr>
                                    </p:animEffect>
                                    <p:animScale>
                                      <p:cBhvr>
                                        <p:cTn id="7" dur="250" autoRev="1" fill="hold"/>
                                        <p:tgtEl>
                                          <p:spTgt spid="1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772640917"/>
              </p:ext>
            </p:extLst>
          </p:nvPr>
        </p:nvGraphicFramePr>
        <p:xfrm>
          <a:off x="7753498" y="833120"/>
          <a:ext cx="3860800" cy="3419996"/>
        </p:xfrm>
        <a:graphic>
          <a:graphicData uri="http://schemas.openxmlformats.org/drawingml/2006/table">
            <a:tbl>
              <a:tblPr/>
              <a:tblGrid>
                <a:gridCol w="2740837">
                  <a:extLst>
                    <a:ext uri="{9D8B030D-6E8A-4147-A177-3AD203B41FA5}">
                      <a16:colId xmlns:a16="http://schemas.microsoft.com/office/drawing/2014/main" val="20000"/>
                    </a:ext>
                  </a:extLst>
                </a:gridCol>
                <a:gridCol w="1119963">
                  <a:extLst>
                    <a:ext uri="{9D8B030D-6E8A-4147-A177-3AD203B41FA5}">
                      <a16:colId xmlns:a16="http://schemas.microsoft.com/office/drawing/2014/main" val="20001"/>
                    </a:ext>
                  </a:extLst>
                </a:gridCol>
              </a:tblGrid>
              <a:tr h="864430">
                <a:tc>
                  <a:txBody>
                    <a:bodyPr/>
                    <a:lstStyle/>
                    <a:p>
                      <a:pPr marL="0" marR="0" algn="ctr">
                        <a:lnSpc>
                          <a:spcPct val="115000"/>
                        </a:lnSpc>
                        <a:spcBef>
                          <a:spcPts val="0"/>
                        </a:spcBef>
                        <a:spcAft>
                          <a:spcPts val="1000"/>
                        </a:spcAft>
                      </a:pPr>
                      <a:r>
                        <a:rPr lang="en-US" sz="2400" b="1" dirty="0">
                          <a:latin typeface="Calibri"/>
                          <a:ea typeface="Calibri"/>
                          <a:cs typeface="Times New Roman"/>
                        </a:rPr>
                        <a:t>CODE</a:t>
                      </a:r>
                      <a:endParaRPr lang="en-US" sz="18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400" b="1" dirty="0">
                          <a:latin typeface="Calibri"/>
                          <a:ea typeface="Calibri"/>
                          <a:cs typeface="Times New Roman"/>
                        </a:rPr>
                        <a:t>STEP COUNT</a:t>
                      </a:r>
                      <a:endParaRPr lang="en-US" sz="18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24026">
                <a:tc>
                  <a:txBody>
                    <a:bodyPr/>
                    <a:lstStyle/>
                    <a:p>
                      <a:r>
                        <a:rPr lang="en-US" sz="2400" dirty="0" smtClean="0"/>
                        <a:t>for </a:t>
                      </a:r>
                      <a:r>
                        <a:rPr lang="en-US" sz="2400" dirty="0" err="1" smtClean="0"/>
                        <a:t>i</a:t>
                      </a:r>
                      <a:r>
                        <a:rPr lang="en-US" sz="2400" dirty="0" smtClean="0"/>
                        <a:t> in range(0, n):</a:t>
                      </a:r>
                      <a:endParaRPr lang="en-US" sz="2400"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800" dirty="0">
                          <a:latin typeface="Calibri"/>
                          <a:ea typeface="Calibri"/>
                          <a:cs typeface="Times New Roman"/>
                        </a:rPr>
                        <a:t>n</a:t>
                      </a:r>
                      <a:r>
                        <a:rPr lang="en-US" sz="1800" dirty="0" smtClean="0">
                          <a:latin typeface="Calibri"/>
                          <a:ea typeface="Calibri"/>
                          <a:cs typeface="Times New Roman"/>
                        </a:rPr>
                        <a:t>+1</a:t>
                      </a:r>
                      <a:endParaRPr lang="en-US" sz="1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34275">
                <a:tc>
                  <a:txBody>
                    <a:bodyPr/>
                    <a:lstStyle/>
                    <a:p>
                      <a:pPr marL="0" marR="0" indent="0" algn="l" defTabSz="914400" rtl="0" eaLnBrk="1" fontAlgn="auto" latinLnBrk="0" hangingPunct="1">
                        <a:lnSpc>
                          <a:spcPct val="115000"/>
                        </a:lnSpc>
                        <a:spcBef>
                          <a:spcPts val="0"/>
                        </a:spcBef>
                        <a:spcAft>
                          <a:spcPts val="1000"/>
                        </a:spcAft>
                        <a:buClrTx/>
                        <a:buSzTx/>
                        <a:buFontTx/>
                        <a:buNone/>
                        <a:tabLst/>
                        <a:defRPr/>
                      </a:pPr>
                      <a:r>
                        <a:rPr lang="en-US" sz="2400" dirty="0">
                          <a:latin typeface="+mn-lt"/>
                          <a:ea typeface="Calibri"/>
                          <a:cs typeface="Times New Roman"/>
                        </a:rPr>
                        <a:t>    </a:t>
                      </a:r>
                      <a:r>
                        <a:rPr lang="en-US" sz="2400" dirty="0" smtClean="0"/>
                        <a:t>for j in range(0, n):</a:t>
                      </a:r>
                      <a:endParaRPr lang="en-US" sz="1000" dirty="0">
                        <a:latin typeface="+mn-lt"/>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400" dirty="0" smtClean="0">
                          <a:latin typeface="Calibri"/>
                          <a:ea typeface="Calibri"/>
                          <a:cs typeface="Times New Roman"/>
                        </a:rPr>
                        <a:t>n(n)</a:t>
                      </a:r>
                      <a:endParaRPr lang="en-US" sz="1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43356">
                <a:tc>
                  <a:txBody>
                    <a:bodyPr/>
                    <a:lstStyle/>
                    <a:p>
                      <a:pPr marL="0" marR="0">
                        <a:lnSpc>
                          <a:spcPct val="115000"/>
                        </a:lnSpc>
                        <a:spcBef>
                          <a:spcPts val="0"/>
                        </a:spcBef>
                        <a:spcAft>
                          <a:spcPts val="1000"/>
                        </a:spcAft>
                      </a:pPr>
                      <a:r>
                        <a:rPr lang="en-US" sz="2000" dirty="0"/>
                        <a:t> </a:t>
                      </a:r>
                      <a:r>
                        <a:rPr lang="en-US" sz="2000" dirty="0" smtClean="0"/>
                        <a:t>               </a:t>
                      </a:r>
                      <a:r>
                        <a:rPr lang="en-US" sz="2400" dirty="0" smtClean="0"/>
                        <a:t>print(</a:t>
                      </a:r>
                      <a:r>
                        <a:rPr lang="en-US" sz="2400" dirty="0" err="1" smtClean="0"/>
                        <a:t>i,j</a:t>
                      </a:r>
                      <a:r>
                        <a:rPr lang="en-US" sz="2400" dirty="0" smtClean="0"/>
                        <a:t>)</a:t>
                      </a:r>
                      <a:endParaRPr lang="en-US" sz="18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800" dirty="0">
                          <a:latin typeface="Calibri"/>
                          <a:ea typeface="Calibri"/>
                          <a:cs typeface="Times New Roman"/>
                        </a:rPr>
                        <a:t>n</a:t>
                      </a:r>
                      <a:endParaRPr lang="en-US" sz="1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14810">
                <a:tc>
                  <a:txBody>
                    <a:bodyPr/>
                    <a:lstStyle/>
                    <a:p>
                      <a:pPr marL="0" marR="0">
                        <a:lnSpc>
                          <a:spcPct val="115000"/>
                        </a:lnSpc>
                        <a:spcBef>
                          <a:spcPts val="0"/>
                        </a:spcBef>
                        <a:spcAft>
                          <a:spcPts val="1000"/>
                        </a:spcAft>
                      </a:pPr>
                      <a:endParaRPr lang="en-US" sz="11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endParaRPr lang="en-US" sz="1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539099">
                <a:tc>
                  <a:txBody>
                    <a:bodyPr/>
                    <a:lstStyle/>
                    <a:p>
                      <a:pPr marL="0" marR="0">
                        <a:lnSpc>
                          <a:spcPct val="115000"/>
                        </a:lnSpc>
                        <a:spcBef>
                          <a:spcPts val="0"/>
                        </a:spcBef>
                        <a:spcAft>
                          <a:spcPts val="1000"/>
                        </a:spcAft>
                      </a:pPr>
                      <a:r>
                        <a:rPr lang="en-US" sz="2000" dirty="0">
                          <a:latin typeface="Calibri"/>
                          <a:ea typeface="Calibri"/>
                          <a:cs typeface="Times New Roman"/>
                        </a:rPr>
                        <a:t>TOTAL COST</a:t>
                      </a:r>
                      <a:endParaRPr lang="en-US" sz="16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15000"/>
                        </a:lnSpc>
                        <a:spcBef>
                          <a:spcPts val="0"/>
                        </a:spcBef>
                        <a:spcAft>
                          <a:spcPts val="1000"/>
                        </a:spcAft>
                        <a:buClrTx/>
                        <a:buSzTx/>
                        <a:buFontTx/>
                        <a:buNone/>
                        <a:tabLst/>
                        <a:defRPr/>
                      </a:pPr>
                      <a:r>
                        <a:rPr lang="en-US" sz="1800" kern="1200" smtClean="0">
                          <a:solidFill>
                            <a:schemeClr val="tx1"/>
                          </a:solidFill>
                          <a:latin typeface="+mn-lt"/>
                          <a:ea typeface="+mn-ea"/>
                          <a:cs typeface="+mn-cs"/>
                        </a:rPr>
                        <a:t>n</a:t>
                      </a:r>
                      <a:r>
                        <a:rPr lang="en-US" sz="1800" kern="1200" baseline="30000" smtClean="0">
                          <a:solidFill>
                            <a:schemeClr val="tx1"/>
                          </a:solidFill>
                          <a:latin typeface="+mn-lt"/>
                          <a:ea typeface="+mn-ea"/>
                          <a:cs typeface="+mn-cs"/>
                        </a:rPr>
                        <a:t>2</a:t>
                      </a:r>
                      <a:r>
                        <a:rPr lang="en-US" sz="2000" smtClean="0">
                          <a:latin typeface="Calibri"/>
                          <a:ea typeface="Calibri"/>
                          <a:cs typeface="Times New Roman"/>
                        </a:rPr>
                        <a:t>+2n+1</a:t>
                      </a:r>
                      <a:endParaRPr lang="en-US" sz="16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TextBox 5"/>
          <p:cNvSpPr txBox="1"/>
          <p:nvPr/>
        </p:nvSpPr>
        <p:spPr>
          <a:xfrm>
            <a:off x="345440" y="5494639"/>
            <a:ext cx="8231727" cy="830997"/>
          </a:xfrm>
          <a:prstGeom prst="rect">
            <a:avLst/>
          </a:prstGeom>
          <a:noFill/>
        </p:spPr>
        <p:txBody>
          <a:bodyPr wrap="square" rtlCol="0">
            <a:spAutoFit/>
          </a:bodyPr>
          <a:lstStyle/>
          <a:p>
            <a:r>
              <a:rPr lang="en-US" sz="2400" dirty="0"/>
              <a:t>High coefficient should be considered , others ignored </a:t>
            </a:r>
          </a:p>
          <a:p>
            <a:r>
              <a:rPr lang="en-US" sz="2400" dirty="0" smtClean="0"/>
              <a:t>Time </a:t>
            </a:r>
            <a:r>
              <a:rPr lang="en-US" sz="2400" dirty="0"/>
              <a:t>complexity  :  </a:t>
            </a:r>
            <a:r>
              <a:rPr lang="en-US" sz="2400" dirty="0" smtClean="0"/>
              <a:t>O(n</a:t>
            </a:r>
            <a:r>
              <a:rPr lang="en-US" sz="2400" baseline="30000" dirty="0" smtClean="0"/>
              <a:t>2</a:t>
            </a:r>
            <a:r>
              <a:rPr lang="en-US" sz="2400" dirty="0"/>
              <a:t>)</a:t>
            </a:r>
          </a:p>
        </p:txBody>
      </p:sp>
      <p:sp>
        <p:nvSpPr>
          <p:cNvPr id="7" name="TextBox 6"/>
          <p:cNvSpPr txBox="1"/>
          <p:nvPr/>
        </p:nvSpPr>
        <p:spPr>
          <a:xfrm>
            <a:off x="345440" y="833120"/>
            <a:ext cx="3088640" cy="3970318"/>
          </a:xfrm>
          <a:prstGeom prst="rect">
            <a:avLst/>
          </a:prstGeom>
          <a:noFill/>
          <a:ln>
            <a:solidFill>
              <a:schemeClr val="tx1"/>
            </a:solidFill>
          </a:ln>
        </p:spPr>
        <p:txBody>
          <a:bodyPr wrap="square" rtlCol="0">
            <a:spAutoFit/>
          </a:bodyPr>
          <a:lstStyle/>
          <a:p>
            <a:r>
              <a:rPr lang="en-US" sz="2800" dirty="0"/>
              <a:t>Examples :</a:t>
            </a:r>
          </a:p>
          <a:p>
            <a:endParaRPr lang="en-US" sz="2800" dirty="0"/>
          </a:p>
          <a:p>
            <a:pPr marL="342900" indent="-342900">
              <a:buAutoNum type="arabicPeriod"/>
            </a:pPr>
            <a:r>
              <a:rPr lang="en-US" sz="2800" dirty="0"/>
              <a:t>Traversing an 2D Array.(Matrix Multiplication)</a:t>
            </a:r>
          </a:p>
          <a:p>
            <a:pPr marL="342900" indent="-342900">
              <a:buAutoNum type="arabicPeriod"/>
            </a:pPr>
            <a:endParaRPr lang="en-US" sz="2800" dirty="0"/>
          </a:p>
          <a:p>
            <a:pPr marL="342900" indent="-342900">
              <a:buAutoNum type="arabicPeriod"/>
            </a:pPr>
            <a:r>
              <a:rPr lang="en-US" sz="2800" dirty="0"/>
              <a:t>Bubble Sort.</a:t>
            </a:r>
          </a:p>
          <a:p>
            <a:pPr marL="342900" indent="-342900">
              <a:buAutoNum type="arabicPeriod"/>
            </a:pPr>
            <a:endParaRPr lang="en-US" sz="2800" dirty="0"/>
          </a:p>
          <a:p>
            <a:pPr marL="342900" indent="-342900">
              <a:buAutoNum type="arabicPeriod"/>
            </a:pPr>
            <a:r>
              <a:rPr lang="en-US" sz="2800" dirty="0" smtClean="0"/>
              <a:t>Insertion </a:t>
            </a:r>
            <a:r>
              <a:rPr lang="en-US" sz="2800" dirty="0"/>
              <a:t>sort.</a:t>
            </a:r>
            <a:endParaRPr lang="en-US" dirty="0"/>
          </a:p>
        </p:txBody>
      </p:sp>
      <p:sp>
        <p:nvSpPr>
          <p:cNvPr id="8" name="TextBox 7"/>
          <p:cNvSpPr txBox="1"/>
          <p:nvPr/>
        </p:nvSpPr>
        <p:spPr>
          <a:xfrm>
            <a:off x="3942080" y="853440"/>
            <a:ext cx="3596640" cy="2031325"/>
          </a:xfrm>
          <a:prstGeom prst="rect">
            <a:avLst/>
          </a:prstGeom>
          <a:noFill/>
          <a:ln>
            <a:solidFill>
              <a:schemeClr val="tx1"/>
            </a:solidFill>
          </a:ln>
        </p:spPr>
        <p:txBody>
          <a:bodyPr wrap="square" rtlCol="0">
            <a:spAutoFit/>
          </a:bodyPr>
          <a:lstStyle/>
          <a:p>
            <a:r>
              <a:rPr lang="en-US" dirty="0"/>
              <a:t>     </a:t>
            </a:r>
            <a:r>
              <a:rPr lang="en-US" sz="2400" u="sng" dirty="0"/>
              <a:t>CODE SNIPPET</a:t>
            </a:r>
            <a:endParaRPr lang="en-US" u="sng" dirty="0"/>
          </a:p>
          <a:p>
            <a:r>
              <a:rPr lang="en-US" dirty="0"/>
              <a:t> </a:t>
            </a:r>
            <a:endParaRPr lang="en-US" sz="2800" dirty="0"/>
          </a:p>
          <a:p>
            <a:r>
              <a:rPr lang="en-US" sz="2800" dirty="0"/>
              <a:t> </a:t>
            </a:r>
            <a:r>
              <a:rPr lang="en-US" sz="2800" dirty="0"/>
              <a:t>for </a:t>
            </a:r>
            <a:r>
              <a:rPr lang="en-US" sz="2800" dirty="0" err="1"/>
              <a:t>i</a:t>
            </a:r>
            <a:r>
              <a:rPr lang="en-US" sz="2800" dirty="0"/>
              <a:t> in range(0, n</a:t>
            </a:r>
            <a:r>
              <a:rPr lang="en-US" sz="2800" dirty="0" smtClean="0"/>
              <a:t>):</a:t>
            </a:r>
            <a:endParaRPr lang="en-US" sz="2800" dirty="0"/>
          </a:p>
          <a:p>
            <a:r>
              <a:rPr lang="en-US" sz="2800" dirty="0"/>
              <a:t>    for </a:t>
            </a:r>
            <a:r>
              <a:rPr lang="en-US" sz="2800" dirty="0" smtClean="0"/>
              <a:t>j </a:t>
            </a:r>
            <a:r>
              <a:rPr lang="en-US" sz="2800" dirty="0"/>
              <a:t>in range(0, n</a:t>
            </a:r>
            <a:r>
              <a:rPr lang="en-US" sz="2800" dirty="0" smtClean="0"/>
              <a:t>):</a:t>
            </a:r>
            <a:endParaRPr lang="en-US" sz="2800" dirty="0"/>
          </a:p>
          <a:p>
            <a:r>
              <a:rPr lang="en-US" sz="2800" dirty="0" smtClean="0"/>
              <a:t>       print(</a:t>
            </a:r>
            <a:r>
              <a:rPr lang="en-US" sz="2800" dirty="0" err="1"/>
              <a:t>i</a:t>
            </a:r>
            <a:r>
              <a:rPr lang="en-US" sz="2800" dirty="0" err="1" smtClean="0"/>
              <a:t>,j</a:t>
            </a:r>
            <a:r>
              <a:rPr lang="en-US" sz="2800" dirty="0" smtClean="0"/>
              <a:t>)</a:t>
            </a:r>
            <a:endParaRPr lang="en-US" sz="2800" dirty="0"/>
          </a:p>
        </p:txBody>
      </p:sp>
      <p:sp>
        <p:nvSpPr>
          <p:cNvPr id="10" name="Rounded Rectangle 17">
            <a:extLst>
              <a:ext uri="{FF2B5EF4-FFF2-40B4-BE49-F238E27FC236}">
                <a16:creationId xmlns:a16="http://schemas.microsoft.com/office/drawing/2014/main" id="{39DC903D-9003-4F3D-87E9-EE7D5BEB5D03}"/>
              </a:ext>
            </a:extLst>
          </p:cNvPr>
          <p:cNvSpPr/>
          <p:nvPr/>
        </p:nvSpPr>
        <p:spPr>
          <a:xfrm>
            <a:off x="3006293" y="24696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rPr>
              <a:t>TIME COMPLEXITY - EXAMPLES</a:t>
            </a:r>
          </a:p>
        </p:txBody>
      </p:sp>
    </p:spTree>
    <p:extLst>
      <p:ext uri="{BB962C8B-B14F-4D97-AF65-F5344CB8AC3E}">
        <p14:creationId xmlns:p14="http://schemas.microsoft.com/office/powerpoint/2010/main" val="89993855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10"/>
                                        </p:tgtEl>
                                      </p:cBhvr>
                                    </p:animEffect>
                                    <p:animScale>
                                      <p:cBhvr>
                                        <p:cTn id="7" dur="250" autoRev="1" fill="hold"/>
                                        <p:tgtEl>
                                          <p:spTgt spid="1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8" name="Rounded Rectangle 17">
            <a:extLst>
              <a:ext uri="{FF2B5EF4-FFF2-40B4-BE49-F238E27FC236}">
                <a16:creationId xmlns:a16="http://schemas.microsoft.com/office/drawing/2014/main" id="{39DC903D-9003-4F3D-87E9-EE7D5BEB5D03}"/>
              </a:ext>
            </a:extLst>
          </p:cNvPr>
          <p:cNvSpPr/>
          <p:nvPr/>
        </p:nvSpPr>
        <p:spPr>
          <a:xfrm>
            <a:off x="3402533" y="8563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smtClean="0">
                <a:ln w="0"/>
                <a:solidFill>
                  <a:schemeClr val="bg1"/>
                </a:solidFill>
                <a:latin typeface="inter-regular"/>
                <a:cs typeface="Poppins" panose="00000500000000000000" pitchFamily="2" charset="0"/>
              </a:rPr>
              <a:t>Examples</a:t>
            </a:r>
            <a:endParaRPr lang="en-US" dirty="0">
              <a:ln w="0"/>
              <a:solidFill>
                <a:schemeClr val="bg1"/>
              </a:solidFill>
              <a:latin typeface="inter-regular"/>
              <a:cs typeface="Poppins" panose="00000500000000000000" pitchFamily="2" charset="0"/>
            </a:endParaRPr>
          </a:p>
        </p:txBody>
      </p:sp>
      <p:sp>
        <p:nvSpPr>
          <p:cNvPr id="6" name="Content Placeholder 2">
            <a:extLst>
              <a:ext uri="{FF2B5EF4-FFF2-40B4-BE49-F238E27FC236}">
                <a16:creationId xmlns:a16="http://schemas.microsoft.com/office/drawing/2014/main" id="{D498F8BB-622F-BFA4-C632-67AFA4330F98}"/>
              </a:ext>
            </a:extLst>
          </p:cNvPr>
          <p:cNvSpPr>
            <a:spLocks noGrp="1"/>
          </p:cNvSpPr>
          <p:nvPr>
            <p:ph idx="1"/>
          </p:nvPr>
        </p:nvSpPr>
        <p:spPr>
          <a:xfrm>
            <a:off x="3301683" y="740050"/>
            <a:ext cx="6746557" cy="5678804"/>
          </a:xfrm>
        </p:spPr>
        <p:txBody>
          <a:bodyPr>
            <a:normAutofit fontScale="70000" lnSpcReduction="20000"/>
          </a:bodyPr>
          <a:lstStyle/>
          <a:p>
            <a:pPr marL="0" marR="709930" indent="0">
              <a:lnSpc>
                <a:spcPct val="148000"/>
              </a:lnSpc>
              <a:spcBef>
                <a:spcPts val="1045"/>
              </a:spcBef>
              <a:buNone/>
            </a:pPr>
            <a:r>
              <a:rPr lang="en-US" dirty="0" smtClean="0">
                <a:latin typeface="inter-regular"/>
              </a:rPr>
              <a:t>1) What </a:t>
            </a:r>
            <a:r>
              <a:rPr lang="en-US" dirty="0">
                <a:latin typeface="inter-regular"/>
              </a:rPr>
              <a:t>is the time complexity of the following code: </a:t>
            </a:r>
            <a:endParaRPr lang="en-US" dirty="0" smtClean="0">
              <a:latin typeface="inter-regular"/>
            </a:endParaRPr>
          </a:p>
          <a:p>
            <a:pPr marL="0" marR="709930" indent="0">
              <a:lnSpc>
                <a:spcPct val="148000"/>
              </a:lnSpc>
              <a:spcBef>
                <a:spcPts val="1045"/>
              </a:spcBef>
              <a:buNone/>
            </a:pPr>
            <a:r>
              <a:rPr lang="pt-BR" smtClean="0">
                <a:latin typeface="inter-regular"/>
              </a:rPr>
              <a:t>a </a:t>
            </a:r>
            <a:r>
              <a:rPr lang="pt-BR" dirty="0">
                <a:latin typeface="inter-regular"/>
              </a:rPr>
              <a:t>= 0;</a:t>
            </a:r>
          </a:p>
          <a:p>
            <a:pPr marL="0" marR="709930" indent="0">
              <a:lnSpc>
                <a:spcPct val="148000"/>
              </a:lnSpc>
              <a:spcBef>
                <a:spcPts val="1045"/>
              </a:spcBef>
              <a:buNone/>
            </a:pPr>
            <a:r>
              <a:rPr lang="pt-BR" dirty="0">
                <a:latin typeface="inter-regular"/>
              </a:rPr>
              <a:t>for i in </a:t>
            </a:r>
            <a:r>
              <a:rPr lang="pt-BR" dirty="0" smtClean="0">
                <a:latin typeface="inter-regular"/>
              </a:rPr>
              <a:t>range(0,  N):</a:t>
            </a:r>
            <a:endParaRPr lang="pt-BR" dirty="0">
              <a:latin typeface="inter-regular"/>
            </a:endParaRPr>
          </a:p>
          <a:p>
            <a:pPr marL="0" marR="709930" indent="0">
              <a:lnSpc>
                <a:spcPct val="148000"/>
              </a:lnSpc>
              <a:spcBef>
                <a:spcPts val="1045"/>
              </a:spcBef>
              <a:buNone/>
            </a:pPr>
            <a:r>
              <a:rPr lang="pt-BR" dirty="0">
                <a:latin typeface="inter-regular"/>
              </a:rPr>
              <a:t>    for </a:t>
            </a:r>
            <a:r>
              <a:rPr lang="pt-BR" dirty="0" smtClean="0">
                <a:latin typeface="inter-regular"/>
              </a:rPr>
              <a:t>j in range(N, -1, -1):</a:t>
            </a:r>
          </a:p>
          <a:p>
            <a:pPr marL="0" marR="709930" indent="0">
              <a:lnSpc>
                <a:spcPct val="148000"/>
              </a:lnSpc>
              <a:spcBef>
                <a:spcPts val="1045"/>
              </a:spcBef>
              <a:buNone/>
            </a:pPr>
            <a:r>
              <a:rPr lang="pt-BR" dirty="0" smtClean="0">
                <a:latin typeface="inter-regular"/>
              </a:rPr>
              <a:t>          a </a:t>
            </a:r>
            <a:r>
              <a:rPr lang="pt-BR" dirty="0">
                <a:latin typeface="inter-regular"/>
              </a:rPr>
              <a:t>= a + i + j</a:t>
            </a:r>
            <a:r>
              <a:rPr lang="pt-BR" dirty="0" smtClean="0">
                <a:latin typeface="inter-regular"/>
              </a:rPr>
              <a:t>;</a:t>
            </a:r>
          </a:p>
          <a:p>
            <a:pPr marL="0" marR="709930" indent="0">
              <a:lnSpc>
                <a:spcPct val="148000"/>
              </a:lnSpc>
              <a:spcBef>
                <a:spcPts val="1045"/>
              </a:spcBef>
              <a:buNone/>
            </a:pPr>
            <a:r>
              <a:rPr lang="pt-BR" dirty="0" smtClean="0">
                <a:latin typeface="inter-regular"/>
              </a:rPr>
              <a:t>Explanation: </a:t>
            </a:r>
            <a:br>
              <a:rPr lang="pt-BR" dirty="0" smtClean="0">
                <a:latin typeface="inter-regular"/>
              </a:rPr>
            </a:br>
            <a:r>
              <a:rPr lang="pt-BR" dirty="0" smtClean="0">
                <a:latin typeface="inter-regular"/>
              </a:rPr>
              <a:t>The above code runs total no of times </a:t>
            </a:r>
            <a:br>
              <a:rPr lang="pt-BR" dirty="0" smtClean="0">
                <a:latin typeface="inter-regular"/>
              </a:rPr>
            </a:br>
            <a:r>
              <a:rPr lang="pt-BR" dirty="0" smtClean="0">
                <a:latin typeface="inter-regular"/>
              </a:rPr>
              <a:t>= N + (N – 1) + (N – 2) + … 1 + 0 </a:t>
            </a:r>
            <a:br>
              <a:rPr lang="pt-BR" dirty="0" smtClean="0">
                <a:latin typeface="inter-regular"/>
              </a:rPr>
            </a:br>
            <a:r>
              <a:rPr lang="pt-BR" dirty="0" smtClean="0">
                <a:latin typeface="inter-regular"/>
              </a:rPr>
              <a:t>= N * (N + 1) / 2 </a:t>
            </a:r>
            <a:br>
              <a:rPr lang="pt-BR" dirty="0" smtClean="0">
                <a:latin typeface="inter-regular"/>
              </a:rPr>
            </a:br>
            <a:r>
              <a:rPr lang="pt-BR" dirty="0" smtClean="0">
                <a:latin typeface="inter-regular"/>
              </a:rPr>
              <a:t>= 1/2 * N^2 + 1/2 * N </a:t>
            </a:r>
            <a:br>
              <a:rPr lang="pt-BR" dirty="0" smtClean="0">
                <a:latin typeface="inter-regular"/>
              </a:rPr>
            </a:br>
            <a:r>
              <a:rPr lang="pt-BR" dirty="0" smtClean="0">
                <a:latin typeface="inter-regular"/>
              </a:rPr>
              <a:t>O(N^2) times.</a:t>
            </a:r>
            <a:endParaRPr lang="en-US" dirty="0">
              <a:latin typeface="inter-regular"/>
            </a:endParaRPr>
          </a:p>
        </p:txBody>
      </p:sp>
      <p:sp>
        <p:nvSpPr>
          <p:cNvPr id="5" name="Footer Placeholder 4">
            <a:extLst>
              <a:ext uri="{FF2B5EF4-FFF2-40B4-BE49-F238E27FC236}">
                <a16:creationId xmlns:a16="http://schemas.microsoft.com/office/drawing/2014/main" id="{C59A143E-7875-43E7-97E0-3557B9071E49}"/>
              </a:ext>
            </a:extLst>
          </p:cNvPr>
          <p:cNvSpPr>
            <a:spLocks noGrp="1"/>
          </p:cNvSpPr>
          <p:nvPr>
            <p:ph type="ftr" sz="quarter" idx="11"/>
          </p:nvPr>
        </p:nvSpPr>
        <p:spPr>
          <a:xfrm>
            <a:off x="272868" y="6458858"/>
            <a:ext cx="11797211" cy="399142"/>
          </a:xfrm>
        </p:spPr>
        <p:txBody>
          <a:bodyPr/>
          <a:lstStyle/>
          <a:p>
            <a:pPr algn="l">
              <a:defRPr/>
            </a:pPr>
            <a:r>
              <a:rPr lang="en-US" sz="2000" b="1" dirty="0">
                <a:solidFill>
                  <a:srgbClr val="002060"/>
                </a:solidFill>
                <a:latin typeface="Times New Roman" pitchFamily="18" charset="0"/>
                <a:cs typeface="Times New Roman" pitchFamily="18" charset="0"/>
              </a:rPr>
              <a:t>KLEF                                           </a:t>
            </a:r>
            <a:r>
              <a:rPr lang="en-US" sz="2000" b="1" dirty="0" smtClean="0">
                <a:solidFill>
                  <a:srgbClr val="002060"/>
                </a:solidFill>
                <a:latin typeface="Times New Roman" pitchFamily="18" charset="0"/>
                <a:cs typeface="Times New Roman" pitchFamily="18" charset="0"/>
              </a:rPr>
              <a:t>			DSP           				      BES-1</a:t>
            </a:r>
            <a:endParaRPr lang="en-US" sz="2000" b="1" dirty="0">
              <a:solidFill>
                <a:srgbClr val="002060"/>
              </a:solidFill>
              <a:latin typeface="Times New Roman" pitchFamily="18" charset="0"/>
              <a:cs typeface="Times New Roman" pitchFamily="18" charset="0"/>
            </a:endParaRPr>
          </a:p>
        </p:txBody>
      </p:sp>
    </p:spTree>
    <p:extLst>
      <p:ext uri="{BB962C8B-B14F-4D97-AF65-F5344CB8AC3E}">
        <p14:creationId xmlns:p14="http://schemas.microsoft.com/office/powerpoint/2010/main" val="290278270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8"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rPr>
              <a:t>Example</a:t>
            </a:r>
          </a:p>
        </p:txBody>
      </p:sp>
      <p:sp>
        <p:nvSpPr>
          <p:cNvPr id="6" name="Content Placeholder 2">
            <a:extLst>
              <a:ext uri="{FF2B5EF4-FFF2-40B4-BE49-F238E27FC236}">
                <a16:creationId xmlns:a16="http://schemas.microsoft.com/office/drawing/2014/main" id="{93F0BA5F-9710-9981-5850-1FA411087771}"/>
              </a:ext>
            </a:extLst>
          </p:cNvPr>
          <p:cNvSpPr txBox="1">
            <a:spLocks/>
          </p:cNvSpPr>
          <p:nvPr/>
        </p:nvSpPr>
        <p:spPr bwMode="auto">
          <a:xfrm>
            <a:off x="3473653" y="1111982"/>
            <a:ext cx="8010549" cy="4748101"/>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rtl="0" eaLnBrk="0" fontAlgn="base" hangingPunct="0">
              <a:spcBef>
                <a:spcPct val="20000"/>
              </a:spcBef>
              <a:spcAft>
                <a:spcPct val="0"/>
              </a:spcAft>
              <a:buFont typeface="Arial" charset="0"/>
              <a:buChar char="•"/>
              <a:defRPr sz="3200" kern="1200">
                <a:solidFill>
                  <a:srgbClr val="595959"/>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rgbClr val="595959"/>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rgbClr val="595959"/>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rgbClr val="595959"/>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rgbClr val="595959"/>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spcAft>
                <a:spcPts val="0"/>
              </a:spcAft>
              <a:buNone/>
            </a:pPr>
            <a:r>
              <a:rPr lang="en-US" sz="1800" dirty="0" err="1">
                <a:solidFill>
                  <a:schemeClr val="tx1"/>
                </a:solidFill>
                <a:latin typeface="inter-regular"/>
                <a:ea typeface="Calibri" panose="020F0502020204030204" pitchFamily="34" charset="0"/>
                <a:cs typeface="Times New Roman" panose="02020603050405020304" pitchFamily="18" charset="0"/>
              </a:rPr>
              <a:t>def</a:t>
            </a:r>
            <a:r>
              <a:rPr lang="en-US" sz="1800" dirty="0">
                <a:solidFill>
                  <a:schemeClr val="tx1"/>
                </a:solidFill>
                <a:latin typeface="inter-regular"/>
                <a:ea typeface="Calibri" panose="020F0502020204030204" pitchFamily="34" charset="0"/>
                <a:cs typeface="Times New Roman" panose="02020603050405020304" pitchFamily="18" charset="0"/>
              </a:rPr>
              <a:t> </a:t>
            </a:r>
            <a:r>
              <a:rPr lang="en-US" sz="1800" dirty="0" err="1">
                <a:solidFill>
                  <a:schemeClr val="tx1"/>
                </a:solidFill>
                <a:latin typeface="inter-regular"/>
                <a:ea typeface="Calibri" panose="020F0502020204030204" pitchFamily="34" charset="0"/>
                <a:cs typeface="Times New Roman" panose="02020603050405020304" pitchFamily="18" charset="0"/>
              </a:rPr>
              <a:t>linear_search</a:t>
            </a:r>
            <a:r>
              <a:rPr lang="en-US" sz="1800" dirty="0">
                <a:solidFill>
                  <a:schemeClr val="tx1"/>
                </a:solidFill>
                <a:latin typeface="inter-regular"/>
                <a:ea typeface="Calibri" panose="020F0502020204030204" pitchFamily="34" charset="0"/>
                <a:cs typeface="Times New Roman" panose="02020603050405020304" pitchFamily="18" charset="0"/>
              </a:rPr>
              <a:t>(data, value):</a:t>
            </a:r>
          </a:p>
          <a:p>
            <a:pPr marL="0" indent="0">
              <a:lnSpc>
                <a:spcPct val="150000"/>
              </a:lnSpc>
              <a:spcBef>
                <a:spcPts val="0"/>
              </a:spcBef>
              <a:spcAft>
                <a:spcPts val="0"/>
              </a:spcAft>
              <a:buNone/>
            </a:pPr>
            <a:r>
              <a:rPr lang="en-US" sz="1800" dirty="0">
                <a:solidFill>
                  <a:schemeClr val="tx1"/>
                </a:solidFill>
                <a:latin typeface="inter-regular"/>
                <a:ea typeface="Calibri" panose="020F0502020204030204" pitchFamily="34" charset="0"/>
                <a:cs typeface="Times New Roman" panose="02020603050405020304" pitchFamily="18" charset="0"/>
              </a:rPr>
              <a:t>    for index in range(len(data)):</a:t>
            </a:r>
          </a:p>
          <a:p>
            <a:pPr marL="0" indent="0">
              <a:lnSpc>
                <a:spcPct val="150000"/>
              </a:lnSpc>
              <a:spcBef>
                <a:spcPts val="0"/>
              </a:spcBef>
              <a:spcAft>
                <a:spcPts val="0"/>
              </a:spcAft>
              <a:buNone/>
            </a:pPr>
            <a:r>
              <a:rPr lang="en-US" sz="1800" dirty="0">
                <a:solidFill>
                  <a:schemeClr val="tx1"/>
                </a:solidFill>
                <a:latin typeface="inter-regular"/>
                <a:ea typeface="Calibri" panose="020F0502020204030204" pitchFamily="34" charset="0"/>
                <a:cs typeface="Times New Roman" panose="02020603050405020304" pitchFamily="18" charset="0"/>
              </a:rPr>
              <a:t>        if value == data[index]:</a:t>
            </a:r>
          </a:p>
          <a:p>
            <a:pPr marL="0" indent="0">
              <a:lnSpc>
                <a:spcPct val="150000"/>
              </a:lnSpc>
              <a:spcBef>
                <a:spcPts val="0"/>
              </a:spcBef>
              <a:spcAft>
                <a:spcPts val="0"/>
              </a:spcAft>
              <a:buNone/>
            </a:pPr>
            <a:r>
              <a:rPr lang="en-US" sz="1800" dirty="0">
                <a:solidFill>
                  <a:schemeClr val="tx1"/>
                </a:solidFill>
                <a:latin typeface="inter-regular"/>
                <a:ea typeface="Calibri" panose="020F0502020204030204" pitchFamily="34" charset="0"/>
                <a:cs typeface="Times New Roman" panose="02020603050405020304" pitchFamily="18" charset="0"/>
              </a:rPr>
              <a:t>            return </a:t>
            </a:r>
            <a:r>
              <a:rPr lang="en-US" sz="1800" dirty="0" smtClean="0">
                <a:solidFill>
                  <a:schemeClr val="tx1"/>
                </a:solidFill>
                <a:latin typeface="inter-regular"/>
                <a:ea typeface="Calibri" panose="020F0502020204030204" pitchFamily="34" charset="0"/>
                <a:cs typeface="Times New Roman" panose="02020603050405020304" pitchFamily="18" charset="0"/>
              </a:rPr>
              <a:t>index  </a:t>
            </a:r>
            <a:endParaRPr lang="en-US" sz="1800" dirty="0">
              <a:solidFill>
                <a:schemeClr val="tx1"/>
              </a:solidFill>
              <a:latin typeface="inter-regular"/>
              <a:ea typeface="Calibri" panose="020F0502020204030204" pitchFamily="34" charset="0"/>
              <a:cs typeface="Times New Roman" panose="02020603050405020304" pitchFamily="18" charset="0"/>
            </a:endParaRPr>
          </a:p>
          <a:p>
            <a:pPr marL="0" indent="0">
              <a:lnSpc>
                <a:spcPct val="150000"/>
              </a:lnSpc>
              <a:spcBef>
                <a:spcPts val="0"/>
              </a:spcBef>
              <a:spcAft>
                <a:spcPts val="0"/>
              </a:spcAft>
              <a:buNone/>
            </a:pPr>
            <a:r>
              <a:rPr lang="en-US" sz="1800" dirty="0">
                <a:solidFill>
                  <a:schemeClr val="tx1"/>
                </a:solidFill>
                <a:latin typeface="inter-regular"/>
                <a:ea typeface="Calibri" panose="020F0502020204030204" pitchFamily="34" charset="0"/>
                <a:cs typeface="Times New Roman" panose="02020603050405020304" pitchFamily="18" charset="0"/>
              </a:rPr>
              <a:t>if __name__ == '__main__':</a:t>
            </a:r>
          </a:p>
          <a:p>
            <a:pPr marL="0" indent="0">
              <a:lnSpc>
                <a:spcPct val="150000"/>
              </a:lnSpc>
              <a:spcBef>
                <a:spcPts val="0"/>
              </a:spcBef>
              <a:spcAft>
                <a:spcPts val="0"/>
              </a:spcAft>
              <a:buNone/>
            </a:pPr>
            <a:r>
              <a:rPr lang="en-US" sz="1800" dirty="0">
                <a:solidFill>
                  <a:schemeClr val="tx1"/>
                </a:solidFill>
                <a:latin typeface="inter-regular"/>
                <a:ea typeface="Calibri" panose="020F0502020204030204" pitchFamily="34" charset="0"/>
                <a:cs typeface="Times New Roman" panose="02020603050405020304" pitchFamily="18" charset="0"/>
              </a:rPr>
              <a:t>    data = [1, 2, 9, 8, 3, 4, 7, 6, 5]</a:t>
            </a:r>
          </a:p>
          <a:p>
            <a:pPr marL="0" indent="0">
              <a:lnSpc>
                <a:spcPct val="150000"/>
              </a:lnSpc>
              <a:spcBef>
                <a:spcPts val="0"/>
              </a:spcBef>
              <a:spcAft>
                <a:spcPts val="0"/>
              </a:spcAft>
              <a:buNone/>
            </a:pPr>
            <a:r>
              <a:rPr lang="en-US" sz="1800" dirty="0">
                <a:solidFill>
                  <a:schemeClr val="tx1"/>
                </a:solidFill>
                <a:latin typeface="inter-regular"/>
                <a:ea typeface="Calibri" panose="020F0502020204030204" pitchFamily="34" charset="0"/>
                <a:cs typeface="Times New Roman" panose="02020603050405020304" pitchFamily="18" charset="0"/>
              </a:rPr>
              <a:t>    print(</a:t>
            </a:r>
            <a:r>
              <a:rPr lang="en-US" sz="1800" dirty="0" err="1">
                <a:solidFill>
                  <a:schemeClr val="tx1"/>
                </a:solidFill>
                <a:latin typeface="inter-regular"/>
                <a:ea typeface="Calibri" panose="020F0502020204030204" pitchFamily="34" charset="0"/>
                <a:cs typeface="Times New Roman" panose="02020603050405020304" pitchFamily="18" charset="0"/>
              </a:rPr>
              <a:t>linear_search</a:t>
            </a:r>
            <a:r>
              <a:rPr lang="en-US" sz="1800" dirty="0">
                <a:solidFill>
                  <a:schemeClr val="tx1"/>
                </a:solidFill>
                <a:latin typeface="inter-regular"/>
                <a:ea typeface="Calibri" panose="020F0502020204030204" pitchFamily="34" charset="0"/>
                <a:cs typeface="Times New Roman" panose="02020603050405020304" pitchFamily="18" charset="0"/>
              </a:rPr>
              <a:t>(data, 7</a:t>
            </a:r>
            <a:r>
              <a:rPr lang="en-US" sz="1800" dirty="0" smtClean="0">
                <a:solidFill>
                  <a:schemeClr val="tx1"/>
                </a:solidFill>
                <a:latin typeface="inter-regular"/>
                <a:ea typeface="Calibri" panose="020F0502020204030204" pitchFamily="34" charset="0"/>
                <a:cs typeface="Times New Roman" panose="02020603050405020304" pitchFamily="18" charset="0"/>
              </a:rPr>
              <a:t>))</a:t>
            </a:r>
          </a:p>
          <a:p>
            <a:pPr marL="0" indent="0">
              <a:lnSpc>
                <a:spcPct val="150000"/>
              </a:lnSpc>
              <a:spcBef>
                <a:spcPts val="0"/>
              </a:spcBef>
              <a:spcAft>
                <a:spcPts val="0"/>
              </a:spcAft>
              <a:buNone/>
            </a:pPr>
            <a:endParaRPr lang="en-US" sz="1800" b="1" dirty="0">
              <a:solidFill>
                <a:schemeClr val="tx1"/>
              </a:solidFill>
              <a:latin typeface="inter-regular"/>
              <a:ea typeface="Calibri" panose="020F0502020204030204" pitchFamily="34" charset="0"/>
              <a:cs typeface="Times New Roman" panose="02020603050405020304" pitchFamily="18" charset="0"/>
            </a:endParaRPr>
          </a:p>
          <a:p>
            <a:pPr marL="0" indent="0">
              <a:lnSpc>
                <a:spcPct val="150000"/>
              </a:lnSpc>
              <a:spcBef>
                <a:spcPts val="0"/>
              </a:spcBef>
              <a:spcAft>
                <a:spcPts val="0"/>
              </a:spcAft>
              <a:buNone/>
            </a:pPr>
            <a:endParaRPr lang="en-US" sz="1800" b="1" dirty="0">
              <a:solidFill>
                <a:schemeClr val="tx1"/>
              </a:solidFill>
              <a:latin typeface="inter-regular"/>
              <a:ea typeface="Calibri" panose="020F0502020204030204" pitchFamily="34" charset="0"/>
              <a:cs typeface="Times New Roman" panose="02020603050405020304" pitchFamily="18" charset="0"/>
            </a:endParaRPr>
          </a:p>
          <a:p>
            <a:pPr marL="0" indent="0" algn="just">
              <a:lnSpc>
                <a:spcPct val="107000"/>
              </a:lnSpc>
              <a:spcAft>
                <a:spcPts val="800"/>
              </a:spcAft>
              <a:buFont typeface="Arial" charset="0"/>
              <a:buNone/>
            </a:pPr>
            <a:r>
              <a:rPr lang="en-US" sz="2000" b="1" dirty="0" err="1" smtClean="0">
                <a:solidFill>
                  <a:schemeClr val="tx1"/>
                </a:solidFill>
              </a:rPr>
              <a:t>Ans</a:t>
            </a:r>
            <a:r>
              <a:rPr lang="en-US" sz="2000" b="1" dirty="0" smtClean="0">
                <a:solidFill>
                  <a:schemeClr val="tx1"/>
                </a:solidFill>
              </a:rPr>
              <a:t>: O(n)</a:t>
            </a:r>
            <a:endParaRPr lang="en-IN" sz="2000" b="1" dirty="0">
              <a:solidFill>
                <a:schemeClr val="tx1"/>
              </a:solidFill>
            </a:endParaRPr>
          </a:p>
        </p:txBody>
      </p:sp>
      <p:sp>
        <p:nvSpPr>
          <p:cNvPr id="5" name="Footer Placeholder 4">
            <a:extLst>
              <a:ext uri="{FF2B5EF4-FFF2-40B4-BE49-F238E27FC236}">
                <a16:creationId xmlns:a16="http://schemas.microsoft.com/office/drawing/2014/main" id="{C59A143E-7875-43E7-97E0-3557B9071E49}"/>
              </a:ext>
            </a:extLst>
          </p:cNvPr>
          <p:cNvSpPr>
            <a:spLocks noGrp="1"/>
          </p:cNvSpPr>
          <p:nvPr>
            <p:ph type="ftr" sz="quarter" idx="11"/>
          </p:nvPr>
        </p:nvSpPr>
        <p:spPr>
          <a:xfrm>
            <a:off x="272868" y="6458858"/>
            <a:ext cx="11797211" cy="399142"/>
          </a:xfrm>
        </p:spPr>
        <p:txBody>
          <a:bodyPr/>
          <a:lstStyle/>
          <a:p>
            <a:pPr algn="l">
              <a:defRPr/>
            </a:pPr>
            <a:r>
              <a:rPr lang="en-US" sz="2000" b="1" dirty="0">
                <a:solidFill>
                  <a:srgbClr val="002060"/>
                </a:solidFill>
                <a:latin typeface="Times New Roman" pitchFamily="18" charset="0"/>
                <a:cs typeface="Times New Roman" pitchFamily="18" charset="0"/>
              </a:rPr>
              <a:t>KLEF                                           </a:t>
            </a:r>
            <a:r>
              <a:rPr lang="en-US" sz="2000" b="1" dirty="0" smtClean="0">
                <a:solidFill>
                  <a:srgbClr val="002060"/>
                </a:solidFill>
                <a:latin typeface="Times New Roman" pitchFamily="18" charset="0"/>
                <a:cs typeface="Times New Roman" pitchFamily="18" charset="0"/>
              </a:rPr>
              <a:t>			DSP           				      BES-1</a:t>
            </a:r>
            <a:endParaRPr lang="en-US" sz="2000" b="1" dirty="0">
              <a:solidFill>
                <a:srgbClr val="002060"/>
              </a:solidFill>
              <a:latin typeface="Times New Roman" pitchFamily="18" charset="0"/>
              <a:cs typeface="Times New Roman" pitchFamily="18" charset="0"/>
            </a:endParaRPr>
          </a:p>
        </p:txBody>
      </p:sp>
    </p:spTree>
    <p:extLst>
      <p:ext uri="{BB962C8B-B14F-4D97-AF65-F5344CB8AC3E}">
        <p14:creationId xmlns:p14="http://schemas.microsoft.com/office/powerpoint/2010/main" val="63222442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8" name="Rounded Rectangle 17">
            <a:extLst>
              <a:ext uri="{FF2B5EF4-FFF2-40B4-BE49-F238E27FC236}">
                <a16:creationId xmlns:a16="http://schemas.microsoft.com/office/drawing/2014/main" id="{39DC903D-9003-4F3D-87E9-EE7D5BEB5D03}"/>
              </a:ext>
            </a:extLst>
          </p:cNvPr>
          <p:cNvSpPr/>
          <p:nvPr/>
        </p:nvSpPr>
        <p:spPr>
          <a:xfrm>
            <a:off x="3402533" y="8563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smtClean="0">
                <a:ln w="0"/>
                <a:solidFill>
                  <a:schemeClr val="bg1"/>
                </a:solidFill>
                <a:effectLst>
                  <a:outerShdw blurRad="38100" dist="19050" dir="2700000" algn="tl" rotWithShape="0">
                    <a:schemeClr val="dk1">
                      <a:alpha val="40000"/>
                    </a:schemeClr>
                  </a:outerShdw>
                </a:effectLst>
                <a:latin typeface="inter-regular"/>
                <a:cs typeface="Poppins" panose="00000500000000000000" pitchFamily="2" charset="0"/>
              </a:rPr>
              <a:t>SUMMARY</a:t>
            </a:r>
            <a:endParaRPr lang="en-US" b="1" dirty="0">
              <a:ln w="0"/>
              <a:solidFill>
                <a:schemeClr val="bg1"/>
              </a:solidFill>
              <a:effectLst>
                <a:outerShdw blurRad="38100" dist="19050" dir="2700000" algn="tl" rotWithShape="0">
                  <a:schemeClr val="dk1">
                    <a:alpha val="40000"/>
                  </a:schemeClr>
                </a:outerShdw>
              </a:effectLst>
              <a:latin typeface="inter-regular"/>
              <a:cs typeface="Poppins" panose="00000500000000000000" pitchFamily="2" charset="0"/>
            </a:endParaRPr>
          </a:p>
        </p:txBody>
      </p:sp>
      <p:sp>
        <p:nvSpPr>
          <p:cNvPr id="6" name="Content Placeholder 2">
            <a:extLst>
              <a:ext uri="{FF2B5EF4-FFF2-40B4-BE49-F238E27FC236}">
                <a16:creationId xmlns:a16="http://schemas.microsoft.com/office/drawing/2014/main" id="{D498F8BB-622F-BFA4-C632-67AFA4330F98}"/>
              </a:ext>
            </a:extLst>
          </p:cNvPr>
          <p:cNvSpPr>
            <a:spLocks noGrp="1"/>
          </p:cNvSpPr>
          <p:nvPr>
            <p:ph idx="1"/>
          </p:nvPr>
        </p:nvSpPr>
        <p:spPr>
          <a:xfrm>
            <a:off x="995363" y="1107481"/>
            <a:ext cx="10841038" cy="4206199"/>
          </a:xfrm>
        </p:spPr>
        <p:txBody>
          <a:bodyPr>
            <a:normAutofit/>
          </a:bodyPr>
          <a:lstStyle/>
          <a:p>
            <a:pPr marL="342900" marR="709930" indent="-342900">
              <a:lnSpc>
                <a:spcPct val="148000"/>
              </a:lnSpc>
              <a:spcBef>
                <a:spcPts val="1045"/>
              </a:spcBef>
              <a:buFont typeface="+mj-lt"/>
              <a:buAutoNum type="arabicPeriod"/>
            </a:pPr>
            <a:r>
              <a:rPr lang="en-US" sz="1800" b="1" dirty="0" smtClean="0">
                <a:latin typeface="inter-regular"/>
              </a:rPr>
              <a:t>Introduction about the Algorithm and Data Structure</a:t>
            </a:r>
            <a:br>
              <a:rPr lang="en-US" sz="1800" b="1" dirty="0" smtClean="0">
                <a:latin typeface="inter-regular"/>
              </a:rPr>
            </a:br>
            <a:r>
              <a:rPr lang="en-US" sz="1800" b="1" dirty="0" smtClean="0">
                <a:latin typeface="inter-regular"/>
              </a:rPr>
              <a:t>Calculation of the Time and Space complexity of an algorithm to find out its efficiency</a:t>
            </a:r>
          </a:p>
          <a:p>
            <a:pPr marL="342900" marR="709930" indent="-342900">
              <a:lnSpc>
                <a:spcPct val="148000"/>
              </a:lnSpc>
              <a:spcBef>
                <a:spcPts val="1045"/>
              </a:spcBef>
              <a:buFont typeface="+mj-lt"/>
              <a:buAutoNum type="arabicPeriod"/>
            </a:pPr>
            <a:r>
              <a:rPr lang="en-US" sz="1800" b="1" dirty="0" smtClean="0">
                <a:latin typeface="inter-regular"/>
              </a:rPr>
              <a:t>Asymptotic Notations are of three types</a:t>
            </a:r>
          </a:p>
          <a:p>
            <a:pPr marL="800100" marR="709930" lvl="1" indent="-342900">
              <a:lnSpc>
                <a:spcPct val="148000"/>
              </a:lnSpc>
              <a:spcBef>
                <a:spcPts val="1045"/>
              </a:spcBef>
              <a:buFont typeface="+mj-lt"/>
              <a:buAutoNum type="arabicPeriod"/>
            </a:pPr>
            <a:r>
              <a:rPr lang="en-US" sz="1600" b="1" dirty="0" smtClean="0">
                <a:latin typeface="inter-regular"/>
              </a:rPr>
              <a:t>Big-O Notation ()</a:t>
            </a:r>
          </a:p>
          <a:p>
            <a:pPr marL="800100" marR="709930" lvl="1" indent="-342900">
              <a:lnSpc>
                <a:spcPct val="148000"/>
              </a:lnSpc>
              <a:spcBef>
                <a:spcPts val="1045"/>
              </a:spcBef>
              <a:buFont typeface="+mj-lt"/>
              <a:buAutoNum type="arabicPeriod"/>
            </a:pPr>
            <a:r>
              <a:rPr lang="en-US" sz="1600" b="1" dirty="0" smtClean="0">
                <a:latin typeface="inter-regular"/>
              </a:rPr>
              <a:t>Theta Notation ()</a:t>
            </a:r>
          </a:p>
          <a:p>
            <a:pPr marL="800100" marR="709930" lvl="1" indent="-342900">
              <a:lnSpc>
                <a:spcPct val="148000"/>
              </a:lnSpc>
              <a:spcBef>
                <a:spcPts val="1045"/>
              </a:spcBef>
              <a:buFont typeface="+mj-lt"/>
              <a:buAutoNum type="arabicPeriod"/>
            </a:pPr>
            <a:r>
              <a:rPr lang="en-US" sz="1600" b="1" dirty="0" smtClean="0">
                <a:latin typeface="inter-regular"/>
              </a:rPr>
              <a:t>Omega Notations ()</a:t>
            </a:r>
            <a:endParaRPr lang="en-US" sz="1600" b="1" dirty="0">
              <a:latin typeface="inter-regular"/>
            </a:endParaRPr>
          </a:p>
          <a:p>
            <a:pPr marL="342900" marR="709930" indent="-342900">
              <a:lnSpc>
                <a:spcPct val="148000"/>
              </a:lnSpc>
              <a:spcBef>
                <a:spcPts val="1045"/>
              </a:spcBef>
              <a:buFont typeface="+mj-lt"/>
              <a:buAutoNum type="arabicPeriod"/>
            </a:pPr>
            <a:r>
              <a:rPr lang="en-US" sz="1800" b="1" dirty="0" smtClean="0">
                <a:latin typeface="inter-regular"/>
              </a:rPr>
              <a:t>Mathematical representations of the above notations</a:t>
            </a:r>
          </a:p>
          <a:p>
            <a:pPr marL="342900" marR="709930" indent="-342900">
              <a:lnSpc>
                <a:spcPct val="148000"/>
              </a:lnSpc>
              <a:spcBef>
                <a:spcPts val="1045"/>
              </a:spcBef>
              <a:buFont typeface="+mj-lt"/>
              <a:buAutoNum type="arabicPeriod"/>
            </a:pPr>
            <a:r>
              <a:rPr lang="en-US" sz="1800" b="1" dirty="0" smtClean="0">
                <a:latin typeface="inter-regular"/>
              </a:rPr>
              <a:t>Example for each Notation</a:t>
            </a:r>
          </a:p>
          <a:p>
            <a:pPr marL="0" marR="709930" indent="0">
              <a:lnSpc>
                <a:spcPct val="148000"/>
              </a:lnSpc>
              <a:spcBef>
                <a:spcPts val="1045"/>
              </a:spcBef>
              <a:buNone/>
            </a:pPr>
            <a:endParaRPr lang="en-US" sz="2000" b="1" dirty="0" smtClean="0">
              <a:latin typeface="inter-regular"/>
            </a:endParaRPr>
          </a:p>
        </p:txBody>
      </p:sp>
      <p:sp>
        <p:nvSpPr>
          <p:cNvPr id="5" name="Footer Placeholder 4">
            <a:extLst>
              <a:ext uri="{FF2B5EF4-FFF2-40B4-BE49-F238E27FC236}">
                <a16:creationId xmlns:a16="http://schemas.microsoft.com/office/drawing/2014/main" id="{C59A143E-7875-43E7-97E0-3557B9071E49}"/>
              </a:ext>
            </a:extLst>
          </p:cNvPr>
          <p:cNvSpPr>
            <a:spLocks noGrp="1"/>
          </p:cNvSpPr>
          <p:nvPr>
            <p:ph type="ftr" sz="quarter" idx="11"/>
          </p:nvPr>
        </p:nvSpPr>
        <p:spPr>
          <a:xfrm>
            <a:off x="272868" y="6458858"/>
            <a:ext cx="11797211" cy="399142"/>
          </a:xfrm>
        </p:spPr>
        <p:txBody>
          <a:bodyPr/>
          <a:lstStyle/>
          <a:p>
            <a:pPr algn="l">
              <a:defRPr/>
            </a:pPr>
            <a:r>
              <a:rPr lang="en-US" sz="2000" b="1" dirty="0">
                <a:solidFill>
                  <a:srgbClr val="002060"/>
                </a:solidFill>
                <a:latin typeface="Times New Roman" pitchFamily="18" charset="0"/>
                <a:cs typeface="Times New Roman" pitchFamily="18" charset="0"/>
              </a:rPr>
              <a:t>KLEF                                           </a:t>
            </a:r>
            <a:r>
              <a:rPr lang="en-US" sz="2000" b="1" dirty="0" smtClean="0">
                <a:solidFill>
                  <a:srgbClr val="002060"/>
                </a:solidFill>
                <a:latin typeface="Times New Roman" pitchFamily="18" charset="0"/>
                <a:cs typeface="Times New Roman" pitchFamily="18" charset="0"/>
              </a:rPr>
              <a:t>		</a:t>
            </a:r>
            <a:r>
              <a:rPr lang="en-US" sz="2000" b="1" smtClean="0">
                <a:solidFill>
                  <a:srgbClr val="002060"/>
                </a:solidFill>
                <a:latin typeface="Times New Roman" pitchFamily="18" charset="0"/>
                <a:cs typeface="Times New Roman" pitchFamily="18" charset="0"/>
              </a:rPr>
              <a:t>	DSP           </a:t>
            </a:r>
            <a:r>
              <a:rPr lang="en-US" sz="2000" b="1" dirty="0" smtClean="0">
                <a:solidFill>
                  <a:srgbClr val="002060"/>
                </a:solidFill>
                <a:latin typeface="Times New Roman" pitchFamily="18" charset="0"/>
                <a:cs typeface="Times New Roman" pitchFamily="18" charset="0"/>
              </a:rPr>
              <a:t>				      BES-1</a:t>
            </a:r>
            <a:endParaRPr lang="en-US" sz="2000" b="1" dirty="0">
              <a:solidFill>
                <a:srgbClr val="002060"/>
              </a:solidFill>
              <a:latin typeface="Times New Roman" pitchFamily="18" charset="0"/>
              <a:cs typeface="Times New Roman" pitchFamily="18" charset="0"/>
            </a:endParaRPr>
          </a:p>
        </p:txBody>
      </p:sp>
    </p:spTree>
    <p:extLst>
      <p:ext uri="{BB962C8B-B14F-4D97-AF65-F5344CB8AC3E}">
        <p14:creationId xmlns:p14="http://schemas.microsoft.com/office/powerpoint/2010/main" val="276480944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8" name="Rounded Rectangle 17">
            <a:extLst>
              <a:ext uri="{FF2B5EF4-FFF2-40B4-BE49-F238E27FC236}">
                <a16:creationId xmlns:a16="http://schemas.microsoft.com/office/drawing/2014/main" id="{39DC903D-9003-4F3D-87E9-EE7D5BEB5D03}"/>
              </a:ext>
            </a:extLst>
          </p:cNvPr>
          <p:cNvSpPr/>
          <p:nvPr/>
        </p:nvSpPr>
        <p:spPr>
          <a:xfrm>
            <a:off x="3402533" y="8563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latin typeface="inter-regular"/>
              </a:rPr>
              <a:t>SELF-ASSESSMENT QUESTIONS</a:t>
            </a:r>
          </a:p>
        </p:txBody>
      </p:sp>
      <p:sp>
        <p:nvSpPr>
          <p:cNvPr id="5" name="Footer Placeholder 4">
            <a:extLst>
              <a:ext uri="{FF2B5EF4-FFF2-40B4-BE49-F238E27FC236}">
                <a16:creationId xmlns:a16="http://schemas.microsoft.com/office/drawing/2014/main" id="{C59A143E-7875-43E7-97E0-3557B9071E49}"/>
              </a:ext>
            </a:extLst>
          </p:cNvPr>
          <p:cNvSpPr>
            <a:spLocks noGrp="1"/>
          </p:cNvSpPr>
          <p:nvPr>
            <p:ph type="ftr" sz="quarter" idx="11"/>
          </p:nvPr>
        </p:nvSpPr>
        <p:spPr>
          <a:xfrm>
            <a:off x="272868" y="6458858"/>
            <a:ext cx="11797211" cy="399142"/>
          </a:xfrm>
        </p:spPr>
        <p:txBody>
          <a:bodyPr/>
          <a:lstStyle/>
          <a:p>
            <a:pPr algn="l">
              <a:defRPr/>
            </a:pPr>
            <a:r>
              <a:rPr lang="en-US" sz="2000" b="1" dirty="0">
                <a:solidFill>
                  <a:srgbClr val="002060"/>
                </a:solidFill>
                <a:latin typeface="Times New Roman" pitchFamily="18" charset="0"/>
                <a:cs typeface="Times New Roman" pitchFamily="18" charset="0"/>
              </a:rPr>
              <a:t>KLEF                                           </a:t>
            </a:r>
            <a:r>
              <a:rPr lang="en-US" sz="2000" b="1" dirty="0" smtClean="0">
                <a:solidFill>
                  <a:srgbClr val="002060"/>
                </a:solidFill>
                <a:latin typeface="Times New Roman" pitchFamily="18" charset="0"/>
                <a:cs typeface="Times New Roman" pitchFamily="18" charset="0"/>
              </a:rPr>
              <a:t>			DS           				      BES-1</a:t>
            </a:r>
            <a:endParaRPr lang="en-US" sz="2000" b="1" dirty="0">
              <a:solidFill>
                <a:srgbClr val="002060"/>
              </a:solidFill>
              <a:latin typeface="Times New Roman" pitchFamily="18" charset="0"/>
              <a:cs typeface="Times New Roman" pitchFamily="18" charset="0"/>
            </a:endParaRPr>
          </a:p>
        </p:txBody>
      </p:sp>
      <p:sp>
        <p:nvSpPr>
          <p:cNvPr id="7" name="Google Shape;502;p17">
            <a:extLst>
              <a:ext uri="{FF2B5EF4-FFF2-40B4-BE49-F238E27FC236}">
                <a16:creationId xmlns:a16="http://schemas.microsoft.com/office/drawing/2014/main" id="{AE3D0AA7-0A5F-7BD6-7BC7-1D38F326B8B4}"/>
              </a:ext>
            </a:extLst>
          </p:cNvPr>
          <p:cNvSpPr/>
          <p:nvPr/>
        </p:nvSpPr>
        <p:spPr>
          <a:xfrm>
            <a:off x="1085368" y="362069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sz="2400" dirty="0" smtClean="0">
                <a:ea typeface="Calibri"/>
                <a:cs typeface="Poppins" panose="00000500000000000000" pitchFamily="2" charset="0"/>
                <a:sym typeface="Calibri"/>
              </a:rPr>
              <a:t>2.Which one of the following asymptotic notation is used to provide lower bound constraint?</a:t>
            </a:r>
            <a:r>
              <a:rPr lang="en-US" sz="2400" dirty="0" smtClean="0">
                <a:solidFill>
                  <a:schemeClr val="bg1"/>
                </a:solidFill>
                <a:ea typeface="Calibri"/>
                <a:cs typeface="Poppins" panose="00000500000000000000" pitchFamily="2" charset="0"/>
                <a:sym typeface="Calibri"/>
              </a:rPr>
              <a:t> </a:t>
            </a:r>
            <a:endParaRPr sz="2400" dirty="0">
              <a:solidFill>
                <a:schemeClr val="bg1"/>
              </a:solidFill>
              <a:ea typeface="Calibri"/>
              <a:cs typeface="Poppins" panose="00000500000000000000" pitchFamily="2" charset="0"/>
              <a:sym typeface="Calibri"/>
            </a:endParaRPr>
          </a:p>
        </p:txBody>
      </p:sp>
      <p:sp>
        <p:nvSpPr>
          <p:cNvPr id="9" name="Rounded Rectangle 8">
            <a:extLst>
              <a:ext uri="{FF2B5EF4-FFF2-40B4-BE49-F238E27FC236}">
                <a16:creationId xmlns:a16="http://schemas.microsoft.com/office/drawing/2014/main" id="{5D8B791C-9B35-CF16-C192-D202E0DB9A60}"/>
              </a:ext>
            </a:extLst>
          </p:cNvPr>
          <p:cNvSpPr/>
          <p:nvPr/>
        </p:nvSpPr>
        <p:spPr>
          <a:xfrm>
            <a:off x="1012294" y="4507347"/>
            <a:ext cx="10155277" cy="1773729"/>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50000"/>
              </a:lnSpc>
            </a:pPr>
            <a:endParaRPr lang="en-IN" dirty="0" smtClean="0"/>
          </a:p>
          <a:p>
            <a:pPr>
              <a:lnSpc>
                <a:spcPct val="150000"/>
              </a:lnSpc>
            </a:pPr>
            <a:r>
              <a:rPr lang="en-IN" dirty="0" smtClean="0"/>
              <a:t>a</a:t>
            </a:r>
            <a:r>
              <a:rPr lang="en-IN" dirty="0"/>
              <a:t>) </a:t>
            </a:r>
            <a:r>
              <a:rPr lang="en-IN" dirty="0" smtClean="0"/>
              <a:t> X</a:t>
            </a:r>
          </a:p>
          <a:p>
            <a:pPr>
              <a:lnSpc>
                <a:spcPct val="150000"/>
              </a:lnSpc>
            </a:pPr>
            <a:r>
              <a:rPr lang="en-IN" dirty="0" smtClean="0">
                <a:solidFill>
                  <a:schemeClr val="accent4">
                    <a:lumMod val="60000"/>
                    <a:lumOff val="40000"/>
                  </a:schemeClr>
                </a:solidFill>
              </a:rPr>
              <a:t>b) </a:t>
            </a:r>
            <a:r>
              <a:rPr lang="en-IN" dirty="0" smtClean="0">
                <a:solidFill>
                  <a:schemeClr val="accent4">
                    <a:lumMod val="60000"/>
                    <a:lumOff val="40000"/>
                  </a:schemeClr>
                </a:solidFill>
                <a:sym typeface="Symbol" panose="05050102010706020507" pitchFamily="18" charset="2"/>
              </a:rPr>
              <a:t></a:t>
            </a:r>
            <a:r>
              <a:rPr lang="en-IN" dirty="0" smtClean="0">
                <a:solidFill>
                  <a:schemeClr val="accent4">
                    <a:lumMod val="60000"/>
                    <a:lumOff val="40000"/>
                  </a:schemeClr>
                </a:solidFill>
              </a:rPr>
              <a:t> </a:t>
            </a:r>
          </a:p>
          <a:p>
            <a:pPr>
              <a:lnSpc>
                <a:spcPct val="150000"/>
              </a:lnSpc>
            </a:pPr>
            <a:r>
              <a:rPr lang="en-IN" dirty="0" smtClean="0"/>
              <a:t>c</a:t>
            </a:r>
            <a:r>
              <a:rPr lang="en-IN" dirty="0"/>
              <a:t>) </a:t>
            </a:r>
            <a:r>
              <a:rPr lang="en-IN" dirty="0" smtClean="0"/>
              <a:t> </a:t>
            </a:r>
            <a:r>
              <a:rPr lang="en-IN" dirty="0" smtClean="0">
                <a:sym typeface="Symbol" panose="05050102010706020507" pitchFamily="18" charset="2"/>
              </a:rPr>
              <a:t></a:t>
            </a:r>
            <a:endParaRPr lang="en-IN" dirty="0" smtClean="0"/>
          </a:p>
          <a:p>
            <a:pPr>
              <a:lnSpc>
                <a:spcPct val="150000"/>
              </a:lnSpc>
            </a:pPr>
            <a:r>
              <a:rPr lang="en-IN" dirty="0" smtClean="0"/>
              <a:t>d) </a:t>
            </a:r>
            <a:r>
              <a:rPr lang="en-IN" dirty="0" smtClean="0">
                <a:sym typeface="Symbol" panose="05050102010706020507" pitchFamily="18" charset="2"/>
              </a:rPr>
              <a:t></a:t>
            </a:r>
            <a:r>
              <a:rPr lang="en-IN" dirty="0"/>
              <a:t/>
            </a:r>
            <a:br>
              <a:rPr lang="en-IN" dirty="0"/>
            </a:br>
            <a:endParaRPr lang="en-US" dirty="0"/>
          </a:p>
        </p:txBody>
      </p:sp>
      <p:sp>
        <p:nvSpPr>
          <p:cNvPr id="10" name="Google Shape;502;p17">
            <a:extLst>
              <a:ext uri="{FF2B5EF4-FFF2-40B4-BE49-F238E27FC236}">
                <a16:creationId xmlns:a16="http://schemas.microsoft.com/office/drawing/2014/main" id="{BB41B87C-BE5F-4BF2-531D-57DC21D1A451}"/>
              </a:ext>
            </a:extLst>
          </p:cNvPr>
          <p:cNvSpPr/>
          <p:nvPr/>
        </p:nvSpPr>
        <p:spPr>
          <a:xfrm>
            <a:off x="995362" y="782529"/>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2400" dirty="0"/>
              <a:t>1</a:t>
            </a:r>
            <a:r>
              <a:rPr lang="en-IN" sz="2400" dirty="0" smtClean="0"/>
              <a:t>. </a:t>
            </a:r>
            <a:r>
              <a:rPr lang="en-US" sz="2400" dirty="0"/>
              <a:t>If an algorithm has a time complexity of O(n2)O(n^2)O(n2), what can be said about its behavior as </a:t>
            </a:r>
            <a:r>
              <a:rPr lang="en-US" sz="2400" dirty="0" err="1"/>
              <a:t>nnn</a:t>
            </a:r>
            <a:r>
              <a:rPr lang="en-US" sz="2400" dirty="0"/>
              <a:t> approaches infinity?</a:t>
            </a:r>
            <a:endParaRPr lang="en-IN" sz="2400" dirty="0"/>
          </a:p>
        </p:txBody>
      </p:sp>
      <p:sp>
        <p:nvSpPr>
          <p:cNvPr id="11" name="Rounded Rectangle 10">
            <a:extLst>
              <a:ext uri="{FF2B5EF4-FFF2-40B4-BE49-F238E27FC236}">
                <a16:creationId xmlns:a16="http://schemas.microsoft.com/office/drawing/2014/main" id="{7E00138C-2256-5D01-E821-A57ADA3BBCB0}"/>
              </a:ext>
            </a:extLst>
          </p:cNvPr>
          <p:cNvSpPr/>
          <p:nvPr/>
        </p:nvSpPr>
        <p:spPr>
          <a:xfrm>
            <a:off x="995362" y="1733819"/>
            <a:ext cx="10172209"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dirty="0"/>
              <a:t>A) It grows at a constant rate.</a:t>
            </a:r>
            <a:br>
              <a:rPr lang="en-US" dirty="0"/>
            </a:br>
            <a:r>
              <a:rPr lang="en-US" dirty="0"/>
              <a:t>B) It grows exponentially.</a:t>
            </a:r>
            <a:br>
              <a:rPr lang="en-US" dirty="0"/>
            </a:br>
            <a:r>
              <a:rPr lang="en-US" dirty="0"/>
              <a:t>C) It grows linearly.</a:t>
            </a:r>
            <a:br>
              <a:rPr lang="en-US" dirty="0"/>
            </a:br>
            <a:r>
              <a:rPr lang="en-US" dirty="0">
                <a:solidFill>
                  <a:srgbClr val="FFC000"/>
                </a:solidFill>
              </a:rPr>
              <a:t>D) It grows </a:t>
            </a:r>
            <a:r>
              <a:rPr lang="en-US" dirty="0" err="1">
                <a:solidFill>
                  <a:srgbClr val="FFC000"/>
                </a:solidFill>
              </a:rPr>
              <a:t>quadratically</a:t>
            </a:r>
            <a:r>
              <a:rPr lang="en-US" dirty="0">
                <a:solidFill>
                  <a:srgbClr val="FFC000"/>
                </a:solidFill>
              </a:rPr>
              <a:t>.</a:t>
            </a:r>
            <a:endParaRPr lang="en-IN" dirty="0">
              <a:solidFill>
                <a:srgbClr val="FFC000"/>
              </a:solidFill>
            </a:endParaRPr>
          </a:p>
        </p:txBody>
      </p:sp>
    </p:spTree>
    <p:extLst>
      <p:ext uri="{BB962C8B-B14F-4D97-AF65-F5344CB8AC3E}">
        <p14:creationId xmlns:p14="http://schemas.microsoft.com/office/powerpoint/2010/main" val="335695627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8" name="Rounded Rectangle 17">
            <a:extLst>
              <a:ext uri="{FF2B5EF4-FFF2-40B4-BE49-F238E27FC236}">
                <a16:creationId xmlns:a16="http://schemas.microsoft.com/office/drawing/2014/main" id="{39DC903D-9003-4F3D-87E9-EE7D5BEB5D03}"/>
              </a:ext>
            </a:extLst>
          </p:cNvPr>
          <p:cNvSpPr/>
          <p:nvPr/>
        </p:nvSpPr>
        <p:spPr>
          <a:xfrm>
            <a:off x="3402533" y="8563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t>TERMINAL QUESTIONS</a:t>
            </a:r>
          </a:p>
        </p:txBody>
      </p:sp>
      <p:sp>
        <p:nvSpPr>
          <p:cNvPr id="6" name="Content Placeholder 2">
            <a:extLst>
              <a:ext uri="{FF2B5EF4-FFF2-40B4-BE49-F238E27FC236}">
                <a16:creationId xmlns:a16="http://schemas.microsoft.com/office/drawing/2014/main" id="{D498F8BB-622F-BFA4-C632-67AFA4330F98}"/>
              </a:ext>
            </a:extLst>
          </p:cNvPr>
          <p:cNvSpPr>
            <a:spLocks noGrp="1"/>
          </p:cNvSpPr>
          <p:nvPr>
            <p:ph idx="1"/>
          </p:nvPr>
        </p:nvSpPr>
        <p:spPr>
          <a:xfrm>
            <a:off x="995363" y="600076"/>
            <a:ext cx="9337358" cy="4758332"/>
          </a:xfrm>
        </p:spPr>
        <p:txBody>
          <a:bodyPr>
            <a:normAutofit fontScale="77500" lnSpcReduction="20000"/>
          </a:bodyPr>
          <a:lstStyle/>
          <a:p>
            <a:pPr marL="514350" marR="709930" indent="-514350">
              <a:lnSpc>
                <a:spcPct val="148000"/>
              </a:lnSpc>
              <a:spcBef>
                <a:spcPts val="1045"/>
              </a:spcBef>
              <a:buAutoNum type="arabicPeriod"/>
            </a:pPr>
            <a:r>
              <a:rPr lang="en-US" sz="1800" b="1" dirty="0" smtClean="0"/>
              <a:t>How is time complexity measured?</a:t>
            </a:r>
          </a:p>
          <a:p>
            <a:pPr marL="0" marR="709930" indent="0">
              <a:lnSpc>
                <a:spcPct val="148000"/>
              </a:lnSpc>
              <a:spcBef>
                <a:spcPts val="1045"/>
              </a:spcBef>
              <a:buNone/>
            </a:pPr>
            <a:r>
              <a:rPr lang="en-US" sz="1800" b="1" dirty="0" err="1" smtClean="0"/>
              <a:t>Ans</a:t>
            </a:r>
            <a:r>
              <a:rPr lang="en-US" sz="1800" b="1" dirty="0" smtClean="0"/>
              <a:t>: By counting the number of primitive operations performed by the algorithm on a given input size.</a:t>
            </a:r>
          </a:p>
          <a:p>
            <a:pPr marL="0" marR="709930" indent="0">
              <a:lnSpc>
                <a:spcPct val="148000"/>
              </a:lnSpc>
              <a:spcBef>
                <a:spcPts val="1045"/>
              </a:spcBef>
              <a:buNone/>
            </a:pPr>
            <a:r>
              <a:rPr lang="en-US" sz="1800" b="1" dirty="0" smtClean="0"/>
              <a:t>2. Which of the following best describes the useful criterion for comparing the efficiency of algorithms?</a:t>
            </a:r>
          </a:p>
          <a:p>
            <a:pPr marL="0" marR="709930" indent="0">
              <a:lnSpc>
                <a:spcPct val="148000"/>
              </a:lnSpc>
              <a:spcBef>
                <a:spcPts val="1045"/>
              </a:spcBef>
              <a:buNone/>
            </a:pPr>
            <a:r>
              <a:rPr lang="en-US" sz="1800" b="1" dirty="0" err="1" smtClean="0"/>
              <a:t>Ans</a:t>
            </a:r>
            <a:r>
              <a:rPr lang="en-US" sz="1800" b="1" dirty="0" smtClean="0"/>
              <a:t>: Time and Space</a:t>
            </a:r>
          </a:p>
          <a:p>
            <a:pPr marL="0" marR="709930" indent="0">
              <a:lnSpc>
                <a:spcPct val="148000"/>
              </a:lnSpc>
              <a:spcBef>
                <a:spcPts val="1045"/>
              </a:spcBef>
              <a:buNone/>
            </a:pPr>
            <a:r>
              <a:rPr lang="en-US" sz="1800" b="1" dirty="0" smtClean="0"/>
              <a:t>3. What does it mean to say that an algorithm X is asymptotically more efficient than Y? </a:t>
            </a:r>
          </a:p>
          <a:p>
            <a:pPr marL="0" marR="709930" indent="0">
              <a:lnSpc>
                <a:spcPct val="148000"/>
              </a:lnSpc>
              <a:spcBef>
                <a:spcPts val="1045"/>
              </a:spcBef>
              <a:buNone/>
            </a:pPr>
            <a:r>
              <a:rPr lang="en-US" sz="1800" b="1" dirty="0" err="1" smtClean="0"/>
              <a:t>Ans</a:t>
            </a:r>
            <a:r>
              <a:rPr lang="en-US" sz="1800" b="1" dirty="0" smtClean="0"/>
              <a:t>: X will always be a better choice for large inputs</a:t>
            </a:r>
          </a:p>
          <a:p>
            <a:pPr marL="0" marR="709930" indent="0">
              <a:lnSpc>
                <a:spcPct val="148000"/>
              </a:lnSpc>
              <a:spcBef>
                <a:spcPts val="1045"/>
              </a:spcBef>
              <a:buNone/>
            </a:pPr>
            <a:r>
              <a:rPr lang="en-US" sz="1800" b="1" dirty="0" smtClean="0"/>
              <a:t>4. Describe the various types of Asymptotic Notations with examples</a:t>
            </a:r>
            <a:r>
              <a:rPr lang="en-US" sz="1800" b="1" dirty="0" smtClean="0"/>
              <a:t>?</a:t>
            </a:r>
          </a:p>
          <a:p>
            <a:pPr marL="514350" marR="709930" indent="-514350">
              <a:lnSpc>
                <a:spcPct val="148000"/>
              </a:lnSpc>
              <a:spcBef>
                <a:spcPts val="1045"/>
              </a:spcBef>
              <a:buAutoNum type="arabicPeriod"/>
            </a:pPr>
            <a:r>
              <a:rPr lang="en-US" sz="1800" b="1" dirty="0"/>
              <a:t>What is the worst ,best and average case time complexities of binary search?</a:t>
            </a:r>
          </a:p>
          <a:p>
            <a:pPr marL="0" marR="709930" indent="0">
              <a:lnSpc>
                <a:spcPct val="148000"/>
              </a:lnSpc>
              <a:spcBef>
                <a:spcPts val="1045"/>
              </a:spcBef>
              <a:buNone/>
            </a:pPr>
            <a:r>
              <a:rPr lang="en-US" sz="1800" b="1" dirty="0" err="1"/>
              <a:t>Ans</a:t>
            </a:r>
            <a:r>
              <a:rPr lang="en-US" sz="1800" b="1" dirty="0"/>
              <a:t>: Best O(n), Average and Worst O(n</a:t>
            </a:r>
            <a:r>
              <a:rPr lang="en-US" sz="1800" b="1" baseline="30000" dirty="0"/>
              <a:t>2</a:t>
            </a:r>
            <a:r>
              <a:rPr lang="en-US" sz="1800" b="1" dirty="0"/>
              <a:t>)</a:t>
            </a:r>
          </a:p>
          <a:p>
            <a:pPr marL="0" marR="709930" indent="0">
              <a:lnSpc>
                <a:spcPct val="148000"/>
              </a:lnSpc>
              <a:spcBef>
                <a:spcPts val="1045"/>
              </a:spcBef>
              <a:buNone/>
            </a:pPr>
            <a:r>
              <a:rPr lang="en-US" sz="1800" b="1" dirty="0"/>
              <a:t>2. What is the importance of time complexity?</a:t>
            </a:r>
          </a:p>
          <a:p>
            <a:pPr marL="0" marR="709930" indent="0">
              <a:lnSpc>
                <a:spcPct val="148000"/>
              </a:lnSpc>
              <a:spcBef>
                <a:spcPts val="1045"/>
              </a:spcBef>
              <a:buNone/>
            </a:pPr>
            <a:r>
              <a:rPr lang="en-US" sz="1800" b="1" dirty="0" err="1"/>
              <a:t>Ans:</a:t>
            </a:r>
            <a:r>
              <a:rPr lang="en-US" sz="1800" dirty="0" err="1"/>
              <a:t>The</a:t>
            </a:r>
            <a:r>
              <a:rPr lang="en-US" sz="1800" dirty="0"/>
              <a:t> time complexity of an algorithm </a:t>
            </a:r>
            <a:r>
              <a:rPr lang="en-US" sz="1800" b="1" dirty="0"/>
              <a:t>determines how long it will take to execute it</a:t>
            </a:r>
            <a:r>
              <a:rPr lang="en-US" sz="1800" dirty="0"/>
              <a:t>. The higher the time complexity, the longer it will take for that algorithm to finish running.</a:t>
            </a:r>
            <a:endParaRPr lang="en-US" sz="1800" b="1" dirty="0"/>
          </a:p>
          <a:p>
            <a:pPr marL="0" marR="709930" indent="0">
              <a:lnSpc>
                <a:spcPct val="148000"/>
              </a:lnSpc>
              <a:spcBef>
                <a:spcPts val="1045"/>
              </a:spcBef>
              <a:buNone/>
            </a:pPr>
            <a:endParaRPr lang="en-US" sz="1800" b="1" dirty="0"/>
          </a:p>
        </p:txBody>
      </p:sp>
      <p:sp>
        <p:nvSpPr>
          <p:cNvPr id="5" name="Footer Placeholder 4">
            <a:extLst>
              <a:ext uri="{FF2B5EF4-FFF2-40B4-BE49-F238E27FC236}">
                <a16:creationId xmlns:a16="http://schemas.microsoft.com/office/drawing/2014/main" id="{C59A143E-7875-43E7-97E0-3557B9071E49}"/>
              </a:ext>
            </a:extLst>
          </p:cNvPr>
          <p:cNvSpPr>
            <a:spLocks noGrp="1"/>
          </p:cNvSpPr>
          <p:nvPr>
            <p:ph type="ftr" sz="quarter" idx="11"/>
          </p:nvPr>
        </p:nvSpPr>
        <p:spPr>
          <a:xfrm>
            <a:off x="272868" y="6458858"/>
            <a:ext cx="11797211" cy="399142"/>
          </a:xfrm>
        </p:spPr>
        <p:txBody>
          <a:bodyPr/>
          <a:lstStyle/>
          <a:p>
            <a:pPr algn="l">
              <a:defRPr/>
            </a:pPr>
            <a:r>
              <a:rPr lang="en-US" sz="2000" b="1" dirty="0">
                <a:solidFill>
                  <a:srgbClr val="002060"/>
                </a:solidFill>
                <a:latin typeface="Times New Roman" pitchFamily="18" charset="0"/>
                <a:cs typeface="Times New Roman" pitchFamily="18" charset="0"/>
              </a:rPr>
              <a:t>KLEF                                           </a:t>
            </a:r>
            <a:r>
              <a:rPr lang="en-US" sz="2000" b="1" dirty="0" smtClean="0">
                <a:solidFill>
                  <a:srgbClr val="002060"/>
                </a:solidFill>
                <a:latin typeface="Times New Roman" pitchFamily="18" charset="0"/>
                <a:cs typeface="Times New Roman" pitchFamily="18" charset="0"/>
              </a:rPr>
              <a:t>			DS           				      BES-1</a:t>
            </a:r>
            <a:endParaRPr lang="en-US" sz="2000" b="1" dirty="0">
              <a:solidFill>
                <a:srgbClr val="002060"/>
              </a:solidFill>
              <a:latin typeface="Times New Roman" pitchFamily="18" charset="0"/>
              <a:cs typeface="Times New Roman" pitchFamily="18" charset="0"/>
            </a:endParaRPr>
          </a:p>
        </p:txBody>
      </p:sp>
    </p:spTree>
    <p:extLst>
      <p:ext uri="{BB962C8B-B14F-4D97-AF65-F5344CB8AC3E}">
        <p14:creationId xmlns:p14="http://schemas.microsoft.com/office/powerpoint/2010/main" val="3041207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747932" y="628740"/>
            <a:ext cx="11596468" cy="7155805"/>
          </a:xfrm>
          <a:prstGeom prst="rect">
            <a:avLst/>
          </a:prstGeom>
          <a:noFill/>
        </p:spPr>
        <p:txBody>
          <a:bodyPr wrap="square" rtlCol="0">
            <a:spAutoFit/>
          </a:bodyPr>
          <a:lstStyle/>
          <a:p>
            <a:pPr>
              <a:lnSpc>
                <a:spcPct val="150000"/>
              </a:lnSpc>
            </a:pPr>
            <a:r>
              <a:rPr lang="en-US" b="1" dirty="0"/>
              <a:t>Reference Books</a:t>
            </a:r>
            <a:r>
              <a:rPr lang="en-US" b="1" dirty="0" smtClean="0"/>
              <a:t>:</a:t>
            </a:r>
          </a:p>
          <a:p>
            <a:pPr>
              <a:lnSpc>
                <a:spcPct val="150000"/>
              </a:lnSpc>
            </a:pPr>
            <a:endParaRPr lang="en-US" b="1" dirty="0" smtClean="0"/>
          </a:p>
          <a:p>
            <a:pPr>
              <a:lnSpc>
                <a:spcPct val="150000"/>
              </a:lnSpc>
            </a:pPr>
            <a:endParaRPr lang="en-US" dirty="0" smtClean="0"/>
          </a:p>
          <a:p>
            <a:pPr>
              <a:lnSpc>
                <a:spcPct val="150000"/>
              </a:lnSpc>
            </a:pPr>
            <a:endParaRPr lang="en-US" dirty="0"/>
          </a:p>
          <a:p>
            <a:pPr>
              <a:lnSpc>
                <a:spcPct val="150000"/>
              </a:lnSpc>
            </a:pPr>
            <a:endParaRPr lang="en-US" dirty="0" smtClean="0"/>
          </a:p>
          <a:p>
            <a:pPr>
              <a:lnSpc>
                <a:spcPct val="150000"/>
              </a:lnSpc>
            </a:pPr>
            <a:endParaRPr lang="en-US" dirty="0"/>
          </a:p>
          <a:p>
            <a:pPr>
              <a:lnSpc>
                <a:spcPct val="150000"/>
              </a:lnSpc>
            </a:pPr>
            <a:r>
              <a:rPr lang="en-US" b="1" dirty="0" smtClean="0"/>
              <a:t>Sites </a:t>
            </a:r>
            <a:r>
              <a:rPr lang="en-US" b="1" dirty="0"/>
              <a:t>and Web links:</a:t>
            </a:r>
          </a:p>
          <a:p>
            <a:pPr marL="800100" lvl="1" indent="-342900">
              <a:lnSpc>
                <a:spcPct val="150000"/>
              </a:lnSpc>
              <a:buAutoNum type="arabicPeriod"/>
            </a:pPr>
            <a:r>
              <a:rPr lang="en-US" dirty="0" smtClean="0">
                <a:hlinkClick r:id="rId2"/>
              </a:rPr>
              <a:t>https</a:t>
            </a:r>
            <a:r>
              <a:rPr lang="en-US" dirty="0">
                <a:hlinkClick r:id="rId2"/>
              </a:rPr>
              <a:t>://</a:t>
            </a:r>
            <a:r>
              <a:rPr lang="en-US" dirty="0" smtClean="0">
                <a:hlinkClick r:id="rId2"/>
              </a:rPr>
              <a:t>docs.python.org/3/tutorial/datastructures.html</a:t>
            </a:r>
            <a:endParaRPr lang="en-US" dirty="0" smtClean="0"/>
          </a:p>
          <a:p>
            <a:pPr marL="800100" lvl="1" indent="-342900">
              <a:lnSpc>
                <a:spcPct val="150000"/>
              </a:lnSpc>
              <a:buAutoNum type="arabicPeriod"/>
            </a:pPr>
            <a:r>
              <a:rPr lang="en-US" dirty="0" smtClean="0">
                <a:hlinkClick r:id="rId3"/>
              </a:rPr>
              <a:t>https</a:t>
            </a:r>
            <a:r>
              <a:rPr lang="en-US" dirty="0">
                <a:hlinkClick r:id="rId3"/>
              </a:rPr>
              <a:t>://</a:t>
            </a:r>
            <a:r>
              <a:rPr lang="en-US" dirty="0" smtClean="0">
                <a:hlinkClick r:id="rId3"/>
              </a:rPr>
              <a:t>www.w3schools.com/dsa/dsa_intro.php</a:t>
            </a:r>
            <a:endParaRPr lang="en-US" dirty="0"/>
          </a:p>
          <a:p>
            <a:pPr marL="800100" lvl="1" indent="-342900">
              <a:lnSpc>
                <a:spcPct val="150000"/>
              </a:lnSpc>
              <a:buAutoNum type="arabicPeriod" startAt="3"/>
            </a:pPr>
            <a:r>
              <a:rPr lang="en-US" dirty="0" smtClean="0">
                <a:hlinkClick r:id="rId4"/>
              </a:rPr>
              <a:t>https</a:t>
            </a:r>
            <a:r>
              <a:rPr lang="en-US" dirty="0">
                <a:hlinkClick r:id="rId4"/>
              </a:rPr>
              <a:t>://</a:t>
            </a:r>
            <a:r>
              <a:rPr lang="en-US" dirty="0" smtClean="0">
                <a:hlinkClick r:id="rId4"/>
              </a:rPr>
              <a:t>www.geeksforgeeks.org/python-data-structures/</a:t>
            </a:r>
            <a:endParaRPr lang="en-US" dirty="0" smtClean="0"/>
          </a:p>
          <a:p>
            <a:pPr marL="800100" lvl="1" indent="-342900">
              <a:lnSpc>
                <a:spcPct val="150000"/>
              </a:lnSpc>
              <a:buAutoNum type="arabicPeriod" startAt="3"/>
            </a:pPr>
            <a:r>
              <a:rPr lang="en-US" dirty="0" smtClean="0">
                <a:hlinkClick r:id="rId5"/>
              </a:rPr>
              <a:t>https</a:t>
            </a:r>
            <a:r>
              <a:rPr lang="en-US" dirty="0">
                <a:hlinkClick r:id="rId5"/>
              </a:rPr>
              <a:t>://</a:t>
            </a:r>
            <a:r>
              <a:rPr lang="en-US" dirty="0" smtClean="0">
                <a:hlinkClick r:id="rId5"/>
              </a:rPr>
              <a:t>onlinecourses.nptel.ac.in/noc25_cs59/preview</a:t>
            </a:r>
            <a:endParaRPr lang="en-US" dirty="0" smtClean="0"/>
          </a:p>
          <a:p>
            <a:pPr marL="800100" lvl="1" indent="-342900">
              <a:lnSpc>
                <a:spcPct val="150000"/>
              </a:lnSpc>
              <a:buAutoNum type="arabicPeriod" startAt="3"/>
            </a:pPr>
            <a:r>
              <a:rPr lang="en-US" dirty="0" smtClean="0">
                <a:hlinkClick r:id="rId6"/>
              </a:rPr>
              <a:t>https</a:t>
            </a:r>
            <a:r>
              <a:rPr lang="en-US" dirty="0">
                <a:hlinkClick r:id="rId6"/>
              </a:rPr>
              <a:t>://</a:t>
            </a:r>
            <a:r>
              <a:rPr lang="en-US" dirty="0" smtClean="0">
                <a:hlinkClick r:id="rId6"/>
              </a:rPr>
              <a:t>www.coursera.org/learn/python-data</a:t>
            </a:r>
            <a:endParaRPr lang="en-US" dirty="0" smtClean="0"/>
          </a:p>
          <a:p>
            <a:pPr marL="800100" lvl="1" indent="-342900">
              <a:lnSpc>
                <a:spcPct val="150000"/>
              </a:lnSpc>
              <a:buAutoNum type="arabicPeriod" startAt="3"/>
            </a:pPr>
            <a:r>
              <a:rPr lang="en-US" dirty="0" smtClean="0">
                <a:hlinkClick r:id="rId7"/>
              </a:rPr>
              <a:t>https</a:t>
            </a:r>
            <a:r>
              <a:rPr lang="en-US" dirty="0">
                <a:hlinkClick r:id="rId7"/>
              </a:rPr>
              <a:t>://</a:t>
            </a:r>
            <a:r>
              <a:rPr lang="en-US" dirty="0" smtClean="0">
                <a:hlinkClick r:id="rId7"/>
              </a:rPr>
              <a:t>www.codecademy.com/learn/learn-data-structures-and-algorithms-with-python</a:t>
            </a:r>
            <a:endParaRPr lang="en-US" dirty="0" smtClean="0"/>
          </a:p>
          <a:p>
            <a:pPr lvl="1">
              <a:lnSpc>
                <a:spcPct val="150000"/>
              </a:lnSpc>
            </a:pPr>
            <a:endParaRPr lang="en-US" dirty="0"/>
          </a:p>
          <a:p>
            <a:pPr lvl="1">
              <a:lnSpc>
                <a:spcPct val="150000"/>
              </a:lnSpc>
            </a:pPr>
            <a:endParaRPr lang="en-US" dirty="0"/>
          </a:p>
          <a:p>
            <a:pPr lvl="1">
              <a:lnSpc>
                <a:spcPct val="150000"/>
              </a:lnSpc>
            </a:pPr>
            <a:endParaRPr lang="en-US" dirty="0"/>
          </a:p>
          <a:p>
            <a:pPr>
              <a:lnSpc>
                <a:spcPct val="150000"/>
              </a:lnSpc>
            </a:pPr>
            <a:endParaRPr lang="en-US" dirty="0"/>
          </a:p>
        </p:txBody>
      </p:sp>
      <p:pic>
        <p:nvPicPr>
          <p:cNvPr id="5"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
        <p:nvSpPr>
          <p:cNvPr id="6" name="Footer Placeholder 4">
            <a:extLst>
              <a:ext uri="{FF2B5EF4-FFF2-40B4-BE49-F238E27FC236}">
                <a16:creationId xmlns:a16="http://schemas.microsoft.com/office/drawing/2014/main" id="{C59A143E-7875-43E7-97E0-3557B9071E49}"/>
              </a:ext>
            </a:extLst>
          </p:cNvPr>
          <p:cNvSpPr>
            <a:spLocks noGrp="1"/>
          </p:cNvSpPr>
          <p:nvPr>
            <p:ph type="ftr" sz="quarter" idx="11"/>
          </p:nvPr>
        </p:nvSpPr>
        <p:spPr>
          <a:xfrm>
            <a:off x="272868" y="6458858"/>
            <a:ext cx="11797211" cy="399142"/>
          </a:xfrm>
        </p:spPr>
        <p:txBody>
          <a:bodyPr/>
          <a:lstStyle/>
          <a:p>
            <a:pPr algn="l">
              <a:defRPr/>
            </a:pPr>
            <a:r>
              <a:rPr lang="en-US" sz="2000" b="1" dirty="0">
                <a:solidFill>
                  <a:srgbClr val="002060"/>
                </a:solidFill>
                <a:latin typeface="Times New Roman" pitchFamily="18" charset="0"/>
                <a:cs typeface="Times New Roman" pitchFamily="18" charset="0"/>
              </a:rPr>
              <a:t>KLEF                                           </a:t>
            </a:r>
            <a:r>
              <a:rPr lang="en-US" sz="2000" b="1" dirty="0" smtClean="0">
                <a:solidFill>
                  <a:srgbClr val="002060"/>
                </a:solidFill>
                <a:latin typeface="Times New Roman" pitchFamily="18" charset="0"/>
                <a:cs typeface="Times New Roman" pitchFamily="18" charset="0"/>
              </a:rPr>
              <a:t>			DSP           				      BES-1</a:t>
            </a:r>
            <a:endParaRPr lang="en-US" sz="2000" b="1" dirty="0">
              <a:solidFill>
                <a:srgbClr val="002060"/>
              </a:solidFill>
              <a:latin typeface="Times New Roman" pitchFamily="18" charset="0"/>
              <a:cs typeface="Times New Roman" pitchFamily="18" charset="0"/>
            </a:endParaRPr>
          </a:p>
        </p:txBody>
      </p:sp>
      <p:sp>
        <p:nvSpPr>
          <p:cNvPr id="8" name="Rectangle 7"/>
          <p:cNvSpPr/>
          <p:nvPr/>
        </p:nvSpPr>
        <p:spPr>
          <a:xfrm>
            <a:off x="935665" y="1241013"/>
            <a:ext cx="11134414" cy="1779974"/>
          </a:xfrm>
          <a:prstGeom prst="rect">
            <a:avLst/>
          </a:prstGeom>
        </p:spPr>
        <p:txBody>
          <a:bodyPr wrap="square">
            <a:spAutoFit/>
          </a:bodyPr>
          <a:lstStyle/>
          <a:p>
            <a:pPr marL="342900" lvl="0" indent="-342900">
              <a:spcBef>
                <a:spcPts val="75"/>
              </a:spcBef>
              <a:spcAft>
                <a:spcPts val="0"/>
              </a:spcAft>
              <a:buFont typeface="+mj-lt"/>
              <a:buAutoNum type="arabicPeriod"/>
            </a:pPr>
            <a:r>
              <a:rPr lang="en-US" dirty="0">
                <a:latin typeface="Times New Roman" panose="02020603050405020304" pitchFamily="18" charset="0"/>
                <a:ea typeface="Times New Roman" panose="02020603050405020304" pitchFamily="18" charset="0"/>
              </a:rPr>
              <a:t>Data Structures and Algorithm Analysis in PYTHON, 2010, Mark Allen Weiss, Second Edition, Pearson Education.</a:t>
            </a:r>
            <a:endParaRPr lang="en-IN" dirty="0">
              <a:latin typeface="Times New Roman" panose="02020603050405020304" pitchFamily="18" charset="0"/>
              <a:ea typeface="Times New Roman" panose="02020603050405020304" pitchFamily="18" charset="0"/>
            </a:endParaRPr>
          </a:p>
          <a:p>
            <a:pPr marL="342900" lvl="0" indent="-342900">
              <a:spcBef>
                <a:spcPts val="75"/>
              </a:spcBef>
              <a:spcAft>
                <a:spcPts val="0"/>
              </a:spcAft>
              <a:buFont typeface="+mj-lt"/>
              <a:buAutoNum type="arabicPeriod"/>
            </a:pPr>
            <a:r>
              <a:rPr lang="en-US" dirty="0">
                <a:latin typeface="Times New Roman" panose="02020603050405020304" pitchFamily="18" charset="0"/>
                <a:ea typeface="Times New Roman" panose="02020603050405020304" pitchFamily="18" charset="0"/>
              </a:rPr>
              <a:t>Data Structures and Algorithms, </a:t>
            </a:r>
            <a:r>
              <a:rPr lang="en-US" dirty="0" err="1">
                <a:latin typeface="Times New Roman" panose="02020603050405020304" pitchFamily="18" charset="0"/>
                <a:ea typeface="Times New Roman" panose="02020603050405020304" pitchFamily="18" charset="0"/>
              </a:rPr>
              <a:t>A.V.Aho</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J.E.Hopcroft</a:t>
            </a:r>
            <a:r>
              <a:rPr lang="en-US" dirty="0">
                <a:latin typeface="Times New Roman" panose="02020603050405020304" pitchFamily="18" charset="0"/>
                <a:ea typeface="Times New Roman" panose="02020603050405020304" pitchFamily="18" charset="0"/>
              </a:rPr>
              <a:t>, and </a:t>
            </a:r>
            <a:r>
              <a:rPr lang="en-US" dirty="0" err="1">
                <a:latin typeface="Times New Roman" panose="02020603050405020304" pitchFamily="18" charset="0"/>
                <a:ea typeface="Times New Roman" panose="02020603050405020304" pitchFamily="18" charset="0"/>
              </a:rPr>
              <a:t>J.D.Ullman</a:t>
            </a:r>
            <a:r>
              <a:rPr lang="en-US" dirty="0">
                <a:latin typeface="Times New Roman" panose="02020603050405020304" pitchFamily="18" charset="0"/>
                <a:ea typeface="Times New Roman" panose="02020603050405020304" pitchFamily="18" charset="0"/>
              </a:rPr>
              <a:t>, Pearson Education, First Edition Reprint2003.</a:t>
            </a:r>
            <a:endParaRPr lang="en-IN" dirty="0">
              <a:latin typeface="Times New Roman" panose="02020603050405020304" pitchFamily="18" charset="0"/>
              <a:ea typeface="Times New Roman" panose="02020603050405020304" pitchFamily="18" charset="0"/>
            </a:endParaRPr>
          </a:p>
          <a:p>
            <a:pPr marL="342900" lvl="0" indent="-342900">
              <a:spcBef>
                <a:spcPts val="75"/>
              </a:spcBef>
              <a:spcAft>
                <a:spcPts val="0"/>
              </a:spcAft>
              <a:buFont typeface="+mj-lt"/>
              <a:buAutoNum type="arabicPeriod"/>
            </a:pPr>
            <a:r>
              <a:rPr lang="en-US" dirty="0">
                <a:latin typeface="Times New Roman" panose="02020603050405020304" pitchFamily="18" charset="0"/>
                <a:ea typeface="Times New Roman" panose="02020603050405020304" pitchFamily="18" charset="0"/>
              </a:rPr>
              <a:t>Advanced Guide to Python 3 Programming, John Hunt, 4</a:t>
            </a:r>
            <a:r>
              <a:rPr lang="en-US" baseline="30000" dirty="0">
                <a:latin typeface="Times New Roman" panose="02020603050405020304" pitchFamily="18" charset="0"/>
                <a:ea typeface="Times New Roman" panose="02020603050405020304" pitchFamily="18" charset="0"/>
              </a:rPr>
              <a:t>th</a:t>
            </a:r>
            <a:r>
              <a:rPr lang="en-US" dirty="0">
                <a:latin typeface="Times New Roman" panose="02020603050405020304" pitchFamily="18" charset="0"/>
                <a:ea typeface="Times New Roman" panose="02020603050405020304" pitchFamily="18" charset="0"/>
              </a:rPr>
              <a:t> Edition, Springer Nature Switzerland AG 2019.</a:t>
            </a:r>
            <a:endParaRPr lang="en-IN" dirty="0">
              <a:latin typeface="Times New Roman" panose="02020603050405020304" pitchFamily="18" charset="0"/>
              <a:ea typeface="Times New Roman" panose="02020603050405020304" pitchFamily="18" charset="0"/>
            </a:endParaRPr>
          </a:p>
          <a:p>
            <a:pPr marL="342900" indent="-342900" algn="just">
              <a:buFont typeface="+mj-lt"/>
              <a:buAutoNum type="arabicPeriod"/>
            </a:pPr>
            <a:r>
              <a:rPr lang="en-US" dirty="0" smtClean="0">
                <a:latin typeface="Calibri" panose="020F0502020204030204" pitchFamily="34" charset="0"/>
                <a:ea typeface="Calibri" panose="020F0502020204030204" pitchFamily="34" charset="0"/>
                <a:cs typeface="Times New Roman" panose="02020603050405020304" pitchFamily="18" charset="0"/>
              </a:rPr>
              <a:t>Python </a:t>
            </a:r>
            <a:r>
              <a:rPr lang="en-US" dirty="0">
                <a:latin typeface="Calibri" panose="020F0502020204030204" pitchFamily="34" charset="0"/>
                <a:ea typeface="Calibri" panose="020F0502020204030204" pitchFamily="34" charset="0"/>
                <a:cs typeface="Times New Roman" panose="02020603050405020304" pitchFamily="18" charset="0"/>
              </a:rPr>
              <a:t>Basics: A Practice Introduction to Python 3, David Amos, Dan Bader, </a:t>
            </a:r>
            <a:r>
              <a:rPr lang="en-US" dirty="0" smtClean="0">
                <a:latin typeface="Calibri" panose="020F0502020204030204" pitchFamily="34" charset="0"/>
                <a:ea typeface="Calibri" panose="020F0502020204030204" pitchFamily="34" charset="0"/>
                <a:cs typeface="Times New Roman" panose="02020603050405020304" pitchFamily="18" charset="0"/>
              </a:rPr>
              <a:t>Joanna Jablonski</a:t>
            </a:r>
            <a:r>
              <a:rPr lang="en-US" dirty="0">
                <a:latin typeface="Calibri" panose="020F0502020204030204" pitchFamily="34" charset="0"/>
                <a:ea typeface="Calibri" panose="020F0502020204030204" pitchFamily="34" charset="0"/>
                <a:cs typeface="Times New Roman" panose="02020603050405020304" pitchFamily="18" charset="0"/>
              </a:rPr>
              <a:t>, Fletcher </a:t>
            </a:r>
            <a:r>
              <a:rPr lang="en-US" dirty="0" err="1" smtClean="0">
                <a:latin typeface="Calibri" panose="020F0502020204030204" pitchFamily="34" charset="0"/>
                <a:ea typeface="Calibri" panose="020F0502020204030204" pitchFamily="34" charset="0"/>
                <a:cs typeface="Times New Roman" panose="02020603050405020304" pitchFamily="18" charset="0"/>
              </a:rPr>
              <a:t>Heisler</a:t>
            </a:r>
            <a:r>
              <a:rPr lang="en-US" dirty="0">
                <a:latin typeface="Calibri" panose="020F0502020204030204" pitchFamily="34" charset="0"/>
                <a:ea typeface="Calibri" panose="020F0502020204030204" pitchFamily="34" charset="0"/>
                <a:cs typeface="Times New Roman" panose="02020603050405020304" pitchFamily="18" charset="0"/>
              </a:rPr>
              <a:t>, 4</a:t>
            </a:r>
            <a:r>
              <a:rPr lang="en-US" baseline="30000" dirty="0">
                <a:latin typeface="Calibri" panose="020F0502020204030204" pitchFamily="34" charset="0"/>
                <a:ea typeface="Calibri" panose="020F0502020204030204" pitchFamily="34" charset="0"/>
                <a:cs typeface="Times New Roman" panose="02020603050405020304" pitchFamily="18" charset="0"/>
              </a:rPr>
              <a:t>th</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smtClean="0">
                <a:latin typeface="Calibri" panose="020F0502020204030204" pitchFamily="34" charset="0"/>
                <a:ea typeface="Calibri" panose="020F0502020204030204" pitchFamily="34" charset="0"/>
                <a:cs typeface="Times New Roman" panose="02020603050405020304" pitchFamily="18" charset="0"/>
              </a:rPr>
              <a:t>                            edition</a:t>
            </a:r>
            <a:r>
              <a:rPr lang="en-US" dirty="0">
                <a:latin typeface="Calibri" panose="020F0502020204030204" pitchFamily="34" charset="0"/>
                <a:ea typeface="Calibri" panose="020F0502020204030204" pitchFamily="34" charset="0"/>
                <a:cs typeface="Times New Roman" panose="02020603050405020304" pitchFamily="18" charset="0"/>
              </a:rPr>
              <a:t>, Real Python.</a:t>
            </a:r>
            <a:endParaRPr lang="en-IN" dirty="0"/>
          </a:p>
        </p:txBody>
      </p:sp>
    </p:spTree>
    <p:extLst>
      <p:ext uri="{BB962C8B-B14F-4D97-AF65-F5344CB8AC3E}">
        <p14:creationId xmlns:p14="http://schemas.microsoft.com/office/powerpoint/2010/main" val="300451189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a:t>
            </a:r>
            <a:r>
              <a:rPr lang="en-US" sz="2400" b="1" dirty="0" smtClean="0">
                <a:latin typeface="Poppins" pitchFamily="2" charset="77"/>
                <a:cs typeface="Poppins" pitchFamily="2" charset="77"/>
              </a:rPr>
              <a:t>– Data Structures using Python</a:t>
            </a: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extLst>
      <p:ext uri="{BB962C8B-B14F-4D97-AF65-F5344CB8AC3E}">
        <p14:creationId xmlns:p14="http://schemas.microsoft.com/office/powerpoint/2010/main" val="252382921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2.xml><?xml version="1.0" encoding="utf-8"?>
<ds:datastoreItem xmlns:ds="http://schemas.openxmlformats.org/officeDocument/2006/customXml" ds:itemID="{EBBD0A98-E68B-4DAA-8964-2F739D6D4075}">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0125a647-8023-46ae-ae6e-85cf36d841bd"/>
    <ds:schemaRef ds:uri="http://purl.org/dc/terms/"/>
    <ds:schemaRef ds:uri="d43ee83c-3e71-4748-8ebc-8eaadf793425"/>
    <ds:schemaRef ds:uri="http://www.w3.org/XML/1998/namespace"/>
    <ds:schemaRef ds:uri="http://purl.org/dc/dcmitype/"/>
  </ds:schemaRefs>
</ds:datastoreItem>
</file>

<file path=customXml/itemProps3.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2320</TotalTime>
  <Words>1860</Words>
  <Application>Microsoft Office PowerPoint</Application>
  <PresentationFormat>Widescreen</PresentationFormat>
  <Paragraphs>248</Paragraphs>
  <Slides>21</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Arial</vt:lpstr>
      <vt:lpstr>BioRhyme ExtraBold</vt:lpstr>
      <vt:lpstr>Calibri</vt:lpstr>
      <vt:lpstr>Calibri Light</vt:lpstr>
      <vt:lpstr>Cambria Math</vt:lpstr>
      <vt:lpstr>inter-regular</vt:lpstr>
      <vt:lpstr>Poppins</vt:lpstr>
      <vt:lpstr>Symbol</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LENOVO</cp:lastModifiedBy>
  <cp:revision>197</cp:revision>
  <dcterms:created xsi:type="dcterms:W3CDTF">2020-02-08T09:57:44Z</dcterms:created>
  <dcterms:modified xsi:type="dcterms:W3CDTF">2024-12-14T10:26:16Z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