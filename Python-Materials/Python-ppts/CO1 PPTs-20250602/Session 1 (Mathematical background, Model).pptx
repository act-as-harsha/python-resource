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71" r:id="rId5"/>
    <p:sldId id="300" r:id="rId6"/>
    <p:sldId id="288" r:id="rId7"/>
    <p:sldId id="315" r:id="rId8"/>
    <p:sldId id="337" r:id="rId9"/>
    <p:sldId id="338" r:id="rId10"/>
    <p:sldId id="339" r:id="rId11"/>
    <p:sldId id="340" r:id="rId12"/>
    <p:sldId id="341" r:id="rId13"/>
    <p:sldId id="317" r:id="rId14"/>
    <p:sldId id="318" r:id="rId15"/>
    <p:sldId id="342" r:id="rId16"/>
    <p:sldId id="319" r:id="rId17"/>
    <p:sldId id="346" r:id="rId18"/>
    <p:sldId id="335" r:id="rId19"/>
    <p:sldId id="336" r:id="rId20"/>
    <p:sldId id="303" r:id="rId21"/>
    <p:sldId id="30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1E24"/>
    <a:srgbClr val="CF2F33"/>
    <a:srgbClr val="E3293B"/>
    <a:srgbClr val="FF9900"/>
    <a:srgbClr val="E84845"/>
    <a:srgbClr val="FAD2D2"/>
    <a:srgbClr val="F89E4C"/>
    <a:srgbClr val="FFF2CC"/>
    <a:srgbClr val="BA2532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 varScale="1">
        <p:scale>
          <a:sx n="60" d="100"/>
          <a:sy n="60" d="100"/>
        </p:scale>
        <p:origin x="81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30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99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w3schools.com/dsa/dsa_intro.php" TargetMode="External"/><Relationship Id="rId7" Type="http://schemas.openxmlformats.org/officeDocument/2006/relationships/hyperlink" Target="https://www.codecademy.com/learn/learn-data-structures-and-algorithms-with-python" TargetMode="External"/><Relationship Id="rId2" Type="http://schemas.openxmlformats.org/officeDocument/2006/relationships/hyperlink" Target="https://docs.python.org/3/tutorial/datastructur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ursera.org/learn/python-data" TargetMode="External"/><Relationship Id="rId5" Type="http://schemas.openxmlformats.org/officeDocument/2006/relationships/hyperlink" Target="https://onlinecourses.nptel.ac.in/noc25_cs59/preview" TargetMode="External"/><Relationship Id="rId4" Type="http://schemas.openxmlformats.org/officeDocument/2006/relationships/hyperlink" Target="https://www.geeksforgeeks.org/python-data-structures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540107" y="2543953"/>
            <a:ext cx="7605177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 algn="ctr"/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b="1" dirty="0" smtClean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Data Structures using Python</a:t>
            </a:r>
            <a:endParaRPr lang="en-US" sz="3200" b="1" cap="all" dirty="0" smtClean="0">
              <a:ln/>
              <a:solidFill>
                <a:schemeClr val="accent1">
                  <a:lumMod val="75000"/>
                </a:schemeClr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     Course code: </a:t>
            </a:r>
            <a:r>
              <a:rPr lang="en-US" sz="3200" b="1" cap="all" dirty="0" smtClean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24sc1204</a:t>
            </a: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</a:t>
            </a:r>
          </a:p>
          <a:p>
            <a:pPr lvl="2" algn="ctr"/>
            <a:endParaRPr lang="en-US" sz="3200" b="1" cap="all" dirty="0" smtClean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lvl="2" algn="ctr"/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Topic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: </a:t>
            </a:r>
            <a:r>
              <a:rPr lang="en-US" sz="3200" b="1" dirty="0" smtClean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Mathematical </a:t>
            </a:r>
            <a:r>
              <a:rPr lang="en-US" sz="3200" b="1" dirty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background, Model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 smtClean="0">
                <a:solidFill>
                  <a:srgbClr val="C00000"/>
                </a:solidFill>
                <a:cs typeface="Poppins" pitchFamily="2" charset="77"/>
              </a:rPr>
              <a:t>DEPARTMENT </a:t>
            </a:r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BES-1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7303784" y="6187961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Session-01</a:t>
            </a:r>
            <a:endParaRPr lang="en-US" sz="2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404727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95362" y="1203219"/>
            <a:ext cx="10731286" cy="8771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</a:t>
            </a:r>
            <a:r>
              <a:rPr lang="en-US" sz="1600" b="0" i="0" dirty="0" smtClean="0">
                <a:effectLst/>
                <a:latin typeface="Poppins"/>
                <a:cs typeface="Poppins"/>
              </a:rPr>
              <a:t>with the </a:t>
            </a:r>
            <a:r>
              <a:rPr lang="en-IN" dirty="0" smtClean="0"/>
              <a:t>basics of data structures, and algorithmic analysis to evaluate time complexities</a:t>
            </a:r>
            <a:r>
              <a:rPr lang="en-US" sz="1600" b="0" i="0" dirty="0" smtClean="0">
                <a:effectLst/>
                <a:latin typeface="Poppins"/>
                <a:cs typeface="Poppins"/>
              </a:rPr>
              <a:t>.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212970" y="2326168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995362" y="2938317"/>
            <a:ext cx="10731286" cy="141577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  <a:endParaRPr lang="en-US" sz="1600" dirty="0">
              <a:latin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Understand the concept of </a:t>
            </a:r>
            <a:r>
              <a:rPr lang="en-IN" dirty="0" smtClean="0"/>
              <a:t>Data Structures.</a:t>
            </a: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 smtClean="0"/>
              <a:t>Learn the </a:t>
            </a:r>
            <a:r>
              <a:rPr lang="en-IN" dirty="0"/>
              <a:t>M</a:t>
            </a:r>
            <a:r>
              <a:rPr lang="en-IN" dirty="0" smtClean="0"/>
              <a:t>athematical background and Model. 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Analyse the algorithm to run time complexity.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1165982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0962" y="3189003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536001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0962" y="5398836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995362" y="5148150"/>
            <a:ext cx="10731286" cy="113877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 smtClean="0"/>
              <a:t>Evaluate the time complexities of the different Algorithmic </a:t>
            </a:r>
            <a:r>
              <a:rPr lang="en-IN" dirty="0"/>
              <a:t>solutions for various types of </a:t>
            </a:r>
            <a:r>
              <a:rPr lang="en-IN" dirty="0" smtClean="0"/>
              <a:t>Problems.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Write the notations for</a:t>
            </a:r>
            <a:r>
              <a:rPr lang="en-US" dirty="0" smtClean="0"/>
              <a:t> </a:t>
            </a:r>
            <a:r>
              <a:rPr lang="en-US" dirty="0"/>
              <a:t>calculating the running time complexity of </a:t>
            </a:r>
            <a:r>
              <a:rPr lang="en-US" dirty="0" smtClean="0"/>
              <a:t>different algorithms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292900" y="385676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SESSION INTRODUCTION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94EBD7-EE1C-49EB-B1BE-FC3E696B4121}"/>
              </a:ext>
            </a:extLst>
          </p:cNvPr>
          <p:cNvSpPr txBox="1"/>
          <p:nvPr/>
        </p:nvSpPr>
        <p:spPr>
          <a:xfrm>
            <a:off x="3473653" y="1242574"/>
            <a:ext cx="8037628" cy="280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inter-regular"/>
                <a:cs typeface="Times New Roman" pitchFamily="18" charset="0"/>
              </a:rPr>
              <a:t>What is an Algorithm? </a:t>
            </a:r>
            <a:endParaRPr lang="en-US" dirty="0">
              <a:latin typeface="inter-regular"/>
              <a:cs typeface="Times New Roman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inter-regular"/>
                <a:cs typeface="Times New Roman" pitchFamily="18" charset="0"/>
              </a:rPr>
              <a:t>What is a Data Structure?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pc="-5" dirty="0">
                <a:latin typeface="inter-regular"/>
                <a:ea typeface="Tahoma"/>
                <a:cs typeface="Times New Roman"/>
              </a:rPr>
              <a:t>What is </a:t>
            </a:r>
            <a:r>
              <a:rPr lang="en-US" spc="-5" dirty="0" smtClean="0">
                <a:latin typeface="inter-regular"/>
                <a:ea typeface="Tahoma"/>
                <a:cs typeface="Times New Roman"/>
              </a:rPr>
              <a:t>the complexity </a:t>
            </a:r>
            <a:r>
              <a:rPr lang="en-US" spc="-5" dirty="0">
                <a:latin typeface="inter-regular"/>
                <a:ea typeface="Tahoma"/>
                <a:cs typeface="Times New Roman"/>
              </a:rPr>
              <a:t>of </a:t>
            </a:r>
            <a:r>
              <a:rPr lang="en-US" spc="-5" dirty="0" smtClean="0">
                <a:latin typeface="inter-regular"/>
                <a:ea typeface="Tahoma"/>
                <a:cs typeface="Times New Roman"/>
              </a:rPr>
              <a:t>an Algorithm?</a:t>
            </a:r>
          </a:p>
          <a:p>
            <a:pPr marL="342900" marR="196850" indent="-342900" algn="just">
              <a:lnSpc>
                <a:spcPct val="20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pc="-5" dirty="0" smtClean="0">
                <a:latin typeface="inter-regular"/>
                <a:ea typeface="Tahoma"/>
                <a:cs typeface="Times New Roman"/>
              </a:rPr>
              <a:t>Example of Time Complexity</a:t>
            </a:r>
          </a:p>
          <a:p>
            <a:pPr marL="342900" marR="196850" indent="-342900" algn="just">
              <a:lnSpc>
                <a:spcPct val="20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pc="-5" dirty="0" smtClean="0">
                <a:latin typeface="inter-regular"/>
                <a:ea typeface="Tahoma"/>
                <a:cs typeface="Times New Roman"/>
              </a:rPr>
              <a:t>What are the </a:t>
            </a:r>
            <a:r>
              <a:rPr lang="en-US" spc="-5" dirty="0">
                <a:latin typeface="inter-regular"/>
                <a:ea typeface="Tahoma" panose="020B0604030504040204" pitchFamily="34" charset="0"/>
                <a:cs typeface="Times New Roman" panose="02020603050405020304" pitchFamily="18" charset="0"/>
              </a:rPr>
              <a:t>D</a:t>
            </a:r>
            <a:r>
              <a:rPr lang="en-US" spc="-5" dirty="0" smtClean="0">
                <a:latin typeface="inter-regular"/>
                <a:ea typeface="Tahoma" panose="020B0604030504040204" pitchFamily="34" charset="0"/>
                <a:cs typeface="Times New Roman" panose="02020603050405020304" pitchFamily="18" charset="0"/>
              </a:rPr>
              <a:t>ifferent </a:t>
            </a:r>
            <a:r>
              <a:rPr lang="en-US" spc="-5" dirty="0">
                <a:latin typeface="inter-regular"/>
                <a:ea typeface="Tahoma" panose="020B0604030504040204" pitchFamily="34" charset="0"/>
                <a:cs typeface="Times New Roman" panose="02020603050405020304" pitchFamily="18" charset="0"/>
              </a:rPr>
              <a:t>N</a:t>
            </a:r>
            <a:r>
              <a:rPr lang="en-US" spc="-5" dirty="0" smtClean="0">
                <a:latin typeface="inter-regular"/>
                <a:ea typeface="Tahoma" panose="020B0604030504040204" pitchFamily="34" charset="0"/>
                <a:cs typeface="Times New Roman" panose="02020603050405020304" pitchFamily="18" charset="0"/>
              </a:rPr>
              <a:t>otations?</a:t>
            </a:r>
            <a:endParaRPr lang="en-US" b="1" dirty="0" smtClean="0">
              <a:latin typeface="inter-regular"/>
              <a:cs typeface="Times New Roman" pitchFamily="18" charset="0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68" y="6427786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DSP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ALGORITHM</a:t>
            </a:r>
            <a:endParaRPr lang="en-US" sz="2400" dirty="0"/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24986" y="73342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inter-regular"/>
              </a:rPr>
              <a:t>A set of finite rules or instructions to be followed in calculations or other problem-solving </a:t>
            </a:r>
            <a:r>
              <a:rPr lang="en-US" sz="1800" dirty="0" smtClean="0">
                <a:latin typeface="inter-regular"/>
              </a:rPr>
              <a:t>operations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	</a:t>
            </a:r>
            <a:r>
              <a:rPr lang="en-US" sz="1800" dirty="0" smtClean="0">
                <a:latin typeface="inter-regular"/>
              </a:rPr>
              <a:t>				(or)</a:t>
            </a:r>
          </a:p>
          <a:p>
            <a:pPr marL="0" indent="0">
              <a:buNone/>
            </a:pPr>
            <a:r>
              <a:rPr lang="en-US" sz="1800" dirty="0">
                <a:latin typeface="inter-regular"/>
              </a:rPr>
              <a:t>A procedure for solving a mathematical problem in a finite number of steps that frequently involves recursive operations</a:t>
            </a:r>
            <a:endParaRPr lang="en-IN" sz="1800" dirty="0">
              <a:latin typeface="inter-regular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68" y="6493201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DSP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601198" y="1932344"/>
            <a:ext cx="6405959" cy="1975404"/>
            <a:chOff x="2387838" y="2039265"/>
            <a:chExt cx="6405959" cy="1975404"/>
          </a:xfrm>
        </p:grpSpPr>
        <p:grpSp>
          <p:nvGrpSpPr>
            <p:cNvPr id="8" name="Group 7"/>
            <p:cNvGrpSpPr/>
            <p:nvPr/>
          </p:nvGrpSpPr>
          <p:grpSpPr>
            <a:xfrm>
              <a:off x="2387838" y="2534922"/>
              <a:ext cx="1310640" cy="599440"/>
              <a:chOff x="2164080" y="2468880"/>
              <a:chExt cx="1310640" cy="599440"/>
            </a:xfrm>
          </p:grpSpPr>
          <p:sp>
            <p:nvSpPr>
              <p:cNvPr id="4" name="Flowchart: Data 3"/>
              <p:cNvSpPr/>
              <p:nvPr/>
            </p:nvSpPr>
            <p:spPr>
              <a:xfrm>
                <a:off x="2164080" y="2468880"/>
                <a:ext cx="1310640" cy="599440"/>
              </a:xfrm>
              <a:prstGeom prst="flowChartInputOutput">
                <a:avLst/>
              </a:prstGeom>
              <a:ln>
                <a:solidFill>
                  <a:srgbClr val="CF2F3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2468880" y="2580640"/>
                <a:ext cx="71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2"/>
                    </a:solidFill>
                  </a:rPr>
                  <a:t>Input</a:t>
                </a:r>
                <a:endParaRPr lang="en-IN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7483157" y="2560320"/>
              <a:ext cx="1310640" cy="599440"/>
              <a:chOff x="6583679" y="2468880"/>
              <a:chExt cx="1310640" cy="599440"/>
            </a:xfrm>
          </p:grpSpPr>
          <p:sp>
            <p:nvSpPr>
              <p:cNvPr id="10" name="Flowchart: Data 9"/>
              <p:cNvSpPr/>
              <p:nvPr/>
            </p:nvSpPr>
            <p:spPr>
              <a:xfrm>
                <a:off x="6583679" y="2468880"/>
                <a:ext cx="1310640" cy="599440"/>
              </a:xfrm>
              <a:prstGeom prst="flowChartInputOutput">
                <a:avLst/>
              </a:prstGeom>
              <a:ln>
                <a:solidFill>
                  <a:srgbClr val="CF2F3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776720" y="2580640"/>
                <a:ext cx="883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2"/>
                    </a:solidFill>
                  </a:rPr>
                  <a:t>Output</a:t>
                </a:r>
                <a:endParaRPr lang="en-IN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4612798" y="2039265"/>
              <a:ext cx="1940560" cy="1594321"/>
              <a:chOff x="4013200" y="2083598"/>
              <a:chExt cx="1940560" cy="1594321"/>
            </a:xfrm>
          </p:grpSpPr>
          <p:sp>
            <p:nvSpPr>
              <p:cNvPr id="7" name="Flowchart: Decision 6"/>
              <p:cNvSpPr/>
              <p:nvPr/>
            </p:nvSpPr>
            <p:spPr>
              <a:xfrm>
                <a:off x="4013200" y="2083598"/>
                <a:ext cx="1940560" cy="1594321"/>
              </a:xfrm>
              <a:prstGeom prst="flowChartDecision">
                <a:avLst/>
              </a:prstGeom>
              <a:ln>
                <a:solidFill>
                  <a:srgbClr val="A81E24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inter-regular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531201" y="2405956"/>
                <a:ext cx="103632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 smtClean="0">
                    <a:solidFill>
                      <a:schemeClr val="accent2"/>
                    </a:solidFill>
                  </a:rPr>
                  <a:t>Set of rules to obtain the expected output from the given input</a:t>
                </a:r>
                <a:endParaRPr lang="en-IN" sz="1000" dirty="0">
                  <a:solidFill>
                    <a:schemeClr val="accent2"/>
                  </a:solidFill>
                </a:endParaRPr>
              </a:p>
            </p:txBody>
          </p:sp>
        </p:grpSp>
        <p:cxnSp>
          <p:nvCxnSpPr>
            <p:cNvPr id="16" name="Straight Arrow Connector 15"/>
            <p:cNvCxnSpPr>
              <a:stCxn id="4" idx="5"/>
            </p:cNvCxnSpPr>
            <p:nvPr/>
          </p:nvCxnSpPr>
          <p:spPr>
            <a:xfrm flipV="1">
              <a:off x="3567414" y="2833150"/>
              <a:ext cx="1045384" cy="14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6564614" y="2833150"/>
              <a:ext cx="1045384" cy="14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5110480" y="3645337"/>
              <a:ext cx="1224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2"/>
                  </a:solidFill>
                </a:rPr>
                <a:t>Algorithm</a:t>
              </a:r>
              <a:endParaRPr lang="en-IN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2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637518" y="4066373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Poppins" panose="00000500000000000000" pitchFamily="2" charset="0"/>
              </a:rPr>
              <a:t>DATA STRUCTURE</a:t>
            </a: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Poppins" panose="00000500000000000000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24986" y="4698798"/>
            <a:ext cx="102859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inter-regular"/>
              </a:rPr>
              <a:t>Data Structures are used to store and organize the data in memory in an efficient </a:t>
            </a:r>
            <a:r>
              <a:rPr lang="en-IN" dirty="0">
                <a:latin typeface="inter-regular"/>
              </a:rPr>
              <a:t>manner</a:t>
            </a:r>
          </a:p>
          <a:p>
            <a:endParaRPr lang="en-IN" dirty="0">
              <a:latin typeface="inter-regular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inter-regular"/>
              </a:rPr>
              <a:t>It is a way of arranging data on a computer </a:t>
            </a:r>
            <a:r>
              <a:rPr lang="en-US" dirty="0" smtClean="0">
                <a:latin typeface="inter-regular"/>
              </a:rPr>
              <a:t>to </a:t>
            </a:r>
            <a:r>
              <a:rPr lang="en-US" dirty="0">
                <a:latin typeface="inter-regular"/>
              </a:rPr>
              <a:t>be accessed and updated efficiently.</a:t>
            </a:r>
          </a:p>
          <a:p>
            <a:endParaRPr lang="en-US" dirty="0">
              <a:latin typeface="inter-regular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inter-regular"/>
              </a:rPr>
              <a:t>Data Structure is used not only for organizing the data but also for processing, retrieving, and storing data.</a:t>
            </a:r>
            <a:endParaRPr lang="en-IN" dirty="0"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426787644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An algorithm is a step by step procedure to solve a problem. In normal language, the algorithm is defined as a sequence of statements which are used to perform a task.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4" name="Picture 2" descr="algorithm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0" y="2108499"/>
            <a:ext cx="3810000" cy="34137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7591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22156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Poppins" panose="00000500000000000000" pitchFamily="2" charset="0"/>
              </a:rPr>
              <a:t>Specifications of ALGORITHM</a:t>
            </a: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2667000" y="948690"/>
            <a:ext cx="847344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Every algorithm must satisfy the following specifications...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Input -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Every algorithm must take zero or more number of input values from external.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Output -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Every algorithm must produce an output as result.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Definiteness -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Every statement/instruction in an algorithm must be clear and unambiguous (only one interpretation).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Finiteness -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For all different cases, the algorithm must produce result within a finite number of steps.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Effectiveness -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Every instruction must be basic enough to be carried out and it also must be feasible.</a:t>
            </a:r>
          </a:p>
          <a:p>
            <a:pPr marL="285750" indent="-285750"/>
            <a:endParaRPr lang="en-US" dirty="0" smtClean="0">
              <a:latin typeface="inter-regular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 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83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Poppins" panose="00000500000000000000" pitchFamily="2" charset="0"/>
              </a:rPr>
              <a:t>CLASSIFICATION OF DATA STRUCTURE</a:t>
            </a: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789" y="6387146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 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54680" y="1496258"/>
            <a:ext cx="77266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Structures are used to store and organize the data in memory in an efficient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manner</a:t>
            </a:r>
          </a:p>
          <a:p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a way of arranging data on a computer so that it can be accessed and updated efficiently.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Structure is not only used for organizing the data but also used for processing, retrieving, and storing data.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09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lassification of Data Stru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944880"/>
            <a:ext cx="854964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778453" y="26728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DATA  STRUCTURES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25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Poppins" panose="00000500000000000000" pitchFamily="2" charset="0"/>
              </a:rPr>
              <a:t>PERFORMANCE ANALYSIS OF AN ALGORITHM</a:t>
            </a: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2270760" y="659548"/>
            <a:ext cx="938784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 smtClean="0">
              <a:latin typeface="inter-regular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performance of an algorithm depends on the following elements...</a:t>
            </a:r>
          </a:p>
          <a:p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Whether that algorithm is providing the exact solution for the problem?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Whether it is easy to understand?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Whether it is easy to implement?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much space (memory) it requires to solve the problem?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much time it takes to solve the problem? Etc.,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Performance analysis of an algorithm is the process of calculating space and time required by that algorithm”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 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57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83811" y="600076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Poppins" panose="00000500000000000000" pitchFamily="2" charset="0"/>
              </a:rPr>
              <a:t>COMPLEXITY OF AN ALGORITHM</a:t>
            </a: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2230365" y="1391068"/>
            <a:ext cx="8708188" cy="2398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inter-regular"/>
              </a:rPr>
              <a:t>Complexity in algorithms refers to the amount of resources (such as time or </a:t>
            </a:r>
            <a:r>
              <a:rPr lang="en-US" dirty="0" smtClean="0">
                <a:latin typeface="inter-regular"/>
              </a:rPr>
              <a:t>memory/Space) </a:t>
            </a:r>
            <a:r>
              <a:rPr lang="en-US" dirty="0">
                <a:latin typeface="inter-regular"/>
              </a:rPr>
              <a:t>required to solve a problem or perform a task. </a:t>
            </a:r>
            <a:endParaRPr lang="en-US" dirty="0" smtClean="0">
              <a:latin typeface="inter-regular"/>
            </a:endParaRPr>
          </a:p>
          <a:p>
            <a:pPr algn="just"/>
            <a:endParaRPr lang="en-US" dirty="0" smtClean="0"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inter-regular"/>
              </a:rPr>
              <a:t>The </a:t>
            </a:r>
            <a:r>
              <a:rPr lang="en-US" dirty="0">
                <a:latin typeface="inter-regular"/>
              </a:rPr>
              <a:t>most common measure of complexity is time complexity, which refers to the amount of time an algorithm takes to produce a result as a function of the size of the input. </a:t>
            </a:r>
            <a:endParaRPr lang="en-US" dirty="0" smtClean="0">
              <a:latin typeface="inter-regular"/>
            </a:endParaRPr>
          </a:p>
          <a:p>
            <a:pPr algn="just"/>
            <a:endParaRPr lang="en-US" dirty="0" smtClean="0"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inter-regular"/>
              </a:rPr>
              <a:t>Memory/Space </a:t>
            </a:r>
            <a:r>
              <a:rPr lang="en-US" dirty="0">
                <a:latin typeface="inter-regular"/>
              </a:rPr>
              <a:t>complexity refers to the amount of memory used by an algorithm.</a:t>
            </a:r>
            <a:endParaRPr lang="en-IN" dirty="0">
              <a:latin typeface="inter-regular"/>
              <a:cs typeface="Times New Roman" panose="02020603050405020304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DSP 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47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Poppins" panose="00000500000000000000" pitchFamily="2" charset="0"/>
              </a:rPr>
              <a:t>TIME COMPLEXITY</a:t>
            </a: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513840" y="853441"/>
            <a:ext cx="102209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dirty="0">
                <a:latin typeface="inter-regular"/>
              </a:rPr>
              <a:t>Time taken by the algorithm to solve the problem. </a:t>
            </a:r>
            <a:endParaRPr lang="en-US" dirty="0" smtClean="0">
              <a:latin typeface="inter-regular"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endParaRPr lang="en-US" dirty="0" smtClean="0">
              <a:latin typeface="inter-regular"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dirty="0" smtClean="0">
                <a:latin typeface="inter-regular"/>
              </a:rPr>
              <a:t>It </a:t>
            </a:r>
            <a:r>
              <a:rPr lang="en-US" dirty="0">
                <a:latin typeface="inter-regular"/>
              </a:rPr>
              <a:t>is measured by calculating the iteration of loops, </a:t>
            </a:r>
            <a:r>
              <a:rPr lang="en-US" dirty="0" smtClean="0">
                <a:latin typeface="inter-regular"/>
              </a:rPr>
              <a:t>the number </a:t>
            </a:r>
            <a:r>
              <a:rPr lang="en-US" dirty="0">
                <a:latin typeface="inter-regular"/>
              </a:rPr>
              <a:t>of comparisons etc</a:t>
            </a:r>
            <a:r>
              <a:rPr lang="en-US" dirty="0" smtClean="0">
                <a:latin typeface="inter-regular"/>
              </a:rPr>
              <a:t>.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endParaRPr lang="en-US" dirty="0">
              <a:latin typeface="inter-regular"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dirty="0">
                <a:latin typeface="inter-regular"/>
              </a:rPr>
              <a:t>Time complexity is a function describing the amount of time an algorithm takes in terms of the amount of input to the algorithm</a:t>
            </a:r>
            <a:r>
              <a:rPr lang="en-US" dirty="0" smtClean="0">
                <a:latin typeface="inter-regular"/>
              </a:rPr>
              <a:t>.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endParaRPr lang="en-US" dirty="0">
              <a:latin typeface="inter-regular"/>
            </a:endParaRPr>
          </a:p>
          <a:p>
            <a:pPr fontAlgn="base"/>
            <a:r>
              <a:rPr lang="en-US" b="1" dirty="0" smtClean="0">
                <a:latin typeface="inter-regular"/>
              </a:rPr>
              <a:t>Example: </a:t>
            </a:r>
          </a:p>
          <a:p>
            <a:pPr fontAlgn="base"/>
            <a:endParaRPr lang="en-US" b="1" dirty="0" smtClean="0">
              <a:latin typeface="inter-regular"/>
            </a:endParaRPr>
          </a:p>
          <a:p>
            <a:pPr fontAlgn="base"/>
            <a:r>
              <a:rPr lang="en-US" dirty="0" smtClean="0">
                <a:latin typeface="inter-regular"/>
              </a:rPr>
              <a:t>“Time</a:t>
            </a:r>
            <a:r>
              <a:rPr lang="en-US" dirty="0">
                <a:latin typeface="inter-regular"/>
              </a:rPr>
              <a:t>” can </a:t>
            </a:r>
            <a:r>
              <a:rPr lang="en-US" dirty="0" smtClean="0">
                <a:latin typeface="inter-regular"/>
              </a:rPr>
              <a:t>mean:</a:t>
            </a:r>
          </a:p>
          <a:p>
            <a:pPr fontAlgn="base"/>
            <a:endParaRPr lang="en-US" dirty="0" smtClean="0">
              <a:latin typeface="inter-regular"/>
            </a:endParaRP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US" dirty="0" smtClean="0">
                <a:latin typeface="inter-regular"/>
              </a:rPr>
              <a:t>The </a:t>
            </a:r>
            <a:r>
              <a:rPr lang="en-US" dirty="0">
                <a:latin typeface="inter-regular"/>
              </a:rPr>
              <a:t>number of memory accesses performed, </a:t>
            </a:r>
            <a:endParaRPr lang="en-US" dirty="0" smtClean="0">
              <a:latin typeface="inter-regular"/>
            </a:endParaRP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endParaRPr lang="en-US" dirty="0" smtClean="0">
              <a:latin typeface="inter-regular"/>
            </a:endParaRP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US" dirty="0" smtClean="0">
                <a:latin typeface="inter-regular"/>
              </a:rPr>
              <a:t>The </a:t>
            </a:r>
            <a:r>
              <a:rPr lang="en-US" dirty="0">
                <a:latin typeface="inter-regular"/>
              </a:rPr>
              <a:t>number of comparisons between integers, </a:t>
            </a:r>
            <a:endParaRPr lang="en-US" dirty="0" smtClean="0">
              <a:latin typeface="inter-regular"/>
            </a:endParaRP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endParaRPr lang="en-US" dirty="0" smtClean="0">
              <a:latin typeface="inter-regular"/>
            </a:endParaRP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US" dirty="0" smtClean="0">
                <a:latin typeface="inter-regular"/>
              </a:rPr>
              <a:t>The </a:t>
            </a:r>
            <a:r>
              <a:rPr lang="en-US" dirty="0">
                <a:latin typeface="inter-regular"/>
              </a:rPr>
              <a:t>number of times some inner loop is executed, </a:t>
            </a:r>
            <a:r>
              <a:rPr lang="en-US" dirty="0" smtClean="0">
                <a:latin typeface="inter-regular"/>
              </a:rPr>
              <a:t>or</a:t>
            </a: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endParaRPr lang="en-US" dirty="0" smtClean="0">
              <a:latin typeface="inter-regular"/>
            </a:endParaRP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US" dirty="0">
                <a:latin typeface="inter-regular"/>
              </a:rPr>
              <a:t>S</a:t>
            </a:r>
            <a:r>
              <a:rPr lang="en-US" dirty="0" smtClean="0">
                <a:latin typeface="inter-regular"/>
              </a:rPr>
              <a:t>ome </a:t>
            </a:r>
            <a:r>
              <a:rPr lang="en-US" dirty="0">
                <a:latin typeface="inter-regular"/>
              </a:rPr>
              <a:t>other natural </a:t>
            </a:r>
            <a:r>
              <a:rPr lang="en-US" dirty="0" smtClean="0">
                <a:latin typeface="inter-regular"/>
              </a:rPr>
              <a:t>units </a:t>
            </a:r>
            <a:r>
              <a:rPr lang="en-US" dirty="0">
                <a:latin typeface="inter-regular"/>
              </a:rPr>
              <a:t>related to the amount of </a:t>
            </a:r>
            <a:r>
              <a:rPr lang="en-US" dirty="0" smtClean="0">
                <a:latin typeface="inter-regular"/>
              </a:rPr>
              <a:t>real-time </a:t>
            </a:r>
            <a:r>
              <a:rPr lang="en-US" dirty="0">
                <a:latin typeface="inter-regular"/>
              </a:rPr>
              <a:t>the algorithm will take.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DSP 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40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06048" y="1622174"/>
            <a:ext cx="6629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get_first</a:t>
            </a:r>
            <a:r>
              <a:rPr lang="en-US" dirty="0"/>
              <a:t>(data):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return data[0]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if __name__ == '__main__':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data = [1, 2, 9, 8, 3, 4, 7, 6, 5]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get_first</a:t>
            </a:r>
            <a:r>
              <a:rPr lang="en-US" dirty="0"/>
              <a:t>(data</a:t>
            </a:r>
            <a:r>
              <a:rPr lang="en-US" dirty="0" smtClean="0"/>
              <a:t>))</a:t>
            </a:r>
          </a:p>
          <a:p>
            <a:endParaRPr lang="en-US" dirty="0"/>
          </a:p>
          <a:p>
            <a:r>
              <a:rPr lang="en-US" dirty="0" err="1" smtClean="0"/>
              <a:t>Ans</a:t>
            </a:r>
            <a:r>
              <a:rPr lang="en-US" dirty="0" smtClean="0"/>
              <a:t>: O(1)</a:t>
            </a:r>
            <a:endParaRPr lang="en-US" dirty="0"/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30769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Poppins" panose="00000500000000000000" pitchFamily="2" charset="0"/>
              </a:rPr>
              <a:t>TIME COMPLEXITY COMPUTATION</a:t>
            </a: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14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514293" y="17127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SPACE COMPLEXITY</a:t>
            </a:r>
            <a:endParaRPr lang="en-US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inter-regular"/>
              <a:cs typeface="Poppins" panose="00000500000000000000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136" y="1063348"/>
            <a:ext cx="9060024" cy="377446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Suppose consider the following code: </a:t>
            </a:r>
            <a:endParaRPr lang="en-IN" sz="1800" dirty="0">
              <a:latin typeface="inter-regular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spc="10" dirty="0" err="1"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800" spc="10" dirty="0" err="1" smtClean="0"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en-IN" sz="1800" spc="10" dirty="0" smtClean="0"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 sum</a:t>
            </a:r>
            <a:r>
              <a:rPr lang="en-IN" sz="1800" spc="10" dirty="0" smtClean="0">
                <a:solidFill>
                  <a:schemeClr val="tx1"/>
                </a:solidFill>
                <a:effectLst/>
                <a:latin typeface="inter-regular"/>
                <a:ea typeface="Times New Roman" panose="02020603050405020304" pitchFamily="18" charset="0"/>
                <a:cs typeface="Times New Roman" panose="02020603050405020304" pitchFamily="18" charset="0"/>
              </a:rPr>
              <a:t>(x, y, z): 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spc="10" dirty="0"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spc="10" dirty="0" smtClean="0"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total = x + y + z;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spc="10" dirty="0">
                <a:solidFill>
                  <a:schemeClr val="tx1"/>
                </a:solidFill>
                <a:effectLst/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spc="10" dirty="0" smtClean="0">
                <a:solidFill>
                  <a:schemeClr val="tx1"/>
                </a:solidFill>
                <a:effectLst/>
                <a:latin typeface="inter-regular"/>
                <a:ea typeface="Calibri" panose="020F0502020204030204" pitchFamily="34" charset="0"/>
                <a:cs typeface="Times New Roman" panose="02020603050405020304" pitchFamily="18" charset="0"/>
              </a:rPr>
              <a:t>return total;</a:t>
            </a:r>
            <a:endParaRPr lang="en-IN" sz="1800" dirty="0">
              <a:solidFill>
                <a:schemeClr val="tx1"/>
              </a:solidFill>
              <a:effectLst/>
              <a:latin typeface="inter-regular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latin typeface="inter-regular"/>
                <a:cs typeface="Times New Roman" panose="02020603050405020304" pitchFamily="18" charset="0"/>
              </a:rPr>
              <a:t>In the above expression, variables </a:t>
            </a:r>
            <a:r>
              <a:rPr lang="en-US" sz="1800" dirty="0" smtClean="0">
                <a:latin typeface="inter-regular"/>
                <a:cs typeface="Times New Roman" panose="02020603050405020304" pitchFamily="18" charset="0"/>
              </a:rPr>
              <a:t>total, x, y </a:t>
            </a:r>
            <a:r>
              <a:rPr lang="en-US" sz="1800" dirty="0">
                <a:latin typeface="inter-regular"/>
                <a:cs typeface="Times New Roman" panose="02020603050405020304" pitchFamily="18" charset="0"/>
              </a:rPr>
              <a:t>and z are all integer types, hence they will take up 4 bytes each, so </a:t>
            </a:r>
            <a:r>
              <a:rPr lang="en-US" sz="1800" dirty="0" smtClean="0">
                <a:latin typeface="inter-regular"/>
                <a:cs typeface="Times New Roman" panose="02020603050405020304" pitchFamily="18" charset="0"/>
              </a:rPr>
              <a:t>the total </a:t>
            </a:r>
            <a:r>
              <a:rPr lang="en-US" sz="1800" dirty="0">
                <a:latin typeface="inter-regular"/>
                <a:cs typeface="Times New Roman" panose="02020603050405020304" pitchFamily="18" charset="0"/>
              </a:rPr>
              <a:t>memory requirement will be (4(4) + 4) = 20 bytes, this additional 4 bytes is for return value. </a:t>
            </a:r>
            <a:endParaRPr lang="en-IN" sz="1800" dirty="0">
              <a:solidFill>
                <a:schemeClr val="tx1"/>
              </a:solidFill>
              <a:latin typeface="inter-regular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DSP 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84712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02533" y="8563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SUMMARY</a:t>
            </a:r>
            <a:endParaRPr lang="en-US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inter-regular"/>
              <a:cs typeface="Poppins" panose="00000500000000000000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7745" y="1033053"/>
            <a:ext cx="9849846" cy="4206199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concept of Data Structures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I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Mathematical background and Model. </a:t>
            </a:r>
          </a:p>
          <a:p>
            <a:pPr marL="342900" indent="-342900">
              <a:buFont typeface="+mj-lt"/>
              <a:buAutoNum type="arabicPeriod"/>
            </a:pPr>
            <a:endParaRPr lang="en-I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to run time complexity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Algorithm and Data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Time and Space complexity of an algorithm to find out its efficiency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None/>
            </a:pPr>
            <a:endParaRPr lang="en-US" sz="2000" b="1" dirty="0" smtClean="0">
              <a:latin typeface="inter-regular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 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4959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02533" y="8563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atin typeface="inter-regular"/>
              </a:rPr>
              <a:t>SELF-ASSESSMENT QUESTIONS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DSP 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85368" y="362069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dirty="0" smtClean="0"/>
              <a:t>2. What </a:t>
            </a:r>
            <a:r>
              <a:rPr lang="en-US" sz="2400" dirty="0"/>
              <a:t>is the time complexity of accessing an element in an array by index?</a:t>
            </a:r>
            <a:endParaRPr sz="2400" dirty="0">
              <a:solidFill>
                <a:schemeClr val="bg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12294" y="4507347"/>
            <a:ext cx="10155277" cy="177372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pt-BR" dirty="0" smtClean="0"/>
              <a:t>A</a:t>
            </a:r>
            <a:r>
              <a:rPr lang="pt-BR" dirty="0"/>
              <a:t>) </a:t>
            </a:r>
            <a:r>
              <a:rPr lang="pt-BR" dirty="0" smtClean="0"/>
              <a:t>O(n)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B) O(log⁡</a:t>
            </a:r>
            <a:r>
              <a:rPr lang="pt-BR" dirty="0" smtClean="0"/>
              <a:t>n)</a:t>
            </a:r>
            <a:r>
              <a:rPr lang="pt-BR" dirty="0"/>
              <a:t/>
            </a:r>
            <a:br>
              <a:rPr lang="pt-BR" dirty="0"/>
            </a:br>
            <a:r>
              <a:rPr lang="pt-BR" dirty="0">
                <a:solidFill>
                  <a:srgbClr val="FFC000"/>
                </a:solidFill>
              </a:rPr>
              <a:t>C) </a:t>
            </a:r>
            <a:r>
              <a:rPr lang="pt-BR" dirty="0" smtClean="0">
                <a:solidFill>
                  <a:srgbClr val="FFC000"/>
                </a:solidFill>
              </a:rPr>
              <a:t>O(1)</a:t>
            </a:r>
            <a:r>
              <a:rPr lang="pt-BR" dirty="0">
                <a:solidFill>
                  <a:srgbClr val="FFC000"/>
                </a:solidFill>
              </a:rPr>
              <a:t/>
            </a:r>
            <a:br>
              <a:rPr lang="pt-BR" dirty="0">
                <a:solidFill>
                  <a:srgbClr val="FFC000"/>
                </a:solidFill>
              </a:rPr>
            </a:br>
            <a:r>
              <a:rPr lang="pt-BR" dirty="0"/>
              <a:t>D) </a:t>
            </a:r>
            <a:r>
              <a:rPr lang="pt-BR" dirty="0" smtClean="0"/>
              <a:t>O(n2)</a:t>
            </a:r>
            <a:endParaRPr lang="en-US" dirty="0"/>
          </a:p>
        </p:txBody>
      </p:sp>
      <p:sp>
        <p:nvSpPr>
          <p:cNvPr id="10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95362" y="782529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1</a:t>
            </a:r>
            <a:r>
              <a:rPr lang="en-IN" sz="2400" dirty="0" smtClean="0"/>
              <a:t>. Identify the two types of efficiencies that are important for computer algorithms?  </a:t>
            </a:r>
            <a:endParaRPr lang="en-IN" sz="24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1733819"/>
            <a:ext cx="1017220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a) </a:t>
            </a:r>
            <a:r>
              <a:rPr lang="en-IN" dirty="0" smtClean="0"/>
              <a:t>Time efficiency and Higher power efficiency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b) </a:t>
            </a:r>
            <a:r>
              <a:rPr lang="en-IN" dirty="0" smtClean="0"/>
              <a:t>Higher power efficiency and </a:t>
            </a:r>
            <a:r>
              <a:rPr lang="en-IN" dirty="0"/>
              <a:t>C</a:t>
            </a:r>
            <a:r>
              <a:rPr lang="en-IN" dirty="0" smtClean="0"/>
              <a:t>omputational efficiency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c) </a:t>
            </a:r>
            <a:r>
              <a:rPr lang="en-IN" dirty="0" smtClean="0"/>
              <a:t>Computational efficiency and Space efficiency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d) </a:t>
            </a:r>
            <a:r>
              <a:rPr lang="en-IN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Space efficiency and Time Efficiency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95627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02533" y="8563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TERMINAL QUESTIONS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1433196"/>
            <a:ext cx="10881359" cy="2976244"/>
          </a:xfrm>
        </p:spPr>
        <p:txBody>
          <a:bodyPr>
            <a:normAutofit/>
          </a:bodyPr>
          <a:lstStyle/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AutoNum type="arabicPeriod"/>
            </a:pPr>
            <a:r>
              <a:rPr lang="en-US" sz="1800" b="1" dirty="0" smtClean="0"/>
              <a:t>What </a:t>
            </a:r>
            <a:r>
              <a:rPr lang="en-US" sz="1800" b="1" dirty="0"/>
              <a:t>is a data structure, and why is it important in computer science</a:t>
            </a:r>
            <a:r>
              <a:rPr lang="en-US" sz="1800" b="1" dirty="0" smtClean="0"/>
              <a:t>?</a:t>
            </a: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AutoNum type="arabicPeriod"/>
            </a:pPr>
            <a:r>
              <a:rPr lang="en-US" sz="1800" b="1" dirty="0" smtClean="0"/>
              <a:t>Differentiate </a:t>
            </a:r>
            <a:r>
              <a:rPr lang="en-US" sz="1800" b="1" dirty="0"/>
              <a:t>between linear and non-linear data structures with examples</a:t>
            </a:r>
            <a:r>
              <a:rPr lang="en-US" sz="1800" b="1" dirty="0" smtClean="0"/>
              <a:t>.</a:t>
            </a: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AutoNum type="arabicPeriod"/>
            </a:pPr>
            <a:r>
              <a:rPr lang="en-US" sz="1800" b="1" dirty="0" smtClean="0"/>
              <a:t>How </a:t>
            </a:r>
            <a:r>
              <a:rPr lang="en-US" sz="1800" b="1" dirty="0" smtClean="0"/>
              <a:t>is time complexity </a:t>
            </a:r>
            <a:r>
              <a:rPr lang="en-US" sz="1800" b="1" dirty="0" smtClean="0"/>
              <a:t>measured?</a:t>
            </a: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AutoNum type="arabicPeriod"/>
            </a:pPr>
            <a:r>
              <a:rPr lang="en-US" sz="1800" b="1" dirty="0" smtClean="0"/>
              <a:t>Which </a:t>
            </a:r>
            <a:r>
              <a:rPr lang="en-US" sz="1800" b="1" dirty="0" smtClean="0"/>
              <a:t>of the following best describes the useful criterion for comparing the efficiency of algorithms?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None/>
            </a:pPr>
            <a:endParaRPr lang="en-US" sz="18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DSP 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207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7932" y="628740"/>
            <a:ext cx="11596468" cy="7155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</a:t>
            </a:r>
            <a:r>
              <a:rPr lang="en-US" b="1" dirty="0" smtClean="0"/>
              <a:t>:</a:t>
            </a:r>
          </a:p>
          <a:p>
            <a:pPr>
              <a:lnSpc>
                <a:spcPct val="150000"/>
              </a:lnSpc>
            </a:pPr>
            <a:endParaRPr lang="en-US" b="1" dirty="0" smtClean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 smtClean="0"/>
              <a:t>Sites </a:t>
            </a:r>
            <a:r>
              <a:rPr lang="en-US" b="1" dirty="0"/>
              <a:t>and Web links: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docs.python.org/3/tutorial/datastructures.html</a:t>
            </a:r>
            <a:endParaRPr lang="en-US" dirty="0" smtClean="0"/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www.w3schools.com/dsa/dsa_intro.php</a:t>
            </a:r>
            <a:endParaRPr lang="en-US" dirty="0"/>
          </a:p>
          <a:p>
            <a:pPr marL="800100" lvl="1" indent="-342900">
              <a:lnSpc>
                <a:spcPct val="150000"/>
              </a:lnSpc>
              <a:buAutoNum type="arabicPeriod" startAt="3"/>
            </a:pPr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</a:t>
            </a:r>
            <a:r>
              <a:rPr lang="en-US" dirty="0" smtClean="0">
                <a:hlinkClick r:id="rId4"/>
              </a:rPr>
              <a:t>www.geeksforgeeks.org/python-data-structures/</a:t>
            </a:r>
            <a:endParaRPr lang="en-US" dirty="0" smtClean="0"/>
          </a:p>
          <a:p>
            <a:pPr marL="800100" lvl="1" indent="-342900">
              <a:lnSpc>
                <a:spcPct val="150000"/>
              </a:lnSpc>
              <a:buAutoNum type="arabicPeriod" startAt="3"/>
            </a:pPr>
            <a:r>
              <a:rPr lang="en-US" dirty="0" smtClean="0">
                <a:hlinkClick r:id="rId5"/>
              </a:rPr>
              <a:t>https</a:t>
            </a:r>
            <a:r>
              <a:rPr lang="en-US" dirty="0">
                <a:hlinkClick r:id="rId5"/>
              </a:rPr>
              <a:t>://</a:t>
            </a:r>
            <a:r>
              <a:rPr lang="en-US" dirty="0" smtClean="0">
                <a:hlinkClick r:id="rId5"/>
              </a:rPr>
              <a:t>onlinecourses.nptel.ac.in/noc25_cs59/preview</a:t>
            </a:r>
            <a:endParaRPr lang="en-US" dirty="0" smtClean="0"/>
          </a:p>
          <a:p>
            <a:pPr marL="800100" lvl="1" indent="-342900">
              <a:lnSpc>
                <a:spcPct val="150000"/>
              </a:lnSpc>
              <a:buAutoNum type="arabicPeriod" startAt="3"/>
            </a:pPr>
            <a:r>
              <a:rPr lang="en-US" dirty="0" smtClean="0">
                <a:hlinkClick r:id="rId6"/>
              </a:rPr>
              <a:t>https</a:t>
            </a:r>
            <a:r>
              <a:rPr lang="en-US" dirty="0">
                <a:hlinkClick r:id="rId6"/>
              </a:rPr>
              <a:t>://</a:t>
            </a:r>
            <a:r>
              <a:rPr lang="en-US" dirty="0" smtClean="0">
                <a:hlinkClick r:id="rId6"/>
              </a:rPr>
              <a:t>www.coursera.org/learn/python-data</a:t>
            </a:r>
            <a:endParaRPr lang="en-US" dirty="0" smtClean="0"/>
          </a:p>
          <a:p>
            <a:pPr marL="800100" lvl="1" indent="-342900">
              <a:lnSpc>
                <a:spcPct val="150000"/>
              </a:lnSpc>
              <a:buAutoNum type="arabicPeriod" startAt="3"/>
            </a:pPr>
            <a:r>
              <a:rPr lang="en-US" dirty="0" smtClean="0">
                <a:hlinkClick r:id="rId7"/>
              </a:rPr>
              <a:t>https</a:t>
            </a:r>
            <a:r>
              <a:rPr lang="en-US" dirty="0">
                <a:hlinkClick r:id="rId7"/>
              </a:rPr>
              <a:t>://</a:t>
            </a:r>
            <a:r>
              <a:rPr lang="en-US" dirty="0" smtClean="0">
                <a:hlinkClick r:id="rId7"/>
              </a:rPr>
              <a:t>www.codecademy.com/learn/learn-data-structures-and-algorithms-with-python</a:t>
            </a:r>
            <a:endParaRPr lang="en-US" dirty="0" smtClean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DSP           				      BES-1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5665" y="1241013"/>
            <a:ext cx="11134414" cy="1779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75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 Structures and Algorithm Analysis in PYTHON, 2010, Mark Allen Weiss, Second Edition, Pearson Education.</a:t>
            </a: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75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 Structures and Algorithms,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A.V.Aho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J.E.Hopcroft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J.D.Ullman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Pearson Education, First Edition Reprint2003.</a:t>
            </a: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75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Advanced Guide to Python 3 Programming, John Hunt, 4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Edition, Springer Nature Switzerland AG 2019.</a:t>
            </a: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Basics: A Practice Introduction to Python 3, David Amos, Dan Bader,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Joanna Jablonski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Fletcher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Heisler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</a:t>
            </a:r>
            <a:r>
              <a:rPr lang="en-US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edition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Real Python.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</a:t>
            </a:r>
            <a:r>
              <a:rPr lang="en-US" sz="2400" b="1" dirty="0" smtClean="0">
                <a:latin typeface="Poppins" pitchFamily="2" charset="77"/>
                <a:cs typeface="Poppins" pitchFamily="2" charset="77"/>
              </a:rPr>
              <a:t>– Data Structures using Python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0125a647-8023-46ae-ae6e-85cf36d841bd"/>
    <ds:schemaRef ds:uri="http://purl.org/dc/terms/"/>
    <ds:schemaRef ds:uri="d43ee83c-3e71-4748-8ebc-8eaadf79342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2438</TotalTime>
  <Words>803</Words>
  <Application>Microsoft Office PowerPoint</Application>
  <PresentationFormat>Widescreen</PresentationFormat>
  <Paragraphs>167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BioRhyme ExtraBold</vt:lpstr>
      <vt:lpstr>Calibri</vt:lpstr>
      <vt:lpstr>Calibri Light</vt:lpstr>
      <vt:lpstr>inter-regular</vt:lpstr>
      <vt:lpstr>Poppins</vt:lpstr>
      <vt:lpstr>Tahoma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LENOVO</cp:lastModifiedBy>
  <cp:revision>248</cp:revision>
  <dcterms:created xsi:type="dcterms:W3CDTF">2020-02-08T09:57:44Z</dcterms:created>
  <dcterms:modified xsi:type="dcterms:W3CDTF">2024-12-14T10:06:13Z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