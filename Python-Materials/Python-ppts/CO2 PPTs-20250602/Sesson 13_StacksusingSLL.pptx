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1CC">
              <a:alpha val="2078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00374" cy="30003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810375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2475" y="4105273"/>
            <a:ext cx="3819525" cy="27051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2225" y="1819148"/>
            <a:ext cx="8053451" cy="301472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43300" y="1695323"/>
            <a:ext cx="6072251" cy="304330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600325" y="1857375"/>
            <a:ext cx="7924800" cy="2886075"/>
          </a:xfrm>
          <a:custGeom>
            <a:avLst/>
            <a:gdLst/>
            <a:ahLst/>
            <a:cxnLst/>
            <a:rect l="l" t="t" r="r" b="b"/>
            <a:pathLst>
              <a:path w="7924800" h="2886075">
                <a:moveTo>
                  <a:pt x="7443724" y="0"/>
                </a:moveTo>
                <a:lnTo>
                  <a:pt x="481075" y="0"/>
                </a:lnTo>
                <a:lnTo>
                  <a:pt x="431889" y="2483"/>
                </a:lnTo>
                <a:lnTo>
                  <a:pt x="384124" y="9774"/>
                </a:lnTo>
                <a:lnTo>
                  <a:pt x="338021" y="21628"/>
                </a:lnTo>
                <a:lnTo>
                  <a:pt x="293822" y="37806"/>
                </a:lnTo>
                <a:lnTo>
                  <a:pt x="251769" y="58064"/>
                </a:lnTo>
                <a:lnTo>
                  <a:pt x="212104" y="82162"/>
                </a:lnTo>
                <a:lnTo>
                  <a:pt x="175069" y="109856"/>
                </a:lnTo>
                <a:lnTo>
                  <a:pt x="140906" y="140906"/>
                </a:lnTo>
                <a:lnTo>
                  <a:pt x="109856" y="175069"/>
                </a:lnTo>
                <a:lnTo>
                  <a:pt x="82162" y="212104"/>
                </a:lnTo>
                <a:lnTo>
                  <a:pt x="58064" y="251769"/>
                </a:lnTo>
                <a:lnTo>
                  <a:pt x="37806" y="293822"/>
                </a:lnTo>
                <a:lnTo>
                  <a:pt x="21628" y="338021"/>
                </a:lnTo>
                <a:lnTo>
                  <a:pt x="9774" y="384124"/>
                </a:lnTo>
                <a:lnTo>
                  <a:pt x="2483" y="431889"/>
                </a:lnTo>
                <a:lnTo>
                  <a:pt x="0" y="481075"/>
                </a:lnTo>
                <a:lnTo>
                  <a:pt x="0" y="2404999"/>
                </a:lnTo>
                <a:lnTo>
                  <a:pt x="2483" y="2454185"/>
                </a:lnTo>
                <a:lnTo>
                  <a:pt x="9774" y="2501950"/>
                </a:lnTo>
                <a:lnTo>
                  <a:pt x="21628" y="2548053"/>
                </a:lnTo>
                <a:lnTo>
                  <a:pt x="37806" y="2592252"/>
                </a:lnTo>
                <a:lnTo>
                  <a:pt x="58064" y="2634305"/>
                </a:lnTo>
                <a:lnTo>
                  <a:pt x="82162" y="2673970"/>
                </a:lnTo>
                <a:lnTo>
                  <a:pt x="109856" y="2711005"/>
                </a:lnTo>
                <a:lnTo>
                  <a:pt x="140906" y="2745168"/>
                </a:lnTo>
                <a:lnTo>
                  <a:pt x="175069" y="2776218"/>
                </a:lnTo>
                <a:lnTo>
                  <a:pt x="212104" y="2803912"/>
                </a:lnTo>
                <a:lnTo>
                  <a:pt x="251769" y="2828010"/>
                </a:lnTo>
                <a:lnTo>
                  <a:pt x="293822" y="2848268"/>
                </a:lnTo>
                <a:lnTo>
                  <a:pt x="338021" y="2864446"/>
                </a:lnTo>
                <a:lnTo>
                  <a:pt x="384124" y="2876300"/>
                </a:lnTo>
                <a:lnTo>
                  <a:pt x="431889" y="2883591"/>
                </a:lnTo>
                <a:lnTo>
                  <a:pt x="481075" y="2886075"/>
                </a:lnTo>
                <a:lnTo>
                  <a:pt x="7443724" y="2886075"/>
                </a:lnTo>
                <a:lnTo>
                  <a:pt x="7492910" y="2883591"/>
                </a:lnTo>
                <a:lnTo>
                  <a:pt x="7540675" y="2876300"/>
                </a:lnTo>
                <a:lnTo>
                  <a:pt x="7586778" y="2864446"/>
                </a:lnTo>
                <a:lnTo>
                  <a:pt x="7630977" y="2848268"/>
                </a:lnTo>
                <a:lnTo>
                  <a:pt x="7673030" y="2828010"/>
                </a:lnTo>
                <a:lnTo>
                  <a:pt x="7712695" y="2803912"/>
                </a:lnTo>
                <a:lnTo>
                  <a:pt x="7749730" y="2776218"/>
                </a:lnTo>
                <a:lnTo>
                  <a:pt x="7783893" y="2745168"/>
                </a:lnTo>
                <a:lnTo>
                  <a:pt x="7814943" y="2711005"/>
                </a:lnTo>
                <a:lnTo>
                  <a:pt x="7842637" y="2673970"/>
                </a:lnTo>
                <a:lnTo>
                  <a:pt x="7866735" y="2634305"/>
                </a:lnTo>
                <a:lnTo>
                  <a:pt x="7886993" y="2592252"/>
                </a:lnTo>
                <a:lnTo>
                  <a:pt x="7903171" y="2548053"/>
                </a:lnTo>
                <a:lnTo>
                  <a:pt x="7915025" y="2501950"/>
                </a:lnTo>
                <a:lnTo>
                  <a:pt x="7922316" y="2454185"/>
                </a:lnTo>
                <a:lnTo>
                  <a:pt x="7924800" y="2404999"/>
                </a:lnTo>
                <a:lnTo>
                  <a:pt x="7924800" y="481075"/>
                </a:lnTo>
                <a:lnTo>
                  <a:pt x="7922316" y="431889"/>
                </a:lnTo>
                <a:lnTo>
                  <a:pt x="7915025" y="384124"/>
                </a:lnTo>
                <a:lnTo>
                  <a:pt x="7903171" y="338021"/>
                </a:lnTo>
                <a:lnTo>
                  <a:pt x="7886993" y="293822"/>
                </a:lnTo>
                <a:lnTo>
                  <a:pt x="7866735" y="251769"/>
                </a:lnTo>
                <a:lnTo>
                  <a:pt x="7842637" y="212104"/>
                </a:lnTo>
                <a:lnTo>
                  <a:pt x="7814943" y="175069"/>
                </a:lnTo>
                <a:lnTo>
                  <a:pt x="7783893" y="140906"/>
                </a:lnTo>
                <a:lnTo>
                  <a:pt x="7749730" y="109856"/>
                </a:lnTo>
                <a:lnTo>
                  <a:pt x="7712695" y="82162"/>
                </a:lnTo>
                <a:lnTo>
                  <a:pt x="7673030" y="58064"/>
                </a:lnTo>
                <a:lnTo>
                  <a:pt x="7630977" y="37806"/>
                </a:lnTo>
                <a:lnTo>
                  <a:pt x="7586778" y="21628"/>
                </a:lnTo>
                <a:lnTo>
                  <a:pt x="7540675" y="9774"/>
                </a:lnTo>
                <a:lnTo>
                  <a:pt x="7492910" y="2483"/>
                </a:lnTo>
                <a:lnTo>
                  <a:pt x="7443724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12360" y="1819910"/>
            <a:ext cx="3367278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1CC">
              <a:alpha val="2078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3000374" cy="30003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810375"/>
            <a:ext cx="12192000" cy="47625"/>
          </a:xfrm>
          <a:custGeom>
            <a:avLst/>
            <a:gdLst/>
            <a:ahLst/>
            <a:cxnLst/>
            <a:rect l="l" t="t" r="r" b="b"/>
            <a:pathLst>
              <a:path w="12192000" h="47625">
                <a:moveTo>
                  <a:pt x="12192000" y="0"/>
                </a:moveTo>
                <a:lnTo>
                  <a:pt x="0" y="0"/>
                </a:lnTo>
                <a:lnTo>
                  <a:pt x="0" y="47625"/>
                </a:lnTo>
                <a:lnTo>
                  <a:pt x="12192000" y="476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2475" y="4105273"/>
            <a:ext cx="3819525" cy="2705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58994" y="86677"/>
            <a:ext cx="287401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3637" y="1828482"/>
            <a:ext cx="8986520" cy="2770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61705"/>
            <a:ext cx="1226185" cy="130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0"/>
            <a:ext cx="12211050" cy="6877050"/>
            <a:chOff x="-9525" y="0"/>
            <a:chExt cx="12211050" cy="68770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905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513" y="263372"/>
              <a:ext cx="5833371" cy="62961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9339" y="923784"/>
              <a:ext cx="4481595" cy="56689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94501" y="836294"/>
            <a:ext cx="437578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Department</a:t>
            </a:r>
            <a:r>
              <a:rPr sz="3950" u="heavy" spc="1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sz="3950" u="heavy" spc="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of</a:t>
            </a:r>
            <a:r>
              <a:rPr sz="3950" u="heavy" spc="-1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r>
              <a:rPr sz="3950" u="heavy" spc="-10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</a:rPr>
              <a:t>BES-I</a:t>
            </a:r>
            <a:r>
              <a:rPr sz="3950" u="heavy" spc="380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</a:rPr>
              <a:t> </a:t>
            </a:r>
            <a:endParaRPr sz="3950"/>
          </a:p>
        </p:txBody>
      </p:sp>
      <p:grpSp>
        <p:nvGrpSpPr>
          <p:cNvPr id="7" name="object 7"/>
          <p:cNvGrpSpPr/>
          <p:nvPr/>
        </p:nvGrpSpPr>
        <p:grpSpPr>
          <a:xfrm>
            <a:off x="7105566" y="5419460"/>
            <a:ext cx="2576830" cy="758190"/>
            <a:chOff x="7105566" y="5419460"/>
            <a:chExt cx="2576830" cy="7581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5566" y="5419460"/>
              <a:ext cx="2576743" cy="75776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77099" y="5572124"/>
              <a:ext cx="2238375" cy="457200"/>
            </a:xfrm>
            <a:custGeom>
              <a:avLst/>
              <a:gdLst/>
              <a:ahLst/>
              <a:cxnLst/>
              <a:rect l="l" t="t" r="r" b="b"/>
              <a:pathLst>
                <a:path w="2238375" h="457200">
                  <a:moveTo>
                    <a:pt x="2075560" y="0"/>
                  </a:moveTo>
                  <a:lnTo>
                    <a:pt x="162814" y="0"/>
                  </a:lnTo>
                  <a:lnTo>
                    <a:pt x="119532" y="5816"/>
                  </a:lnTo>
                  <a:lnTo>
                    <a:pt x="80640" y="22230"/>
                  </a:lnTo>
                  <a:lnTo>
                    <a:pt x="47688" y="47690"/>
                  </a:lnTo>
                  <a:lnTo>
                    <a:pt x="22229" y="80644"/>
                  </a:lnTo>
                  <a:lnTo>
                    <a:pt x="5816" y="119540"/>
                  </a:lnTo>
                  <a:lnTo>
                    <a:pt x="0" y="162826"/>
                  </a:lnTo>
                  <a:lnTo>
                    <a:pt x="0" y="294373"/>
                  </a:lnTo>
                  <a:lnTo>
                    <a:pt x="5816" y="337659"/>
                  </a:lnTo>
                  <a:lnTo>
                    <a:pt x="22229" y="376555"/>
                  </a:lnTo>
                  <a:lnTo>
                    <a:pt x="47688" y="409509"/>
                  </a:lnTo>
                  <a:lnTo>
                    <a:pt x="80640" y="434969"/>
                  </a:lnTo>
                  <a:lnTo>
                    <a:pt x="119532" y="451383"/>
                  </a:lnTo>
                  <a:lnTo>
                    <a:pt x="162814" y="457200"/>
                  </a:lnTo>
                  <a:lnTo>
                    <a:pt x="2075560" y="457200"/>
                  </a:lnTo>
                  <a:lnTo>
                    <a:pt x="2118842" y="451383"/>
                  </a:lnTo>
                  <a:lnTo>
                    <a:pt x="2157734" y="434969"/>
                  </a:lnTo>
                  <a:lnTo>
                    <a:pt x="2190686" y="409509"/>
                  </a:lnTo>
                  <a:lnTo>
                    <a:pt x="2216145" y="376555"/>
                  </a:lnTo>
                  <a:lnTo>
                    <a:pt x="2232558" y="337659"/>
                  </a:lnTo>
                  <a:lnTo>
                    <a:pt x="2238375" y="294373"/>
                  </a:lnTo>
                  <a:lnTo>
                    <a:pt x="2238375" y="162826"/>
                  </a:lnTo>
                  <a:lnTo>
                    <a:pt x="2232558" y="119540"/>
                  </a:lnTo>
                  <a:lnTo>
                    <a:pt x="2216145" y="80644"/>
                  </a:lnTo>
                  <a:lnTo>
                    <a:pt x="2190686" y="47690"/>
                  </a:lnTo>
                  <a:lnTo>
                    <a:pt x="2157734" y="22230"/>
                  </a:lnTo>
                  <a:lnTo>
                    <a:pt x="2118842" y="5816"/>
                  </a:lnTo>
                  <a:lnTo>
                    <a:pt x="207556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55054" y="1940560"/>
            <a:ext cx="5370195" cy="40436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130"/>
              </a:spcBef>
            </a:pP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COURSE:</a:t>
            </a:r>
            <a:r>
              <a:rPr sz="3200" b="1" spc="-1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5B9BD4"/>
                </a:solidFill>
                <a:latin typeface="Calibri"/>
                <a:cs typeface="Calibri"/>
              </a:rPr>
              <a:t>Data</a:t>
            </a:r>
            <a:r>
              <a:rPr sz="3200" b="1" spc="-8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5B9BD4"/>
                </a:solidFill>
                <a:latin typeface="Calibri"/>
                <a:cs typeface="Calibri"/>
              </a:rPr>
              <a:t>Structures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Calibri"/>
              <a:cs typeface="Calibri"/>
            </a:endParaRPr>
          </a:p>
          <a:p>
            <a:pPr marL="19050" algn="ctr">
              <a:lnSpc>
                <a:spcPct val="100000"/>
              </a:lnSpc>
            </a:pP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COURSE</a:t>
            </a:r>
            <a:r>
              <a:rPr sz="3200" b="1" spc="-1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C00000"/>
                </a:solidFill>
                <a:latin typeface="Calibri"/>
                <a:cs typeface="Calibri"/>
              </a:rPr>
              <a:t>CODE:</a:t>
            </a:r>
            <a:r>
              <a:rPr sz="32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20" dirty="0">
                <a:solidFill>
                  <a:srgbClr val="5B9BD4"/>
                </a:solidFill>
                <a:latin typeface="Calibri"/>
                <a:cs typeface="Calibri"/>
              </a:rPr>
              <a:t>2</a:t>
            </a:r>
            <a:r>
              <a:rPr lang="en-IN" sz="3200" b="1" spc="20" dirty="0">
                <a:solidFill>
                  <a:srgbClr val="5B9BD4"/>
                </a:solidFill>
                <a:latin typeface="Calibri"/>
                <a:cs typeface="Calibri"/>
              </a:rPr>
              <a:t>4</a:t>
            </a:r>
            <a:r>
              <a:rPr sz="3200" b="1" spc="20" dirty="0">
                <a:solidFill>
                  <a:srgbClr val="5B9BD4"/>
                </a:solidFill>
                <a:latin typeface="Calibri"/>
                <a:cs typeface="Calibri"/>
              </a:rPr>
              <a:t>SC120</a:t>
            </a:r>
            <a:r>
              <a:rPr lang="en-IN" sz="3200" b="1" spc="20" dirty="0">
                <a:solidFill>
                  <a:srgbClr val="5B9BD4"/>
                </a:solidFill>
                <a:latin typeface="Calibri"/>
                <a:cs typeface="Calibri"/>
              </a:rPr>
              <a:t>4</a:t>
            </a:r>
            <a:endParaRPr sz="3200" dirty="0">
              <a:latin typeface="Calibri"/>
              <a:cs typeface="Calibri"/>
            </a:endParaRPr>
          </a:p>
          <a:p>
            <a:pPr marL="25400" algn="ctr">
              <a:lnSpc>
                <a:spcPts val="2365"/>
              </a:lnSpc>
              <a:spcBef>
                <a:spcPts val="2540"/>
              </a:spcBef>
            </a:pPr>
            <a:r>
              <a:rPr sz="2000" b="1" spc="-20" dirty="0">
                <a:solidFill>
                  <a:srgbClr val="7E7E7E"/>
                </a:solidFill>
                <a:latin typeface="Calibri"/>
                <a:cs typeface="Calibri"/>
              </a:rPr>
              <a:t>Topic:</a:t>
            </a:r>
            <a:endParaRPr sz="2000" dirty="0">
              <a:latin typeface="Calibri"/>
              <a:cs typeface="Calibri"/>
            </a:endParaRPr>
          </a:p>
          <a:p>
            <a:pPr marL="14604" algn="ctr">
              <a:lnSpc>
                <a:spcPts val="4705"/>
              </a:lnSpc>
            </a:pPr>
            <a:r>
              <a:rPr sz="3950" b="1" spc="10" dirty="0">
                <a:solidFill>
                  <a:srgbClr val="C00000"/>
                </a:solidFill>
                <a:latin typeface="Calibri"/>
                <a:cs typeface="Calibri"/>
              </a:rPr>
              <a:t>NAME</a:t>
            </a:r>
            <a:r>
              <a:rPr sz="3950" b="1" spc="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950" b="1" spc="1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3950" b="1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950" b="1" spc="-1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3950" b="1" spc="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950" b="1" spc="-15" dirty="0">
                <a:solidFill>
                  <a:srgbClr val="C00000"/>
                </a:solidFill>
                <a:latin typeface="Calibri"/>
                <a:cs typeface="Calibri"/>
              </a:rPr>
              <a:t>TOPIC:</a:t>
            </a:r>
            <a:endParaRPr sz="39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395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Stacks</a:t>
            </a:r>
            <a:r>
              <a:rPr sz="3950" b="1" spc="1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950" b="1" spc="-30" dirty="0">
                <a:solidFill>
                  <a:srgbClr val="00AFEF"/>
                </a:solidFill>
                <a:latin typeface="Times New Roman"/>
                <a:cs typeface="Times New Roman"/>
              </a:rPr>
              <a:t>using</a:t>
            </a:r>
            <a:r>
              <a:rPr sz="3950" b="1" spc="2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950" b="1" spc="-25" dirty="0">
                <a:solidFill>
                  <a:srgbClr val="00AFEF"/>
                </a:solidFill>
                <a:latin typeface="Times New Roman"/>
                <a:cs typeface="Times New Roman"/>
              </a:rPr>
              <a:t>Linked</a:t>
            </a:r>
            <a:r>
              <a:rPr sz="3950" b="1" spc="2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395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List</a:t>
            </a:r>
            <a:endParaRPr sz="3950" dirty="0">
              <a:latin typeface="Times New Roman"/>
              <a:cs typeface="Times New Roman"/>
            </a:endParaRPr>
          </a:p>
          <a:p>
            <a:pPr marL="1484630">
              <a:lnSpc>
                <a:spcPct val="100000"/>
              </a:lnSpc>
              <a:spcBef>
                <a:spcPts val="2805"/>
              </a:spcBef>
            </a:pP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lang="en-IN" sz="2400" spc="-2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6810375"/>
                  </a:moveTo>
                  <a:lnTo>
                    <a:pt x="0" y="6810375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6810375"/>
                  </a:lnTo>
                  <a:close/>
                </a:path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2192000" y="4762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5" y="85725"/>
              <a:ext cx="2514600" cy="1057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29125" y="0"/>
            <a:ext cx="3148330" cy="738505"/>
            <a:chOff x="4429125" y="0"/>
            <a:chExt cx="3148330" cy="738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5" y="47561"/>
              <a:ext cx="3148076" cy="5191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700" y="0"/>
              <a:ext cx="3090926" cy="738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67225" y="85725"/>
              <a:ext cx="3019425" cy="390525"/>
            </a:xfrm>
            <a:custGeom>
              <a:avLst/>
              <a:gdLst/>
              <a:ahLst/>
              <a:cxnLst/>
              <a:rect l="l" t="t" r="r" b="b"/>
              <a:pathLst>
                <a:path w="3019425" h="390525">
                  <a:moveTo>
                    <a:pt x="2954401" y="0"/>
                  </a:moveTo>
                  <a:lnTo>
                    <a:pt x="65150" y="0"/>
                  </a:lnTo>
                  <a:lnTo>
                    <a:pt x="39754" y="5105"/>
                  </a:lnTo>
                  <a:lnTo>
                    <a:pt x="19050" y="19034"/>
                  </a:lnTo>
                  <a:lnTo>
                    <a:pt x="5107" y="39701"/>
                  </a:lnTo>
                  <a:lnTo>
                    <a:pt x="0" y="65024"/>
                  </a:lnTo>
                  <a:lnTo>
                    <a:pt x="0" y="325374"/>
                  </a:lnTo>
                  <a:lnTo>
                    <a:pt x="5107" y="350770"/>
                  </a:lnTo>
                  <a:lnTo>
                    <a:pt x="19050" y="371474"/>
                  </a:lnTo>
                  <a:lnTo>
                    <a:pt x="39754" y="385417"/>
                  </a:lnTo>
                  <a:lnTo>
                    <a:pt x="65150" y="390525"/>
                  </a:lnTo>
                  <a:lnTo>
                    <a:pt x="2954401" y="390525"/>
                  </a:lnTo>
                  <a:lnTo>
                    <a:pt x="2979723" y="385417"/>
                  </a:lnTo>
                  <a:lnTo>
                    <a:pt x="3000390" y="371475"/>
                  </a:lnTo>
                  <a:lnTo>
                    <a:pt x="3014319" y="350770"/>
                  </a:lnTo>
                  <a:lnTo>
                    <a:pt x="3019425" y="325374"/>
                  </a:lnTo>
                  <a:lnTo>
                    <a:pt x="3019425" y="65024"/>
                  </a:lnTo>
                  <a:lnTo>
                    <a:pt x="3014319" y="39701"/>
                  </a:lnTo>
                  <a:lnTo>
                    <a:pt x="3000390" y="19034"/>
                  </a:lnTo>
                  <a:lnTo>
                    <a:pt x="2979723" y="5105"/>
                  </a:lnTo>
                  <a:lnTo>
                    <a:pt x="2954401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901" y="65341"/>
            <a:ext cx="26206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AIM</a:t>
            </a:r>
            <a:r>
              <a:rPr spc="-75" dirty="0"/>
              <a:t> </a:t>
            </a:r>
            <a:r>
              <a:rPr spc="-10" dirty="0"/>
              <a:t>OF</a:t>
            </a:r>
            <a:r>
              <a:rPr spc="-20" dirty="0"/>
              <a:t> </a:t>
            </a:r>
            <a:r>
              <a:rPr spc="5" dirty="0"/>
              <a:t>THE</a:t>
            </a:r>
            <a:r>
              <a:rPr spc="-90" dirty="0"/>
              <a:t> </a:t>
            </a:r>
            <a:r>
              <a:rPr spc="5" dirty="0"/>
              <a:t>SESSION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9162" y="690626"/>
            <a:ext cx="10734675" cy="8286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9162" y="690626"/>
            <a:ext cx="10734675" cy="828675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944"/>
              </a:spcBef>
            </a:pPr>
            <a:r>
              <a:rPr sz="1550" spc="-50" dirty="0">
                <a:latin typeface="Lucida Sans Unicode"/>
                <a:cs typeface="Lucida Sans Unicode"/>
              </a:rPr>
              <a:t>To</a:t>
            </a:r>
            <a:r>
              <a:rPr sz="1550" spc="5" dirty="0">
                <a:latin typeface="Lucida Sans Unicode"/>
                <a:cs typeface="Lucida Sans Unicode"/>
              </a:rPr>
              <a:t> </a:t>
            </a:r>
            <a:r>
              <a:rPr sz="1550" spc="15" dirty="0">
                <a:latin typeface="Lucida Sans Unicode"/>
                <a:cs typeface="Lucida Sans Unicode"/>
              </a:rPr>
              <a:t>familiarize</a:t>
            </a:r>
            <a:r>
              <a:rPr sz="1550" spc="35" dirty="0">
                <a:latin typeface="Lucida Sans Unicode"/>
                <a:cs typeface="Lucida Sans Unicode"/>
              </a:rPr>
              <a:t> </a:t>
            </a:r>
            <a:r>
              <a:rPr sz="1550" spc="40" dirty="0">
                <a:latin typeface="Lucida Sans Unicode"/>
                <a:cs typeface="Lucida Sans Unicode"/>
              </a:rPr>
              <a:t>students</a:t>
            </a:r>
            <a:r>
              <a:rPr sz="1550" spc="120" dirty="0">
                <a:latin typeface="Lucida Sans Unicode"/>
                <a:cs typeface="Lucida Sans Unicode"/>
              </a:rPr>
              <a:t> </a:t>
            </a:r>
            <a:r>
              <a:rPr sz="1550" spc="15" dirty="0">
                <a:latin typeface="Lucida Sans Unicode"/>
                <a:cs typeface="Lucida Sans Unicode"/>
              </a:rPr>
              <a:t>with</a:t>
            </a:r>
            <a:r>
              <a:rPr sz="1550" spc="-70" dirty="0">
                <a:latin typeface="Lucida Sans Unicode"/>
                <a:cs typeface="Lucida Sans Unicode"/>
              </a:rPr>
              <a:t> </a:t>
            </a:r>
            <a:r>
              <a:rPr sz="1550" spc="45" dirty="0">
                <a:latin typeface="Lucida Sans Unicode"/>
                <a:cs typeface="Lucida Sans Unicode"/>
              </a:rPr>
              <a:t>the</a:t>
            </a:r>
            <a:r>
              <a:rPr sz="1550" spc="40" dirty="0">
                <a:latin typeface="Lucida Sans Unicode"/>
                <a:cs typeface="Lucida Sans Unicode"/>
              </a:rPr>
              <a:t> </a:t>
            </a:r>
            <a:r>
              <a:rPr sz="1550" spc="75" dirty="0">
                <a:latin typeface="Lucida Sans Unicode"/>
                <a:cs typeface="Lucida Sans Unicode"/>
              </a:rPr>
              <a:t>basic</a:t>
            </a:r>
            <a:r>
              <a:rPr sz="1550" spc="55" dirty="0">
                <a:latin typeface="Lucida Sans Unicode"/>
                <a:cs typeface="Lucida Sans Unicode"/>
              </a:rPr>
              <a:t> </a:t>
            </a:r>
            <a:r>
              <a:rPr sz="1550" spc="80" dirty="0">
                <a:latin typeface="Lucida Sans Unicode"/>
                <a:cs typeface="Lucida Sans Unicode"/>
              </a:rPr>
              <a:t>concept</a:t>
            </a:r>
            <a:r>
              <a:rPr sz="1550" spc="70" dirty="0">
                <a:latin typeface="Lucida Sans Unicode"/>
                <a:cs typeface="Lucida Sans Unicode"/>
              </a:rPr>
              <a:t> </a:t>
            </a:r>
            <a:r>
              <a:rPr sz="1550" spc="-15" dirty="0">
                <a:latin typeface="Lucida Sans Unicode"/>
                <a:cs typeface="Lucida Sans Unicode"/>
              </a:rPr>
              <a:t>of</a:t>
            </a:r>
            <a:r>
              <a:rPr sz="1550" spc="45" dirty="0">
                <a:latin typeface="Lucida Sans Unicode"/>
                <a:cs typeface="Lucida Sans Unicode"/>
              </a:rPr>
              <a:t> </a:t>
            </a:r>
            <a:r>
              <a:rPr sz="1550" spc="65" dirty="0">
                <a:latin typeface="Lucida Sans Unicode"/>
                <a:cs typeface="Lucida Sans Unicode"/>
              </a:rPr>
              <a:t>stack</a:t>
            </a:r>
            <a:r>
              <a:rPr sz="1550" spc="-25" dirty="0">
                <a:latin typeface="Lucida Sans Unicode"/>
                <a:cs typeface="Lucida Sans Unicode"/>
              </a:rPr>
              <a:t> </a:t>
            </a:r>
            <a:r>
              <a:rPr sz="1550" spc="35" dirty="0">
                <a:latin typeface="Lucida Sans Unicode"/>
                <a:cs typeface="Lucida Sans Unicode"/>
              </a:rPr>
              <a:t>operations</a:t>
            </a:r>
            <a:r>
              <a:rPr sz="1550" spc="195" dirty="0">
                <a:latin typeface="Lucida Sans Unicode"/>
                <a:cs typeface="Lucida Sans Unicode"/>
              </a:rPr>
              <a:t> </a:t>
            </a:r>
            <a:r>
              <a:rPr sz="1550" spc="15" dirty="0">
                <a:latin typeface="Lucida Sans Unicode"/>
                <a:cs typeface="Lucida Sans Unicode"/>
              </a:rPr>
              <a:t>using</a:t>
            </a:r>
            <a:r>
              <a:rPr sz="1550" spc="10" dirty="0">
                <a:latin typeface="Lucida Sans Unicode"/>
                <a:cs typeface="Lucida Sans Unicode"/>
              </a:rPr>
              <a:t> </a:t>
            </a:r>
            <a:r>
              <a:rPr sz="1550" spc="-20" dirty="0">
                <a:latin typeface="Lucida Sans Unicode"/>
                <a:cs typeface="Lucida Sans Unicode"/>
              </a:rPr>
              <a:t>Linked</a:t>
            </a:r>
            <a:r>
              <a:rPr sz="1550" spc="25" dirty="0">
                <a:latin typeface="Lucida Sans Unicode"/>
                <a:cs typeface="Lucida Sans Unicode"/>
              </a:rPr>
              <a:t> </a:t>
            </a:r>
            <a:r>
              <a:rPr sz="1550" spc="-30" dirty="0">
                <a:latin typeface="Lucida Sans Unicode"/>
                <a:cs typeface="Lucida Sans Unicode"/>
              </a:rPr>
              <a:t>Lists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95750" y="1695386"/>
            <a:ext cx="4034154" cy="767080"/>
            <a:chOff x="4095750" y="1695386"/>
            <a:chExt cx="4034154" cy="76708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4325" y="1771586"/>
              <a:ext cx="3995801" cy="5191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5750" y="1695386"/>
              <a:ext cx="4033901" cy="7667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62425" y="1809749"/>
              <a:ext cx="3867150" cy="390525"/>
            </a:xfrm>
            <a:custGeom>
              <a:avLst/>
              <a:gdLst/>
              <a:ahLst/>
              <a:cxnLst/>
              <a:rect l="l" t="t" r="r" b="b"/>
              <a:pathLst>
                <a:path w="3867150" h="390525">
                  <a:moveTo>
                    <a:pt x="3802126" y="0"/>
                  </a:moveTo>
                  <a:lnTo>
                    <a:pt x="65024" y="0"/>
                  </a:lnTo>
                  <a:lnTo>
                    <a:pt x="39701" y="5105"/>
                  </a:lnTo>
                  <a:lnTo>
                    <a:pt x="19034" y="19034"/>
                  </a:lnTo>
                  <a:lnTo>
                    <a:pt x="5105" y="39701"/>
                  </a:lnTo>
                  <a:lnTo>
                    <a:pt x="0" y="65024"/>
                  </a:lnTo>
                  <a:lnTo>
                    <a:pt x="0" y="325374"/>
                  </a:lnTo>
                  <a:lnTo>
                    <a:pt x="5105" y="350770"/>
                  </a:lnTo>
                  <a:lnTo>
                    <a:pt x="19034" y="371474"/>
                  </a:lnTo>
                  <a:lnTo>
                    <a:pt x="39701" y="385417"/>
                  </a:lnTo>
                  <a:lnTo>
                    <a:pt x="65024" y="390525"/>
                  </a:lnTo>
                  <a:lnTo>
                    <a:pt x="3802126" y="390525"/>
                  </a:lnTo>
                  <a:lnTo>
                    <a:pt x="3827448" y="385417"/>
                  </a:lnTo>
                  <a:lnTo>
                    <a:pt x="3848115" y="371475"/>
                  </a:lnTo>
                  <a:lnTo>
                    <a:pt x="3862044" y="350770"/>
                  </a:lnTo>
                  <a:lnTo>
                    <a:pt x="3867150" y="325374"/>
                  </a:lnTo>
                  <a:lnTo>
                    <a:pt x="3867150" y="65024"/>
                  </a:lnTo>
                  <a:lnTo>
                    <a:pt x="3862044" y="39701"/>
                  </a:lnTo>
                  <a:lnTo>
                    <a:pt x="3848115" y="19034"/>
                  </a:lnTo>
                  <a:lnTo>
                    <a:pt x="3827448" y="5105"/>
                  </a:lnTo>
                  <a:lnTo>
                    <a:pt x="380212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09490" y="1790382"/>
            <a:ext cx="35655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15" dirty="0">
                <a:solidFill>
                  <a:srgbClr val="FFFFFF"/>
                </a:solidFill>
                <a:latin typeface="Calibri"/>
                <a:cs typeface="Calibri"/>
              </a:rPr>
              <a:t>NS</a:t>
            </a:r>
            <a:r>
              <a:rPr sz="2400" spc="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-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95450" y="2371598"/>
            <a:ext cx="9044305" cy="2005330"/>
            <a:chOff x="1695450" y="2371598"/>
            <a:chExt cx="9044305" cy="200533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4025" y="2371598"/>
              <a:ext cx="8929751" cy="19574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95450" y="2543048"/>
              <a:ext cx="9044051" cy="183362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7426" y="2443226"/>
              <a:ext cx="8791575" cy="18192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57426" y="2443226"/>
              <a:ext cx="8791575" cy="1819275"/>
            </a:xfrm>
            <a:custGeom>
              <a:avLst/>
              <a:gdLst/>
              <a:ahLst/>
              <a:cxnLst/>
              <a:rect l="l" t="t" r="r" b="b"/>
              <a:pathLst>
                <a:path w="8791575" h="1819275">
                  <a:moveTo>
                    <a:pt x="0" y="1819275"/>
                  </a:moveTo>
                  <a:lnTo>
                    <a:pt x="8791575" y="1819275"/>
                  </a:lnTo>
                  <a:lnTo>
                    <a:pt x="8791575" y="0"/>
                  </a:lnTo>
                  <a:lnTo>
                    <a:pt x="0" y="0"/>
                  </a:lnTo>
                  <a:lnTo>
                    <a:pt x="0" y="1819275"/>
                  </a:lnTo>
                  <a:close/>
                </a:path>
              </a:pathLst>
            </a:custGeom>
            <a:ln w="9525">
              <a:solidFill>
                <a:srgbClr val="DEEB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32610" y="2553271"/>
            <a:ext cx="8627745" cy="16471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550" spc="-50" dirty="0">
                <a:latin typeface="Lucida Sans Unicode"/>
                <a:cs typeface="Lucida Sans Unicode"/>
              </a:rPr>
              <a:t>This</a:t>
            </a:r>
            <a:r>
              <a:rPr sz="1550" spc="20" dirty="0">
                <a:latin typeface="Lucida Sans Unicode"/>
                <a:cs typeface="Lucida Sans Unicode"/>
              </a:rPr>
              <a:t> </a:t>
            </a:r>
            <a:r>
              <a:rPr sz="1550" spc="30" dirty="0">
                <a:latin typeface="Lucida Sans Unicode"/>
                <a:cs typeface="Lucida Sans Unicode"/>
              </a:rPr>
              <a:t>Session</a:t>
            </a:r>
            <a:r>
              <a:rPr sz="1550" spc="65" dirty="0">
                <a:latin typeface="Lucida Sans Unicode"/>
                <a:cs typeface="Lucida Sans Unicode"/>
              </a:rPr>
              <a:t> </a:t>
            </a:r>
            <a:r>
              <a:rPr sz="1550" spc="-25" dirty="0">
                <a:latin typeface="Lucida Sans Unicode"/>
                <a:cs typeface="Lucida Sans Unicode"/>
              </a:rPr>
              <a:t>is</a:t>
            </a:r>
            <a:r>
              <a:rPr sz="1550" spc="-55" dirty="0">
                <a:latin typeface="Lucida Sans Unicode"/>
                <a:cs typeface="Lucida Sans Unicode"/>
              </a:rPr>
              <a:t> </a:t>
            </a:r>
            <a:r>
              <a:rPr sz="1550" spc="55" dirty="0">
                <a:latin typeface="Lucida Sans Unicode"/>
                <a:cs typeface="Lucida Sans Unicode"/>
              </a:rPr>
              <a:t>designed</a:t>
            </a:r>
            <a:r>
              <a:rPr sz="1550" spc="150" dirty="0">
                <a:latin typeface="Lucida Sans Unicode"/>
                <a:cs typeface="Lucida Sans Unicode"/>
              </a:rPr>
              <a:t> </a:t>
            </a:r>
            <a:r>
              <a:rPr sz="1550" spc="-40" dirty="0">
                <a:latin typeface="Lucida Sans Unicode"/>
                <a:cs typeface="Lucida Sans Unicode"/>
              </a:rPr>
              <a:t>to:</a:t>
            </a:r>
            <a:endParaRPr sz="1550">
              <a:latin typeface="Lucida Sans Unicode"/>
              <a:cs typeface="Lucida Sans Unicode"/>
            </a:endParaRPr>
          </a:p>
          <a:p>
            <a:pPr marL="355600" indent="-34353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550" spc="5" dirty="0">
                <a:latin typeface="Arial MT"/>
                <a:cs typeface="Arial MT"/>
              </a:rPr>
              <a:t>Demonstrate</a:t>
            </a:r>
            <a:r>
              <a:rPr sz="1550" spc="18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how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to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-25" dirty="0">
                <a:latin typeface="Arial MT"/>
                <a:cs typeface="Arial MT"/>
              </a:rPr>
              <a:t>implement</a:t>
            </a:r>
            <a:r>
              <a:rPr sz="1550" spc="15" dirty="0">
                <a:latin typeface="Arial MT"/>
                <a:cs typeface="Arial MT"/>
              </a:rPr>
              <a:t> a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stack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using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linked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list.</a:t>
            </a:r>
            <a:endParaRPr sz="1550">
              <a:latin typeface="Arial MT"/>
              <a:cs typeface="Arial MT"/>
            </a:endParaRPr>
          </a:p>
          <a:p>
            <a:pPr marL="355600" marR="5080" indent="-343535">
              <a:lnSpc>
                <a:spcPct val="100899"/>
              </a:lnSpc>
              <a:spcBef>
                <a:spcPts val="75"/>
              </a:spcBef>
              <a:buAutoNum type="arabicPeriod"/>
              <a:tabLst>
                <a:tab pos="355600" algn="l"/>
                <a:tab pos="356235" algn="l"/>
                <a:tab pos="3872865" algn="l"/>
                <a:tab pos="7018655" algn="l"/>
                <a:tab pos="7886065" algn="l"/>
              </a:tabLst>
            </a:pPr>
            <a:r>
              <a:rPr sz="1550" spc="5" dirty="0">
                <a:latin typeface="Arial MT"/>
                <a:cs typeface="Arial MT"/>
              </a:rPr>
              <a:t>D</a:t>
            </a:r>
            <a:r>
              <a:rPr sz="1550" spc="25" dirty="0">
                <a:latin typeface="Arial MT"/>
                <a:cs typeface="Arial MT"/>
              </a:rPr>
              <a:t>i</a:t>
            </a:r>
            <a:r>
              <a:rPr sz="1550" spc="45" dirty="0">
                <a:latin typeface="Arial MT"/>
                <a:cs typeface="Arial MT"/>
              </a:rPr>
              <a:t>sc</a:t>
            </a:r>
            <a:r>
              <a:rPr sz="1550" spc="-40" dirty="0">
                <a:latin typeface="Arial MT"/>
                <a:cs typeface="Arial MT"/>
              </a:rPr>
              <a:t>u</a:t>
            </a:r>
            <a:r>
              <a:rPr sz="1550" spc="45" dirty="0">
                <a:latin typeface="Arial MT"/>
                <a:cs typeface="Arial MT"/>
              </a:rPr>
              <a:t>s</a:t>
            </a:r>
            <a:r>
              <a:rPr sz="1550" spc="10" dirty="0">
                <a:latin typeface="Arial MT"/>
                <a:cs typeface="Arial MT"/>
              </a:rPr>
              <a:t>s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t</a:t>
            </a:r>
            <a:r>
              <a:rPr sz="1550" spc="-40" dirty="0">
                <a:latin typeface="Arial MT"/>
                <a:cs typeface="Arial MT"/>
              </a:rPr>
              <a:t>h</a:t>
            </a:r>
            <a:r>
              <a:rPr sz="1550" spc="10" dirty="0">
                <a:latin typeface="Arial MT"/>
                <a:cs typeface="Arial MT"/>
              </a:rPr>
              <a:t>e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110" dirty="0">
                <a:latin typeface="Arial MT"/>
                <a:cs typeface="Arial MT"/>
              </a:rPr>
              <a:t>a</a:t>
            </a:r>
            <a:r>
              <a:rPr sz="1550" spc="-40" dirty="0">
                <a:latin typeface="Arial MT"/>
                <a:cs typeface="Arial MT"/>
              </a:rPr>
              <a:t>d</a:t>
            </a:r>
            <a:r>
              <a:rPr sz="1550" spc="45" dirty="0">
                <a:latin typeface="Arial MT"/>
                <a:cs typeface="Arial MT"/>
              </a:rPr>
              <a:t>v</a:t>
            </a:r>
            <a:r>
              <a:rPr sz="1550" spc="35" dirty="0">
                <a:latin typeface="Arial MT"/>
                <a:cs typeface="Arial MT"/>
              </a:rPr>
              <a:t>a</a:t>
            </a:r>
            <a:r>
              <a:rPr sz="1550" spc="-40" dirty="0">
                <a:latin typeface="Arial MT"/>
                <a:cs typeface="Arial MT"/>
              </a:rPr>
              <a:t>n</a:t>
            </a:r>
            <a:r>
              <a:rPr sz="1550" spc="15" dirty="0">
                <a:latin typeface="Arial MT"/>
                <a:cs typeface="Arial MT"/>
              </a:rPr>
              <a:t>t</a:t>
            </a:r>
            <a:r>
              <a:rPr sz="1550" spc="110" dirty="0">
                <a:latin typeface="Arial MT"/>
                <a:cs typeface="Arial MT"/>
              </a:rPr>
              <a:t>a</a:t>
            </a:r>
            <a:r>
              <a:rPr sz="1550" spc="-40" dirty="0">
                <a:latin typeface="Arial MT"/>
                <a:cs typeface="Arial MT"/>
              </a:rPr>
              <a:t>g</a:t>
            </a:r>
            <a:r>
              <a:rPr sz="1550" spc="35" dirty="0">
                <a:latin typeface="Arial MT"/>
                <a:cs typeface="Arial MT"/>
              </a:rPr>
              <a:t>e</a:t>
            </a:r>
            <a:r>
              <a:rPr sz="1550" spc="10" dirty="0">
                <a:latin typeface="Arial MT"/>
                <a:cs typeface="Arial MT"/>
              </a:rPr>
              <a:t>s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o</a:t>
            </a:r>
            <a:r>
              <a:rPr sz="1550" spc="5" dirty="0">
                <a:latin typeface="Arial MT"/>
                <a:cs typeface="Arial MT"/>
              </a:rPr>
              <a:t>f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-45" dirty="0">
                <a:latin typeface="Arial MT"/>
                <a:cs typeface="Arial MT"/>
              </a:rPr>
              <a:t>u</a:t>
            </a:r>
            <a:r>
              <a:rPr sz="1550" spc="45" dirty="0">
                <a:latin typeface="Arial MT"/>
                <a:cs typeface="Arial MT"/>
              </a:rPr>
              <a:t>s</a:t>
            </a:r>
            <a:r>
              <a:rPr sz="1550" spc="25" dirty="0">
                <a:latin typeface="Arial MT"/>
                <a:cs typeface="Arial MT"/>
              </a:rPr>
              <a:t>i</a:t>
            </a:r>
            <a:r>
              <a:rPr sz="1550" spc="30" dirty="0">
                <a:latin typeface="Arial MT"/>
                <a:cs typeface="Arial MT"/>
              </a:rPr>
              <a:t>n</a:t>
            </a:r>
            <a:r>
              <a:rPr sz="1550" spc="10" dirty="0">
                <a:latin typeface="Arial MT"/>
                <a:cs typeface="Arial MT"/>
              </a:rPr>
              <a:t>g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50" dirty="0">
                <a:latin typeface="Arial MT"/>
                <a:cs typeface="Arial MT"/>
              </a:rPr>
              <a:t>l</a:t>
            </a:r>
            <a:r>
              <a:rPr sz="1550" spc="100" dirty="0">
                <a:latin typeface="Arial MT"/>
                <a:cs typeface="Arial MT"/>
              </a:rPr>
              <a:t>i</a:t>
            </a:r>
            <a:r>
              <a:rPr sz="1550" spc="30" dirty="0">
                <a:latin typeface="Arial MT"/>
                <a:cs typeface="Arial MT"/>
              </a:rPr>
              <a:t>n</a:t>
            </a:r>
            <a:r>
              <a:rPr sz="1550" spc="-30" dirty="0">
                <a:latin typeface="Arial MT"/>
                <a:cs typeface="Arial MT"/>
              </a:rPr>
              <a:t>k</a:t>
            </a:r>
            <a:r>
              <a:rPr sz="1550" spc="30" dirty="0">
                <a:latin typeface="Arial MT"/>
                <a:cs typeface="Arial MT"/>
              </a:rPr>
              <a:t>e</a:t>
            </a:r>
            <a:r>
              <a:rPr sz="1550" spc="10" dirty="0">
                <a:latin typeface="Arial MT"/>
                <a:cs typeface="Arial MT"/>
              </a:rPr>
              <a:t>d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l</a:t>
            </a:r>
            <a:r>
              <a:rPr sz="1550" spc="30" dirty="0">
                <a:latin typeface="Arial MT"/>
                <a:cs typeface="Arial MT"/>
              </a:rPr>
              <a:t>i</a:t>
            </a:r>
            <a:r>
              <a:rPr sz="1550" spc="45" dirty="0">
                <a:latin typeface="Arial MT"/>
                <a:cs typeface="Arial MT"/>
              </a:rPr>
              <a:t>s</a:t>
            </a:r>
            <a:r>
              <a:rPr sz="1550" spc="5" dirty="0">
                <a:latin typeface="Arial MT"/>
                <a:cs typeface="Arial MT"/>
              </a:rPr>
              <a:t>t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f</a:t>
            </a:r>
            <a:r>
              <a:rPr sz="1550" spc="35" dirty="0">
                <a:latin typeface="Arial MT"/>
                <a:cs typeface="Arial MT"/>
              </a:rPr>
              <a:t>o</a:t>
            </a:r>
            <a:r>
              <a:rPr sz="1550" spc="5" dirty="0">
                <a:latin typeface="Arial MT"/>
                <a:cs typeface="Arial MT"/>
              </a:rPr>
              <a:t>r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45" dirty="0">
                <a:latin typeface="Arial MT"/>
                <a:cs typeface="Arial MT"/>
              </a:rPr>
              <a:t>s</a:t>
            </a:r>
            <a:r>
              <a:rPr sz="1550" spc="15" dirty="0">
                <a:latin typeface="Arial MT"/>
                <a:cs typeface="Arial MT"/>
              </a:rPr>
              <a:t>t</a:t>
            </a:r>
            <a:r>
              <a:rPr sz="1550" spc="30" dirty="0">
                <a:latin typeface="Arial MT"/>
                <a:cs typeface="Arial MT"/>
              </a:rPr>
              <a:t>a</a:t>
            </a:r>
            <a:r>
              <a:rPr sz="1550" spc="45" dirty="0">
                <a:latin typeface="Arial MT"/>
                <a:cs typeface="Arial MT"/>
              </a:rPr>
              <a:t>c</a:t>
            </a:r>
            <a:r>
              <a:rPr sz="1550" spc="-30" dirty="0">
                <a:latin typeface="Arial MT"/>
                <a:cs typeface="Arial MT"/>
              </a:rPr>
              <a:t>k</a:t>
            </a:r>
            <a:r>
              <a:rPr sz="1550" spc="5" dirty="0">
                <a:latin typeface="Arial MT"/>
                <a:cs typeface="Arial MT"/>
              </a:rPr>
              <a:t>,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120" dirty="0">
                <a:latin typeface="Arial MT"/>
                <a:cs typeface="Arial MT"/>
              </a:rPr>
              <a:t>s</a:t>
            </a:r>
            <a:r>
              <a:rPr sz="1550" spc="-40" dirty="0">
                <a:latin typeface="Arial MT"/>
                <a:cs typeface="Arial MT"/>
              </a:rPr>
              <a:t>u</a:t>
            </a:r>
            <a:r>
              <a:rPr sz="1550" spc="45" dirty="0">
                <a:latin typeface="Arial MT"/>
                <a:cs typeface="Arial MT"/>
              </a:rPr>
              <a:t>c</a:t>
            </a:r>
            <a:r>
              <a:rPr sz="1550" spc="10" dirty="0">
                <a:latin typeface="Arial MT"/>
                <a:cs typeface="Arial MT"/>
              </a:rPr>
              <a:t>h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a</a:t>
            </a:r>
            <a:r>
              <a:rPr sz="1550" spc="10" dirty="0">
                <a:latin typeface="Arial MT"/>
                <a:cs typeface="Arial MT"/>
              </a:rPr>
              <a:t>s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40" dirty="0">
                <a:latin typeface="Arial MT"/>
                <a:cs typeface="Arial MT"/>
              </a:rPr>
              <a:t>d</a:t>
            </a:r>
            <a:r>
              <a:rPr sz="1550" spc="45" dirty="0">
                <a:latin typeface="Arial MT"/>
                <a:cs typeface="Arial MT"/>
              </a:rPr>
              <a:t>y</a:t>
            </a:r>
            <a:r>
              <a:rPr sz="1550" spc="-40" dirty="0">
                <a:latin typeface="Arial MT"/>
                <a:cs typeface="Arial MT"/>
              </a:rPr>
              <a:t>n</a:t>
            </a:r>
            <a:r>
              <a:rPr sz="1550" spc="110" dirty="0">
                <a:latin typeface="Arial MT"/>
                <a:cs typeface="Arial MT"/>
              </a:rPr>
              <a:t>a</a:t>
            </a:r>
            <a:r>
              <a:rPr sz="1550" spc="-95" dirty="0">
                <a:latin typeface="Arial MT"/>
                <a:cs typeface="Arial MT"/>
              </a:rPr>
              <a:t>m</a:t>
            </a:r>
            <a:r>
              <a:rPr sz="1550" spc="30" dirty="0">
                <a:latin typeface="Arial MT"/>
                <a:cs typeface="Arial MT"/>
              </a:rPr>
              <a:t>i</a:t>
            </a:r>
            <a:r>
              <a:rPr sz="1550" spc="10" dirty="0">
                <a:latin typeface="Arial MT"/>
                <a:cs typeface="Arial MT"/>
              </a:rPr>
              <a:t>c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20" dirty="0">
                <a:latin typeface="Arial MT"/>
                <a:cs typeface="Arial MT"/>
              </a:rPr>
              <a:t>m</a:t>
            </a:r>
            <a:r>
              <a:rPr sz="1550" spc="105" dirty="0">
                <a:latin typeface="Arial MT"/>
                <a:cs typeface="Arial MT"/>
              </a:rPr>
              <a:t>e</a:t>
            </a:r>
            <a:r>
              <a:rPr sz="1550" spc="-20" dirty="0">
                <a:latin typeface="Arial MT"/>
                <a:cs typeface="Arial MT"/>
              </a:rPr>
              <a:t>m</a:t>
            </a:r>
            <a:r>
              <a:rPr sz="1550" spc="30" dirty="0">
                <a:latin typeface="Arial MT"/>
                <a:cs typeface="Arial MT"/>
              </a:rPr>
              <a:t>o</a:t>
            </a:r>
            <a:r>
              <a:rPr sz="1550" spc="5" dirty="0">
                <a:latin typeface="Arial MT"/>
                <a:cs typeface="Arial MT"/>
              </a:rPr>
              <a:t>ry  </a:t>
            </a:r>
            <a:r>
              <a:rPr sz="1550" spc="10" dirty="0">
                <a:latin typeface="Arial MT"/>
                <a:cs typeface="Arial MT"/>
              </a:rPr>
              <a:t>allocation.</a:t>
            </a:r>
            <a:endParaRPr sz="15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550" spc="15" dirty="0">
                <a:latin typeface="Arial MT"/>
                <a:cs typeface="Arial MT"/>
              </a:rPr>
              <a:t>Describe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the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-15" dirty="0">
                <a:latin typeface="Arial MT"/>
                <a:cs typeface="Arial MT"/>
              </a:rPr>
              <a:t>fundamental</a:t>
            </a:r>
            <a:r>
              <a:rPr sz="1550" spc="36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operations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stack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(push,</a:t>
            </a:r>
            <a:r>
              <a:rPr sz="1550" spc="19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pop,</a:t>
            </a:r>
            <a:r>
              <a:rPr sz="1550" spc="18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peek).</a:t>
            </a:r>
            <a:endParaRPr sz="15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550" spc="-25" dirty="0">
                <a:latin typeface="Arial MT"/>
                <a:cs typeface="Arial MT"/>
              </a:rPr>
              <a:t>Analyze</a:t>
            </a:r>
            <a:r>
              <a:rPr sz="1550" spc="34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the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time</a:t>
            </a:r>
            <a:r>
              <a:rPr sz="1550" spc="20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complexity</a:t>
            </a:r>
            <a:r>
              <a:rPr sz="1550" spc="22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stack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operations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in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linked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list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implementation</a:t>
            </a:r>
            <a:r>
              <a:rPr sz="1550" spc="-5" dirty="0">
                <a:latin typeface="Calibri"/>
                <a:cs typeface="Calibri"/>
              </a:rPr>
              <a:t>.</a:t>
            </a:r>
            <a:r>
              <a:rPr sz="1550" spc="-5" dirty="0">
                <a:latin typeface="Arial MT"/>
                <a:cs typeface="Arial MT"/>
              </a:rPr>
              <a:t>.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8377" y="709039"/>
            <a:ext cx="737235" cy="736600"/>
            <a:chOff x="98377" y="709039"/>
            <a:chExt cx="737235" cy="736600"/>
          </a:xfrm>
        </p:grpSpPr>
        <p:sp>
          <p:nvSpPr>
            <p:cNvPr id="21" name="object 21"/>
            <p:cNvSpPr/>
            <p:nvPr/>
          </p:nvSpPr>
          <p:spPr>
            <a:xfrm>
              <a:off x="98374" y="756119"/>
              <a:ext cx="688975" cy="688975"/>
            </a:xfrm>
            <a:custGeom>
              <a:avLst/>
              <a:gdLst/>
              <a:ahLst/>
              <a:cxnLst/>
              <a:rect l="l" t="t" r="r" b="b"/>
              <a:pathLst>
                <a:path w="688975" h="688975">
                  <a:moveTo>
                    <a:pt x="566394" y="344411"/>
                  </a:moveTo>
                  <a:lnTo>
                    <a:pt x="561873" y="299859"/>
                  </a:lnTo>
                  <a:lnTo>
                    <a:pt x="548347" y="256743"/>
                  </a:lnTo>
                  <a:lnTo>
                    <a:pt x="525780" y="216496"/>
                  </a:lnTo>
                  <a:lnTo>
                    <a:pt x="512267" y="230022"/>
                  </a:lnTo>
                  <a:lnTo>
                    <a:pt x="534047" y="271475"/>
                  </a:lnTo>
                  <a:lnTo>
                    <a:pt x="545503" y="315366"/>
                  </a:lnTo>
                  <a:lnTo>
                    <a:pt x="546938" y="359994"/>
                  </a:lnTo>
                  <a:lnTo>
                    <a:pt x="538683" y="403669"/>
                  </a:lnTo>
                  <a:lnTo>
                    <a:pt x="521055" y="444690"/>
                  </a:lnTo>
                  <a:lnTo>
                    <a:pt x="494360" y="481380"/>
                  </a:lnTo>
                  <a:lnTo>
                    <a:pt x="458939" y="512025"/>
                  </a:lnTo>
                  <a:lnTo>
                    <a:pt x="417474" y="533819"/>
                  </a:lnTo>
                  <a:lnTo>
                    <a:pt x="373583" y="545274"/>
                  </a:lnTo>
                  <a:lnTo>
                    <a:pt x="328942" y="546709"/>
                  </a:lnTo>
                  <a:lnTo>
                    <a:pt x="285267" y="538454"/>
                  </a:lnTo>
                  <a:lnTo>
                    <a:pt x="244246" y="520814"/>
                  </a:lnTo>
                  <a:lnTo>
                    <a:pt x="207568" y="494131"/>
                  </a:lnTo>
                  <a:lnTo>
                    <a:pt x="176923" y="458711"/>
                  </a:lnTo>
                  <a:lnTo>
                    <a:pt x="155130" y="417245"/>
                  </a:lnTo>
                  <a:lnTo>
                    <a:pt x="143675" y="373354"/>
                  </a:lnTo>
                  <a:lnTo>
                    <a:pt x="142240" y="328726"/>
                  </a:lnTo>
                  <a:lnTo>
                    <a:pt x="150495" y="285051"/>
                  </a:lnTo>
                  <a:lnTo>
                    <a:pt x="168135" y="244030"/>
                  </a:lnTo>
                  <a:lnTo>
                    <a:pt x="194818" y="207352"/>
                  </a:lnTo>
                  <a:lnTo>
                    <a:pt x="230238" y="176695"/>
                  </a:lnTo>
                  <a:lnTo>
                    <a:pt x="273888" y="154127"/>
                  </a:lnTo>
                  <a:lnTo>
                    <a:pt x="320675" y="142836"/>
                  </a:lnTo>
                  <a:lnTo>
                    <a:pt x="368503" y="142836"/>
                  </a:lnTo>
                  <a:lnTo>
                    <a:pt x="415290" y="154127"/>
                  </a:lnTo>
                  <a:lnTo>
                    <a:pt x="458939" y="176695"/>
                  </a:lnTo>
                  <a:lnTo>
                    <a:pt x="472465" y="163169"/>
                  </a:lnTo>
                  <a:lnTo>
                    <a:pt x="433336" y="141071"/>
                  </a:lnTo>
                  <a:lnTo>
                    <a:pt x="391858" y="127622"/>
                  </a:lnTo>
                  <a:lnTo>
                    <a:pt x="349275" y="122605"/>
                  </a:lnTo>
                  <a:lnTo>
                    <a:pt x="306832" y="125806"/>
                  </a:lnTo>
                  <a:lnTo>
                    <a:pt x="265772" y="137007"/>
                  </a:lnTo>
                  <a:lnTo>
                    <a:pt x="227330" y="156006"/>
                  </a:lnTo>
                  <a:lnTo>
                    <a:pt x="192760" y="182575"/>
                  </a:lnTo>
                  <a:lnTo>
                    <a:pt x="163296" y="216496"/>
                  </a:lnTo>
                  <a:lnTo>
                    <a:pt x="141198" y="255625"/>
                  </a:lnTo>
                  <a:lnTo>
                    <a:pt x="127749" y="297091"/>
                  </a:lnTo>
                  <a:lnTo>
                    <a:pt x="122720" y="339674"/>
                  </a:lnTo>
                  <a:lnTo>
                    <a:pt x="125920" y="382117"/>
                  </a:lnTo>
                  <a:lnTo>
                    <a:pt x="137134" y="423189"/>
                  </a:lnTo>
                  <a:lnTo>
                    <a:pt x="156121" y="461619"/>
                  </a:lnTo>
                  <a:lnTo>
                    <a:pt x="182689" y="496189"/>
                  </a:lnTo>
                  <a:lnTo>
                    <a:pt x="216623" y="525653"/>
                  </a:lnTo>
                  <a:lnTo>
                    <a:pt x="255739" y="547751"/>
                  </a:lnTo>
                  <a:lnTo>
                    <a:pt x="297218" y="561200"/>
                  </a:lnTo>
                  <a:lnTo>
                    <a:pt x="339801" y="566216"/>
                  </a:lnTo>
                  <a:lnTo>
                    <a:pt x="382244" y="563016"/>
                  </a:lnTo>
                  <a:lnTo>
                    <a:pt x="423316" y="551815"/>
                  </a:lnTo>
                  <a:lnTo>
                    <a:pt x="461759" y="532828"/>
                  </a:lnTo>
                  <a:lnTo>
                    <a:pt x="496328" y="506260"/>
                  </a:lnTo>
                  <a:lnTo>
                    <a:pt x="525780" y="472325"/>
                  </a:lnTo>
                  <a:lnTo>
                    <a:pt x="548347" y="432079"/>
                  </a:lnTo>
                  <a:lnTo>
                    <a:pt x="561873" y="388962"/>
                  </a:lnTo>
                  <a:lnTo>
                    <a:pt x="566394" y="344411"/>
                  </a:lnTo>
                  <a:close/>
                </a:path>
                <a:path w="688975" h="688975">
                  <a:moveTo>
                    <a:pt x="688911" y="344474"/>
                  </a:moveTo>
                  <a:lnTo>
                    <a:pt x="685939" y="299262"/>
                  </a:lnTo>
                  <a:lnTo>
                    <a:pt x="677011" y="254647"/>
                  </a:lnTo>
                  <a:lnTo>
                    <a:pt x="662114" y="211264"/>
                  </a:lnTo>
                  <a:lnTo>
                    <a:pt x="641273" y="169697"/>
                  </a:lnTo>
                  <a:lnTo>
                    <a:pt x="619175" y="169697"/>
                  </a:lnTo>
                  <a:lnTo>
                    <a:pt x="642035" y="212191"/>
                  </a:lnTo>
                  <a:lnTo>
                    <a:pt x="658037" y="256451"/>
                  </a:lnTo>
                  <a:lnTo>
                    <a:pt x="667346" y="301764"/>
                  </a:lnTo>
                  <a:lnTo>
                    <a:pt x="670102" y="347459"/>
                  </a:lnTo>
                  <a:lnTo>
                    <a:pt x="666483" y="392823"/>
                  </a:lnTo>
                  <a:lnTo>
                    <a:pt x="656628" y="437172"/>
                  </a:lnTo>
                  <a:lnTo>
                    <a:pt x="640702" y="479793"/>
                  </a:lnTo>
                  <a:lnTo>
                    <a:pt x="618832" y="520014"/>
                  </a:lnTo>
                  <a:lnTo>
                    <a:pt x="591210" y="557123"/>
                  </a:lnTo>
                  <a:lnTo>
                    <a:pt x="557961" y="590435"/>
                  </a:lnTo>
                  <a:lnTo>
                    <a:pt x="519264" y="619252"/>
                  </a:lnTo>
                  <a:lnTo>
                    <a:pt x="476770" y="642099"/>
                  </a:lnTo>
                  <a:lnTo>
                    <a:pt x="432511" y="658101"/>
                  </a:lnTo>
                  <a:lnTo>
                    <a:pt x="387184" y="667410"/>
                  </a:lnTo>
                  <a:lnTo>
                    <a:pt x="341503" y="670179"/>
                  </a:lnTo>
                  <a:lnTo>
                    <a:pt x="296125" y="666559"/>
                  </a:lnTo>
                  <a:lnTo>
                    <a:pt x="251777" y="656704"/>
                  </a:lnTo>
                  <a:lnTo>
                    <a:pt x="209156" y="640765"/>
                  </a:lnTo>
                  <a:lnTo>
                    <a:pt x="168935" y="618909"/>
                  </a:lnTo>
                  <a:lnTo>
                    <a:pt x="131813" y="591286"/>
                  </a:lnTo>
                  <a:lnTo>
                    <a:pt x="98513" y="558038"/>
                  </a:lnTo>
                  <a:lnTo>
                    <a:pt x="69697" y="519341"/>
                  </a:lnTo>
                  <a:lnTo>
                    <a:pt x="46837" y="476846"/>
                  </a:lnTo>
                  <a:lnTo>
                    <a:pt x="30835" y="432600"/>
                  </a:lnTo>
                  <a:lnTo>
                    <a:pt x="21526" y="387273"/>
                  </a:lnTo>
                  <a:lnTo>
                    <a:pt x="18757" y="341579"/>
                  </a:lnTo>
                  <a:lnTo>
                    <a:pt x="22377" y="296214"/>
                  </a:lnTo>
                  <a:lnTo>
                    <a:pt x="32232" y="251879"/>
                  </a:lnTo>
                  <a:lnTo>
                    <a:pt x="48171" y="209245"/>
                  </a:lnTo>
                  <a:lnTo>
                    <a:pt x="70027" y="169024"/>
                  </a:lnTo>
                  <a:lnTo>
                    <a:pt x="97650" y="131914"/>
                  </a:lnTo>
                  <a:lnTo>
                    <a:pt x="130898" y="98602"/>
                  </a:lnTo>
                  <a:lnTo>
                    <a:pt x="169608" y="69799"/>
                  </a:lnTo>
                  <a:lnTo>
                    <a:pt x="210883" y="47523"/>
                  </a:lnTo>
                  <a:lnTo>
                    <a:pt x="254241" y="31623"/>
                  </a:lnTo>
                  <a:lnTo>
                    <a:pt x="298983" y="22072"/>
                  </a:lnTo>
                  <a:lnTo>
                    <a:pt x="344436" y="18884"/>
                  </a:lnTo>
                  <a:lnTo>
                    <a:pt x="389877" y="22072"/>
                  </a:lnTo>
                  <a:lnTo>
                    <a:pt x="434632" y="31623"/>
                  </a:lnTo>
                  <a:lnTo>
                    <a:pt x="477989" y="47523"/>
                  </a:lnTo>
                  <a:lnTo>
                    <a:pt x="519264" y="69799"/>
                  </a:lnTo>
                  <a:lnTo>
                    <a:pt x="519264" y="47688"/>
                  </a:lnTo>
                  <a:lnTo>
                    <a:pt x="477393" y="26682"/>
                  </a:lnTo>
                  <a:lnTo>
                    <a:pt x="434124" y="11836"/>
                  </a:lnTo>
                  <a:lnTo>
                    <a:pt x="390004" y="2984"/>
                  </a:lnTo>
                  <a:lnTo>
                    <a:pt x="345605" y="0"/>
                  </a:lnTo>
                  <a:lnTo>
                    <a:pt x="301485" y="2730"/>
                  </a:lnTo>
                  <a:lnTo>
                    <a:pt x="258203" y="11036"/>
                  </a:lnTo>
                  <a:lnTo>
                    <a:pt x="216331" y="24765"/>
                  </a:lnTo>
                  <a:lnTo>
                    <a:pt x="176428" y="43776"/>
                  </a:lnTo>
                  <a:lnTo>
                    <a:pt x="139039" y="67919"/>
                  </a:lnTo>
                  <a:lnTo>
                    <a:pt x="104749" y="97053"/>
                  </a:lnTo>
                  <a:lnTo>
                    <a:pt x="74117" y="131025"/>
                  </a:lnTo>
                  <a:lnTo>
                    <a:pt x="47688" y="169697"/>
                  </a:lnTo>
                  <a:lnTo>
                    <a:pt x="26682" y="211569"/>
                  </a:lnTo>
                  <a:lnTo>
                    <a:pt x="11823" y="254838"/>
                  </a:lnTo>
                  <a:lnTo>
                    <a:pt x="2984" y="298958"/>
                  </a:lnTo>
                  <a:lnTo>
                    <a:pt x="0" y="343357"/>
                  </a:lnTo>
                  <a:lnTo>
                    <a:pt x="2730" y="387464"/>
                  </a:lnTo>
                  <a:lnTo>
                    <a:pt x="11036" y="430745"/>
                  </a:lnTo>
                  <a:lnTo>
                    <a:pt x="24765" y="472617"/>
                  </a:lnTo>
                  <a:lnTo>
                    <a:pt x="43776" y="512521"/>
                  </a:lnTo>
                  <a:lnTo>
                    <a:pt x="67919" y="549897"/>
                  </a:lnTo>
                  <a:lnTo>
                    <a:pt x="97053" y="584187"/>
                  </a:lnTo>
                  <a:lnTo>
                    <a:pt x="131025" y="614832"/>
                  </a:lnTo>
                  <a:lnTo>
                    <a:pt x="169710" y="641248"/>
                  </a:lnTo>
                  <a:lnTo>
                    <a:pt x="211569" y="662254"/>
                  </a:lnTo>
                  <a:lnTo>
                    <a:pt x="254850" y="677113"/>
                  </a:lnTo>
                  <a:lnTo>
                    <a:pt x="298970" y="685952"/>
                  </a:lnTo>
                  <a:lnTo>
                    <a:pt x="343369" y="688936"/>
                  </a:lnTo>
                  <a:lnTo>
                    <a:pt x="387489" y="686206"/>
                  </a:lnTo>
                  <a:lnTo>
                    <a:pt x="430758" y="677900"/>
                  </a:lnTo>
                  <a:lnTo>
                    <a:pt x="472630" y="664171"/>
                  </a:lnTo>
                  <a:lnTo>
                    <a:pt x="512546" y="645160"/>
                  </a:lnTo>
                  <a:lnTo>
                    <a:pt x="549922" y="621017"/>
                  </a:lnTo>
                  <a:lnTo>
                    <a:pt x="584212" y="591883"/>
                  </a:lnTo>
                  <a:lnTo>
                    <a:pt x="614857" y="557911"/>
                  </a:lnTo>
                  <a:lnTo>
                    <a:pt x="641273" y="519226"/>
                  </a:lnTo>
                  <a:lnTo>
                    <a:pt x="662114" y="477672"/>
                  </a:lnTo>
                  <a:lnTo>
                    <a:pt x="677011" y="434289"/>
                  </a:lnTo>
                  <a:lnTo>
                    <a:pt x="685939" y="389686"/>
                  </a:lnTo>
                  <a:lnTo>
                    <a:pt x="688911" y="344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4094" y="1001190"/>
              <a:ext cx="198143" cy="1981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32754" y="709039"/>
              <a:ext cx="402590" cy="401955"/>
            </a:xfrm>
            <a:custGeom>
              <a:avLst/>
              <a:gdLst/>
              <a:ahLst/>
              <a:cxnLst/>
              <a:rect l="l" t="t" r="r" b="b"/>
              <a:pathLst>
                <a:path w="402590" h="401955">
                  <a:moveTo>
                    <a:pt x="312623" y="0"/>
                  </a:moveTo>
                  <a:lnTo>
                    <a:pt x="304920" y="0"/>
                  </a:lnTo>
                  <a:lnTo>
                    <a:pt x="302519" y="992"/>
                  </a:lnTo>
                  <a:lnTo>
                    <a:pt x="214159" y="89348"/>
                  </a:lnTo>
                  <a:lnTo>
                    <a:pt x="213166" y="91749"/>
                  </a:lnTo>
                  <a:lnTo>
                    <a:pt x="213166" y="175179"/>
                  </a:lnTo>
                  <a:lnTo>
                    <a:pt x="3845" y="384476"/>
                  </a:lnTo>
                  <a:lnTo>
                    <a:pt x="113" y="388095"/>
                  </a:lnTo>
                  <a:lnTo>
                    <a:pt x="0" y="394052"/>
                  </a:lnTo>
                  <a:lnTo>
                    <a:pt x="7238" y="401542"/>
                  </a:lnTo>
                  <a:lnTo>
                    <a:pt x="13208" y="401655"/>
                  </a:lnTo>
                  <a:lnTo>
                    <a:pt x="17179" y="397797"/>
                  </a:lnTo>
                  <a:lnTo>
                    <a:pt x="226487" y="188499"/>
                  </a:lnTo>
                  <a:lnTo>
                    <a:pt x="309921" y="188499"/>
                  </a:lnTo>
                  <a:lnTo>
                    <a:pt x="312309" y="187506"/>
                  </a:lnTo>
                  <a:lnTo>
                    <a:pt x="330170" y="169649"/>
                  </a:lnTo>
                  <a:lnTo>
                    <a:pt x="245338" y="169649"/>
                  </a:lnTo>
                  <a:lnTo>
                    <a:pt x="258659" y="156329"/>
                  </a:lnTo>
                  <a:lnTo>
                    <a:pt x="232017" y="156329"/>
                  </a:lnTo>
                  <a:lnTo>
                    <a:pt x="232017" y="98158"/>
                  </a:lnTo>
                  <a:lnTo>
                    <a:pt x="297920" y="32258"/>
                  </a:lnTo>
                  <a:lnTo>
                    <a:pt x="316846" y="32258"/>
                  </a:lnTo>
                  <a:lnTo>
                    <a:pt x="316846" y="4222"/>
                  </a:lnTo>
                  <a:lnTo>
                    <a:pt x="312623" y="0"/>
                  </a:lnTo>
                  <a:close/>
                </a:path>
                <a:path w="402590" h="401955">
                  <a:moveTo>
                    <a:pt x="396157" y="103674"/>
                  </a:moveTo>
                  <a:lnTo>
                    <a:pt x="369390" y="103674"/>
                  </a:lnTo>
                  <a:lnTo>
                    <a:pt x="303512" y="169649"/>
                  </a:lnTo>
                  <a:lnTo>
                    <a:pt x="330170" y="169649"/>
                  </a:lnTo>
                  <a:lnTo>
                    <a:pt x="396157" y="103674"/>
                  </a:lnTo>
                  <a:close/>
                </a:path>
                <a:path w="402590" h="401955">
                  <a:moveTo>
                    <a:pt x="316846" y="32258"/>
                  </a:moveTo>
                  <a:lnTo>
                    <a:pt x="297920" y="32258"/>
                  </a:lnTo>
                  <a:lnTo>
                    <a:pt x="297995" y="90354"/>
                  </a:lnTo>
                  <a:lnTo>
                    <a:pt x="232017" y="156329"/>
                  </a:lnTo>
                  <a:lnTo>
                    <a:pt x="258659" y="156329"/>
                  </a:lnTo>
                  <a:lnTo>
                    <a:pt x="311316" y="103674"/>
                  </a:lnTo>
                  <a:lnTo>
                    <a:pt x="396157" y="103674"/>
                  </a:lnTo>
                  <a:lnTo>
                    <a:pt x="401612" y="98220"/>
                  </a:lnTo>
                  <a:lnTo>
                    <a:pt x="402417" y="94161"/>
                  </a:lnTo>
                  <a:lnTo>
                    <a:pt x="399501" y="87124"/>
                  </a:lnTo>
                  <a:lnTo>
                    <a:pt x="396057" y="84824"/>
                  </a:lnTo>
                  <a:lnTo>
                    <a:pt x="316846" y="84824"/>
                  </a:lnTo>
                  <a:lnTo>
                    <a:pt x="316846" y="322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946866" y="2556489"/>
            <a:ext cx="640715" cy="471805"/>
            <a:chOff x="946866" y="2556489"/>
            <a:chExt cx="640715" cy="471805"/>
          </a:xfrm>
        </p:grpSpPr>
        <p:sp>
          <p:nvSpPr>
            <p:cNvPr id="25" name="object 25"/>
            <p:cNvSpPr/>
            <p:nvPr/>
          </p:nvSpPr>
          <p:spPr>
            <a:xfrm>
              <a:off x="946861" y="2556497"/>
              <a:ext cx="640715" cy="471805"/>
            </a:xfrm>
            <a:custGeom>
              <a:avLst/>
              <a:gdLst/>
              <a:ahLst/>
              <a:cxnLst/>
              <a:rect l="l" t="t" r="r" b="b"/>
              <a:pathLst>
                <a:path w="640715" h="471805">
                  <a:moveTo>
                    <a:pt x="339318" y="311023"/>
                  </a:moveTo>
                  <a:lnTo>
                    <a:pt x="179082" y="311023"/>
                  </a:lnTo>
                  <a:lnTo>
                    <a:pt x="179082" y="329869"/>
                  </a:lnTo>
                  <a:lnTo>
                    <a:pt x="339318" y="329869"/>
                  </a:lnTo>
                  <a:lnTo>
                    <a:pt x="339318" y="311023"/>
                  </a:lnTo>
                  <a:close/>
                </a:path>
                <a:path w="640715" h="471805">
                  <a:moveTo>
                    <a:pt x="339318" y="188493"/>
                  </a:moveTo>
                  <a:lnTo>
                    <a:pt x="179082" y="188493"/>
                  </a:lnTo>
                  <a:lnTo>
                    <a:pt x="179082" y="207352"/>
                  </a:lnTo>
                  <a:lnTo>
                    <a:pt x="339318" y="207352"/>
                  </a:lnTo>
                  <a:lnTo>
                    <a:pt x="339318" y="188493"/>
                  </a:lnTo>
                  <a:close/>
                </a:path>
                <a:path w="640715" h="471805">
                  <a:moveTo>
                    <a:pt x="358165" y="4216"/>
                  </a:moveTo>
                  <a:lnTo>
                    <a:pt x="353949" y="0"/>
                  </a:lnTo>
                  <a:lnTo>
                    <a:pt x="343535" y="0"/>
                  </a:lnTo>
                  <a:lnTo>
                    <a:pt x="339318" y="4216"/>
                  </a:lnTo>
                  <a:lnTo>
                    <a:pt x="339318" y="47117"/>
                  </a:lnTo>
                  <a:lnTo>
                    <a:pt x="358165" y="47117"/>
                  </a:lnTo>
                  <a:lnTo>
                    <a:pt x="358165" y="4216"/>
                  </a:lnTo>
                  <a:close/>
                </a:path>
                <a:path w="640715" h="471805">
                  <a:moveTo>
                    <a:pt x="640524" y="47129"/>
                  </a:moveTo>
                  <a:lnTo>
                    <a:pt x="4216" y="47117"/>
                  </a:lnTo>
                  <a:lnTo>
                    <a:pt x="0" y="51346"/>
                  </a:lnTo>
                  <a:lnTo>
                    <a:pt x="0" y="61747"/>
                  </a:lnTo>
                  <a:lnTo>
                    <a:pt x="4216" y="65976"/>
                  </a:lnTo>
                  <a:lnTo>
                    <a:pt x="47129" y="65976"/>
                  </a:lnTo>
                  <a:lnTo>
                    <a:pt x="47129" y="452399"/>
                  </a:lnTo>
                  <a:lnTo>
                    <a:pt x="4216" y="452399"/>
                  </a:lnTo>
                  <a:lnTo>
                    <a:pt x="0" y="456615"/>
                  </a:lnTo>
                  <a:lnTo>
                    <a:pt x="0" y="467029"/>
                  </a:lnTo>
                  <a:lnTo>
                    <a:pt x="4216" y="471246"/>
                  </a:lnTo>
                  <a:lnTo>
                    <a:pt x="216395" y="471246"/>
                  </a:lnTo>
                  <a:lnTo>
                    <a:pt x="235242" y="452399"/>
                  </a:lnTo>
                  <a:lnTo>
                    <a:pt x="65976" y="452399"/>
                  </a:lnTo>
                  <a:lnTo>
                    <a:pt x="65976" y="65976"/>
                  </a:lnTo>
                  <a:lnTo>
                    <a:pt x="621665" y="65976"/>
                  </a:lnTo>
                  <a:lnTo>
                    <a:pt x="640524" y="471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5490" y="2710053"/>
              <a:ext cx="124286" cy="9323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171950" y="4143311"/>
            <a:ext cx="4005579" cy="757555"/>
            <a:chOff x="4171950" y="4143311"/>
            <a:chExt cx="4005579" cy="757555"/>
          </a:xfrm>
        </p:grpSpPr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71950" y="4209986"/>
              <a:ext cx="4005326" cy="5191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24375" y="4143311"/>
              <a:ext cx="3290951" cy="75723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10050" y="4248149"/>
              <a:ext cx="3876675" cy="390525"/>
            </a:xfrm>
            <a:custGeom>
              <a:avLst/>
              <a:gdLst/>
              <a:ahLst/>
              <a:cxnLst/>
              <a:rect l="l" t="t" r="r" b="b"/>
              <a:pathLst>
                <a:path w="3876675" h="390525">
                  <a:moveTo>
                    <a:pt x="3811524" y="0"/>
                  </a:moveTo>
                  <a:lnTo>
                    <a:pt x="65150" y="0"/>
                  </a:lnTo>
                  <a:lnTo>
                    <a:pt x="39754" y="5107"/>
                  </a:lnTo>
                  <a:lnTo>
                    <a:pt x="19050" y="19050"/>
                  </a:lnTo>
                  <a:lnTo>
                    <a:pt x="5107" y="39754"/>
                  </a:lnTo>
                  <a:lnTo>
                    <a:pt x="0" y="65150"/>
                  </a:lnTo>
                  <a:lnTo>
                    <a:pt x="0" y="325374"/>
                  </a:lnTo>
                  <a:lnTo>
                    <a:pt x="5107" y="350770"/>
                  </a:lnTo>
                  <a:lnTo>
                    <a:pt x="19050" y="371475"/>
                  </a:lnTo>
                  <a:lnTo>
                    <a:pt x="39754" y="385417"/>
                  </a:lnTo>
                  <a:lnTo>
                    <a:pt x="65150" y="390525"/>
                  </a:lnTo>
                  <a:lnTo>
                    <a:pt x="3811524" y="390525"/>
                  </a:lnTo>
                  <a:lnTo>
                    <a:pt x="3836920" y="385417"/>
                  </a:lnTo>
                  <a:lnTo>
                    <a:pt x="3857625" y="371475"/>
                  </a:lnTo>
                  <a:lnTo>
                    <a:pt x="3871567" y="350770"/>
                  </a:lnTo>
                  <a:lnTo>
                    <a:pt x="3876675" y="325374"/>
                  </a:lnTo>
                  <a:lnTo>
                    <a:pt x="3876675" y="65150"/>
                  </a:lnTo>
                  <a:lnTo>
                    <a:pt x="3871567" y="39754"/>
                  </a:lnTo>
                  <a:lnTo>
                    <a:pt x="3857625" y="19050"/>
                  </a:lnTo>
                  <a:lnTo>
                    <a:pt x="3836920" y="5107"/>
                  </a:lnTo>
                  <a:lnTo>
                    <a:pt x="3811524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33671" y="4235767"/>
            <a:ext cx="2823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spc="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4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spc="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51345" y="4705413"/>
            <a:ext cx="9602470" cy="1490980"/>
            <a:chOff x="1051345" y="4705413"/>
            <a:chExt cx="9602470" cy="1490980"/>
          </a:xfrm>
        </p:grpSpPr>
        <p:sp>
          <p:nvSpPr>
            <p:cNvPr id="33" name="object 33"/>
            <p:cNvSpPr/>
            <p:nvPr/>
          </p:nvSpPr>
          <p:spPr>
            <a:xfrm>
              <a:off x="1051344" y="4820272"/>
              <a:ext cx="641350" cy="760730"/>
            </a:xfrm>
            <a:custGeom>
              <a:avLst/>
              <a:gdLst/>
              <a:ahLst/>
              <a:cxnLst/>
              <a:rect l="l" t="t" r="r" b="b"/>
              <a:pathLst>
                <a:path w="641350" h="760729">
                  <a:moveTo>
                    <a:pt x="301612" y="442976"/>
                  </a:moveTo>
                  <a:lnTo>
                    <a:pt x="241287" y="442976"/>
                  </a:lnTo>
                  <a:lnTo>
                    <a:pt x="244144" y="454152"/>
                  </a:lnTo>
                  <a:lnTo>
                    <a:pt x="250710" y="463118"/>
                  </a:lnTo>
                  <a:lnTo>
                    <a:pt x="260108" y="469087"/>
                  </a:lnTo>
                  <a:lnTo>
                    <a:pt x="271449" y="471258"/>
                  </a:lnTo>
                  <a:lnTo>
                    <a:pt x="282790" y="469087"/>
                  </a:lnTo>
                  <a:lnTo>
                    <a:pt x="292188" y="463118"/>
                  </a:lnTo>
                  <a:lnTo>
                    <a:pt x="298754" y="454152"/>
                  </a:lnTo>
                  <a:lnTo>
                    <a:pt x="301612" y="442976"/>
                  </a:lnTo>
                  <a:close/>
                </a:path>
                <a:path w="641350" h="760729">
                  <a:moveTo>
                    <a:pt x="640803" y="436499"/>
                  </a:moveTo>
                  <a:lnTo>
                    <a:pt x="631507" y="411873"/>
                  </a:lnTo>
                  <a:lnTo>
                    <a:pt x="621957" y="395274"/>
                  </a:lnTo>
                  <a:lnTo>
                    <a:pt x="621957" y="442379"/>
                  </a:lnTo>
                  <a:lnTo>
                    <a:pt x="620191" y="449580"/>
                  </a:lnTo>
                  <a:lnTo>
                    <a:pt x="617359" y="455231"/>
                  </a:lnTo>
                  <a:lnTo>
                    <a:pt x="612648" y="458063"/>
                  </a:lnTo>
                  <a:lnTo>
                    <a:pt x="606996" y="459943"/>
                  </a:lnTo>
                  <a:lnTo>
                    <a:pt x="547611" y="459943"/>
                  </a:lnTo>
                  <a:lnTo>
                    <a:pt x="547611" y="537222"/>
                  </a:lnTo>
                  <a:lnTo>
                    <a:pt x="540334" y="573125"/>
                  </a:lnTo>
                  <a:lnTo>
                    <a:pt x="520522" y="602500"/>
                  </a:lnTo>
                  <a:lnTo>
                    <a:pt x="491147" y="622312"/>
                  </a:lnTo>
                  <a:lnTo>
                    <a:pt x="455244" y="629589"/>
                  </a:lnTo>
                  <a:lnTo>
                    <a:pt x="390207" y="629589"/>
                  </a:lnTo>
                  <a:lnTo>
                    <a:pt x="390207" y="742696"/>
                  </a:lnTo>
                  <a:lnTo>
                    <a:pt x="130060" y="742696"/>
                  </a:lnTo>
                  <a:lnTo>
                    <a:pt x="130060" y="512724"/>
                  </a:lnTo>
                  <a:lnTo>
                    <a:pt x="122529" y="507072"/>
                  </a:lnTo>
                  <a:lnTo>
                    <a:pt x="86410" y="473329"/>
                  </a:lnTo>
                  <a:lnTo>
                    <a:pt x="57531" y="433984"/>
                  </a:lnTo>
                  <a:lnTo>
                    <a:pt x="36334" y="390207"/>
                  </a:lnTo>
                  <a:lnTo>
                    <a:pt x="23291" y="343179"/>
                  </a:lnTo>
                  <a:lnTo>
                    <a:pt x="18846" y="294068"/>
                  </a:lnTo>
                  <a:lnTo>
                    <a:pt x="18846" y="275209"/>
                  </a:lnTo>
                  <a:lnTo>
                    <a:pt x="24447" y="228688"/>
                  </a:lnTo>
                  <a:lnTo>
                    <a:pt x="37655" y="185089"/>
                  </a:lnTo>
                  <a:lnTo>
                    <a:pt x="57734" y="145072"/>
                  </a:lnTo>
                  <a:lnTo>
                    <a:pt x="83985" y="109359"/>
                  </a:lnTo>
                  <a:lnTo>
                    <a:pt x="115684" y="78587"/>
                  </a:lnTo>
                  <a:lnTo>
                    <a:pt x="152133" y="53479"/>
                  </a:lnTo>
                  <a:lnTo>
                    <a:pt x="192595" y="34696"/>
                  </a:lnTo>
                  <a:lnTo>
                    <a:pt x="236385" y="22923"/>
                  </a:lnTo>
                  <a:lnTo>
                    <a:pt x="282752" y="18859"/>
                  </a:lnTo>
                  <a:lnTo>
                    <a:pt x="292188" y="18859"/>
                  </a:lnTo>
                  <a:lnTo>
                    <a:pt x="339572" y="24942"/>
                  </a:lnTo>
                  <a:lnTo>
                    <a:pt x="383870" y="38912"/>
                  </a:lnTo>
                  <a:lnTo>
                    <a:pt x="424345" y="60007"/>
                  </a:lnTo>
                  <a:lnTo>
                    <a:pt x="460286" y="87452"/>
                  </a:lnTo>
                  <a:lnTo>
                    <a:pt x="490969" y="120497"/>
                  </a:lnTo>
                  <a:lnTo>
                    <a:pt x="515670" y="158343"/>
                  </a:lnTo>
                  <a:lnTo>
                    <a:pt x="533666" y="200240"/>
                  </a:lnTo>
                  <a:lnTo>
                    <a:pt x="544245" y="245427"/>
                  </a:lnTo>
                  <a:lnTo>
                    <a:pt x="546671" y="293116"/>
                  </a:lnTo>
                  <a:lnTo>
                    <a:pt x="546671" y="303491"/>
                  </a:lnTo>
                  <a:lnTo>
                    <a:pt x="549503" y="308203"/>
                  </a:lnTo>
                  <a:lnTo>
                    <a:pt x="614540" y="421297"/>
                  </a:lnTo>
                  <a:lnTo>
                    <a:pt x="619125" y="427977"/>
                  </a:lnTo>
                  <a:lnTo>
                    <a:pt x="621601" y="435089"/>
                  </a:lnTo>
                  <a:lnTo>
                    <a:pt x="621957" y="442379"/>
                  </a:lnTo>
                  <a:lnTo>
                    <a:pt x="621957" y="395274"/>
                  </a:lnTo>
                  <a:lnTo>
                    <a:pt x="566470" y="298780"/>
                  </a:lnTo>
                  <a:lnTo>
                    <a:pt x="566420" y="293116"/>
                  </a:lnTo>
                  <a:lnTo>
                    <a:pt x="564413" y="247992"/>
                  </a:lnTo>
                  <a:lnTo>
                    <a:pt x="555231" y="204038"/>
                  </a:lnTo>
                  <a:lnTo>
                    <a:pt x="539496" y="162801"/>
                  </a:lnTo>
                  <a:lnTo>
                    <a:pt x="517753" y="124866"/>
                  </a:lnTo>
                  <a:lnTo>
                    <a:pt x="490588" y="90830"/>
                  </a:lnTo>
                  <a:lnTo>
                    <a:pt x="458558" y="61302"/>
                  </a:lnTo>
                  <a:lnTo>
                    <a:pt x="422236" y="36855"/>
                  </a:lnTo>
                  <a:lnTo>
                    <a:pt x="383794" y="18859"/>
                  </a:lnTo>
                  <a:lnTo>
                    <a:pt x="382181" y="18097"/>
                  </a:lnTo>
                  <a:lnTo>
                    <a:pt x="338950" y="5613"/>
                  </a:lnTo>
                  <a:lnTo>
                    <a:pt x="293128" y="0"/>
                  </a:lnTo>
                  <a:lnTo>
                    <a:pt x="282752" y="0"/>
                  </a:lnTo>
                  <a:lnTo>
                    <a:pt x="233032" y="4356"/>
                  </a:lnTo>
                  <a:lnTo>
                    <a:pt x="186143" y="16903"/>
                  </a:lnTo>
                  <a:lnTo>
                    <a:pt x="142849" y="36931"/>
                  </a:lnTo>
                  <a:lnTo>
                    <a:pt x="103873" y="63715"/>
                  </a:lnTo>
                  <a:lnTo>
                    <a:pt x="69964" y="96520"/>
                  </a:lnTo>
                  <a:lnTo>
                    <a:pt x="41884" y="134607"/>
                  </a:lnTo>
                  <a:lnTo>
                    <a:pt x="20370" y="177253"/>
                  </a:lnTo>
                  <a:lnTo>
                    <a:pt x="6159" y="223735"/>
                  </a:lnTo>
                  <a:lnTo>
                    <a:pt x="0" y="273329"/>
                  </a:lnTo>
                  <a:lnTo>
                    <a:pt x="0" y="294068"/>
                  </a:lnTo>
                  <a:lnTo>
                    <a:pt x="4775" y="346913"/>
                  </a:lnTo>
                  <a:lnTo>
                    <a:pt x="18783" y="397281"/>
                  </a:lnTo>
                  <a:lnTo>
                    <a:pt x="41529" y="444030"/>
                  </a:lnTo>
                  <a:lnTo>
                    <a:pt x="72504" y="486029"/>
                  </a:lnTo>
                  <a:lnTo>
                    <a:pt x="111213" y="522147"/>
                  </a:lnTo>
                  <a:lnTo>
                    <a:pt x="111213" y="760603"/>
                  </a:lnTo>
                  <a:lnTo>
                    <a:pt x="409054" y="760603"/>
                  </a:lnTo>
                  <a:lnTo>
                    <a:pt x="409054" y="742696"/>
                  </a:lnTo>
                  <a:lnTo>
                    <a:pt x="409054" y="647496"/>
                  </a:lnTo>
                  <a:lnTo>
                    <a:pt x="455244" y="647496"/>
                  </a:lnTo>
                  <a:lnTo>
                    <a:pt x="498475" y="638733"/>
                  </a:lnTo>
                  <a:lnTo>
                    <a:pt x="533831" y="614870"/>
                  </a:lnTo>
                  <a:lnTo>
                    <a:pt x="557707" y="579513"/>
                  </a:lnTo>
                  <a:lnTo>
                    <a:pt x="566470" y="536282"/>
                  </a:lnTo>
                  <a:lnTo>
                    <a:pt x="566470" y="477850"/>
                  </a:lnTo>
                  <a:lnTo>
                    <a:pt x="607936" y="477850"/>
                  </a:lnTo>
                  <a:lnTo>
                    <a:pt x="625144" y="471258"/>
                  </a:lnTo>
                  <a:lnTo>
                    <a:pt x="637387" y="456882"/>
                  </a:lnTo>
                  <a:lnTo>
                    <a:pt x="640803" y="436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02153" y="4946564"/>
              <a:ext cx="241291" cy="2497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269073" y="5220831"/>
              <a:ext cx="109855" cy="19050"/>
            </a:xfrm>
            <a:custGeom>
              <a:avLst/>
              <a:gdLst/>
              <a:ahLst/>
              <a:cxnLst/>
              <a:rect l="l" t="t" r="r" b="b"/>
              <a:pathLst>
                <a:path w="109855" h="19050">
                  <a:moveTo>
                    <a:pt x="104622" y="0"/>
                  </a:moveTo>
                  <a:lnTo>
                    <a:pt x="99909" y="0"/>
                  </a:lnTo>
                  <a:lnTo>
                    <a:pt x="3770" y="0"/>
                  </a:lnTo>
                  <a:lnTo>
                    <a:pt x="0" y="3769"/>
                  </a:lnTo>
                  <a:lnTo>
                    <a:pt x="0" y="15079"/>
                  </a:lnTo>
                  <a:lnTo>
                    <a:pt x="3770" y="18849"/>
                  </a:lnTo>
                  <a:lnTo>
                    <a:pt x="105565" y="18849"/>
                  </a:lnTo>
                  <a:lnTo>
                    <a:pt x="109335" y="15079"/>
                  </a:lnTo>
                  <a:lnTo>
                    <a:pt x="109335" y="3769"/>
                  </a:lnTo>
                  <a:lnTo>
                    <a:pt x="104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24024" y="4705413"/>
              <a:ext cx="8929751" cy="14620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95449" y="4857813"/>
              <a:ext cx="8424926" cy="133819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57425" y="4776787"/>
              <a:ext cx="8791575" cy="132397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757426" y="4776787"/>
            <a:ext cx="8791575" cy="1323975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sz="1550" spc="-25" dirty="0">
                <a:latin typeface="Arial MT"/>
                <a:cs typeface="Arial MT"/>
              </a:rPr>
              <a:t>At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the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end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this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session,</a:t>
            </a:r>
            <a:r>
              <a:rPr sz="1550" spc="-55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you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should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-15" dirty="0">
                <a:latin typeface="Arial MT"/>
                <a:cs typeface="Arial MT"/>
              </a:rPr>
              <a:t>be</a:t>
            </a:r>
            <a:r>
              <a:rPr sz="1550" spc="11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able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to:</a:t>
            </a:r>
            <a:endParaRPr sz="1550">
              <a:latin typeface="Arial MT"/>
              <a:cs typeface="Arial MT"/>
            </a:endParaRPr>
          </a:p>
          <a:p>
            <a:pPr marL="431165" indent="-34353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30530" algn="l"/>
                <a:tab pos="431165" algn="l"/>
              </a:tabLst>
            </a:pPr>
            <a:r>
              <a:rPr sz="1550" spc="10" dirty="0">
                <a:latin typeface="Arial MT"/>
                <a:cs typeface="Arial MT"/>
              </a:rPr>
              <a:t>Define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30" dirty="0">
                <a:latin typeface="Arial MT"/>
                <a:cs typeface="Arial MT"/>
              </a:rPr>
              <a:t>stack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114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its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basic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operations.</a:t>
            </a:r>
            <a:endParaRPr sz="1550">
              <a:latin typeface="Arial MT"/>
              <a:cs typeface="Arial MT"/>
            </a:endParaRPr>
          </a:p>
          <a:p>
            <a:pPr marL="431165" indent="-343535">
              <a:lnSpc>
                <a:spcPts val="1830"/>
              </a:lnSpc>
              <a:spcBef>
                <a:spcPts val="95"/>
              </a:spcBef>
              <a:buAutoNum type="arabicPeriod"/>
              <a:tabLst>
                <a:tab pos="430530" algn="l"/>
                <a:tab pos="431165" algn="l"/>
              </a:tabLst>
            </a:pPr>
            <a:r>
              <a:rPr sz="1550" spc="15" dirty="0">
                <a:latin typeface="Arial MT"/>
                <a:cs typeface="Arial MT"/>
              </a:rPr>
              <a:t>Describe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advantages</a:t>
            </a:r>
            <a:r>
              <a:rPr sz="1550" spc="13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disadvantages</a:t>
            </a:r>
            <a:r>
              <a:rPr sz="1550" spc="13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linked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lists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for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implementing</a:t>
            </a:r>
            <a:r>
              <a:rPr sz="1550" spc="350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stacks.</a:t>
            </a:r>
            <a:endParaRPr sz="1550">
              <a:latin typeface="Arial MT"/>
              <a:cs typeface="Arial MT"/>
            </a:endParaRPr>
          </a:p>
          <a:p>
            <a:pPr marL="431165" indent="-343535">
              <a:lnSpc>
                <a:spcPts val="1830"/>
              </a:lnSpc>
              <a:buAutoNum type="arabicPeriod"/>
              <a:tabLst>
                <a:tab pos="430530" algn="l"/>
                <a:tab pos="431165" algn="l"/>
              </a:tabLst>
            </a:pPr>
            <a:r>
              <a:rPr sz="1550" spc="-20" dirty="0">
                <a:latin typeface="Arial MT"/>
                <a:cs typeface="Arial MT"/>
              </a:rPr>
              <a:t>Summarize</a:t>
            </a:r>
            <a:r>
              <a:rPr sz="1550" spc="42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definition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operations</a:t>
            </a:r>
            <a:r>
              <a:rPr sz="1550" spc="14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of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stacks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using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linked</a:t>
            </a:r>
            <a:r>
              <a:rPr sz="1550" spc="204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list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its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time</a:t>
            </a:r>
            <a:r>
              <a:rPr sz="1550" spc="200" dirty="0">
                <a:latin typeface="Arial MT"/>
                <a:cs typeface="Arial MT"/>
              </a:rPr>
              <a:t> </a:t>
            </a:r>
            <a:r>
              <a:rPr sz="1550" spc="-15" dirty="0">
                <a:latin typeface="Arial MT"/>
                <a:cs typeface="Arial MT"/>
              </a:rPr>
              <a:t>complexity.</a:t>
            </a:r>
            <a:endParaRPr sz="155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4950" y="47625"/>
            <a:ext cx="8491855" cy="1376680"/>
            <a:chOff x="1504950" y="47625"/>
            <a:chExt cx="8491855" cy="1376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3050" y="47625"/>
              <a:ext cx="8453501" cy="1328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4950" y="47625"/>
              <a:ext cx="6558026" cy="1376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81150" y="85725"/>
              <a:ext cx="8324850" cy="1200150"/>
            </a:xfrm>
            <a:custGeom>
              <a:avLst/>
              <a:gdLst/>
              <a:ahLst/>
              <a:cxnLst/>
              <a:rect l="l" t="t" r="r" b="b"/>
              <a:pathLst>
                <a:path w="8324850" h="1200150">
                  <a:moveTo>
                    <a:pt x="8124825" y="0"/>
                  </a:moveTo>
                  <a:lnTo>
                    <a:pt x="200025" y="0"/>
                  </a:lnTo>
                  <a:lnTo>
                    <a:pt x="154155" y="5281"/>
                  </a:lnTo>
                  <a:lnTo>
                    <a:pt x="112050" y="20327"/>
                  </a:lnTo>
                  <a:lnTo>
                    <a:pt x="74911" y="43937"/>
                  </a:lnTo>
                  <a:lnTo>
                    <a:pt x="43937" y="74911"/>
                  </a:lnTo>
                  <a:lnTo>
                    <a:pt x="20327" y="112050"/>
                  </a:lnTo>
                  <a:lnTo>
                    <a:pt x="5281" y="154155"/>
                  </a:lnTo>
                  <a:lnTo>
                    <a:pt x="0" y="200025"/>
                  </a:lnTo>
                  <a:lnTo>
                    <a:pt x="0" y="1000125"/>
                  </a:lnTo>
                  <a:lnTo>
                    <a:pt x="5281" y="1045994"/>
                  </a:lnTo>
                  <a:lnTo>
                    <a:pt x="20327" y="1088099"/>
                  </a:lnTo>
                  <a:lnTo>
                    <a:pt x="43937" y="1125238"/>
                  </a:lnTo>
                  <a:lnTo>
                    <a:pt x="74911" y="1156212"/>
                  </a:lnTo>
                  <a:lnTo>
                    <a:pt x="112050" y="1179822"/>
                  </a:lnTo>
                  <a:lnTo>
                    <a:pt x="154155" y="1194868"/>
                  </a:lnTo>
                  <a:lnTo>
                    <a:pt x="200025" y="1200150"/>
                  </a:lnTo>
                  <a:lnTo>
                    <a:pt x="8124825" y="1200150"/>
                  </a:lnTo>
                  <a:lnTo>
                    <a:pt x="8170694" y="1194868"/>
                  </a:lnTo>
                  <a:lnTo>
                    <a:pt x="8212799" y="1179822"/>
                  </a:lnTo>
                  <a:lnTo>
                    <a:pt x="8249938" y="1156212"/>
                  </a:lnTo>
                  <a:lnTo>
                    <a:pt x="8280912" y="1125238"/>
                  </a:lnTo>
                  <a:lnTo>
                    <a:pt x="8304522" y="1088099"/>
                  </a:lnTo>
                  <a:lnTo>
                    <a:pt x="8319568" y="1045994"/>
                  </a:lnTo>
                  <a:lnTo>
                    <a:pt x="8324850" y="1000125"/>
                  </a:lnTo>
                  <a:lnTo>
                    <a:pt x="8324850" y="200025"/>
                  </a:lnTo>
                  <a:lnTo>
                    <a:pt x="8319568" y="154155"/>
                  </a:lnTo>
                  <a:lnTo>
                    <a:pt x="8304522" y="112050"/>
                  </a:lnTo>
                  <a:lnTo>
                    <a:pt x="8280912" y="74911"/>
                  </a:lnTo>
                  <a:lnTo>
                    <a:pt x="8249938" y="43937"/>
                  </a:lnTo>
                  <a:lnTo>
                    <a:pt x="8212799" y="20327"/>
                  </a:lnTo>
                  <a:lnTo>
                    <a:pt x="8170694" y="5281"/>
                  </a:lnTo>
                  <a:lnTo>
                    <a:pt x="812482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67454" y="185419"/>
            <a:ext cx="395351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5" dirty="0"/>
              <a:t>Session</a:t>
            </a:r>
            <a:r>
              <a:rPr sz="3600" spc="-60" dirty="0"/>
              <a:t> </a:t>
            </a:r>
            <a:r>
              <a:rPr sz="3600" spc="-15" dirty="0"/>
              <a:t>-Introduction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4977" y="1472183"/>
            <a:ext cx="11200765" cy="149098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algn="just">
              <a:lnSpc>
                <a:spcPts val="3829"/>
              </a:lnSpc>
              <a:spcBef>
                <a:spcPts val="245"/>
              </a:spcBef>
              <a:buFont typeface="Wingdings"/>
              <a:buChar char=""/>
              <a:tabLst>
                <a:tab pos="432434" algn="l"/>
              </a:tabLst>
            </a:pPr>
            <a:r>
              <a:rPr sz="3200" spc="-10" dirty="0">
                <a:latin typeface="Calibri"/>
                <a:cs typeface="Calibri"/>
              </a:rPr>
              <a:t>Stack </a:t>
            </a:r>
            <a:r>
              <a:rPr sz="3200" spc="10" dirty="0">
                <a:latin typeface="Calibri"/>
                <a:cs typeface="Calibri"/>
              </a:rPr>
              <a:t>is a </a:t>
            </a:r>
            <a:r>
              <a:rPr sz="3200" dirty="0">
                <a:latin typeface="Calibri"/>
                <a:cs typeface="Calibri"/>
              </a:rPr>
              <a:t>linear </a:t>
            </a:r>
            <a:r>
              <a:rPr sz="3200" spc="-2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structure </a:t>
            </a:r>
            <a:r>
              <a:rPr sz="3200" spc="5" dirty="0">
                <a:latin typeface="Calibri"/>
                <a:cs typeface="Calibri"/>
              </a:rPr>
              <a:t>which </a:t>
            </a:r>
            <a:r>
              <a:rPr sz="3200" spc="-5" dirty="0">
                <a:latin typeface="Calibri"/>
                <a:cs typeface="Calibri"/>
              </a:rPr>
              <a:t>implements LIFO (Last </a:t>
            </a:r>
            <a:r>
              <a:rPr sz="3200" spc="20" dirty="0">
                <a:latin typeface="Calibri"/>
                <a:cs typeface="Calibri"/>
              </a:rPr>
              <a:t>In 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First Out) </a:t>
            </a:r>
            <a:r>
              <a:rPr sz="3200" spc="-20" dirty="0">
                <a:latin typeface="Calibri"/>
                <a:cs typeface="Calibri"/>
              </a:rPr>
              <a:t>pattern </a:t>
            </a:r>
            <a:r>
              <a:rPr sz="3200" spc="-15" dirty="0">
                <a:latin typeface="Calibri"/>
                <a:cs typeface="Calibri"/>
              </a:rPr>
              <a:t>where </a:t>
            </a:r>
            <a:r>
              <a:rPr sz="3200" spc="5" dirty="0">
                <a:latin typeface="Calibri"/>
                <a:cs typeface="Calibri"/>
              </a:rPr>
              <a:t>insertions and </a:t>
            </a:r>
            <a:r>
              <a:rPr sz="3200" spc="-10" dirty="0">
                <a:latin typeface="Calibri"/>
                <a:cs typeface="Calibri"/>
              </a:rPr>
              <a:t>deletions are done </a:t>
            </a:r>
            <a:r>
              <a:rPr sz="3200" spc="20" dirty="0">
                <a:latin typeface="Calibri"/>
                <a:cs typeface="Calibri"/>
              </a:rPr>
              <a:t>at only </a:t>
            </a:r>
            <a:r>
              <a:rPr sz="3200" spc="25" dirty="0">
                <a:latin typeface="Calibri"/>
                <a:cs typeface="Calibri"/>
              </a:rPr>
              <a:t> one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side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i.e.,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top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stack.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750" y="3267075"/>
            <a:ext cx="9315450" cy="32385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0920" y="294005"/>
            <a:ext cx="69469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5" dirty="0">
                <a:solidFill>
                  <a:srgbClr val="000000"/>
                </a:solidFill>
                <a:latin typeface="Calibri Light"/>
                <a:cs typeface="Calibri Light"/>
              </a:rPr>
              <a:t>Stack</a:t>
            </a:r>
            <a:r>
              <a:rPr sz="4400" spc="-3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15" dirty="0">
                <a:solidFill>
                  <a:srgbClr val="000000"/>
                </a:solidFill>
                <a:latin typeface="Calibri Light"/>
                <a:cs typeface="Calibri Light"/>
              </a:rPr>
              <a:t>using</a:t>
            </a:r>
            <a:r>
              <a:rPr sz="4400" spc="-3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15" dirty="0">
                <a:solidFill>
                  <a:srgbClr val="000000"/>
                </a:solidFill>
                <a:latin typeface="Calibri Light"/>
                <a:cs typeface="Calibri Light"/>
              </a:rPr>
              <a:t>an</a:t>
            </a:r>
            <a:r>
              <a:rPr sz="4400" spc="-1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30" dirty="0">
                <a:solidFill>
                  <a:srgbClr val="000000"/>
                </a:solidFill>
                <a:latin typeface="Calibri Light"/>
                <a:cs typeface="Calibri Light"/>
              </a:rPr>
              <a:t>array</a:t>
            </a:r>
            <a:r>
              <a:rPr sz="4400" spc="-1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5" dirty="0">
                <a:solidFill>
                  <a:srgbClr val="000000"/>
                </a:solidFill>
                <a:latin typeface="Calibri Light"/>
                <a:cs typeface="Calibri Light"/>
              </a:rPr>
              <a:t>-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25" dirty="0">
                <a:solidFill>
                  <a:srgbClr val="000000"/>
                </a:solidFill>
                <a:latin typeface="Calibri Light"/>
                <a:cs typeface="Calibri Light"/>
              </a:rPr>
              <a:t>drawback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10309225" cy="327279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9235">
              <a:lnSpc>
                <a:spcPts val="3080"/>
              </a:lnSpc>
              <a:spcBef>
                <a:spcPts val="415"/>
              </a:spcBef>
              <a:buFont typeface="Arial MT"/>
              <a:buChar char="•"/>
              <a:tabLst>
                <a:tab pos="241935" algn="l"/>
                <a:tab pos="3680460" algn="l"/>
              </a:tabLst>
            </a:pPr>
            <a:r>
              <a:rPr sz="2750" spc="-5" dirty="0">
                <a:latin typeface="Calibri"/>
                <a:cs typeface="Calibri"/>
              </a:rPr>
              <a:t>If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implement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stack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using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an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45" dirty="0">
                <a:latin typeface="Calibri"/>
                <a:cs typeface="Calibri"/>
              </a:rPr>
              <a:t>array,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need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specify</a:t>
            </a:r>
            <a:r>
              <a:rPr sz="2750" spc="2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array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beginning(at	</a:t>
            </a:r>
            <a:r>
              <a:rPr sz="2750" spc="5" dirty="0">
                <a:latin typeface="Calibri"/>
                <a:cs typeface="Calibri"/>
              </a:rPr>
              <a:t>compile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time).</a:t>
            </a:r>
            <a:endParaRPr sz="2750">
              <a:latin typeface="Calibri"/>
              <a:cs typeface="Calibri"/>
            </a:endParaRPr>
          </a:p>
          <a:p>
            <a:pPr marL="241300" marR="311150" indent="-229235">
              <a:lnSpc>
                <a:spcPts val="3080"/>
              </a:lnSpc>
              <a:spcBef>
                <a:spcPts val="90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20" dirty="0">
                <a:latin typeface="Calibri"/>
                <a:cs typeface="Calibri"/>
              </a:rPr>
              <a:t>We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can't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change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an </a:t>
            </a:r>
            <a:r>
              <a:rPr sz="2750" spc="-15" dirty="0">
                <a:latin typeface="Calibri"/>
                <a:cs typeface="Calibri"/>
              </a:rPr>
              <a:t>array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runtime.</a:t>
            </a:r>
            <a:r>
              <a:rPr sz="2750" spc="17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So,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</a:t>
            </a:r>
            <a:r>
              <a:rPr sz="2750" spc="10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will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only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work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fixed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number</a:t>
            </a:r>
            <a:r>
              <a:rPr sz="2750" spc="204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4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elements.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750" b="1" i="1" spc="20" dirty="0">
                <a:latin typeface="Calibri"/>
                <a:cs typeface="Calibri"/>
              </a:rPr>
              <a:t>Solution:</a:t>
            </a:r>
            <a:endParaRPr sz="2750">
              <a:latin typeface="Calibri"/>
              <a:cs typeface="Calibri"/>
            </a:endParaRPr>
          </a:p>
          <a:p>
            <a:pPr marL="317500" indent="-3054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17500" algn="l"/>
                <a:tab pos="318135" algn="l"/>
              </a:tabLst>
            </a:pPr>
            <a:r>
              <a:rPr sz="2750" spc="-20" dirty="0">
                <a:latin typeface="Calibri"/>
                <a:cs typeface="Calibri"/>
              </a:rPr>
              <a:t>We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can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implement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stack</a:t>
            </a:r>
            <a:r>
              <a:rPr sz="2750" spc="-20" dirty="0">
                <a:latin typeface="Calibri"/>
                <a:cs typeface="Calibri"/>
              </a:rPr>
              <a:t> using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linked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list.</a:t>
            </a:r>
            <a:endParaRPr sz="27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5" dirty="0">
                <a:latin typeface="Calibri"/>
                <a:cs typeface="Calibri"/>
              </a:rPr>
              <a:t>In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the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linked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list,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we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can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change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its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size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runtime.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7766" y="294005"/>
            <a:ext cx="766127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20" dirty="0">
                <a:solidFill>
                  <a:srgbClr val="000000"/>
                </a:solidFill>
                <a:latin typeface="Calibri Light"/>
                <a:cs typeface="Calibri Light"/>
              </a:rPr>
              <a:t>L</a:t>
            </a:r>
            <a:r>
              <a:rPr sz="4400" spc="70" dirty="0">
                <a:solidFill>
                  <a:srgbClr val="000000"/>
                </a:solidFill>
                <a:latin typeface="Calibri Light"/>
                <a:cs typeface="Calibri Light"/>
              </a:rPr>
              <a:t>i</a:t>
            </a:r>
            <a:r>
              <a:rPr sz="4400" spc="-40" dirty="0">
                <a:solidFill>
                  <a:srgbClr val="000000"/>
                </a:solidFill>
                <a:latin typeface="Calibri Light"/>
                <a:cs typeface="Calibri Light"/>
              </a:rPr>
              <a:t>n</a:t>
            </a:r>
            <a:r>
              <a:rPr sz="4400" spc="-145" dirty="0">
                <a:solidFill>
                  <a:srgbClr val="000000"/>
                </a:solidFill>
                <a:latin typeface="Calibri Light"/>
                <a:cs typeface="Calibri Light"/>
              </a:rPr>
              <a:t>k</a:t>
            </a:r>
            <a:r>
              <a:rPr sz="4400" spc="-80" dirty="0">
                <a:solidFill>
                  <a:srgbClr val="000000"/>
                </a:solidFill>
                <a:latin typeface="Calibri Light"/>
                <a:cs typeface="Calibri Light"/>
              </a:rPr>
              <a:t>e</a:t>
            </a:r>
            <a:r>
              <a:rPr sz="4400" spc="15" dirty="0">
                <a:solidFill>
                  <a:srgbClr val="000000"/>
                </a:solidFill>
                <a:latin typeface="Calibri Light"/>
                <a:cs typeface="Calibri Light"/>
              </a:rPr>
              <a:t>d</a:t>
            </a:r>
            <a:r>
              <a:rPr sz="4400" spc="-3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70" dirty="0">
                <a:solidFill>
                  <a:srgbClr val="000000"/>
                </a:solidFill>
                <a:latin typeface="Calibri Light"/>
                <a:cs typeface="Calibri Light"/>
              </a:rPr>
              <a:t>li</a:t>
            </a:r>
            <a:r>
              <a:rPr sz="4400" spc="-60" dirty="0">
                <a:solidFill>
                  <a:srgbClr val="000000"/>
                </a:solidFill>
                <a:latin typeface="Calibri Light"/>
                <a:cs typeface="Calibri Light"/>
              </a:rPr>
              <a:t>s</a:t>
            </a:r>
            <a:r>
              <a:rPr sz="4400" spc="5" dirty="0">
                <a:solidFill>
                  <a:srgbClr val="000000"/>
                </a:solidFill>
                <a:latin typeface="Calibri Light"/>
                <a:cs typeface="Calibri Light"/>
              </a:rPr>
              <a:t>t</a:t>
            </a:r>
            <a:r>
              <a:rPr sz="4400" spc="-2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70" dirty="0">
                <a:solidFill>
                  <a:srgbClr val="000000"/>
                </a:solidFill>
                <a:latin typeface="Calibri Light"/>
                <a:cs typeface="Calibri Light"/>
              </a:rPr>
              <a:t>i</a:t>
            </a:r>
            <a:r>
              <a:rPr sz="4400" spc="35" dirty="0">
                <a:solidFill>
                  <a:srgbClr val="000000"/>
                </a:solidFill>
                <a:latin typeface="Calibri Light"/>
                <a:cs typeface="Calibri Light"/>
              </a:rPr>
              <a:t>m</a:t>
            </a:r>
            <a:r>
              <a:rPr sz="4400" spc="-40" dirty="0">
                <a:solidFill>
                  <a:srgbClr val="000000"/>
                </a:solidFill>
                <a:latin typeface="Calibri Light"/>
                <a:cs typeface="Calibri Light"/>
              </a:rPr>
              <a:t>p</a:t>
            </a:r>
            <a:r>
              <a:rPr sz="4400" spc="5" dirty="0">
                <a:solidFill>
                  <a:srgbClr val="000000"/>
                </a:solidFill>
                <a:latin typeface="Calibri Light"/>
                <a:cs typeface="Calibri Light"/>
              </a:rPr>
              <a:t>l</a:t>
            </a:r>
            <a:r>
              <a:rPr sz="4400" spc="-85" dirty="0">
                <a:solidFill>
                  <a:srgbClr val="000000"/>
                </a:solidFill>
                <a:latin typeface="Calibri Light"/>
                <a:cs typeface="Calibri Light"/>
              </a:rPr>
              <a:t>e</a:t>
            </a:r>
            <a:r>
              <a:rPr sz="4400" spc="-35" dirty="0">
                <a:solidFill>
                  <a:srgbClr val="000000"/>
                </a:solidFill>
                <a:latin typeface="Calibri Light"/>
                <a:cs typeface="Calibri Light"/>
              </a:rPr>
              <a:t>m</a:t>
            </a:r>
            <a:r>
              <a:rPr sz="4400" spc="-80" dirty="0">
                <a:solidFill>
                  <a:srgbClr val="000000"/>
                </a:solidFill>
                <a:latin typeface="Calibri Light"/>
                <a:cs typeface="Calibri Light"/>
              </a:rPr>
              <a:t>e</a:t>
            </a:r>
            <a:r>
              <a:rPr sz="4400" spc="-114" dirty="0">
                <a:solidFill>
                  <a:srgbClr val="000000"/>
                </a:solidFill>
                <a:latin typeface="Calibri Light"/>
                <a:cs typeface="Calibri Light"/>
              </a:rPr>
              <a:t>n</a:t>
            </a:r>
            <a:r>
              <a:rPr sz="4400" spc="-25" dirty="0">
                <a:solidFill>
                  <a:srgbClr val="000000"/>
                </a:solidFill>
                <a:latin typeface="Calibri Light"/>
                <a:cs typeface="Calibri Light"/>
              </a:rPr>
              <a:t>t</a:t>
            </a:r>
            <a:r>
              <a:rPr sz="4400" spc="-13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4400" spc="-25" dirty="0">
                <a:solidFill>
                  <a:srgbClr val="000000"/>
                </a:solidFill>
                <a:latin typeface="Calibri Light"/>
                <a:cs typeface="Calibri Light"/>
              </a:rPr>
              <a:t>t</a:t>
            </a:r>
            <a:r>
              <a:rPr sz="4400" spc="5" dirty="0">
                <a:solidFill>
                  <a:srgbClr val="000000"/>
                </a:solidFill>
                <a:latin typeface="Calibri Light"/>
                <a:cs typeface="Calibri Light"/>
              </a:rPr>
              <a:t>i</a:t>
            </a:r>
            <a:r>
              <a:rPr sz="4400" spc="-50" dirty="0">
                <a:solidFill>
                  <a:srgbClr val="000000"/>
                </a:solidFill>
                <a:latin typeface="Calibri Light"/>
                <a:cs typeface="Calibri Light"/>
              </a:rPr>
              <a:t>o</a:t>
            </a:r>
            <a:r>
              <a:rPr sz="4400" spc="15" dirty="0">
                <a:solidFill>
                  <a:srgbClr val="000000"/>
                </a:solidFill>
                <a:latin typeface="Calibri Light"/>
                <a:cs typeface="Calibri Light"/>
              </a:rPr>
              <a:t>n</a:t>
            </a:r>
            <a:r>
              <a:rPr sz="4400" spc="-3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25" dirty="0">
                <a:solidFill>
                  <a:srgbClr val="000000"/>
                </a:solidFill>
                <a:latin typeface="Calibri Light"/>
                <a:cs typeface="Calibri Light"/>
              </a:rPr>
              <a:t>o</a:t>
            </a:r>
            <a:r>
              <a:rPr sz="4400" spc="5" dirty="0">
                <a:solidFill>
                  <a:srgbClr val="000000"/>
                </a:solidFill>
                <a:latin typeface="Calibri Light"/>
                <a:cs typeface="Calibri Light"/>
              </a:rPr>
              <a:t>f</a:t>
            </a:r>
            <a:r>
              <a:rPr sz="4400" spc="-1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60" dirty="0">
                <a:solidFill>
                  <a:srgbClr val="000000"/>
                </a:solidFill>
                <a:latin typeface="Calibri Light"/>
                <a:cs typeface="Calibri Light"/>
              </a:rPr>
              <a:t>s</a:t>
            </a:r>
            <a:r>
              <a:rPr sz="4400" spc="-25" dirty="0">
                <a:solidFill>
                  <a:srgbClr val="000000"/>
                </a:solidFill>
                <a:latin typeface="Calibri Light"/>
                <a:cs typeface="Calibri Light"/>
              </a:rPr>
              <a:t>t</a:t>
            </a:r>
            <a:r>
              <a:rPr sz="4400" spc="20" dirty="0">
                <a:solidFill>
                  <a:srgbClr val="000000"/>
                </a:solidFill>
                <a:latin typeface="Calibri Light"/>
                <a:cs typeface="Calibri Light"/>
              </a:rPr>
              <a:t>a</a:t>
            </a:r>
            <a:r>
              <a:rPr sz="4400" spc="5" dirty="0">
                <a:solidFill>
                  <a:srgbClr val="000000"/>
                </a:solidFill>
                <a:latin typeface="Calibri Light"/>
                <a:cs typeface="Calibri Light"/>
              </a:rPr>
              <a:t>ck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9839325" cy="2566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i="1" spc="20" dirty="0">
                <a:latin typeface="Calibri"/>
                <a:cs typeface="Calibri"/>
              </a:rPr>
              <a:t>Advantages</a:t>
            </a:r>
            <a:r>
              <a:rPr sz="2750" b="1" i="1" spc="-100" dirty="0">
                <a:latin typeface="Calibri"/>
                <a:cs typeface="Calibri"/>
              </a:rPr>
              <a:t> </a:t>
            </a:r>
            <a:r>
              <a:rPr sz="2750" b="1" i="1" spc="5" dirty="0">
                <a:latin typeface="Calibri"/>
                <a:cs typeface="Calibri"/>
              </a:rPr>
              <a:t>:</a:t>
            </a:r>
            <a:endParaRPr sz="2750">
              <a:latin typeface="Calibri"/>
              <a:cs typeface="Calibri"/>
            </a:endParaRPr>
          </a:p>
          <a:p>
            <a:pPr marL="241300" marR="5080" indent="-229235">
              <a:lnSpc>
                <a:spcPct val="152500"/>
              </a:lnSpc>
              <a:spcBef>
                <a:spcPts val="525"/>
              </a:spcBef>
              <a:buFont typeface="Arial MT"/>
              <a:buChar char="•"/>
              <a:tabLst>
                <a:tab pos="241935" algn="l"/>
                <a:tab pos="6830059" algn="l"/>
              </a:tabLst>
            </a:pPr>
            <a:r>
              <a:rPr sz="2750" spc="-15" dirty="0">
                <a:latin typeface="Calibri"/>
                <a:cs typeface="Calibri"/>
              </a:rPr>
              <a:t>Linked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list</a:t>
            </a:r>
            <a:r>
              <a:rPr sz="2750" spc="1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allocates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memory </a:t>
            </a:r>
            <a:r>
              <a:rPr sz="2750" dirty="0">
                <a:latin typeface="Calibri"/>
                <a:cs typeface="Calibri"/>
              </a:rPr>
              <a:t>dynamically	</a:t>
            </a:r>
            <a:r>
              <a:rPr sz="2750" spc="-15" dirty="0">
                <a:latin typeface="Calibri"/>
                <a:cs typeface="Calibri"/>
              </a:rPr>
              <a:t>enabling</a:t>
            </a:r>
            <a:r>
              <a:rPr sz="2750" spc="22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stack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grow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or</a:t>
            </a:r>
            <a:r>
              <a:rPr sz="2750" spc="-15" dirty="0">
                <a:latin typeface="Calibri"/>
                <a:cs typeface="Calibri"/>
              </a:rPr>
              <a:t> shrink</a:t>
            </a:r>
            <a:r>
              <a:rPr sz="2750" spc="210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as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needed.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22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sz="2750" spc="-15" dirty="0">
                <a:latin typeface="Calibri"/>
                <a:cs typeface="Calibri"/>
              </a:rPr>
              <a:t>Linked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lists</a:t>
            </a:r>
            <a:r>
              <a:rPr sz="2750" spc="16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facilitate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easy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insertion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and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deletion</a:t>
            </a:r>
            <a:r>
              <a:rPr sz="2750" spc="24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operations.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0700" y="266636"/>
            <a:ext cx="7596505" cy="881380"/>
            <a:chOff x="1790700" y="266636"/>
            <a:chExt cx="7596505" cy="881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0700" y="266636"/>
              <a:ext cx="7596251" cy="7858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7150" y="285686"/>
              <a:ext cx="3443351" cy="8620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28800" y="304800"/>
              <a:ext cx="7467600" cy="657225"/>
            </a:xfrm>
            <a:custGeom>
              <a:avLst/>
              <a:gdLst/>
              <a:ahLst/>
              <a:cxnLst/>
              <a:rect l="l" t="t" r="r" b="b"/>
              <a:pathLst>
                <a:path w="7467600" h="657225">
                  <a:moveTo>
                    <a:pt x="7357999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547624"/>
                  </a:lnTo>
                  <a:lnTo>
                    <a:pt x="8606" y="590305"/>
                  </a:lnTo>
                  <a:lnTo>
                    <a:pt x="32083" y="625141"/>
                  </a:lnTo>
                  <a:lnTo>
                    <a:pt x="66919" y="648618"/>
                  </a:lnTo>
                  <a:lnTo>
                    <a:pt x="109600" y="657225"/>
                  </a:lnTo>
                  <a:lnTo>
                    <a:pt x="7357999" y="657225"/>
                  </a:lnTo>
                  <a:lnTo>
                    <a:pt x="7400680" y="648618"/>
                  </a:lnTo>
                  <a:lnTo>
                    <a:pt x="7435516" y="625141"/>
                  </a:lnTo>
                  <a:lnTo>
                    <a:pt x="7458993" y="590305"/>
                  </a:lnTo>
                  <a:lnTo>
                    <a:pt x="7467600" y="547624"/>
                  </a:lnTo>
                  <a:lnTo>
                    <a:pt x="7467600" y="109600"/>
                  </a:lnTo>
                  <a:lnTo>
                    <a:pt x="7458993" y="66919"/>
                  </a:lnTo>
                  <a:lnTo>
                    <a:pt x="7435516" y="32083"/>
                  </a:lnTo>
                  <a:lnTo>
                    <a:pt x="7400680" y="8606"/>
                  </a:lnTo>
                  <a:lnTo>
                    <a:pt x="7357999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05528" y="387349"/>
            <a:ext cx="29184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5" dirty="0"/>
              <a:t>Operations</a:t>
            </a:r>
            <a:r>
              <a:rPr sz="2750" spc="114" dirty="0"/>
              <a:t> </a:t>
            </a:r>
            <a:r>
              <a:rPr sz="2750" spc="30" dirty="0"/>
              <a:t>on</a:t>
            </a:r>
            <a:r>
              <a:rPr sz="2750" spc="-20" dirty="0"/>
              <a:t> </a:t>
            </a:r>
            <a:r>
              <a:rPr sz="2750" spc="10" dirty="0"/>
              <a:t>Stack</a:t>
            </a:r>
            <a:endParaRPr sz="275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7575" y="1760092"/>
            <a:ext cx="10359390" cy="41363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 algn="just">
              <a:lnSpc>
                <a:spcPct val="153600"/>
              </a:lnSpc>
              <a:spcBef>
                <a:spcPts val="13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spc="25" dirty="0">
                <a:latin typeface="Calibri"/>
                <a:cs typeface="Calibri"/>
              </a:rPr>
              <a:t>push(): </a:t>
            </a:r>
            <a:r>
              <a:rPr sz="2750" b="1" spc="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It</a:t>
            </a:r>
            <a:r>
              <a:rPr sz="2750" spc="121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inserts   </a:t>
            </a:r>
            <a:r>
              <a:rPr sz="2750" spc="60" dirty="0">
                <a:latin typeface="Calibri"/>
                <a:cs typeface="Calibri"/>
              </a:rPr>
              <a:t>an   </a:t>
            </a:r>
            <a:r>
              <a:rPr sz="2750" spc="10" dirty="0">
                <a:latin typeface="Calibri"/>
                <a:cs typeface="Calibri"/>
              </a:rPr>
              <a:t>element  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2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the   top   </a:t>
            </a:r>
            <a:r>
              <a:rPr sz="2750" spc="25" dirty="0">
                <a:latin typeface="Calibri"/>
                <a:cs typeface="Calibri"/>
              </a:rPr>
              <a:t>of   </a:t>
            </a:r>
            <a:r>
              <a:rPr sz="2750" spc="15" dirty="0">
                <a:latin typeface="Calibri"/>
                <a:cs typeface="Calibri"/>
              </a:rPr>
              <a:t>the   </a:t>
            </a:r>
            <a:r>
              <a:rPr sz="2750" spc="5" dirty="0">
                <a:latin typeface="Calibri"/>
                <a:cs typeface="Calibri"/>
              </a:rPr>
              <a:t>stack.   </a:t>
            </a:r>
            <a:r>
              <a:rPr sz="2750" spc="-25" dirty="0">
                <a:latin typeface="Calibri"/>
                <a:cs typeface="Calibri"/>
              </a:rPr>
              <a:t>It 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takes </a:t>
            </a:r>
            <a:r>
              <a:rPr sz="2750" spc="15" dirty="0">
                <a:latin typeface="Calibri"/>
                <a:cs typeface="Calibri"/>
              </a:rPr>
              <a:t>O(1) </a:t>
            </a:r>
            <a:r>
              <a:rPr sz="2750" spc="10" dirty="0">
                <a:latin typeface="Calibri"/>
                <a:cs typeface="Calibri"/>
              </a:rPr>
              <a:t>time, </a:t>
            </a:r>
            <a:r>
              <a:rPr sz="2750" spc="20" dirty="0">
                <a:latin typeface="Calibri"/>
                <a:cs typeface="Calibri"/>
              </a:rPr>
              <a:t>as </a:t>
            </a:r>
            <a:r>
              <a:rPr sz="2750" spc="30" dirty="0">
                <a:latin typeface="Calibri"/>
                <a:cs typeface="Calibri"/>
              </a:rPr>
              <a:t>each </a:t>
            </a:r>
            <a:r>
              <a:rPr sz="2750" spc="20" dirty="0">
                <a:latin typeface="Calibri"/>
                <a:cs typeface="Calibri"/>
              </a:rPr>
              <a:t>node </a:t>
            </a:r>
            <a:r>
              <a:rPr sz="2750" spc="25" dirty="0">
                <a:latin typeface="Calibri"/>
                <a:cs typeface="Calibri"/>
              </a:rPr>
              <a:t>is </a:t>
            </a:r>
            <a:r>
              <a:rPr sz="2750" spc="10" dirty="0">
                <a:latin typeface="Calibri"/>
                <a:cs typeface="Calibri"/>
              </a:rPr>
              <a:t>inserted </a:t>
            </a:r>
            <a:r>
              <a:rPr sz="2750" spc="20" dirty="0">
                <a:latin typeface="Calibri"/>
                <a:cs typeface="Calibri"/>
              </a:rPr>
              <a:t>at </a:t>
            </a:r>
            <a:r>
              <a:rPr sz="2750" spc="15" dirty="0">
                <a:latin typeface="Calibri"/>
                <a:cs typeface="Calibri"/>
              </a:rPr>
              <a:t>the head/top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15" dirty="0">
                <a:latin typeface="Calibri"/>
                <a:cs typeface="Calibri"/>
              </a:rPr>
              <a:t>the </a:t>
            </a:r>
            <a:r>
              <a:rPr sz="2750" spc="-15" dirty="0">
                <a:latin typeface="Calibri"/>
                <a:cs typeface="Calibri"/>
              </a:rPr>
              <a:t>linked </a:t>
            </a:r>
            <a:r>
              <a:rPr sz="2750" spc="-61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list.</a:t>
            </a:r>
            <a:endParaRPr sz="275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154800"/>
              </a:lnSpc>
              <a:spcBef>
                <a:spcPts val="90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spc="25" dirty="0">
                <a:latin typeface="Calibri"/>
                <a:cs typeface="Calibri"/>
              </a:rPr>
              <a:t>pop(): </a:t>
            </a:r>
            <a:r>
              <a:rPr sz="2750" b="1" spc="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It</a:t>
            </a:r>
            <a:r>
              <a:rPr sz="2750" spc="60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removes 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an 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element </a:t>
            </a:r>
            <a:r>
              <a:rPr sz="2750" spc="64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from 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the   top   </a:t>
            </a:r>
            <a:r>
              <a:rPr sz="2750" spc="30" dirty="0">
                <a:latin typeface="Calibri"/>
                <a:cs typeface="Calibri"/>
              </a:rPr>
              <a:t>of</a:t>
            </a:r>
            <a:r>
              <a:rPr sz="2750" spc="68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the 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stack.</a:t>
            </a:r>
            <a:r>
              <a:rPr sz="2750" spc="63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It 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takes</a:t>
            </a:r>
            <a:r>
              <a:rPr sz="2750" spc="15" dirty="0">
                <a:latin typeface="Calibri"/>
                <a:cs typeface="Calibri"/>
              </a:rPr>
              <a:t> O(1)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time,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as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top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always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points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to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newly</a:t>
            </a:r>
            <a:r>
              <a:rPr sz="2750" spc="21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inserted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node.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  <a:tab pos="3300729" algn="l"/>
              </a:tabLst>
            </a:pPr>
            <a:r>
              <a:rPr sz="2750" b="1" spc="5" dirty="0">
                <a:latin typeface="Calibri"/>
                <a:cs typeface="Calibri"/>
              </a:rPr>
              <a:t>Display():</a:t>
            </a:r>
            <a:r>
              <a:rPr sz="2750" b="1" spc="5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It</a:t>
            </a:r>
            <a:r>
              <a:rPr sz="2750" spc="12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displays	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elements</a:t>
            </a:r>
            <a:r>
              <a:rPr sz="2750" spc="229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15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stack.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86100" y="0"/>
            <a:ext cx="6329680" cy="871855"/>
            <a:chOff x="3086100" y="0"/>
            <a:chExt cx="6329680" cy="8718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6100" y="28511"/>
              <a:ext cx="6329426" cy="5572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8200" y="0"/>
              <a:ext cx="3529076" cy="8714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24200" y="66675"/>
              <a:ext cx="6200775" cy="428625"/>
            </a:xfrm>
            <a:custGeom>
              <a:avLst/>
              <a:gdLst/>
              <a:ahLst/>
              <a:cxnLst/>
              <a:rect l="l" t="t" r="r" b="b"/>
              <a:pathLst>
                <a:path w="6200775" h="428625">
                  <a:moveTo>
                    <a:pt x="6129274" y="0"/>
                  </a:moveTo>
                  <a:lnTo>
                    <a:pt x="71500" y="0"/>
                  </a:lnTo>
                  <a:lnTo>
                    <a:pt x="43666" y="5617"/>
                  </a:lnTo>
                  <a:lnTo>
                    <a:pt x="20939" y="20939"/>
                  </a:lnTo>
                  <a:lnTo>
                    <a:pt x="5617" y="43666"/>
                  </a:lnTo>
                  <a:lnTo>
                    <a:pt x="0" y="71500"/>
                  </a:lnTo>
                  <a:lnTo>
                    <a:pt x="0" y="357124"/>
                  </a:lnTo>
                  <a:lnTo>
                    <a:pt x="5617" y="384958"/>
                  </a:lnTo>
                  <a:lnTo>
                    <a:pt x="20939" y="407685"/>
                  </a:lnTo>
                  <a:lnTo>
                    <a:pt x="43666" y="423007"/>
                  </a:lnTo>
                  <a:lnTo>
                    <a:pt x="71500" y="428625"/>
                  </a:lnTo>
                  <a:lnTo>
                    <a:pt x="6129274" y="428625"/>
                  </a:lnTo>
                  <a:lnTo>
                    <a:pt x="6157108" y="423007"/>
                  </a:lnTo>
                  <a:lnTo>
                    <a:pt x="6179835" y="407685"/>
                  </a:lnTo>
                  <a:lnTo>
                    <a:pt x="6195157" y="384958"/>
                  </a:lnTo>
                  <a:lnTo>
                    <a:pt x="6200775" y="357124"/>
                  </a:lnTo>
                  <a:lnTo>
                    <a:pt x="6200775" y="71500"/>
                  </a:lnTo>
                  <a:lnTo>
                    <a:pt x="6195157" y="43666"/>
                  </a:lnTo>
                  <a:lnTo>
                    <a:pt x="6179835" y="20939"/>
                  </a:lnTo>
                  <a:lnTo>
                    <a:pt x="6157108" y="5617"/>
                  </a:lnTo>
                  <a:lnTo>
                    <a:pt x="6129274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31028" y="317"/>
            <a:ext cx="257619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spc="5" dirty="0">
                <a:latin typeface="Calibri"/>
                <a:cs typeface="Calibri"/>
              </a:rPr>
              <a:t>Node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structure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739" y="1267460"/>
            <a:ext cx="7160261" cy="18985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spc="5" dirty="0">
                <a:latin typeface="Arial MT"/>
                <a:cs typeface="Arial MT"/>
              </a:rPr>
              <a:t>class Node: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spc="5" dirty="0">
                <a:latin typeface="Arial MT"/>
                <a:cs typeface="Arial MT"/>
              </a:rPr>
              <a:t>    def __</a:t>
            </a:r>
            <a:r>
              <a:rPr lang="en-US" sz="2400" spc="5" dirty="0" err="1">
                <a:latin typeface="Arial MT"/>
                <a:cs typeface="Arial MT"/>
              </a:rPr>
              <a:t>init</a:t>
            </a:r>
            <a:r>
              <a:rPr lang="en-US" sz="2400" spc="5" dirty="0">
                <a:latin typeface="Arial MT"/>
                <a:cs typeface="Arial MT"/>
              </a:rPr>
              <a:t>__(self, data):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spc="5" dirty="0">
                <a:latin typeface="Arial MT"/>
                <a:cs typeface="Arial MT"/>
              </a:rPr>
              <a:t>        </a:t>
            </a:r>
            <a:r>
              <a:rPr lang="en-US" sz="2400" spc="5" dirty="0" err="1">
                <a:latin typeface="Arial MT"/>
                <a:cs typeface="Arial MT"/>
              </a:rPr>
              <a:t>self.data</a:t>
            </a:r>
            <a:r>
              <a:rPr lang="en-US" sz="2400" spc="5" dirty="0">
                <a:latin typeface="Arial MT"/>
                <a:cs typeface="Arial MT"/>
              </a:rPr>
              <a:t> = data  # Stores the value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spc="5" dirty="0">
                <a:latin typeface="Arial MT"/>
                <a:cs typeface="Arial MT"/>
              </a:rPr>
              <a:t>        </a:t>
            </a:r>
            <a:r>
              <a:rPr lang="en-US" sz="2400" spc="5" dirty="0" err="1">
                <a:latin typeface="Arial MT"/>
                <a:cs typeface="Arial MT"/>
              </a:rPr>
              <a:t>self.next</a:t>
            </a:r>
            <a:r>
              <a:rPr lang="en-US" sz="2400" spc="5" dirty="0">
                <a:latin typeface="Arial MT"/>
                <a:cs typeface="Arial MT"/>
              </a:rPr>
              <a:t> = None  # Points to the next node in the stack</a:t>
            </a: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3276600"/>
            <a:ext cx="3838575" cy="337281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43225" y="209486"/>
            <a:ext cx="8225155" cy="852805"/>
            <a:chOff x="2943225" y="209486"/>
            <a:chExt cx="8225155" cy="852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3225" y="209486"/>
              <a:ext cx="8224901" cy="833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0" y="295211"/>
              <a:ext cx="4072001" cy="766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81325" y="247650"/>
              <a:ext cx="8096250" cy="704850"/>
            </a:xfrm>
            <a:custGeom>
              <a:avLst/>
              <a:gdLst/>
              <a:ahLst/>
              <a:cxnLst/>
              <a:rect l="l" t="t" r="r" b="b"/>
              <a:pathLst>
                <a:path w="8096250" h="704850">
                  <a:moveTo>
                    <a:pt x="7978775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7978775" y="704850"/>
                  </a:lnTo>
                  <a:lnTo>
                    <a:pt x="8024508" y="695620"/>
                  </a:lnTo>
                  <a:lnTo>
                    <a:pt x="8061848" y="670448"/>
                  </a:lnTo>
                  <a:lnTo>
                    <a:pt x="8087020" y="633108"/>
                  </a:lnTo>
                  <a:lnTo>
                    <a:pt x="8096250" y="587375"/>
                  </a:lnTo>
                  <a:lnTo>
                    <a:pt x="8096250" y="117475"/>
                  </a:lnTo>
                  <a:lnTo>
                    <a:pt x="8087020" y="71741"/>
                  </a:lnTo>
                  <a:lnTo>
                    <a:pt x="8061848" y="34401"/>
                  </a:lnTo>
                  <a:lnTo>
                    <a:pt x="8024508" y="9229"/>
                  </a:lnTo>
                  <a:lnTo>
                    <a:pt x="797877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61919" y="386016"/>
            <a:ext cx="36004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PUSH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OPERATION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b="1" spc="10" dirty="0">
                <a:latin typeface="Calibri"/>
                <a:cs typeface="Calibri"/>
              </a:rPr>
              <a:t>ON</a:t>
            </a:r>
            <a:r>
              <a:rPr b="1" spc="-55" dirty="0">
                <a:latin typeface="Calibri"/>
                <a:cs typeface="Calibri"/>
              </a:rPr>
              <a:t> STACK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5292" y="1206944"/>
            <a:ext cx="7508875" cy="321119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400" spc="-15" dirty="0">
                <a:latin typeface="Calibri"/>
                <a:cs typeface="Calibri"/>
              </a:rPr>
              <a:t>ALGORITHM: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400" dirty="0">
                <a:latin typeface="Times New Roman"/>
                <a:cs typeface="Times New Roman"/>
              </a:rPr>
              <a:t>Step 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Create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newNode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given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  <a:p>
            <a:pPr marL="12700" marR="147955">
              <a:lnSpc>
                <a:spcPts val="4360"/>
              </a:lnSpc>
              <a:spcBef>
                <a:spcPts val="310"/>
              </a:spcBef>
            </a:pPr>
            <a:r>
              <a:rPr sz="2400" dirty="0">
                <a:latin typeface="Times New Roman"/>
                <a:cs typeface="Times New Roman"/>
              </a:rPr>
              <a:t>Step 2 - </a:t>
            </a:r>
            <a:r>
              <a:rPr sz="2400" spc="-30" dirty="0">
                <a:latin typeface="Times New Roman"/>
                <a:cs typeface="Times New Roman"/>
              </a:rPr>
              <a:t>Check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whether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stack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b="1" spc="5" dirty="0">
                <a:latin typeface="Times New Roman"/>
                <a:cs typeface="Times New Roman"/>
              </a:rPr>
              <a:t>Empty </a:t>
            </a:r>
            <a:r>
              <a:rPr sz="2400" spc="10" dirty="0">
                <a:latin typeface="Times New Roman"/>
                <a:cs typeface="Times New Roman"/>
              </a:rPr>
              <a:t>(</a:t>
            </a:r>
            <a:r>
              <a:rPr sz="2400" b="1" spc="10" dirty="0">
                <a:latin typeface="Times New Roman"/>
                <a:cs typeface="Times New Roman"/>
              </a:rPr>
              <a:t>top </a:t>
            </a:r>
            <a:r>
              <a:rPr sz="2400" spc="-5" dirty="0">
                <a:latin typeface="Times New Roman"/>
                <a:cs typeface="Times New Roman"/>
              </a:rPr>
              <a:t>== </a:t>
            </a:r>
            <a:r>
              <a:rPr sz="2400" b="1" spc="-15" dirty="0">
                <a:latin typeface="Times New Roman"/>
                <a:cs typeface="Times New Roman"/>
              </a:rPr>
              <a:t>NULL</a:t>
            </a:r>
            <a:r>
              <a:rPr sz="2400" spc="-15" dirty="0">
                <a:latin typeface="Times New Roman"/>
                <a:cs typeface="Times New Roman"/>
              </a:rPr>
              <a:t>) 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If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set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newNode </a:t>
            </a:r>
            <a:r>
              <a:rPr sz="2400" b="1" dirty="0">
                <a:latin typeface="Times New Roman"/>
                <a:cs typeface="Times New Roman"/>
              </a:rPr>
              <a:t>→ </a:t>
            </a:r>
            <a:r>
              <a:rPr sz="2400" b="1" spc="-5" dirty="0">
                <a:latin typeface="Times New Roman"/>
                <a:cs typeface="Times New Roman"/>
              </a:rPr>
              <a:t>next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Times New Roman"/>
                <a:cs typeface="Times New Roman"/>
              </a:rPr>
              <a:t>NULL</a:t>
            </a:r>
            <a:r>
              <a:rPr sz="2400" spc="-1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latin typeface="Times New Roman"/>
                <a:cs typeface="Times New Roman"/>
              </a:rPr>
              <a:t>Step 4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If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Not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set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newNode </a:t>
            </a:r>
            <a:r>
              <a:rPr sz="2400" b="1" spc="5" dirty="0">
                <a:latin typeface="Times New Roman"/>
                <a:cs typeface="Times New Roman"/>
              </a:rPr>
              <a:t>→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next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b="1" spc="5" dirty="0">
                <a:latin typeface="Times New Roman"/>
                <a:cs typeface="Times New Roman"/>
              </a:rPr>
              <a:t>top</a:t>
            </a:r>
            <a:r>
              <a:rPr sz="2400" spc="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Finally,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set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top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newNode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" y="152400"/>
            <a:ext cx="11468100" cy="61912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23209" y="334962"/>
            <a:ext cx="10172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TOP=NULL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06519" y="2127250"/>
            <a:ext cx="247650" cy="809625"/>
          </a:xfrm>
          <a:custGeom>
            <a:avLst/>
            <a:gdLst/>
            <a:ahLst/>
            <a:cxnLst/>
            <a:rect l="l" t="t" r="r" b="b"/>
            <a:pathLst>
              <a:path w="247650" h="809625">
                <a:moveTo>
                  <a:pt x="8762" y="704850"/>
                </a:moveTo>
                <a:lnTo>
                  <a:pt x="5460" y="705738"/>
                </a:lnTo>
                <a:lnTo>
                  <a:pt x="2031" y="706754"/>
                </a:lnTo>
                <a:lnTo>
                  <a:pt x="0" y="710184"/>
                </a:lnTo>
                <a:lnTo>
                  <a:pt x="1015" y="713613"/>
                </a:lnTo>
                <a:lnTo>
                  <a:pt x="27304" y="809116"/>
                </a:lnTo>
                <a:lnTo>
                  <a:pt x="37884" y="798576"/>
                </a:lnTo>
                <a:lnTo>
                  <a:pt x="36702" y="798576"/>
                </a:lnTo>
                <a:lnTo>
                  <a:pt x="24510" y="795274"/>
                </a:lnTo>
                <a:lnTo>
                  <a:pt x="30477" y="772726"/>
                </a:lnTo>
                <a:lnTo>
                  <a:pt x="13207" y="710184"/>
                </a:lnTo>
                <a:lnTo>
                  <a:pt x="12318" y="706882"/>
                </a:lnTo>
                <a:lnTo>
                  <a:pt x="8762" y="704850"/>
                </a:lnTo>
                <a:close/>
              </a:path>
              <a:path w="247650" h="809625">
                <a:moveTo>
                  <a:pt x="30477" y="772726"/>
                </a:moveTo>
                <a:lnTo>
                  <a:pt x="24510" y="795274"/>
                </a:lnTo>
                <a:lnTo>
                  <a:pt x="36702" y="798576"/>
                </a:lnTo>
                <a:lnTo>
                  <a:pt x="37577" y="795274"/>
                </a:lnTo>
                <a:lnTo>
                  <a:pt x="36702" y="795274"/>
                </a:lnTo>
                <a:lnTo>
                  <a:pt x="26161" y="792479"/>
                </a:lnTo>
                <a:lnTo>
                  <a:pt x="33817" y="784824"/>
                </a:lnTo>
                <a:lnTo>
                  <a:pt x="30477" y="772726"/>
                </a:lnTo>
                <a:close/>
              </a:path>
              <a:path w="247650" h="809625">
                <a:moveTo>
                  <a:pt x="95122" y="727710"/>
                </a:moveTo>
                <a:lnTo>
                  <a:pt x="91058" y="727710"/>
                </a:lnTo>
                <a:lnTo>
                  <a:pt x="88518" y="730123"/>
                </a:lnTo>
                <a:lnTo>
                  <a:pt x="42693" y="775948"/>
                </a:lnTo>
                <a:lnTo>
                  <a:pt x="36702" y="798576"/>
                </a:lnTo>
                <a:lnTo>
                  <a:pt x="37884" y="798576"/>
                </a:lnTo>
                <a:lnTo>
                  <a:pt x="97535" y="739139"/>
                </a:lnTo>
                <a:lnTo>
                  <a:pt x="100075" y="736726"/>
                </a:lnTo>
                <a:lnTo>
                  <a:pt x="100075" y="732663"/>
                </a:lnTo>
                <a:lnTo>
                  <a:pt x="95122" y="727710"/>
                </a:lnTo>
                <a:close/>
              </a:path>
              <a:path w="247650" h="809625">
                <a:moveTo>
                  <a:pt x="33817" y="784824"/>
                </a:moveTo>
                <a:lnTo>
                  <a:pt x="26161" y="792479"/>
                </a:lnTo>
                <a:lnTo>
                  <a:pt x="36702" y="795274"/>
                </a:lnTo>
                <a:lnTo>
                  <a:pt x="33817" y="784824"/>
                </a:lnTo>
                <a:close/>
              </a:path>
              <a:path w="247650" h="809625">
                <a:moveTo>
                  <a:pt x="42693" y="775948"/>
                </a:moveTo>
                <a:lnTo>
                  <a:pt x="33817" y="784824"/>
                </a:lnTo>
                <a:lnTo>
                  <a:pt x="36702" y="795274"/>
                </a:lnTo>
                <a:lnTo>
                  <a:pt x="37577" y="795274"/>
                </a:lnTo>
                <a:lnTo>
                  <a:pt x="42693" y="775948"/>
                </a:lnTo>
                <a:close/>
              </a:path>
              <a:path w="247650" h="809625">
                <a:moveTo>
                  <a:pt x="234950" y="0"/>
                </a:moveTo>
                <a:lnTo>
                  <a:pt x="30477" y="772726"/>
                </a:lnTo>
                <a:lnTo>
                  <a:pt x="33817" y="784824"/>
                </a:lnTo>
                <a:lnTo>
                  <a:pt x="42693" y="775948"/>
                </a:lnTo>
                <a:lnTo>
                  <a:pt x="247268" y="3175"/>
                </a:lnTo>
                <a:lnTo>
                  <a:pt x="23495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31309" y="1821497"/>
            <a:ext cx="1109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latin typeface="Calibri"/>
                <a:cs typeface="Calibri"/>
              </a:rPr>
              <a:t>NEW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10049" y="3519423"/>
            <a:ext cx="826769" cy="2432050"/>
          </a:xfrm>
          <a:custGeom>
            <a:avLst/>
            <a:gdLst/>
            <a:ahLst/>
            <a:cxnLst/>
            <a:rect l="l" t="t" r="r" b="b"/>
            <a:pathLst>
              <a:path w="826770" h="2432050">
                <a:moveTo>
                  <a:pt x="323723" y="2420543"/>
                </a:moveTo>
                <a:lnTo>
                  <a:pt x="34620" y="2259939"/>
                </a:lnTo>
                <a:lnTo>
                  <a:pt x="102870" y="2258491"/>
                </a:lnTo>
                <a:lnTo>
                  <a:pt x="105664" y="2255596"/>
                </a:lnTo>
                <a:lnTo>
                  <a:pt x="105537" y="2248573"/>
                </a:lnTo>
                <a:lnTo>
                  <a:pt x="102616" y="2245791"/>
                </a:lnTo>
                <a:lnTo>
                  <a:pt x="0" y="2247950"/>
                </a:lnTo>
                <a:lnTo>
                  <a:pt x="50673" y="2333167"/>
                </a:lnTo>
                <a:lnTo>
                  <a:pt x="52451" y="2336190"/>
                </a:lnTo>
                <a:lnTo>
                  <a:pt x="56261" y="2337181"/>
                </a:lnTo>
                <a:lnTo>
                  <a:pt x="62357" y="2333599"/>
                </a:lnTo>
                <a:lnTo>
                  <a:pt x="63373" y="2329700"/>
                </a:lnTo>
                <a:lnTo>
                  <a:pt x="28498" y="2271014"/>
                </a:lnTo>
                <a:lnTo>
                  <a:pt x="317627" y="2431643"/>
                </a:lnTo>
                <a:lnTo>
                  <a:pt x="323723" y="2420543"/>
                </a:lnTo>
                <a:close/>
              </a:path>
              <a:path w="826770" h="2432050">
                <a:moveTo>
                  <a:pt x="826262" y="281432"/>
                </a:moveTo>
                <a:lnTo>
                  <a:pt x="645363" y="25920"/>
                </a:lnTo>
                <a:lnTo>
                  <a:pt x="707390" y="54102"/>
                </a:lnTo>
                <a:lnTo>
                  <a:pt x="711073" y="52578"/>
                </a:lnTo>
                <a:lnTo>
                  <a:pt x="712597" y="49403"/>
                </a:lnTo>
                <a:lnTo>
                  <a:pt x="713994" y="46228"/>
                </a:lnTo>
                <a:lnTo>
                  <a:pt x="712597" y="42418"/>
                </a:lnTo>
                <a:lnTo>
                  <a:pt x="709422" y="41033"/>
                </a:lnTo>
                <a:lnTo>
                  <a:pt x="633653" y="6604"/>
                </a:lnTo>
                <a:lnTo>
                  <a:pt x="619125" y="0"/>
                </a:lnTo>
                <a:lnTo>
                  <a:pt x="627888" y="98806"/>
                </a:lnTo>
                <a:lnTo>
                  <a:pt x="628269" y="102235"/>
                </a:lnTo>
                <a:lnTo>
                  <a:pt x="631317" y="104775"/>
                </a:lnTo>
                <a:lnTo>
                  <a:pt x="638302" y="104267"/>
                </a:lnTo>
                <a:lnTo>
                  <a:pt x="640842" y="101092"/>
                </a:lnTo>
                <a:lnTo>
                  <a:pt x="640588" y="97663"/>
                </a:lnTo>
                <a:lnTo>
                  <a:pt x="634898" y="33223"/>
                </a:lnTo>
                <a:lnTo>
                  <a:pt x="815848" y="288798"/>
                </a:lnTo>
                <a:lnTo>
                  <a:pt x="826262" y="2814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00140" y="3842956"/>
            <a:ext cx="405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71110" y="5924232"/>
            <a:ext cx="405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0" y="209486"/>
            <a:ext cx="8310880" cy="900430"/>
            <a:chOff x="2857500" y="209486"/>
            <a:chExt cx="8310880" cy="900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3225" y="209486"/>
              <a:ext cx="8224901" cy="833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0" y="247586"/>
              <a:ext cx="7777226" cy="8620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81325" y="247650"/>
              <a:ext cx="8096250" cy="704850"/>
            </a:xfrm>
            <a:custGeom>
              <a:avLst/>
              <a:gdLst/>
              <a:ahLst/>
              <a:cxnLst/>
              <a:rect l="l" t="t" r="r" b="b"/>
              <a:pathLst>
                <a:path w="8096250" h="704850">
                  <a:moveTo>
                    <a:pt x="7978775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7978775" y="704850"/>
                  </a:lnTo>
                  <a:lnTo>
                    <a:pt x="8024508" y="695620"/>
                  </a:lnTo>
                  <a:lnTo>
                    <a:pt x="8061848" y="670448"/>
                  </a:lnTo>
                  <a:lnTo>
                    <a:pt x="8087020" y="633108"/>
                  </a:lnTo>
                  <a:lnTo>
                    <a:pt x="8096250" y="587375"/>
                  </a:lnTo>
                  <a:lnTo>
                    <a:pt x="8096250" y="117475"/>
                  </a:lnTo>
                  <a:lnTo>
                    <a:pt x="8087020" y="71741"/>
                  </a:lnTo>
                  <a:lnTo>
                    <a:pt x="8061848" y="34401"/>
                  </a:lnTo>
                  <a:lnTo>
                    <a:pt x="8024508" y="9229"/>
                  </a:lnTo>
                  <a:lnTo>
                    <a:pt x="797877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95370" y="355218"/>
            <a:ext cx="3989704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20" dirty="0">
                <a:latin typeface="Calibri"/>
                <a:cs typeface="Calibri"/>
              </a:rPr>
              <a:t>POP</a:t>
            </a:r>
            <a:r>
              <a:rPr sz="2750" b="1" spc="-20" dirty="0">
                <a:latin typeface="Calibri"/>
                <a:cs typeface="Calibri"/>
              </a:rPr>
              <a:t> OPERATION</a:t>
            </a:r>
            <a:r>
              <a:rPr sz="2750" b="1" spc="160" dirty="0">
                <a:latin typeface="Calibri"/>
                <a:cs typeface="Calibri"/>
              </a:rPr>
              <a:t> </a:t>
            </a:r>
            <a:r>
              <a:rPr sz="2750" b="1" spc="15" dirty="0">
                <a:latin typeface="Calibri"/>
                <a:cs typeface="Calibri"/>
              </a:rPr>
              <a:t>ON</a:t>
            </a:r>
            <a:r>
              <a:rPr sz="2750" b="1" spc="5" dirty="0">
                <a:latin typeface="Calibri"/>
                <a:cs typeface="Calibri"/>
              </a:rPr>
              <a:t> </a:t>
            </a:r>
            <a:r>
              <a:rPr sz="2750" b="1" spc="-50" dirty="0">
                <a:latin typeface="Calibri"/>
                <a:cs typeface="Calibri"/>
              </a:rPr>
              <a:t>STACK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4669" y="403161"/>
            <a:ext cx="9550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(Cont..)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5292" y="1336738"/>
            <a:ext cx="11485245" cy="379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ALGORITHM: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Calibri"/>
              <a:cs typeface="Calibri"/>
            </a:endParaRPr>
          </a:p>
          <a:p>
            <a:pPr marL="14351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Check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whether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b="1" spc="10" dirty="0">
                <a:latin typeface="Arial"/>
                <a:cs typeface="Arial"/>
              </a:rPr>
              <a:t>stack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Empty</a:t>
            </a:r>
            <a:r>
              <a:rPr sz="2400" b="1" spc="10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b="1" dirty="0">
                <a:latin typeface="Arial"/>
                <a:cs typeface="Arial"/>
              </a:rPr>
              <a:t>top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==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NULL</a:t>
            </a:r>
            <a:r>
              <a:rPr sz="2400" spc="-10" dirty="0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marL="143510">
              <a:lnSpc>
                <a:spcPct val="100000"/>
              </a:lnSpc>
              <a:spcBef>
                <a:spcPts val="1470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b="1" spc="-25" dirty="0">
                <a:latin typeface="Arial"/>
                <a:cs typeface="Arial"/>
              </a:rPr>
              <a:t>Empty</a:t>
            </a:r>
            <a:r>
              <a:rPr sz="2400" spc="-25" dirty="0">
                <a:latin typeface="Arial MT"/>
                <a:cs typeface="Arial MT"/>
              </a:rPr>
              <a:t>,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then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display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"Stack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40" dirty="0">
                <a:latin typeface="Arial"/>
                <a:cs typeface="Arial"/>
              </a:rPr>
              <a:t>is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Empty!!!</a:t>
            </a:r>
            <a:r>
              <a:rPr sz="2400" b="1" spc="254" dirty="0">
                <a:latin typeface="Arial"/>
                <a:cs typeface="Arial"/>
              </a:rPr>
              <a:t> </a:t>
            </a:r>
            <a:r>
              <a:rPr sz="2400" b="1" spc="20" dirty="0">
                <a:latin typeface="Arial"/>
                <a:cs typeface="Arial"/>
              </a:rPr>
              <a:t>Deletion</a:t>
            </a:r>
            <a:r>
              <a:rPr sz="2400" b="1" spc="-180" dirty="0">
                <a:latin typeface="Arial"/>
                <a:cs typeface="Arial"/>
              </a:rPr>
              <a:t> </a:t>
            </a:r>
            <a:r>
              <a:rPr sz="2400" b="1" spc="40" dirty="0">
                <a:latin typeface="Arial"/>
                <a:cs typeface="Arial"/>
              </a:rPr>
              <a:t>is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not</a:t>
            </a:r>
            <a:r>
              <a:rPr sz="2400" b="1" spc="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possible!!!"</a:t>
            </a:r>
            <a:endParaRPr sz="2400">
              <a:latin typeface="Arial"/>
              <a:cs typeface="Arial"/>
            </a:endParaRPr>
          </a:p>
          <a:p>
            <a:pPr marL="143510">
              <a:lnSpc>
                <a:spcPct val="100000"/>
              </a:lnSpc>
              <a:spcBef>
                <a:spcPts val="1405"/>
              </a:spcBef>
            </a:pPr>
            <a:r>
              <a:rPr sz="2400" spc="-20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terminate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marL="143510">
              <a:lnSpc>
                <a:spcPct val="100000"/>
              </a:lnSpc>
              <a:spcBef>
                <a:spcPts val="1475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b="1" spc="-45" dirty="0">
                <a:latin typeface="Arial"/>
                <a:cs typeface="Arial"/>
              </a:rPr>
              <a:t>Not</a:t>
            </a:r>
            <a:r>
              <a:rPr sz="2400" b="1" spc="10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Empty</a:t>
            </a:r>
            <a:r>
              <a:rPr sz="2400" spc="-25" dirty="0">
                <a:latin typeface="Arial MT"/>
                <a:cs typeface="Arial MT"/>
              </a:rPr>
              <a:t>,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define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b="1" spc="-45" dirty="0">
                <a:latin typeface="Arial"/>
                <a:cs typeface="Arial"/>
              </a:rPr>
              <a:t>Node</a:t>
            </a:r>
            <a:r>
              <a:rPr sz="2400" b="1" spc="17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pointer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'</a:t>
            </a:r>
            <a:r>
              <a:rPr sz="2400" b="1" spc="-10" dirty="0">
                <a:latin typeface="Arial"/>
                <a:cs typeface="Arial"/>
              </a:rPr>
              <a:t>temp</a:t>
            </a:r>
            <a:r>
              <a:rPr sz="2400" spc="-10" dirty="0">
                <a:latin typeface="Arial MT"/>
                <a:cs typeface="Arial MT"/>
              </a:rPr>
              <a:t>'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and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set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'</a:t>
            </a:r>
            <a:r>
              <a:rPr sz="2400" b="1" spc="-15" dirty="0">
                <a:latin typeface="Arial"/>
                <a:cs typeface="Arial"/>
              </a:rPr>
              <a:t>top</a:t>
            </a:r>
            <a:r>
              <a:rPr sz="2400" spc="-15" dirty="0">
                <a:latin typeface="Arial MT"/>
                <a:cs typeface="Arial MT"/>
              </a:rPr>
              <a:t>'.</a:t>
            </a:r>
            <a:endParaRPr sz="2400">
              <a:latin typeface="Arial MT"/>
              <a:cs typeface="Arial MT"/>
            </a:endParaRPr>
          </a:p>
          <a:p>
            <a:pPr marL="143510">
              <a:lnSpc>
                <a:spcPct val="100000"/>
              </a:lnSpc>
              <a:spcBef>
                <a:spcPts val="1475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Then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set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'</a:t>
            </a:r>
            <a:r>
              <a:rPr sz="2400" b="1" spc="-5" dirty="0">
                <a:latin typeface="Arial"/>
                <a:cs typeface="Arial"/>
              </a:rPr>
              <a:t>top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top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5" dirty="0">
                <a:latin typeface="Arial"/>
                <a:cs typeface="Arial"/>
              </a:rPr>
              <a:t>→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next</a:t>
            </a:r>
            <a:r>
              <a:rPr sz="2400" spc="-5" dirty="0">
                <a:latin typeface="Arial MT"/>
                <a:cs typeface="Arial MT"/>
              </a:rPr>
              <a:t>'.</a:t>
            </a:r>
            <a:endParaRPr sz="2400">
              <a:latin typeface="Arial MT"/>
              <a:cs typeface="Arial MT"/>
            </a:endParaRPr>
          </a:p>
          <a:p>
            <a:pPr marL="143510">
              <a:lnSpc>
                <a:spcPct val="100000"/>
              </a:lnSpc>
              <a:spcBef>
                <a:spcPts val="1400"/>
              </a:spcBef>
            </a:pPr>
            <a:r>
              <a:rPr sz="2400" spc="-20" dirty="0">
                <a:latin typeface="Arial MT"/>
                <a:cs typeface="Arial MT"/>
              </a:rPr>
              <a:t>Step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Finally,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delete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'</a:t>
            </a:r>
            <a:r>
              <a:rPr sz="2400" b="1" spc="-10" dirty="0">
                <a:latin typeface="Arial"/>
                <a:cs typeface="Arial"/>
              </a:rPr>
              <a:t>temp</a:t>
            </a:r>
            <a:r>
              <a:rPr sz="2400" spc="-10" dirty="0">
                <a:latin typeface="Arial MT"/>
                <a:cs typeface="Arial MT"/>
              </a:rPr>
              <a:t>'.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10" dirty="0">
                <a:latin typeface="Arial MT"/>
                <a:cs typeface="Arial MT"/>
              </a:rPr>
              <a:t>(</a:t>
            </a:r>
            <a:r>
              <a:rPr sz="2400" b="1" spc="10" dirty="0">
                <a:latin typeface="Arial"/>
                <a:cs typeface="Arial"/>
              </a:rPr>
              <a:t>free(temp)</a:t>
            </a:r>
            <a:r>
              <a:rPr sz="2400" spc="10" dirty="0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28650" y="676275"/>
            <a:ext cx="10791825" cy="5505450"/>
            <a:chOff x="628650" y="676275"/>
            <a:chExt cx="10791825" cy="55054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" y="676275"/>
              <a:ext cx="10791825" cy="55054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80408" y="1001013"/>
              <a:ext cx="517525" cy="1355725"/>
            </a:xfrm>
            <a:custGeom>
              <a:avLst/>
              <a:gdLst/>
              <a:ahLst/>
              <a:cxnLst/>
              <a:rect l="l" t="t" r="r" b="b"/>
              <a:pathLst>
                <a:path w="517525" h="1355725">
                  <a:moveTo>
                    <a:pt x="182626" y="1350518"/>
                  </a:moveTo>
                  <a:lnTo>
                    <a:pt x="31254" y="1015187"/>
                  </a:lnTo>
                  <a:lnTo>
                    <a:pt x="83947" y="1052703"/>
                  </a:lnTo>
                  <a:lnTo>
                    <a:pt x="86868" y="1054735"/>
                  </a:lnTo>
                  <a:lnTo>
                    <a:pt x="90805" y="1054100"/>
                  </a:lnTo>
                  <a:lnTo>
                    <a:pt x="92837" y="1051179"/>
                  </a:lnTo>
                  <a:lnTo>
                    <a:pt x="94869" y="1048385"/>
                  </a:lnTo>
                  <a:lnTo>
                    <a:pt x="94234" y="1044448"/>
                  </a:lnTo>
                  <a:lnTo>
                    <a:pt x="91313" y="1042416"/>
                  </a:lnTo>
                  <a:lnTo>
                    <a:pt x="23012" y="993775"/>
                  </a:lnTo>
                  <a:lnTo>
                    <a:pt x="10541" y="984885"/>
                  </a:lnTo>
                  <a:lnTo>
                    <a:pt x="254" y="1083437"/>
                  </a:lnTo>
                  <a:lnTo>
                    <a:pt x="0" y="1086993"/>
                  </a:lnTo>
                  <a:lnTo>
                    <a:pt x="2540" y="1090041"/>
                  </a:lnTo>
                  <a:lnTo>
                    <a:pt x="9525" y="1090803"/>
                  </a:lnTo>
                  <a:lnTo>
                    <a:pt x="12573" y="1088263"/>
                  </a:lnTo>
                  <a:lnTo>
                    <a:pt x="12954" y="1084834"/>
                  </a:lnTo>
                  <a:lnTo>
                    <a:pt x="19672" y="1020343"/>
                  </a:lnTo>
                  <a:lnTo>
                    <a:pt x="171069" y="1355725"/>
                  </a:lnTo>
                  <a:lnTo>
                    <a:pt x="182626" y="1350518"/>
                  </a:lnTo>
                  <a:close/>
                </a:path>
                <a:path w="517525" h="1355725">
                  <a:moveTo>
                    <a:pt x="517144" y="7747"/>
                  </a:moveTo>
                  <a:lnTo>
                    <a:pt x="507111" y="0"/>
                  </a:lnTo>
                  <a:lnTo>
                    <a:pt x="161048" y="446532"/>
                  </a:lnTo>
                  <a:lnTo>
                    <a:pt x="169545" y="382270"/>
                  </a:lnTo>
                  <a:lnTo>
                    <a:pt x="169926" y="378841"/>
                  </a:lnTo>
                  <a:lnTo>
                    <a:pt x="167513" y="375666"/>
                  </a:lnTo>
                  <a:lnTo>
                    <a:pt x="164084" y="375158"/>
                  </a:lnTo>
                  <a:lnTo>
                    <a:pt x="160528" y="374777"/>
                  </a:lnTo>
                  <a:lnTo>
                    <a:pt x="157353" y="377190"/>
                  </a:lnTo>
                  <a:lnTo>
                    <a:pt x="156845" y="380619"/>
                  </a:lnTo>
                  <a:lnTo>
                    <a:pt x="143891" y="478917"/>
                  </a:lnTo>
                  <a:lnTo>
                    <a:pt x="159004" y="472821"/>
                  </a:lnTo>
                  <a:lnTo>
                    <a:pt x="235839" y="441833"/>
                  </a:lnTo>
                  <a:lnTo>
                    <a:pt x="239141" y="440563"/>
                  </a:lnTo>
                  <a:lnTo>
                    <a:pt x="240665" y="436880"/>
                  </a:lnTo>
                  <a:lnTo>
                    <a:pt x="239395" y="433578"/>
                  </a:lnTo>
                  <a:lnTo>
                    <a:pt x="237998" y="430276"/>
                  </a:lnTo>
                  <a:lnTo>
                    <a:pt x="234315" y="428752"/>
                  </a:lnTo>
                  <a:lnTo>
                    <a:pt x="171132" y="454215"/>
                  </a:lnTo>
                  <a:lnTo>
                    <a:pt x="517144" y="7747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80355" y="810831"/>
            <a:ext cx="347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90973" y="3038220"/>
            <a:ext cx="455295" cy="349885"/>
          </a:xfrm>
          <a:custGeom>
            <a:avLst/>
            <a:gdLst/>
            <a:ahLst/>
            <a:cxnLst/>
            <a:rect l="l" t="t" r="r" b="b"/>
            <a:pathLst>
              <a:path w="455295" h="349885">
                <a:moveTo>
                  <a:pt x="42799" y="252983"/>
                </a:moveTo>
                <a:lnTo>
                  <a:pt x="39115" y="254507"/>
                </a:lnTo>
                <a:lnTo>
                  <a:pt x="37846" y="257809"/>
                </a:lnTo>
                <a:lnTo>
                  <a:pt x="0" y="349376"/>
                </a:lnTo>
                <a:lnTo>
                  <a:pt x="20505" y="346837"/>
                </a:lnTo>
                <a:lnTo>
                  <a:pt x="13970" y="346837"/>
                </a:lnTo>
                <a:lnTo>
                  <a:pt x="6223" y="336676"/>
                </a:lnTo>
                <a:lnTo>
                  <a:pt x="24828" y="322479"/>
                </a:lnTo>
                <a:lnTo>
                  <a:pt x="49529" y="262636"/>
                </a:lnTo>
                <a:lnTo>
                  <a:pt x="50926" y="259333"/>
                </a:lnTo>
                <a:lnTo>
                  <a:pt x="49275" y="255650"/>
                </a:lnTo>
                <a:lnTo>
                  <a:pt x="46100" y="254380"/>
                </a:lnTo>
                <a:lnTo>
                  <a:pt x="42799" y="252983"/>
                </a:lnTo>
                <a:close/>
              </a:path>
              <a:path w="455295" h="349885">
                <a:moveTo>
                  <a:pt x="24828" y="322479"/>
                </a:moveTo>
                <a:lnTo>
                  <a:pt x="6223" y="336676"/>
                </a:lnTo>
                <a:lnTo>
                  <a:pt x="13970" y="346837"/>
                </a:lnTo>
                <a:lnTo>
                  <a:pt x="17463" y="344169"/>
                </a:lnTo>
                <a:lnTo>
                  <a:pt x="15875" y="344169"/>
                </a:lnTo>
                <a:lnTo>
                  <a:pt x="9271" y="335533"/>
                </a:lnTo>
                <a:lnTo>
                  <a:pt x="19992" y="334195"/>
                </a:lnTo>
                <a:lnTo>
                  <a:pt x="24828" y="322479"/>
                </a:lnTo>
                <a:close/>
              </a:path>
              <a:path w="455295" h="349885">
                <a:moveTo>
                  <a:pt x="100329" y="324103"/>
                </a:moveTo>
                <a:lnTo>
                  <a:pt x="96774" y="324612"/>
                </a:lnTo>
                <a:lnTo>
                  <a:pt x="32589" y="332623"/>
                </a:lnTo>
                <a:lnTo>
                  <a:pt x="13970" y="346837"/>
                </a:lnTo>
                <a:lnTo>
                  <a:pt x="20505" y="346837"/>
                </a:lnTo>
                <a:lnTo>
                  <a:pt x="98425" y="337184"/>
                </a:lnTo>
                <a:lnTo>
                  <a:pt x="101853" y="336803"/>
                </a:lnTo>
                <a:lnTo>
                  <a:pt x="104393" y="333628"/>
                </a:lnTo>
                <a:lnTo>
                  <a:pt x="103886" y="330073"/>
                </a:lnTo>
                <a:lnTo>
                  <a:pt x="103504" y="326643"/>
                </a:lnTo>
                <a:lnTo>
                  <a:pt x="100329" y="324103"/>
                </a:lnTo>
                <a:close/>
              </a:path>
              <a:path w="455295" h="349885">
                <a:moveTo>
                  <a:pt x="19992" y="334195"/>
                </a:moveTo>
                <a:lnTo>
                  <a:pt x="9271" y="335533"/>
                </a:lnTo>
                <a:lnTo>
                  <a:pt x="15875" y="344169"/>
                </a:lnTo>
                <a:lnTo>
                  <a:pt x="19992" y="334195"/>
                </a:lnTo>
                <a:close/>
              </a:path>
              <a:path w="455295" h="349885">
                <a:moveTo>
                  <a:pt x="32589" y="332623"/>
                </a:moveTo>
                <a:lnTo>
                  <a:pt x="19992" y="334195"/>
                </a:lnTo>
                <a:lnTo>
                  <a:pt x="15875" y="344169"/>
                </a:lnTo>
                <a:lnTo>
                  <a:pt x="17463" y="344169"/>
                </a:lnTo>
                <a:lnTo>
                  <a:pt x="32589" y="332623"/>
                </a:lnTo>
                <a:close/>
              </a:path>
              <a:path w="455295" h="349885">
                <a:moveTo>
                  <a:pt x="447421" y="0"/>
                </a:moveTo>
                <a:lnTo>
                  <a:pt x="24828" y="322479"/>
                </a:lnTo>
                <a:lnTo>
                  <a:pt x="19992" y="334195"/>
                </a:lnTo>
                <a:lnTo>
                  <a:pt x="32589" y="332623"/>
                </a:lnTo>
                <a:lnTo>
                  <a:pt x="455167" y="10032"/>
                </a:lnTo>
                <a:lnTo>
                  <a:pt x="44742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92929" y="2320988"/>
            <a:ext cx="989330" cy="88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TEMP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Calibri"/>
              <a:cs typeface="Calibri"/>
            </a:endParaRPr>
          </a:p>
          <a:p>
            <a:pPr marL="65405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op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19598" y="3919473"/>
            <a:ext cx="337185" cy="301625"/>
          </a:xfrm>
          <a:custGeom>
            <a:avLst/>
            <a:gdLst/>
            <a:ahLst/>
            <a:cxnLst/>
            <a:rect l="l" t="t" r="r" b="b"/>
            <a:pathLst>
              <a:path w="337185" h="301625">
                <a:moveTo>
                  <a:pt x="18832" y="16789"/>
                </a:moveTo>
                <a:lnTo>
                  <a:pt x="22740" y="28859"/>
                </a:lnTo>
                <a:lnTo>
                  <a:pt x="328295" y="301625"/>
                </a:lnTo>
                <a:lnTo>
                  <a:pt x="336803" y="292226"/>
                </a:lnTo>
                <a:lnTo>
                  <a:pt x="31224" y="19319"/>
                </a:lnTo>
                <a:lnTo>
                  <a:pt x="18832" y="16789"/>
                </a:lnTo>
                <a:close/>
              </a:path>
              <a:path w="337185" h="301625">
                <a:moveTo>
                  <a:pt x="0" y="0"/>
                </a:moveTo>
                <a:lnTo>
                  <a:pt x="30606" y="94361"/>
                </a:lnTo>
                <a:lnTo>
                  <a:pt x="31750" y="97662"/>
                </a:lnTo>
                <a:lnTo>
                  <a:pt x="35305" y="99440"/>
                </a:lnTo>
                <a:lnTo>
                  <a:pt x="38608" y="98425"/>
                </a:lnTo>
                <a:lnTo>
                  <a:pt x="42037" y="97281"/>
                </a:lnTo>
                <a:lnTo>
                  <a:pt x="43814" y="93725"/>
                </a:lnTo>
                <a:lnTo>
                  <a:pt x="42672" y="90424"/>
                </a:lnTo>
                <a:lnTo>
                  <a:pt x="22740" y="28859"/>
                </a:lnTo>
                <a:lnTo>
                  <a:pt x="5206" y="13207"/>
                </a:lnTo>
                <a:lnTo>
                  <a:pt x="13715" y="3682"/>
                </a:lnTo>
                <a:lnTo>
                  <a:pt x="18060" y="3682"/>
                </a:lnTo>
                <a:lnTo>
                  <a:pt x="0" y="0"/>
                </a:lnTo>
                <a:close/>
              </a:path>
              <a:path w="337185" h="301625">
                <a:moveTo>
                  <a:pt x="18060" y="3682"/>
                </a:moveTo>
                <a:lnTo>
                  <a:pt x="13715" y="3682"/>
                </a:lnTo>
                <a:lnTo>
                  <a:pt x="31224" y="19319"/>
                </a:lnTo>
                <a:lnTo>
                  <a:pt x="94614" y="32257"/>
                </a:lnTo>
                <a:lnTo>
                  <a:pt x="98043" y="32893"/>
                </a:lnTo>
                <a:lnTo>
                  <a:pt x="101473" y="30733"/>
                </a:lnTo>
                <a:lnTo>
                  <a:pt x="102108" y="27305"/>
                </a:lnTo>
                <a:lnTo>
                  <a:pt x="102870" y="23875"/>
                </a:lnTo>
                <a:lnTo>
                  <a:pt x="100584" y="20446"/>
                </a:lnTo>
                <a:lnTo>
                  <a:pt x="97154" y="19812"/>
                </a:lnTo>
                <a:lnTo>
                  <a:pt x="18060" y="3682"/>
                </a:lnTo>
                <a:close/>
              </a:path>
              <a:path w="337185" h="301625">
                <a:moveTo>
                  <a:pt x="13715" y="3682"/>
                </a:moveTo>
                <a:lnTo>
                  <a:pt x="5206" y="13207"/>
                </a:lnTo>
                <a:lnTo>
                  <a:pt x="22740" y="28859"/>
                </a:lnTo>
                <a:lnTo>
                  <a:pt x="18832" y="16789"/>
                </a:lnTo>
                <a:lnTo>
                  <a:pt x="8127" y="14605"/>
                </a:lnTo>
                <a:lnTo>
                  <a:pt x="15493" y="6476"/>
                </a:lnTo>
                <a:lnTo>
                  <a:pt x="16844" y="6476"/>
                </a:lnTo>
                <a:lnTo>
                  <a:pt x="13715" y="3682"/>
                </a:lnTo>
                <a:close/>
              </a:path>
              <a:path w="337185" h="301625">
                <a:moveTo>
                  <a:pt x="16844" y="6476"/>
                </a:moveTo>
                <a:lnTo>
                  <a:pt x="15493" y="6476"/>
                </a:lnTo>
                <a:lnTo>
                  <a:pt x="18832" y="16789"/>
                </a:lnTo>
                <a:lnTo>
                  <a:pt x="31224" y="19319"/>
                </a:lnTo>
                <a:lnTo>
                  <a:pt x="16844" y="6476"/>
                </a:lnTo>
                <a:close/>
              </a:path>
              <a:path w="337185" h="301625">
                <a:moveTo>
                  <a:pt x="15493" y="6476"/>
                </a:moveTo>
                <a:lnTo>
                  <a:pt x="8127" y="14605"/>
                </a:lnTo>
                <a:lnTo>
                  <a:pt x="18832" y="16789"/>
                </a:lnTo>
                <a:lnTo>
                  <a:pt x="15493" y="647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91150" y="4247578"/>
            <a:ext cx="528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9800" y="199961"/>
            <a:ext cx="6291580" cy="995680"/>
            <a:chOff x="2209800" y="199961"/>
            <a:chExt cx="6291580" cy="995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800" y="219011"/>
              <a:ext cx="6291326" cy="833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9125" y="199961"/>
              <a:ext cx="1852676" cy="9953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47900" y="257175"/>
              <a:ext cx="6162675" cy="704850"/>
            </a:xfrm>
            <a:custGeom>
              <a:avLst/>
              <a:gdLst/>
              <a:ahLst/>
              <a:cxnLst/>
              <a:rect l="l" t="t" r="r" b="b"/>
              <a:pathLst>
                <a:path w="6162675" h="704850">
                  <a:moveTo>
                    <a:pt x="6045200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6045200" y="704850"/>
                  </a:lnTo>
                  <a:lnTo>
                    <a:pt x="6090933" y="695620"/>
                  </a:lnTo>
                  <a:lnTo>
                    <a:pt x="6128273" y="670448"/>
                  </a:lnTo>
                  <a:lnTo>
                    <a:pt x="6153445" y="633108"/>
                  </a:lnTo>
                  <a:lnTo>
                    <a:pt x="6162675" y="587375"/>
                  </a:lnTo>
                  <a:lnTo>
                    <a:pt x="6162675" y="117475"/>
                  </a:lnTo>
                  <a:lnTo>
                    <a:pt x="6153445" y="71741"/>
                  </a:lnTo>
                  <a:lnTo>
                    <a:pt x="6128273" y="34401"/>
                  </a:lnTo>
                  <a:lnTo>
                    <a:pt x="6090933" y="9229"/>
                  </a:lnTo>
                  <a:lnTo>
                    <a:pt x="6045200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03826" y="323215"/>
            <a:ext cx="125730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latin typeface="Calibri"/>
                <a:cs typeface="Calibri"/>
              </a:rPr>
              <a:t>D</a:t>
            </a:r>
            <a:r>
              <a:rPr sz="3200" b="1" spc="30" dirty="0">
                <a:latin typeface="Calibri"/>
                <a:cs typeface="Calibri"/>
              </a:rPr>
              <a:t>i</a:t>
            </a:r>
            <a:r>
              <a:rPr sz="3200" b="1" spc="-5" dirty="0">
                <a:latin typeface="Calibri"/>
                <a:cs typeface="Calibri"/>
              </a:rPr>
              <a:t>s</a:t>
            </a:r>
            <a:r>
              <a:rPr sz="3200" b="1" spc="15" dirty="0">
                <a:latin typeface="Calibri"/>
                <a:cs typeface="Calibri"/>
              </a:rPr>
              <a:t>p</a:t>
            </a:r>
            <a:r>
              <a:rPr sz="3200" b="1" spc="20" dirty="0">
                <a:latin typeface="Calibri"/>
                <a:cs typeface="Calibri"/>
              </a:rPr>
              <a:t>l</a:t>
            </a:r>
            <a:r>
              <a:rPr sz="3200" b="1" spc="-90" dirty="0">
                <a:latin typeface="Calibri"/>
                <a:cs typeface="Calibri"/>
              </a:rPr>
              <a:t>a</a:t>
            </a:r>
            <a:r>
              <a:rPr sz="3200" b="1" spc="10" dirty="0">
                <a:latin typeface="Calibri"/>
                <a:cs typeface="Calibri"/>
              </a:rPr>
              <a:t>y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5292" y="1273873"/>
            <a:ext cx="11500485" cy="3878579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spc="-35" dirty="0">
                <a:latin typeface="Times New Roman"/>
                <a:cs typeface="Times New Roman"/>
              </a:rPr>
              <a:t>Algorithm: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Check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whether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stack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b="1" spc="5" dirty="0">
                <a:latin typeface="Times New Roman"/>
                <a:cs typeface="Times New Roman"/>
              </a:rPr>
              <a:t>Empty </a:t>
            </a:r>
            <a:r>
              <a:rPr sz="2400" spc="10" dirty="0">
                <a:latin typeface="Times New Roman"/>
                <a:cs typeface="Times New Roman"/>
              </a:rPr>
              <a:t>(</a:t>
            </a:r>
            <a:r>
              <a:rPr sz="2400" b="1" spc="10" dirty="0">
                <a:latin typeface="Times New Roman"/>
                <a:cs typeface="Times New Roman"/>
              </a:rPr>
              <a:t>top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==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NULL</a:t>
            </a:r>
            <a:r>
              <a:rPr sz="2400" spc="-5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dirty="0">
                <a:latin typeface="Times New Roman"/>
                <a:cs typeface="Times New Roman"/>
              </a:rPr>
              <a:t>Step 2 -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display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'Stack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Empty!!!'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and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terminate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function.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Not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define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Node</a:t>
            </a:r>
            <a:r>
              <a:rPr sz="2400" spc="-15" dirty="0">
                <a:latin typeface="Times New Roman"/>
                <a:cs typeface="Times New Roman"/>
              </a:rPr>
              <a:t> pointer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'temp'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and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initialize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top</a:t>
            </a:r>
            <a:r>
              <a:rPr sz="2400" spc="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Display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</a:t>
            </a:r>
            <a:r>
              <a:rPr sz="2400" b="1" spc="-5" dirty="0">
                <a:latin typeface="Times New Roman"/>
                <a:cs typeface="Times New Roman"/>
              </a:rPr>
              <a:t>temp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→</a:t>
            </a:r>
            <a:r>
              <a:rPr sz="2400" b="1" spc="5" dirty="0">
                <a:latin typeface="Times New Roman"/>
                <a:cs typeface="Times New Roman"/>
              </a:rPr>
              <a:t> data </a:t>
            </a:r>
            <a:r>
              <a:rPr sz="2400" spc="-35" dirty="0">
                <a:latin typeface="Times New Roman"/>
                <a:cs typeface="Times New Roman"/>
              </a:rPr>
              <a:t>---&gt;'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and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move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next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node.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Repeat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same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until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temp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spc="-15" dirty="0">
                <a:latin typeface="Times New Roman"/>
                <a:cs typeface="Times New Roman"/>
              </a:rPr>
              <a:t>reaches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first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node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stack.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(</a:t>
            </a:r>
            <a:r>
              <a:rPr sz="2400" b="1" spc="10" dirty="0">
                <a:latin typeface="Times New Roman"/>
                <a:cs typeface="Times New Roman"/>
              </a:rPr>
              <a:t>temp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→</a:t>
            </a:r>
            <a:r>
              <a:rPr sz="2400" b="1" dirty="0">
                <a:latin typeface="Times New Roman"/>
                <a:cs typeface="Times New Roman"/>
              </a:rPr>
              <a:t> next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!=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NULL</a:t>
            </a:r>
            <a:r>
              <a:rPr sz="2400" spc="-5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Finally!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Display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</a:t>
            </a:r>
            <a:r>
              <a:rPr sz="2400" b="1" spc="-5" dirty="0">
                <a:latin typeface="Times New Roman"/>
                <a:cs typeface="Times New Roman"/>
              </a:rPr>
              <a:t>temp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→ </a:t>
            </a:r>
            <a:r>
              <a:rPr sz="2400" b="1" spc="5" dirty="0">
                <a:latin typeface="Times New Roman"/>
                <a:cs typeface="Times New Roman"/>
              </a:rPr>
              <a:t>data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---&gt;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NULL</a:t>
            </a:r>
            <a:r>
              <a:rPr sz="2400" spc="-30" dirty="0">
                <a:latin typeface="Times New Roman"/>
                <a:cs typeface="Times New Roman"/>
              </a:rPr>
              <a:t>'.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9800" y="219011"/>
            <a:ext cx="8310880" cy="843280"/>
            <a:chOff x="2209800" y="219011"/>
            <a:chExt cx="8310880" cy="843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800" y="219011"/>
              <a:ext cx="8310626" cy="833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5875" y="304736"/>
              <a:ext cx="2538476" cy="7572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47900" y="257175"/>
              <a:ext cx="8181975" cy="704850"/>
            </a:xfrm>
            <a:custGeom>
              <a:avLst/>
              <a:gdLst/>
              <a:ahLst/>
              <a:cxnLst/>
              <a:rect l="l" t="t" r="r" b="b"/>
              <a:pathLst>
                <a:path w="8181975" h="704850">
                  <a:moveTo>
                    <a:pt x="8064500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375"/>
                  </a:lnTo>
                  <a:lnTo>
                    <a:pt x="9229" y="633108"/>
                  </a:lnTo>
                  <a:lnTo>
                    <a:pt x="34401" y="670448"/>
                  </a:lnTo>
                  <a:lnTo>
                    <a:pt x="71741" y="695620"/>
                  </a:lnTo>
                  <a:lnTo>
                    <a:pt x="117475" y="704850"/>
                  </a:lnTo>
                  <a:lnTo>
                    <a:pt x="8064500" y="704850"/>
                  </a:lnTo>
                  <a:lnTo>
                    <a:pt x="8110233" y="695620"/>
                  </a:lnTo>
                  <a:lnTo>
                    <a:pt x="8147573" y="670448"/>
                  </a:lnTo>
                  <a:lnTo>
                    <a:pt x="8172745" y="633108"/>
                  </a:lnTo>
                  <a:lnTo>
                    <a:pt x="8181975" y="587375"/>
                  </a:lnTo>
                  <a:lnTo>
                    <a:pt x="8181975" y="117475"/>
                  </a:lnTo>
                  <a:lnTo>
                    <a:pt x="8172745" y="71741"/>
                  </a:lnTo>
                  <a:lnTo>
                    <a:pt x="8147573" y="34401"/>
                  </a:lnTo>
                  <a:lnTo>
                    <a:pt x="8110233" y="9229"/>
                  </a:lnTo>
                  <a:lnTo>
                    <a:pt x="8064500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03901" y="394017"/>
            <a:ext cx="20802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Time</a:t>
            </a:r>
            <a:r>
              <a:rPr spc="-90" dirty="0"/>
              <a:t> </a:t>
            </a:r>
            <a:r>
              <a:rPr spc="5" dirty="0"/>
              <a:t>complexity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7575" y="1760092"/>
            <a:ext cx="9744075" cy="27247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>
              <a:lnSpc>
                <a:spcPct val="153600"/>
              </a:lnSpc>
              <a:spcBef>
                <a:spcPts val="130"/>
              </a:spcBef>
              <a:buFont typeface="Arial MT"/>
              <a:buChar char="•"/>
              <a:tabLst>
                <a:tab pos="241935" algn="l"/>
                <a:tab pos="3777615" algn="l"/>
              </a:tabLst>
            </a:pPr>
            <a:r>
              <a:rPr sz="2750" b="1" dirty="0">
                <a:latin typeface="Calibri"/>
                <a:cs typeface="Calibri"/>
              </a:rPr>
              <a:t>Time</a:t>
            </a:r>
            <a:r>
              <a:rPr sz="2750" b="1" spc="80" dirty="0">
                <a:latin typeface="Calibri"/>
                <a:cs typeface="Calibri"/>
              </a:rPr>
              <a:t> </a:t>
            </a:r>
            <a:r>
              <a:rPr sz="2750" b="1" spc="10" dirty="0">
                <a:latin typeface="Calibri"/>
                <a:cs typeface="Calibri"/>
              </a:rPr>
              <a:t>Complexity:</a:t>
            </a:r>
            <a:r>
              <a:rPr sz="2750" b="1" spc="140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O(1),	</a:t>
            </a:r>
            <a:r>
              <a:rPr sz="2750" spc="-5" dirty="0">
                <a:latin typeface="Calibri"/>
                <a:cs typeface="Calibri"/>
              </a:rPr>
              <a:t>In </a:t>
            </a:r>
            <a:r>
              <a:rPr sz="2750" spc="-10" dirty="0">
                <a:latin typeface="Calibri"/>
                <a:cs typeface="Calibri"/>
              </a:rPr>
              <a:t>the </a:t>
            </a:r>
            <a:r>
              <a:rPr sz="2750" spc="-15" dirty="0">
                <a:latin typeface="Calibri"/>
                <a:cs typeface="Calibri"/>
              </a:rPr>
              <a:t>push </a:t>
            </a:r>
            <a:r>
              <a:rPr sz="2750" dirty="0">
                <a:latin typeface="Calibri"/>
                <a:cs typeface="Calibri"/>
              </a:rPr>
              <a:t>function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 </a:t>
            </a:r>
            <a:r>
              <a:rPr sz="2750" spc="-20" dirty="0">
                <a:latin typeface="Calibri"/>
                <a:cs typeface="Calibri"/>
              </a:rPr>
              <a:t>single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element </a:t>
            </a:r>
            <a:r>
              <a:rPr sz="2750" spc="-10" dirty="0">
                <a:latin typeface="Calibri"/>
                <a:cs typeface="Calibri"/>
              </a:rPr>
              <a:t>is 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inserted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at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last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position.</a:t>
            </a:r>
            <a:r>
              <a:rPr sz="2750" spc="254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This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takes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single</a:t>
            </a:r>
            <a:r>
              <a:rPr sz="2750" spc="245" dirty="0">
                <a:latin typeface="Calibri"/>
                <a:cs typeface="Calibri"/>
              </a:rPr>
              <a:t> </a:t>
            </a:r>
            <a:r>
              <a:rPr sz="2750" spc="20" dirty="0">
                <a:latin typeface="Calibri"/>
                <a:cs typeface="Calibri"/>
              </a:rPr>
              <a:t>memory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allocation </a:t>
            </a:r>
            <a:r>
              <a:rPr sz="2750" spc="-60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operation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which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done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constant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time.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b="1" dirty="0">
                <a:latin typeface="Calibri"/>
                <a:cs typeface="Calibri"/>
              </a:rPr>
              <a:t>Auxiliary</a:t>
            </a:r>
            <a:r>
              <a:rPr sz="2750" b="1" spc="15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Space:</a:t>
            </a:r>
            <a:r>
              <a:rPr sz="2750" b="1" spc="19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O(1),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As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no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spc="-35" dirty="0">
                <a:latin typeface="Calibri"/>
                <a:cs typeface="Calibri"/>
              </a:rPr>
              <a:t>extra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space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being</a:t>
            </a:r>
            <a:r>
              <a:rPr sz="2750" spc="16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used.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52800" y="0"/>
            <a:ext cx="5539105" cy="757555"/>
            <a:chOff x="3352800" y="0"/>
            <a:chExt cx="5539105" cy="757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57086"/>
              <a:ext cx="5538851" cy="5381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400" y="0"/>
              <a:ext cx="4319651" cy="757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5250"/>
              <a:ext cx="5410200" cy="409575"/>
            </a:xfrm>
            <a:custGeom>
              <a:avLst/>
              <a:gdLst/>
              <a:ahLst/>
              <a:cxnLst/>
              <a:rect l="l" t="t" r="r" b="b"/>
              <a:pathLst>
                <a:path w="5410200" h="409575">
                  <a:moveTo>
                    <a:pt x="5342001" y="0"/>
                  </a:moveTo>
                  <a:lnTo>
                    <a:pt x="68199" y="0"/>
                  </a:lnTo>
                  <a:lnTo>
                    <a:pt x="41683" y="5369"/>
                  </a:lnTo>
                  <a:lnTo>
                    <a:pt x="20002" y="20002"/>
                  </a:lnTo>
                  <a:lnTo>
                    <a:pt x="5369" y="41683"/>
                  </a:lnTo>
                  <a:lnTo>
                    <a:pt x="0" y="68199"/>
                  </a:lnTo>
                  <a:lnTo>
                    <a:pt x="0" y="341375"/>
                  </a:lnTo>
                  <a:lnTo>
                    <a:pt x="5369" y="367891"/>
                  </a:lnTo>
                  <a:lnTo>
                    <a:pt x="20002" y="389572"/>
                  </a:lnTo>
                  <a:lnTo>
                    <a:pt x="41683" y="404205"/>
                  </a:lnTo>
                  <a:lnTo>
                    <a:pt x="68199" y="409575"/>
                  </a:lnTo>
                  <a:lnTo>
                    <a:pt x="5342001" y="409575"/>
                  </a:lnTo>
                  <a:lnTo>
                    <a:pt x="5368516" y="404205"/>
                  </a:lnTo>
                  <a:lnTo>
                    <a:pt x="5390197" y="389572"/>
                  </a:lnTo>
                  <a:lnTo>
                    <a:pt x="5404830" y="367891"/>
                  </a:lnTo>
                  <a:lnTo>
                    <a:pt x="5410200" y="341375"/>
                  </a:lnTo>
                  <a:lnTo>
                    <a:pt x="5410200" y="68199"/>
                  </a:lnTo>
                  <a:lnTo>
                    <a:pt x="5404830" y="41683"/>
                  </a:lnTo>
                  <a:lnTo>
                    <a:pt x="5390197" y="20002"/>
                  </a:lnTo>
                  <a:lnTo>
                    <a:pt x="5368516" y="5369"/>
                  </a:lnTo>
                  <a:lnTo>
                    <a:pt x="5342001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69790" y="86677"/>
            <a:ext cx="38544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</a:t>
            </a:r>
            <a:r>
              <a:rPr spc="20" dirty="0"/>
              <a:t>E</a:t>
            </a:r>
            <a:r>
              <a:rPr spc="-35" dirty="0"/>
              <a:t>L</a:t>
            </a:r>
            <a:r>
              <a:rPr spc="25" dirty="0"/>
              <a:t>F</a:t>
            </a:r>
            <a:r>
              <a:rPr spc="10" dirty="0"/>
              <a:t>-</a:t>
            </a:r>
            <a:r>
              <a:rPr spc="30" dirty="0"/>
              <a:t>A</a:t>
            </a:r>
            <a:r>
              <a:rPr spc="20" dirty="0"/>
              <a:t>SS</a:t>
            </a:r>
            <a:r>
              <a:rPr spc="25" dirty="0"/>
              <a:t>E</a:t>
            </a:r>
            <a:r>
              <a:rPr spc="20" dirty="0"/>
              <a:t>SS</a:t>
            </a:r>
            <a:r>
              <a:rPr spc="-30" dirty="0"/>
              <a:t>M</a:t>
            </a:r>
            <a:r>
              <a:rPr spc="25" dirty="0"/>
              <a:t>EN</a:t>
            </a:r>
            <a:r>
              <a:rPr dirty="0"/>
              <a:t>T</a:t>
            </a:r>
            <a:r>
              <a:rPr spc="-290" dirty="0"/>
              <a:t> </a:t>
            </a:r>
            <a:r>
              <a:rPr spc="30" dirty="0"/>
              <a:t>QU</a:t>
            </a:r>
            <a:r>
              <a:rPr spc="25" dirty="0"/>
              <a:t>E</a:t>
            </a:r>
            <a:r>
              <a:rPr spc="20" dirty="0"/>
              <a:t>S</a:t>
            </a:r>
            <a:r>
              <a:rPr spc="30" dirty="0"/>
              <a:t>T</a:t>
            </a:r>
            <a:r>
              <a:rPr dirty="0"/>
              <a:t>I</a:t>
            </a:r>
            <a:r>
              <a:rPr spc="-20" dirty="0"/>
              <a:t>O</a:t>
            </a:r>
            <a:r>
              <a:rPr spc="25" dirty="0"/>
              <a:t>N</a:t>
            </a:r>
            <a:r>
              <a:rPr dirty="0"/>
              <a:t>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04850" y="885761"/>
            <a:ext cx="10777855" cy="1119505"/>
            <a:chOff x="704850" y="885761"/>
            <a:chExt cx="10777855" cy="11195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50" y="885761"/>
              <a:ext cx="10777601" cy="11191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09650" y="1095375"/>
              <a:ext cx="10172700" cy="704850"/>
            </a:xfrm>
            <a:custGeom>
              <a:avLst/>
              <a:gdLst/>
              <a:ahLst/>
              <a:cxnLst/>
              <a:rect l="l" t="t" r="r" b="b"/>
              <a:pathLst>
                <a:path w="10172700" h="704850">
                  <a:moveTo>
                    <a:pt x="9921748" y="0"/>
                  </a:moveTo>
                  <a:lnTo>
                    <a:pt x="251015" y="0"/>
                  </a:lnTo>
                  <a:lnTo>
                    <a:pt x="205894" y="4044"/>
                  </a:lnTo>
                  <a:lnTo>
                    <a:pt x="163427" y="15704"/>
                  </a:lnTo>
                  <a:lnTo>
                    <a:pt x="124322" y="34271"/>
                  </a:lnTo>
                  <a:lnTo>
                    <a:pt x="89288" y="59033"/>
                  </a:lnTo>
                  <a:lnTo>
                    <a:pt x="59035" y="89283"/>
                  </a:lnTo>
                  <a:lnTo>
                    <a:pt x="34270" y="124309"/>
                  </a:lnTo>
                  <a:lnTo>
                    <a:pt x="15704" y="163402"/>
                  </a:lnTo>
                  <a:lnTo>
                    <a:pt x="4044" y="205853"/>
                  </a:lnTo>
                  <a:lnTo>
                    <a:pt x="0" y="250951"/>
                  </a:lnTo>
                  <a:lnTo>
                    <a:pt x="0" y="453898"/>
                  </a:lnTo>
                  <a:lnTo>
                    <a:pt x="4044" y="498996"/>
                  </a:lnTo>
                  <a:lnTo>
                    <a:pt x="15704" y="541447"/>
                  </a:lnTo>
                  <a:lnTo>
                    <a:pt x="34270" y="580540"/>
                  </a:lnTo>
                  <a:lnTo>
                    <a:pt x="59035" y="615566"/>
                  </a:lnTo>
                  <a:lnTo>
                    <a:pt x="89288" y="645816"/>
                  </a:lnTo>
                  <a:lnTo>
                    <a:pt x="124322" y="670578"/>
                  </a:lnTo>
                  <a:lnTo>
                    <a:pt x="163427" y="689145"/>
                  </a:lnTo>
                  <a:lnTo>
                    <a:pt x="205894" y="700805"/>
                  </a:lnTo>
                  <a:lnTo>
                    <a:pt x="251015" y="704850"/>
                  </a:lnTo>
                  <a:lnTo>
                    <a:pt x="9921748" y="704850"/>
                  </a:lnTo>
                  <a:lnTo>
                    <a:pt x="9966846" y="700805"/>
                  </a:lnTo>
                  <a:lnTo>
                    <a:pt x="10009297" y="689145"/>
                  </a:lnTo>
                  <a:lnTo>
                    <a:pt x="10048390" y="670578"/>
                  </a:lnTo>
                  <a:lnTo>
                    <a:pt x="10083416" y="645816"/>
                  </a:lnTo>
                  <a:lnTo>
                    <a:pt x="10113666" y="615566"/>
                  </a:lnTo>
                  <a:lnTo>
                    <a:pt x="10138428" y="580540"/>
                  </a:lnTo>
                  <a:lnTo>
                    <a:pt x="10156995" y="541447"/>
                  </a:lnTo>
                  <a:lnTo>
                    <a:pt x="10168655" y="498996"/>
                  </a:lnTo>
                  <a:lnTo>
                    <a:pt x="10172700" y="453898"/>
                  </a:lnTo>
                  <a:lnTo>
                    <a:pt x="10172700" y="250951"/>
                  </a:lnTo>
                  <a:lnTo>
                    <a:pt x="10168655" y="205853"/>
                  </a:lnTo>
                  <a:lnTo>
                    <a:pt x="10156995" y="163402"/>
                  </a:lnTo>
                  <a:lnTo>
                    <a:pt x="10138428" y="124309"/>
                  </a:lnTo>
                  <a:lnTo>
                    <a:pt x="10113666" y="89283"/>
                  </a:lnTo>
                  <a:lnTo>
                    <a:pt x="10083416" y="59033"/>
                  </a:lnTo>
                  <a:lnTo>
                    <a:pt x="10048390" y="34271"/>
                  </a:lnTo>
                  <a:lnTo>
                    <a:pt x="10009297" y="15704"/>
                  </a:lnTo>
                  <a:lnTo>
                    <a:pt x="9966846" y="4044"/>
                  </a:lnTo>
                  <a:lnTo>
                    <a:pt x="9921748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63637" y="1051813"/>
            <a:ext cx="926147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latin typeface="Calibri"/>
                <a:cs typeface="Calibri"/>
              </a:rPr>
              <a:t>1.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following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-10" dirty="0">
                <a:latin typeface="Calibri"/>
                <a:cs typeface="Calibri"/>
              </a:rPr>
              <a:t> list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implementation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stack?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90600" y="1695323"/>
            <a:ext cx="9634855" cy="3395979"/>
            <a:chOff x="990600" y="1695323"/>
            <a:chExt cx="9634855" cy="3395979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600" y="1695323"/>
              <a:ext cx="9634601" cy="20146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8700" y="1742948"/>
              <a:ext cx="9386951" cy="334810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700" y="1733550"/>
              <a:ext cx="9505950" cy="18859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98880" y="4575492"/>
            <a:ext cx="2446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d)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Implement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4850" y="3609911"/>
            <a:ext cx="10777855" cy="1129030"/>
            <a:chOff x="704850" y="3609911"/>
            <a:chExt cx="10777855" cy="112903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4850" y="3609911"/>
              <a:ext cx="10777601" cy="11287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09650" y="3819524"/>
              <a:ext cx="10172700" cy="714375"/>
            </a:xfrm>
            <a:custGeom>
              <a:avLst/>
              <a:gdLst/>
              <a:ahLst/>
              <a:cxnLst/>
              <a:rect l="l" t="t" r="r" b="b"/>
              <a:pathLst>
                <a:path w="10172700" h="714375">
                  <a:moveTo>
                    <a:pt x="9918319" y="0"/>
                  </a:moveTo>
                  <a:lnTo>
                    <a:pt x="254406" y="0"/>
                  </a:lnTo>
                  <a:lnTo>
                    <a:pt x="208677" y="4099"/>
                  </a:lnTo>
                  <a:lnTo>
                    <a:pt x="165637" y="15918"/>
                  </a:lnTo>
                  <a:lnTo>
                    <a:pt x="126004" y="34736"/>
                  </a:lnTo>
                  <a:lnTo>
                    <a:pt x="90497" y="59836"/>
                  </a:lnTo>
                  <a:lnTo>
                    <a:pt x="59834" y="90498"/>
                  </a:lnTo>
                  <a:lnTo>
                    <a:pt x="34734" y="126002"/>
                  </a:lnTo>
                  <a:lnTo>
                    <a:pt x="15916" y="165630"/>
                  </a:lnTo>
                  <a:lnTo>
                    <a:pt x="4098" y="208663"/>
                  </a:lnTo>
                  <a:lnTo>
                    <a:pt x="0" y="254381"/>
                  </a:lnTo>
                  <a:lnTo>
                    <a:pt x="0" y="459994"/>
                  </a:lnTo>
                  <a:lnTo>
                    <a:pt x="4098" y="505711"/>
                  </a:lnTo>
                  <a:lnTo>
                    <a:pt x="15916" y="548744"/>
                  </a:lnTo>
                  <a:lnTo>
                    <a:pt x="34734" y="588372"/>
                  </a:lnTo>
                  <a:lnTo>
                    <a:pt x="59834" y="623876"/>
                  </a:lnTo>
                  <a:lnTo>
                    <a:pt x="90497" y="654538"/>
                  </a:lnTo>
                  <a:lnTo>
                    <a:pt x="126004" y="679638"/>
                  </a:lnTo>
                  <a:lnTo>
                    <a:pt x="165637" y="698456"/>
                  </a:lnTo>
                  <a:lnTo>
                    <a:pt x="208677" y="710275"/>
                  </a:lnTo>
                  <a:lnTo>
                    <a:pt x="254406" y="714375"/>
                  </a:lnTo>
                  <a:lnTo>
                    <a:pt x="9918319" y="714375"/>
                  </a:lnTo>
                  <a:lnTo>
                    <a:pt x="9964036" y="710275"/>
                  </a:lnTo>
                  <a:lnTo>
                    <a:pt x="10007069" y="698456"/>
                  </a:lnTo>
                  <a:lnTo>
                    <a:pt x="10046697" y="679638"/>
                  </a:lnTo>
                  <a:lnTo>
                    <a:pt x="10082201" y="654538"/>
                  </a:lnTo>
                  <a:lnTo>
                    <a:pt x="10112863" y="623876"/>
                  </a:lnTo>
                  <a:lnTo>
                    <a:pt x="10137963" y="588372"/>
                  </a:lnTo>
                  <a:lnTo>
                    <a:pt x="10156781" y="548744"/>
                  </a:lnTo>
                  <a:lnTo>
                    <a:pt x="10168600" y="505711"/>
                  </a:lnTo>
                  <a:lnTo>
                    <a:pt x="10172700" y="459994"/>
                  </a:lnTo>
                  <a:lnTo>
                    <a:pt x="10172700" y="254381"/>
                  </a:lnTo>
                  <a:lnTo>
                    <a:pt x="10168600" y="208663"/>
                  </a:lnTo>
                  <a:lnTo>
                    <a:pt x="10156781" y="165630"/>
                  </a:lnTo>
                  <a:lnTo>
                    <a:pt x="10137963" y="126002"/>
                  </a:lnTo>
                  <a:lnTo>
                    <a:pt x="10112863" y="90498"/>
                  </a:lnTo>
                  <a:lnTo>
                    <a:pt x="10082201" y="59836"/>
                  </a:lnTo>
                  <a:lnTo>
                    <a:pt x="10046697" y="34736"/>
                  </a:lnTo>
                  <a:lnTo>
                    <a:pt x="10007069" y="15918"/>
                  </a:lnTo>
                  <a:lnTo>
                    <a:pt x="9964036" y="4099"/>
                  </a:lnTo>
                  <a:lnTo>
                    <a:pt x="9918319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7625" marR="725170">
              <a:lnSpc>
                <a:spcPct val="100800"/>
              </a:lnSpc>
              <a:spcBef>
                <a:spcPts val="85"/>
              </a:spcBef>
              <a:buAutoNum type="alphaLcParenR"/>
              <a:tabLst>
                <a:tab pos="276860" algn="l"/>
              </a:tabLst>
            </a:pPr>
            <a:r>
              <a:rPr dirty="0"/>
              <a:t>n</a:t>
            </a:r>
            <a:r>
              <a:rPr spc="-5" dirty="0"/>
              <a:t> </a:t>
            </a:r>
            <a:r>
              <a:rPr spc="5" dirty="0"/>
              <a:t>push</a:t>
            </a:r>
            <a:r>
              <a:rPr spc="-5" dirty="0"/>
              <a:t> </a:t>
            </a:r>
            <a:r>
              <a:rPr spc="10" dirty="0"/>
              <a:t>operation,</a:t>
            </a:r>
            <a:r>
              <a:rPr spc="-180" dirty="0"/>
              <a:t> </a:t>
            </a:r>
            <a:r>
              <a:rPr spc="15" dirty="0"/>
              <a:t>if</a:t>
            </a:r>
            <a:r>
              <a:rPr spc="-60" dirty="0"/>
              <a:t> </a:t>
            </a:r>
            <a:r>
              <a:rPr spc="5" dirty="0"/>
              <a:t>new</a:t>
            </a:r>
            <a:r>
              <a:rPr spc="35" dirty="0"/>
              <a:t> </a:t>
            </a:r>
            <a:r>
              <a:rPr spc="15" dirty="0"/>
              <a:t>nodes</a:t>
            </a:r>
            <a:r>
              <a:rPr spc="-135" dirty="0"/>
              <a:t> </a:t>
            </a:r>
            <a:r>
              <a:rPr dirty="0"/>
              <a:t>are</a:t>
            </a:r>
            <a:r>
              <a:rPr spc="45" dirty="0"/>
              <a:t> </a:t>
            </a:r>
            <a:r>
              <a:rPr dirty="0"/>
              <a:t>inserted</a:t>
            </a:r>
            <a:r>
              <a:rPr spc="-80" dirty="0"/>
              <a:t> </a:t>
            </a:r>
            <a:r>
              <a:rPr spc="15" dirty="0"/>
              <a:t>at</a:t>
            </a:r>
            <a:r>
              <a:rPr spc="-40" dirty="0"/>
              <a:t> </a:t>
            </a:r>
            <a:r>
              <a:rPr spc="5" dirty="0"/>
              <a:t>the</a:t>
            </a:r>
            <a:r>
              <a:rPr spc="-25" dirty="0"/>
              <a:t> </a:t>
            </a:r>
            <a:r>
              <a:rPr spc="15" dirty="0"/>
              <a:t>beginning</a:t>
            </a:r>
            <a:r>
              <a:rPr spc="-135" dirty="0"/>
              <a:t> </a:t>
            </a:r>
            <a:r>
              <a:rPr spc="10" dirty="0"/>
              <a:t>of</a:t>
            </a:r>
            <a:r>
              <a:rPr spc="15" dirty="0"/>
              <a:t> </a:t>
            </a:r>
            <a:r>
              <a:rPr spc="5" dirty="0"/>
              <a:t>linked</a:t>
            </a:r>
            <a:r>
              <a:rPr spc="-145" dirty="0"/>
              <a:t> </a:t>
            </a:r>
            <a:r>
              <a:rPr spc="5" dirty="0"/>
              <a:t>list,</a:t>
            </a:r>
            <a:r>
              <a:rPr spc="-40" dirty="0"/>
              <a:t> </a:t>
            </a:r>
            <a:r>
              <a:rPr spc="5" dirty="0"/>
              <a:t>then </a:t>
            </a:r>
            <a:r>
              <a:rPr spc="15" dirty="0"/>
              <a:t>in</a:t>
            </a:r>
            <a:r>
              <a:rPr spc="-80" dirty="0"/>
              <a:t> </a:t>
            </a:r>
            <a:r>
              <a:rPr spc="15" dirty="0"/>
              <a:t>pop </a:t>
            </a:r>
            <a:r>
              <a:rPr spc="-390" dirty="0"/>
              <a:t> </a:t>
            </a:r>
            <a:r>
              <a:rPr spc="10" dirty="0"/>
              <a:t>operation,</a:t>
            </a:r>
            <a:r>
              <a:rPr spc="-190" dirty="0"/>
              <a:t> </a:t>
            </a:r>
            <a:r>
              <a:rPr spc="15" dirty="0"/>
              <a:t>nodes</a:t>
            </a:r>
            <a:r>
              <a:rPr spc="-60" dirty="0"/>
              <a:t> </a:t>
            </a:r>
            <a:r>
              <a:rPr spc="-5" dirty="0"/>
              <a:t>must</a:t>
            </a:r>
            <a:r>
              <a:rPr spc="-40" dirty="0"/>
              <a:t> </a:t>
            </a:r>
            <a:r>
              <a:rPr spc="10" dirty="0"/>
              <a:t>be</a:t>
            </a:r>
            <a:r>
              <a:rPr spc="-30" dirty="0"/>
              <a:t> </a:t>
            </a:r>
            <a:r>
              <a:rPr spc="-5" dirty="0"/>
              <a:t>removed </a:t>
            </a:r>
            <a:r>
              <a:rPr spc="-10" dirty="0"/>
              <a:t>from</a:t>
            </a:r>
            <a:r>
              <a:rPr spc="-50" dirty="0"/>
              <a:t> </a:t>
            </a:r>
            <a:r>
              <a:rPr spc="10" dirty="0"/>
              <a:t>end.</a:t>
            </a:r>
          </a:p>
          <a:p>
            <a:pPr marL="47625" marR="5080">
              <a:lnSpc>
                <a:spcPts val="2180"/>
              </a:lnSpc>
              <a:spcBef>
                <a:spcPts val="75"/>
              </a:spcBef>
              <a:buAutoNum type="alphaLcParenR"/>
              <a:tabLst>
                <a:tab pos="241935" algn="l"/>
              </a:tabLst>
            </a:pPr>
            <a:r>
              <a:rPr dirty="0"/>
              <a:t>In</a:t>
            </a:r>
            <a:r>
              <a:rPr spc="-10" dirty="0"/>
              <a:t> </a:t>
            </a:r>
            <a:r>
              <a:rPr spc="5" dirty="0"/>
              <a:t>push</a:t>
            </a:r>
            <a:r>
              <a:rPr spc="-5" dirty="0"/>
              <a:t> </a:t>
            </a:r>
            <a:r>
              <a:rPr spc="10" dirty="0"/>
              <a:t>operation,</a:t>
            </a:r>
            <a:r>
              <a:rPr spc="-185" dirty="0"/>
              <a:t> </a:t>
            </a:r>
            <a:r>
              <a:rPr spc="15" dirty="0"/>
              <a:t>if</a:t>
            </a:r>
            <a:r>
              <a:rPr spc="-60" dirty="0"/>
              <a:t> </a:t>
            </a:r>
            <a:r>
              <a:rPr spc="5" dirty="0"/>
              <a:t>new</a:t>
            </a:r>
            <a:r>
              <a:rPr spc="-40" dirty="0"/>
              <a:t> </a:t>
            </a:r>
            <a:r>
              <a:rPr spc="15" dirty="0"/>
              <a:t>nodes</a:t>
            </a:r>
            <a:r>
              <a:rPr spc="-60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inserted</a:t>
            </a:r>
            <a:r>
              <a:rPr spc="-10" dirty="0"/>
              <a:t> </a:t>
            </a:r>
            <a:r>
              <a:rPr spc="15" dirty="0"/>
              <a:t>at</a:t>
            </a:r>
            <a:r>
              <a:rPr spc="-35" dirty="0"/>
              <a:t> </a:t>
            </a:r>
            <a:r>
              <a:rPr spc="5" dirty="0"/>
              <a:t>the</a:t>
            </a:r>
            <a:r>
              <a:rPr spc="-30" dirty="0"/>
              <a:t> </a:t>
            </a:r>
            <a:r>
              <a:rPr spc="10" dirty="0"/>
              <a:t>end,</a:t>
            </a:r>
            <a:r>
              <a:rPr spc="-30" dirty="0"/>
              <a:t> </a:t>
            </a:r>
            <a:r>
              <a:rPr spc="5" dirty="0"/>
              <a:t>then</a:t>
            </a:r>
            <a:r>
              <a:rPr spc="-5" dirty="0"/>
              <a:t> </a:t>
            </a:r>
            <a:r>
              <a:rPr spc="15" dirty="0"/>
              <a:t>in</a:t>
            </a:r>
            <a:r>
              <a:rPr spc="-80" dirty="0"/>
              <a:t> </a:t>
            </a:r>
            <a:r>
              <a:rPr spc="15" dirty="0"/>
              <a:t>pop</a:t>
            </a:r>
            <a:r>
              <a:rPr spc="-10" dirty="0"/>
              <a:t> </a:t>
            </a:r>
            <a:r>
              <a:rPr spc="10" dirty="0"/>
              <a:t>operation,</a:t>
            </a:r>
            <a:r>
              <a:rPr spc="-180" dirty="0"/>
              <a:t> </a:t>
            </a:r>
            <a:r>
              <a:rPr spc="15" dirty="0"/>
              <a:t>nodes</a:t>
            </a:r>
            <a:r>
              <a:rPr spc="-135" dirty="0"/>
              <a:t> </a:t>
            </a:r>
            <a:r>
              <a:rPr spc="-5" dirty="0"/>
              <a:t>must</a:t>
            </a:r>
            <a:r>
              <a:rPr spc="40" dirty="0"/>
              <a:t> </a:t>
            </a:r>
            <a:r>
              <a:rPr spc="10" dirty="0"/>
              <a:t>be </a:t>
            </a:r>
            <a:r>
              <a:rPr spc="-395" dirty="0"/>
              <a:t> </a:t>
            </a:r>
            <a:r>
              <a:rPr spc="-5" dirty="0"/>
              <a:t>removed</a:t>
            </a:r>
            <a:r>
              <a:rPr spc="-10" dirty="0"/>
              <a:t> from</a:t>
            </a:r>
            <a:r>
              <a:rPr spc="-50" dirty="0"/>
              <a:t> </a:t>
            </a:r>
            <a:r>
              <a:rPr spc="5" dirty="0"/>
              <a:t>the</a:t>
            </a:r>
            <a:r>
              <a:rPr spc="-30" dirty="0"/>
              <a:t> </a:t>
            </a:r>
            <a:r>
              <a:rPr spc="10" dirty="0"/>
              <a:t>beginning.</a:t>
            </a:r>
          </a:p>
          <a:p>
            <a:pPr marL="212725" indent="-165735">
              <a:lnSpc>
                <a:spcPts val="2025"/>
              </a:lnSpc>
              <a:buAutoNum type="alphaLcParenR"/>
              <a:tabLst>
                <a:tab pos="213360" algn="l"/>
              </a:tabLst>
            </a:pPr>
            <a:r>
              <a:rPr dirty="0"/>
              <a:t>Both</a:t>
            </a:r>
            <a:r>
              <a:rPr spc="-25" dirty="0"/>
              <a:t> </a:t>
            </a:r>
            <a:r>
              <a:rPr spc="10" dirty="0"/>
              <a:t>of</a:t>
            </a:r>
            <a:r>
              <a:rPr dirty="0"/>
              <a:t> </a:t>
            </a:r>
            <a:r>
              <a:rPr spc="5" dirty="0"/>
              <a:t>the</a:t>
            </a:r>
            <a:r>
              <a:rPr spc="-45" dirty="0"/>
              <a:t> </a:t>
            </a:r>
            <a:r>
              <a:rPr spc="15" dirty="0"/>
              <a:t>above</a:t>
            </a:r>
          </a:p>
          <a:p>
            <a:pPr marL="241300" indent="-194310">
              <a:lnSpc>
                <a:spcPct val="100000"/>
              </a:lnSpc>
              <a:spcBef>
                <a:spcPts val="15"/>
              </a:spcBef>
              <a:buAutoNum type="alphaLcParenR"/>
              <a:tabLst>
                <a:tab pos="241935" algn="l"/>
              </a:tabLst>
            </a:pPr>
            <a:r>
              <a:rPr spc="35" dirty="0"/>
              <a:t>N</a:t>
            </a:r>
            <a:r>
              <a:rPr spc="20" dirty="0"/>
              <a:t>o</a:t>
            </a:r>
            <a:r>
              <a:rPr spc="25" dirty="0"/>
              <a:t>n</a:t>
            </a:r>
            <a:r>
              <a:rPr dirty="0"/>
              <a:t>e</a:t>
            </a:r>
            <a:r>
              <a:rPr spc="-105" dirty="0"/>
              <a:t> </a:t>
            </a:r>
            <a:r>
              <a:rPr spc="20" dirty="0"/>
              <a:t>o</a:t>
            </a:r>
            <a:r>
              <a:rPr dirty="0"/>
              <a:t>f</a:t>
            </a:r>
            <a:r>
              <a:rPr spc="15" dirty="0"/>
              <a:t> </a:t>
            </a:r>
            <a:r>
              <a:rPr dirty="0"/>
              <a:t>t</a:t>
            </a:r>
            <a:r>
              <a:rPr spc="20" dirty="0"/>
              <a:t>h</a:t>
            </a:r>
            <a:r>
              <a:rPr dirty="0"/>
              <a:t>e</a:t>
            </a:r>
            <a:r>
              <a:rPr spc="-30" dirty="0"/>
              <a:t> </a:t>
            </a:r>
            <a:r>
              <a:rPr spc="30" dirty="0"/>
              <a:t>a</a:t>
            </a:r>
            <a:r>
              <a:rPr spc="25" dirty="0"/>
              <a:t>b</a:t>
            </a:r>
            <a:r>
              <a:rPr spc="20" dirty="0"/>
              <a:t>o</a:t>
            </a:r>
            <a:r>
              <a:rPr spc="5" dirty="0"/>
              <a:t>v</a:t>
            </a:r>
            <a:r>
              <a:rPr dirty="0"/>
              <a:t>e</a:t>
            </a:r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/>
          </a:p>
          <a:p>
            <a:pPr marL="12700">
              <a:lnSpc>
                <a:spcPts val="2765"/>
              </a:lnSpc>
            </a:pPr>
            <a:r>
              <a:rPr sz="2400" spc="-385" dirty="0">
                <a:solidFill>
                  <a:srgbClr val="000000"/>
                </a:solidFill>
              </a:rPr>
              <a:t>2</a:t>
            </a:r>
            <a:r>
              <a:rPr sz="2700" spc="-577" baseline="1543" dirty="0"/>
              <a:t>b</a:t>
            </a:r>
            <a:r>
              <a:rPr sz="2400" spc="-385" dirty="0">
                <a:solidFill>
                  <a:srgbClr val="000000"/>
                </a:solidFill>
              </a:rPr>
              <a:t>.</a:t>
            </a:r>
            <a:r>
              <a:rPr sz="2700" spc="-577" baseline="1543" dirty="0"/>
              <a:t>)</a:t>
            </a:r>
            <a:r>
              <a:rPr sz="2700" spc="-555" baseline="1543" dirty="0"/>
              <a:t> </a:t>
            </a:r>
            <a:r>
              <a:rPr sz="2700" spc="-712" baseline="1543" dirty="0"/>
              <a:t>R</a:t>
            </a:r>
            <a:r>
              <a:rPr sz="2400" spc="-475" dirty="0">
                <a:solidFill>
                  <a:srgbClr val="000000"/>
                </a:solidFill>
              </a:rPr>
              <a:t>W</a:t>
            </a:r>
            <a:r>
              <a:rPr sz="2700" spc="-712" baseline="1543" dirty="0"/>
              <a:t>ec</a:t>
            </a:r>
            <a:r>
              <a:rPr sz="2400" spc="-475" dirty="0">
                <a:solidFill>
                  <a:srgbClr val="000000"/>
                </a:solidFill>
              </a:rPr>
              <a:t>h</a:t>
            </a:r>
            <a:r>
              <a:rPr sz="2700" spc="-712" baseline="1543" dirty="0"/>
              <a:t>u</a:t>
            </a:r>
            <a:r>
              <a:rPr sz="2400" spc="-475" dirty="0">
                <a:solidFill>
                  <a:srgbClr val="000000"/>
                </a:solidFill>
              </a:rPr>
              <a:t>a</a:t>
            </a:r>
            <a:r>
              <a:rPr sz="2700" spc="-712" baseline="1543" dirty="0"/>
              <a:t>rs</a:t>
            </a:r>
            <a:r>
              <a:rPr sz="2400" spc="-475" dirty="0">
                <a:solidFill>
                  <a:srgbClr val="000000"/>
                </a:solidFill>
              </a:rPr>
              <a:t>t</a:t>
            </a:r>
            <a:r>
              <a:rPr sz="2700" spc="-712" baseline="1543" dirty="0"/>
              <a:t>iv</a:t>
            </a:r>
            <a:r>
              <a:rPr sz="2400" spc="-475" dirty="0">
                <a:solidFill>
                  <a:srgbClr val="000000"/>
                </a:solidFill>
              </a:rPr>
              <a:t>d</a:t>
            </a:r>
            <a:r>
              <a:rPr sz="2700" spc="-712" baseline="1543" dirty="0"/>
              <a:t>e</a:t>
            </a:r>
            <a:r>
              <a:rPr sz="2700" spc="-112" baseline="1543" dirty="0"/>
              <a:t> </a:t>
            </a:r>
            <a:r>
              <a:rPr sz="2400" spc="-275" dirty="0">
                <a:solidFill>
                  <a:srgbClr val="000000"/>
                </a:solidFill>
              </a:rPr>
              <a:t>o</a:t>
            </a:r>
            <a:r>
              <a:rPr sz="2700" spc="-412" baseline="1543" dirty="0"/>
              <a:t>fu</a:t>
            </a:r>
            <a:r>
              <a:rPr sz="2400" spc="-275" dirty="0">
                <a:solidFill>
                  <a:srgbClr val="000000"/>
                </a:solidFill>
              </a:rPr>
              <a:t>e</a:t>
            </a:r>
            <a:r>
              <a:rPr sz="2700" spc="-412" baseline="1543" dirty="0"/>
              <a:t>n</a:t>
            </a:r>
            <a:r>
              <a:rPr sz="2400" spc="-275" dirty="0">
                <a:solidFill>
                  <a:srgbClr val="000000"/>
                </a:solidFill>
              </a:rPr>
              <a:t>s</a:t>
            </a:r>
            <a:r>
              <a:rPr sz="2700" spc="-412" baseline="1543" dirty="0"/>
              <a:t>cti</a:t>
            </a:r>
            <a:r>
              <a:rPr sz="2400" spc="-275" dirty="0">
                <a:solidFill>
                  <a:srgbClr val="000000"/>
                </a:solidFill>
              </a:rPr>
              <a:t>‘</a:t>
            </a:r>
            <a:r>
              <a:rPr sz="2700" spc="-412" baseline="1543" dirty="0"/>
              <a:t>o</a:t>
            </a:r>
            <a:r>
              <a:rPr sz="2400" spc="-275" dirty="0">
                <a:solidFill>
                  <a:srgbClr val="000000"/>
                </a:solidFill>
              </a:rPr>
              <a:t>s</a:t>
            </a:r>
            <a:r>
              <a:rPr sz="2700" spc="-412" baseline="1543" dirty="0"/>
              <a:t>n</a:t>
            </a:r>
            <a:r>
              <a:rPr sz="2400" spc="-275" dirty="0">
                <a:solidFill>
                  <a:srgbClr val="000000"/>
                </a:solidFill>
              </a:rPr>
              <a:t>ta</a:t>
            </a:r>
            <a:r>
              <a:rPr sz="2700" spc="-412" baseline="1543" dirty="0"/>
              <a:t>ca</a:t>
            </a:r>
            <a:r>
              <a:rPr sz="2400" spc="-275" dirty="0">
                <a:solidFill>
                  <a:srgbClr val="000000"/>
                </a:solidFill>
              </a:rPr>
              <a:t>c</a:t>
            </a:r>
            <a:r>
              <a:rPr sz="2700" spc="-412" baseline="1543" dirty="0"/>
              <a:t>l</a:t>
            </a:r>
            <a:r>
              <a:rPr sz="2400" spc="-275" dirty="0">
                <a:solidFill>
                  <a:srgbClr val="000000"/>
                </a:solidFill>
              </a:rPr>
              <a:t>k</a:t>
            </a:r>
            <a:r>
              <a:rPr sz="2700" spc="-412" baseline="1543" dirty="0"/>
              <a:t>ls</a:t>
            </a:r>
            <a:r>
              <a:rPr sz="2400" spc="-275" dirty="0">
                <a:solidFill>
                  <a:srgbClr val="000000"/>
                </a:solidFill>
              </a:rPr>
              <a:t>overflow’</a:t>
            </a:r>
            <a:r>
              <a:rPr sz="2400" spc="-270" dirty="0">
                <a:solidFill>
                  <a:srgbClr val="000000"/>
                </a:solidFill>
              </a:rPr>
              <a:t> </a:t>
            </a:r>
            <a:r>
              <a:rPr sz="2400" spc="-15" dirty="0">
                <a:solidFill>
                  <a:srgbClr val="000000"/>
                </a:solidFill>
              </a:rPr>
              <a:t>refer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sz="2400" spc="5" dirty="0">
                <a:solidFill>
                  <a:srgbClr val="000000"/>
                </a:solidFill>
              </a:rPr>
              <a:t>to?</a:t>
            </a:r>
            <a:endParaRPr sz="2400"/>
          </a:p>
          <a:p>
            <a:pPr marL="47625">
              <a:lnSpc>
                <a:spcPts val="2045"/>
              </a:lnSpc>
            </a:pPr>
            <a:r>
              <a:rPr spc="-15" dirty="0"/>
              <a:t>c</a:t>
            </a:r>
            <a:r>
              <a:rPr dirty="0"/>
              <a:t>)</a:t>
            </a:r>
            <a:r>
              <a:rPr spc="15" dirty="0"/>
              <a:t> </a:t>
            </a:r>
            <a:r>
              <a:rPr spc="5" dirty="0"/>
              <a:t>A</a:t>
            </a:r>
            <a:r>
              <a:rPr spc="35" dirty="0"/>
              <a:t>ll</a:t>
            </a:r>
            <a:r>
              <a:rPr spc="20" dirty="0"/>
              <a:t>o</a:t>
            </a:r>
            <a:r>
              <a:rPr spc="-15" dirty="0"/>
              <a:t>c</a:t>
            </a:r>
            <a:r>
              <a:rPr spc="30" dirty="0"/>
              <a:t>a</a:t>
            </a:r>
            <a:r>
              <a:rPr dirty="0"/>
              <a:t>t</a:t>
            </a:r>
            <a:r>
              <a:rPr spc="30" dirty="0"/>
              <a:t>i</a:t>
            </a:r>
            <a:r>
              <a:rPr spc="25" dirty="0"/>
              <a:t>n</a:t>
            </a:r>
            <a:r>
              <a:rPr dirty="0"/>
              <a:t>g</a:t>
            </a:r>
            <a:r>
              <a:rPr spc="-204" dirty="0"/>
              <a:t> </a:t>
            </a:r>
            <a:r>
              <a:rPr spc="10" dirty="0"/>
              <a:t>C</a:t>
            </a:r>
            <a:r>
              <a:rPr spc="-35" dirty="0"/>
              <a:t>P</a:t>
            </a:r>
            <a:r>
              <a:rPr dirty="0"/>
              <a:t>U</a:t>
            </a:r>
            <a:r>
              <a:rPr spc="1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30" dirty="0"/>
              <a:t>r</a:t>
            </a:r>
            <a:r>
              <a:rPr dirty="0"/>
              <a:t>e</a:t>
            </a:r>
            <a:r>
              <a:rPr spc="-30" dirty="0"/>
              <a:t>s</a:t>
            </a:r>
            <a:r>
              <a:rPr spc="20" dirty="0"/>
              <a:t>o</a:t>
            </a:r>
            <a:r>
              <a:rPr spc="25" dirty="0"/>
              <a:t>u</a:t>
            </a:r>
            <a:r>
              <a:rPr spc="-30" dirty="0"/>
              <a:t>r</a:t>
            </a:r>
            <a:r>
              <a:rPr spc="-15" dirty="0"/>
              <a:t>c</a:t>
            </a:r>
            <a:r>
              <a:rPr dirty="0"/>
              <a:t>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63599" y="4697031"/>
            <a:ext cx="3760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0" dirty="0">
                <a:latin typeface="Calibri"/>
                <a:cs typeface="Calibri"/>
              </a:rPr>
              <a:t>B.)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adding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items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stack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07684" y="5069141"/>
            <a:ext cx="11366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Calibri"/>
                <a:cs typeface="Calibri"/>
              </a:rPr>
              <a:t>pty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stack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71550" y="4686236"/>
            <a:ext cx="7920355" cy="1776730"/>
            <a:chOff x="971550" y="4686236"/>
            <a:chExt cx="7920355" cy="177673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1550" y="4686236"/>
              <a:ext cx="7920101" cy="17764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0125" y="4886388"/>
              <a:ext cx="4348226" cy="14334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9650" y="4724399"/>
              <a:ext cx="7791450" cy="164782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144587" y="4900231"/>
            <a:ext cx="39744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a)</a:t>
            </a:r>
            <a:r>
              <a:rPr sz="3600" b="1" spc="-622" baseline="-31250" dirty="0">
                <a:latin typeface="Calibri"/>
                <a:cs typeface="Calibri"/>
              </a:rPr>
              <a:t>C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ac</a:t>
            </a:r>
            <a:r>
              <a:rPr sz="3600" b="1" spc="-622" baseline="-31250" dirty="0">
                <a:latin typeface="Calibri"/>
                <a:cs typeface="Calibri"/>
              </a:rPr>
              <a:t>.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600" b="1" spc="-622" baseline="-31250" dirty="0">
                <a:latin typeface="Calibri"/>
                <a:cs typeface="Calibri"/>
              </a:rPr>
              <a:t>)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spc="-622" baseline="-31250" dirty="0">
                <a:latin typeface="Calibri"/>
                <a:cs typeface="Calibri"/>
              </a:rPr>
              <a:t>r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600" spc="-622" baseline="-31250" dirty="0">
                <a:latin typeface="Calibri"/>
                <a:cs typeface="Calibri"/>
              </a:rPr>
              <a:t>e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3600" spc="-622" baseline="-31250" dirty="0">
                <a:latin typeface="Calibri"/>
                <a:cs typeface="Calibri"/>
              </a:rPr>
              <a:t>m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3600" spc="-622" baseline="-31250" dirty="0">
                <a:latin typeface="Calibri"/>
                <a:cs typeface="Calibri"/>
              </a:rPr>
              <a:t>o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600" spc="-622" baseline="-31250" dirty="0">
                <a:latin typeface="Calibri"/>
                <a:cs typeface="Calibri"/>
              </a:rPr>
              <a:t>v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spc="-622" baseline="-31250" dirty="0">
                <a:latin typeface="Calibri"/>
                <a:cs typeface="Calibri"/>
              </a:rPr>
              <a:t>i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600" spc="-622" baseline="-31250" dirty="0">
                <a:latin typeface="Calibri"/>
                <a:cs typeface="Calibri"/>
              </a:rPr>
              <a:t>ng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fro</a:t>
            </a:r>
            <a:r>
              <a:rPr sz="3600" spc="-622" baseline="-31250" dirty="0">
                <a:latin typeface="Calibri"/>
                <a:cs typeface="Calibri"/>
              </a:rPr>
              <a:t>i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600" spc="-622" baseline="-31250" dirty="0">
                <a:latin typeface="Calibri"/>
                <a:cs typeface="Calibri"/>
              </a:rPr>
              <a:t>te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00" spc="-622" baseline="-31250" dirty="0">
                <a:latin typeface="Calibri"/>
                <a:cs typeface="Calibri"/>
              </a:rPr>
              <a:t>m</a:t>
            </a:r>
            <a:r>
              <a:rPr sz="1800" spc="-4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675" baseline="-31250" dirty="0">
                <a:latin typeface="Calibri"/>
                <a:cs typeface="Calibri"/>
              </a:rPr>
              <a:t>s</a:t>
            </a:r>
            <a:r>
              <a:rPr sz="1800" spc="-45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3600" spc="-675" baseline="-31250" dirty="0">
                <a:latin typeface="Calibri"/>
                <a:cs typeface="Calibri"/>
              </a:rPr>
              <a:t>f</a:t>
            </a:r>
            <a:r>
              <a:rPr sz="1800" spc="-4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600" spc="-675" baseline="-31250" dirty="0">
                <a:latin typeface="Calibri"/>
                <a:cs typeface="Calibri"/>
              </a:rPr>
              <a:t>ro</a:t>
            </a:r>
            <a:r>
              <a:rPr sz="1800" spc="-450" dirty="0">
                <a:solidFill>
                  <a:srgbClr val="FFFFFF"/>
                </a:solidFill>
                <a:latin typeface="Calibri"/>
                <a:cs typeface="Calibri"/>
              </a:rPr>
              <a:t>ef</a:t>
            </a:r>
            <a:r>
              <a:rPr sz="3600" spc="-675" baseline="-31250" dirty="0">
                <a:latin typeface="Calibri"/>
                <a:cs typeface="Calibri"/>
              </a:rPr>
              <a:t>m</a:t>
            </a:r>
            <a:r>
              <a:rPr sz="1800" spc="-450" dirty="0">
                <a:solidFill>
                  <a:srgbClr val="FFFFFF"/>
                </a:solidFill>
                <a:latin typeface="Calibri"/>
                <a:cs typeface="Calibri"/>
              </a:rPr>
              <a:t>ine</a:t>
            </a:r>
            <a:r>
              <a:rPr sz="3600" spc="-675" baseline="-31250" dirty="0">
                <a:latin typeface="Calibri"/>
                <a:cs typeface="Calibri"/>
              </a:rPr>
              <a:t>a</a:t>
            </a:r>
            <a:r>
              <a:rPr sz="1800" spc="-4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-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802" baseline="-31250" dirty="0">
                <a:latin typeface="Calibri"/>
                <a:cs typeface="Calibri"/>
              </a:rPr>
              <a:t>n</a:t>
            </a:r>
            <a:r>
              <a:rPr sz="1800" spc="-535" dirty="0">
                <a:solidFill>
                  <a:srgbClr val="FFFFFF"/>
                </a:solidFill>
                <a:latin typeface="Calibri"/>
                <a:cs typeface="Calibri"/>
              </a:rPr>
              <a:t>sta</a:t>
            </a:r>
            <a:r>
              <a:rPr sz="3600" spc="-802" baseline="-31250" dirty="0">
                <a:latin typeface="Calibri"/>
                <a:cs typeface="Calibri"/>
              </a:rPr>
              <a:t>e</a:t>
            </a:r>
            <a:r>
              <a:rPr sz="1800" spc="-5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600" spc="-802" baseline="-31250" dirty="0">
                <a:latin typeface="Calibri"/>
                <a:cs typeface="Calibri"/>
              </a:rPr>
              <a:t>m</a:t>
            </a:r>
            <a:r>
              <a:rPr sz="1800" spc="-535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69987" y="5253418"/>
            <a:ext cx="2749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dd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9987" y="5453697"/>
            <a:ext cx="441388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93675">
              <a:lnSpc>
                <a:spcPts val="2830"/>
              </a:lnSpc>
              <a:spcBef>
                <a:spcPts val="100"/>
              </a:spcBef>
              <a:buClr>
                <a:srgbClr val="FFFFFF"/>
              </a:buClr>
              <a:buSzPct val="75000"/>
              <a:buFont typeface="Calibri"/>
              <a:buAutoNum type="alphaLcParenR" startAt="3"/>
              <a:tabLst>
                <a:tab pos="206375" algn="l"/>
              </a:tabLst>
            </a:pPr>
            <a:r>
              <a:rPr sz="3600" b="1" spc="-757" baseline="3472" dirty="0">
                <a:latin typeface="Calibri"/>
                <a:cs typeface="Calibri"/>
              </a:rPr>
              <a:t>D</a:t>
            </a:r>
            <a:r>
              <a:rPr sz="1800" spc="-505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3600" b="1" spc="-757" baseline="3472" dirty="0">
                <a:latin typeface="Calibri"/>
                <a:cs typeface="Calibri"/>
              </a:rPr>
              <a:t>.</a:t>
            </a:r>
            <a:r>
              <a:rPr sz="1800" spc="-50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600" b="1" spc="-757" baseline="3472" dirty="0">
                <a:latin typeface="Calibri"/>
                <a:cs typeface="Calibri"/>
              </a:rPr>
              <a:t>)</a:t>
            </a:r>
            <a:r>
              <a:rPr sz="3600" b="1" spc="-607" baseline="3472" dirty="0">
                <a:latin typeface="Calibri"/>
                <a:cs typeface="Calibri"/>
              </a:rPr>
              <a:t> </a:t>
            </a:r>
            <a:r>
              <a:rPr sz="1800" spc="-4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600" spc="-660" baseline="3472" dirty="0">
                <a:latin typeface="Calibri"/>
                <a:cs typeface="Calibri"/>
              </a:rPr>
              <a:t>in</a:t>
            </a:r>
            <a:r>
              <a:rPr sz="1800" spc="-440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r>
              <a:rPr sz="3600" spc="-660" baseline="3472" dirty="0">
                <a:latin typeface="Calibri"/>
                <a:cs typeface="Calibri"/>
              </a:rPr>
              <a:t>d</a:t>
            </a:r>
            <a:r>
              <a:rPr sz="1800" spc="-44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3600" spc="-660" baseline="3472" dirty="0">
                <a:latin typeface="Calibri"/>
                <a:cs typeface="Calibri"/>
              </a:rPr>
              <a:t>e</a:t>
            </a:r>
            <a:r>
              <a:rPr sz="1800" spc="-4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600" spc="-660" baseline="3472" dirty="0">
                <a:latin typeface="Calibri"/>
                <a:cs typeface="Calibri"/>
              </a:rPr>
              <a:t>x</a:t>
            </a:r>
            <a:r>
              <a:rPr sz="1800" spc="-44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3600" spc="-660" baseline="3472" dirty="0">
                <a:latin typeface="Calibri"/>
                <a:cs typeface="Calibri"/>
              </a:rPr>
              <a:t>o</a:t>
            </a:r>
            <a:r>
              <a:rPr sz="1800" spc="-44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600" spc="-660" baseline="3472" dirty="0">
                <a:latin typeface="Calibri"/>
                <a:cs typeface="Calibri"/>
              </a:rPr>
              <a:t>u</a:t>
            </a:r>
            <a:r>
              <a:rPr sz="1800" spc="-44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652" baseline="3472" dirty="0">
                <a:latin typeface="Calibri"/>
                <a:cs typeface="Calibri"/>
              </a:rPr>
              <a:t>t</a:t>
            </a:r>
            <a:r>
              <a:rPr sz="1800" spc="-434" dirty="0">
                <a:solidFill>
                  <a:srgbClr val="FFFFFF"/>
                </a:solidFill>
                <a:latin typeface="Calibri"/>
                <a:cs typeface="Calibri"/>
              </a:rPr>
              <a:t>fro</a:t>
            </a:r>
            <a:r>
              <a:rPr sz="3600" spc="-652" baseline="3472" dirty="0">
                <a:latin typeface="Calibri"/>
                <a:cs typeface="Calibri"/>
              </a:rPr>
              <a:t>o</a:t>
            </a:r>
            <a:r>
              <a:rPr sz="1800" spc="-434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600" spc="-652" baseline="3472" dirty="0">
                <a:latin typeface="Calibri"/>
                <a:cs typeface="Calibri"/>
              </a:rPr>
              <a:t>f</a:t>
            </a:r>
            <a:r>
              <a:rPr sz="3600" spc="-82" baseline="3472" dirty="0">
                <a:latin typeface="Calibri"/>
                <a:cs typeface="Calibri"/>
              </a:rPr>
              <a:t> </a:t>
            </a:r>
            <a:r>
              <a:rPr sz="3600" spc="-765" baseline="3472" dirty="0">
                <a:latin typeface="Calibri"/>
                <a:cs typeface="Calibri"/>
              </a:rPr>
              <a:t>b</a:t>
            </a:r>
            <a:r>
              <a:rPr sz="1800" spc="-509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3600" spc="-765" baseline="3472" dirty="0">
                <a:latin typeface="Calibri"/>
                <a:cs typeface="Calibri"/>
              </a:rPr>
              <a:t>o</a:t>
            </a:r>
            <a:r>
              <a:rPr sz="1800" spc="-50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spc="-765" baseline="3472" dirty="0">
                <a:latin typeface="Calibri"/>
                <a:cs typeface="Calibri"/>
              </a:rPr>
              <a:t>u</a:t>
            </a:r>
            <a:r>
              <a:rPr sz="1800" spc="-509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600" spc="-765" baseline="3472" dirty="0">
                <a:latin typeface="Calibri"/>
                <a:cs typeface="Calibri"/>
              </a:rPr>
              <a:t>n</a:t>
            </a:r>
            <a:r>
              <a:rPr sz="1800" spc="-509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600" spc="-765" baseline="3472" dirty="0">
                <a:latin typeface="Calibri"/>
                <a:cs typeface="Calibri"/>
              </a:rPr>
              <a:t>d</a:t>
            </a:r>
            <a:r>
              <a:rPr sz="1800" spc="-509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00" spc="-765" baseline="3472" dirty="0">
                <a:latin typeface="Calibri"/>
                <a:cs typeface="Calibri"/>
              </a:rPr>
              <a:t>s</a:t>
            </a:r>
            <a:r>
              <a:rPr sz="1800" spc="-50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600" spc="-382" baseline="3472" dirty="0">
                <a:latin typeface="Calibri"/>
                <a:cs typeface="Calibri"/>
              </a:rPr>
              <a:t>e</a:t>
            </a:r>
            <a:r>
              <a:rPr sz="1800" spc="-254" dirty="0">
                <a:solidFill>
                  <a:srgbClr val="FFFFFF"/>
                </a:solidFill>
                <a:latin typeface="Calibri"/>
                <a:cs typeface="Calibri"/>
              </a:rPr>
              <a:t>ta</a:t>
            </a:r>
            <a:r>
              <a:rPr sz="3600" spc="-382" baseline="3472" dirty="0">
                <a:latin typeface="Calibri"/>
                <a:cs typeface="Calibri"/>
              </a:rPr>
              <a:t>x</a:t>
            </a:r>
            <a:r>
              <a:rPr sz="1800" spc="-25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600" spc="-382" baseline="3472" dirty="0">
                <a:latin typeface="Calibri"/>
                <a:cs typeface="Calibri"/>
              </a:rPr>
              <a:t>c</a:t>
            </a:r>
            <a:r>
              <a:rPr sz="1800" spc="-254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3600" spc="-382" baseline="3472" dirty="0">
                <a:latin typeface="Calibri"/>
                <a:cs typeface="Calibri"/>
              </a:rPr>
              <a:t>eption</a:t>
            </a:r>
            <a:endParaRPr sz="3600" baseline="3472">
              <a:latin typeface="Calibri"/>
              <a:cs typeface="Calibri"/>
            </a:endParaRPr>
          </a:p>
          <a:p>
            <a:pPr marL="250190" indent="-238125">
              <a:lnSpc>
                <a:spcPts val="2110"/>
              </a:lnSpc>
              <a:buAutoNum type="alphaLcParenR" startAt="3"/>
              <a:tabLst>
                <a:tab pos="250825" algn="l"/>
              </a:tabLst>
            </a:pP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und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105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52800" y="0"/>
            <a:ext cx="5539105" cy="757555"/>
            <a:chOff x="3352800" y="0"/>
            <a:chExt cx="5539105" cy="757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57086"/>
              <a:ext cx="5538851" cy="5381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700" y="0"/>
              <a:ext cx="3338576" cy="757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5250"/>
              <a:ext cx="5410200" cy="409575"/>
            </a:xfrm>
            <a:custGeom>
              <a:avLst/>
              <a:gdLst/>
              <a:ahLst/>
              <a:cxnLst/>
              <a:rect l="l" t="t" r="r" b="b"/>
              <a:pathLst>
                <a:path w="5410200" h="409575">
                  <a:moveTo>
                    <a:pt x="5342001" y="0"/>
                  </a:moveTo>
                  <a:lnTo>
                    <a:pt x="68199" y="0"/>
                  </a:lnTo>
                  <a:lnTo>
                    <a:pt x="41683" y="5369"/>
                  </a:lnTo>
                  <a:lnTo>
                    <a:pt x="20002" y="20002"/>
                  </a:lnTo>
                  <a:lnTo>
                    <a:pt x="5369" y="41683"/>
                  </a:lnTo>
                  <a:lnTo>
                    <a:pt x="0" y="68199"/>
                  </a:lnTo>
                  <a:lnTo>
                    <a:pt x="0" y="341375"/>
                  </a:lnTo>
                  <a:lnTo>
                    <a:pt x="5369" y="367891"/>
                  </a:lnTo>
                  <a:lnTo>
                    <a:pt x="20002" y="389572"/>
                  </a:lnTo>
                  <a:lnTo>
                    <a:pt x="41683" y="404205"/>
                  </a:lnTo>
                  <a:lnTo>
                    <a:pt x="68199" y="409575"/>
                  </a:lnTo>
                  <a:lnTo>
                    <a:pt x="5342001" y="409575"/>
                  </a:lnTo>
                  <a:lnTo>
                    <a:pt x="5368516" y="404205"/>
                  </a:lnTo>
                  <a:lnTo>
                    <a:pt x="5390197" y="389572"/>
                  </a:lnTo>
                  <a:lnTo>
                    <a:pt x="5404830" y="367891"/>
                  </a:lnTo>
                  <a:lnTo>
                    <a:pt x="5410200" y="341375"/>
                  </a:lnTo>
                  <a:lnTo>
                    <a:pt x="5410200" y="68199"/>
                  </a:lnTo>
                  <a:lnTo>
                    <a:pt x="5404830" y="41683"/>
                  </a:lnTo>
                  <a:lnTo>
                    <a:pt x="5390197" y="20002"/>
                  </a:lnTo>
                  <a:lnTo>
                    <a:pt x="5368516" y="5369"/>
                  </a:lnTo>
                  <a:lnTo>
                    <a:pt x="5342001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/>
              <a:t>TERMINAL</a:t>
            </a:r>
            <a:r>
              <a:rPr spc="-85" dirty="0"/>
              <a:t> </a:t>
            </a:r>
            <a:r>
              <a:rPr spc="10" dirty="0"/>
              <a:t>QUESTIONS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9805" y="1383728"/>
            <a:ext cx="7898130" cy="195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sz="1800" b="1" spc="10" dirty="0">
                <a:latin typeface="Calibri"/>
                <a:cs typeface="Calibri"/>
              </a:rPr>
              <a:t>Compare</a:t>
            </a:r>
            <a:r>
              <a:rPr sz="1800" b="1" spc="-19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Array</a:t>
            </a:r>
            <a:r>
              <a:rPr sz="1800" b="1" spc="35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vs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Linked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list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stack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implementations.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Calibri"/>
              <a:buAutoNum type="arabicPeriod"/>
            </a:pPr>
            <a:endParaRPr sz="175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800" b="1" spc="-30" dirty="0">
                <a:latin typeface="Calibri"/>
                <a:cs typeface="Calibri"/>
              </a:rPr>
              <a:t>I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pl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3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pu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p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5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k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u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lin</a:t>
            </a:r>
            <a:r>
              <a:rPr sz="1800" b="1" spc="-40" dirty="0">
                <a:latin typeface="Calibri"/>
                <a:cs typeface="Calibri"/>
              </a:rPr>
              <a:t>k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li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Calibri"/>
              <a:buAutoNum type="arabicPeriod"/>
            </a:pPr>
            <a:endParaRPr sz="170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800" b="1" spc="-30" dirty="0">
                <a:latin typeface="Calibri"/>
                <a:cs typeface="Calibri"/>
              </a:rPr>
              <a:t>I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pl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3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3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dirty="0">
                <a:latin typeface="Calibri"/>
                <a:cs typeface="Calibri"/>
              </a:rPr>
              <a:t>op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10" dirty="0">
                <a:latin typeface="Calibri"/>
                <a:cs typeface="Calibri"/>
              </a:rPr>
              <a:t>p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5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k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u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in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lin</a:t>
            </a:r>
            <a:r>
              <a:rPr sz="1800" b="1" spc="-40" dirty="0">
                <a:latin typeface="Calibri"/>
                <a:cs typeface="Calibri"/>
              </a:rPr>
              <a:t>k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li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rabicPeriod"/>
            </a:pPr>
            <a:endParaRPr sz="180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800" b="1" spc="5" dirty="0">
                <a:latin typeface="Calibri"/>
                <a:cs typeface="Calibri"/>
              </a:rPr>
              <a:t>Analyze</a:t>
            </a:r>
            <a:r>
              <a:rPr sz="1800" b="1" spc="-1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complexity</a:t>
            </a:r>
            <a:r>
              <a:rPr sz="1800" b="1" spc="-1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push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pop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operation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stack </a:t>
            </a:r>
            <a:r>
              <a:rPr sz="1800" b="1" spc="5" dirty="0">
                <a:latin typeface="Calibri"/>
                <a:cs typeface="Calibri"/>
              </a:rPr>
              <a:t>using</a:t>
            </a:r>
            <a:r>
              <a:rPr sz="1800" b="1" spc="-14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linked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list.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95500" y="0"/>
            <a:ext cx="7282180" cy="757555"/>
            <a:chOff x="2095500" y="0"/>
            <a:chExt cx="7282180" cy="757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4075" y="57086"/>
              <a:ext cx="7234301" cy="5381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5500" y="0"/>
              <a:ext cx="7281926" cy="757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62175" y="95250"/>
              <a:ext cx="7105650" cy="409575"/>
            </a:xfrm>
            <a:custGeom>
              <a:avLst/>
              <a:gdLst/>
              <a:ahLst/>
              <a:cxnLst/>
              <a:rect l="l" t="t" r="r" b="b"/>
              <a:pathLst>
                <a:path w="7105650" h="409575">
                  <a:moveTo>
                    <a:pt x="7037324" y="0"/>
                  </a:moveTo>
                  <a:lnTo>
                    <a:pt x="68325" y="0"/>
                  </a:lnTo>
                  <a:lnTo>
                    <a:pt x="41737" y="5371"/>
                  </a:lnTo>
                  <a:lnTo>
                    <a:pt x="20018" y="20018"/>
                  </a:lnTo>
                  <a:lnTo>
                    <a:pt x="5371" y="41737"/>
                  </a:lnTo>
                  <a:lnTo>
                    <a:pt x="0" y="68325"/>
                  </a:lnTo>
                  <a:lnTo>
                    <a:pt x="0" y="341249"/>
                  </a:lnTo>
                  <a:lnTo>
                    <a:pt x="5371" y="367837"/>
                  </a:lnTo>
                  <a:lnTo>
                    <a:pt x="20018" y="389556"/>
                  </a:lnTo>
                  <a:lnTo>
                    <a:pt x="41737" y="404203"/>
                  </a:lnTo>
                  <a:lnTo>
                    <a:pt x="68325" y="409575"/>
                  </a:lnTo>
                  <a:lnTo>
                    <a:pt x="7037324" y="409575"/>
                  </a:lnTo>
                  <a:lnTo>
                    <a:pt x="7063912" y="404203"/>
                  </a:lnTo>
                  <a:lnTo>
                    <a:pt x="7085631" y="389556"/>
                  </a:lnTo>
                  <a:lnTo>
                    <a:pt x="7100278" y="367837"/>
                  </a:lnTo>
                  <a:lnTo>
                    <a:pt x="7105650" y="341249"/>
                  </a:lnTo>
                  <a:lnTo>
                    <a:pt x="7105650" y="68325"/>
                  </a:lnTo>
                  <a:lnTo>
                    <a:pt x="7100278" y="41737"/>
                  </a:lnTo>
                  <a:lnTo>
                    <a:pt x="7085631" y="20018"/>
                  </a:lnTo>
                  <a:lnTo>
                    <a:pt x="7063912" y="5371"/>
                  </a:lnTo>
                  <a:lnTo>
                    <a:pt x="7037324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09876" y="85661"/>
            <a:ext cx="6806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REFERENCES</a:t>
            </a:r>
            <a:r>
              <a:rPr spc="-1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5" dirty="0"/>
              <a:t>FURTHER</a:t>
            </a:r>
            <a:r>
              <a:rPr spc="-125" dirty="0"/>
              <a:t> </a:t>
            </a:r>
            <a:r>
              <a:rPr dirty="0"/>
              <a:t>LEARNING</a:t>
            </a:r>
            <a:r>
              <a:rPr spc="-35" dirty="0"/>
              <a:t> </a:t>
            </a:r>
            <a:r>
              <a:rPr spc="-10" dirty="0"/>
              <a:t>OF</a:t>
            </a:r>
            <a:r>
              <a:rPr dirty="0"/>
              <a:t> </a:t>
            </a:r>
            <a:r>
              <a:rPr spc="5" dirty="0"/>
              <a:t>THE</a:t>
            </a:r>
            <a:r>
              <a:rPr spc="-65" dirty="0"/>
              <a:t> </a:t>
            </a:r>
            <a:r>
              <a:rPr spc="5" dirty="0"/>
              <a:t>SESSION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1000" y="537893"/>
            <a:ext cx="10265410" cy="6089488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sz="2400" b="1" spc="-25" dirty="0">
                <a:latin typeface="Calibri"/>
                <a:cs typeface="Calibri"/>
              </a:rPr>
              <a:t>Reference Books: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Structures and Algorithm Analysis in PYTHON, 2010, Mark Allen Weiss, Second Edition, Pearson Education.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Structures and Algorithms, </a:t>
            </a:r>
            <a:r>
              <a:rPr lang="en-IN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A.V.Aho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J.E.Hopcroft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J.D.Ullman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First Edition Reprint2003.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Advanced Guide to Python 3 Programming, John Hunt, 4th Edition, Springer Nature Switzerland AG 2019.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Python Basics: A Practice Introduction to Python 3, David Amos, Dan Bader, Joanna Jablonski, Fletcher Heisler, 4th edition, Real Python.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Links: 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https://docs.python.org/3/tutorial/datastructures.html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https://www.w3schools.com/dsa/dsa_intro.php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https://www.geeksforgeeks.org/python-data-structures/</a:t>
            </a: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endParaRPr lang="en-IN" sz="2400" b="1" spc="-25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90724" cy="6000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50594">
              <a:lnSpc>
                <a:spcPct val="100000"/>
              </a:lnSpc>
              <a:spcBef>
                <a:spcPts val="130"/>
              </a:spcBef>
            </a:pPr>
            <a:r>
              <a:rPr spc="-95" dirty="0"/>
              <a:t>T</a:t>
            </a:r>
            <a:r>
              <a:rPr spc="-125" dirty="0"/>
              <a:t>H</a:t>
            </a:r>
            <a:r>
              <a:rPr spc="200" dirty="0"/>
              <a:t>A</a:t>
            </a:r>
            <a:r>
              <a:rPr spc="-70" dirty="0"/>
              <a:t>N</a:t>
            </a:r>
            <a:r>
              <a:rPr spc="20" dirty="0"/>
              <a:t>K</a:t>
            </a:r>
            <a:r>
              <a:rPr spc="-265" dirty="0"/>
              <a:t> </a:t>
            </a:r>
            <a:r>
              <a:rPr spc="45" dirty="0"/>
              <a:t>Y</a:t>
            </a:r>
            <a:r>
              <a:rPr spc="65" dirty="0"/>
              <a:t>O</a:t>
            </a:r>
            <a:r>
              <a:rPr spc="-90" dirty="0"/>
              <a:t>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4196" y="3775329"/>
            <a:ext cx="541591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6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3600" b="1" spc="31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600" b="1" spc="380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3600" b="1" spc="-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1180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3600" b="1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1" spc="10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3600" b="1" spc="10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600" b="1" spc="-7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600" b="1" spc="2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600" b="1" spc="-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4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600" b="1" spc="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600" b="1" spc="9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3600" b="1" spc="14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3600" b="1" spc="6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600" b="1" spc="9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3600" b="1" spc="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600" b="1" spc="10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3600" b="1" spc="15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4975" y="2562225"/>
            <a:ext cx="3238500" cy="10858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pc="15" dirty="0"/>
              <a:t>C</a:t>
            </a:r>
            <a:r>
              <a:rPr spc="10" dirty="0"/>
              <a:t>R</a:t>
            </a:r>
            <a:r>
              <a:rPr spc="-20" dirty="0"/>
              <a:t>EATE</a:t>
            </a:r>
            <a:r>
              <a:rPr spc="15" dirty="0"/>
              <a:t>D</a:t>
            </a:r>
            <a:r>
              <a:rPr spc="-20" dirty="0"/>
              <a:t> </a:t>
            </a:r>
            <a:r>
              <a:rPr spc="10" dirty="0"/>
              <a:t>BY</a:t>
            </a:r>
            <a:r>
              <a:rPr spc="-60" dirty="0"/>
              <a:t> </a:t>
            </a:r>
            <a:r>
              <a:rPr spc="25" dirty="0"/>
              <a:t>K</a:t>
            </a:r>
            <a:r>
              <a:rPr spc="5" dirty="0"/>
              <a:t>.</a:t>
            </a:r>
            <a:r>
              <a:rPr spc="-20" dirty="0"/>
              <a:t> </a:t>
            </a:r>
            <a:r>
              <a:rPr spc="-5" dirty="0"/>
              <a:t>V</a:t>
            </a:r>
            <a:r>
              <a:rPr spc="20" dirty="0"/>
              <a:t>I</a:t>
            </a:r>
            <a:r>
              <a:rPr spc="15" dirty="0"/>
              <a:t>C</a:t>
            </a:r>
            <a:r>
              <a:rPr spc="-20" dirty="0"/>
              <a:t>T</a:t>
            </a:r>
            <a:r>
              <a:rPr spc="-10" dirty="0"/>
              <a:t>O</a:t>
            </a:r>
            <a:r>
              <a:rPr spc="10" dirty="0"/>
              <a:t>R</a:t>
            </a:r>
            <a:r>
              <a:rPr spc="-35" dirty="0"/>
              <a:t> </a:t>
            </a:r>
            <a:r>
              <a:rPr spc="15" dirty="0"/>
              <a:t>B</a:t>
            </a:r>
            <a:r>
              <a:rPr spc="-15" dirty="0"/>
              <a:t>A</a:t>
            </a:r>
            <a:r>
              <a:rPr spc="15" dirty="0"/>
              <a:t>BU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1216</Words>
  <Application>Microsoft Office PowerPoint</Application>
  <PresentationFormat>Widescreen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MT</vt:lpstr>
      <vt:lpstr>Calibri</vt:lpstr>
      <vt:lpstr>Calibri Light</vt:lpstr>
      <vt:lpstr>Lucida Sans Unicode</vt:lpstr>
      <vt:lpstr>Tahoma</vt:lpstr>
      <vt:lpstr>Times New Roman</vt:lpstr>
      <vt:lpstr>Trebuchet MS</vt:lpstr>
      <vt:lpstr>Wingdings</vt:lpstr>
      <vt:lpstr>Office Theme</vt:lpstr>
      <vt:lpstr>Department of BES-I </vt:lpstr>
      <vt:lpstr>AIM OF THE SESSION</vt:lpstr>
      <vt:lpstr>Session -Introduction</vt:lpstr>
      <vt:lpstr>Stack using an array - drawback</vt:lpstr>
      <vt:lpstr>Linked list implementation of stack</vt:lpstr>
      <vt:lpstr>Operations on Stack</vt:lpstr>
      <vt:lpstr>Node structure</vt:lpstr>
      <vt:lpstr>PUSH OPERATION ON STACK</vt:lpstr>
      <vt:lpstr>PowerPoint Presentation</vt:lpstr>
      <vt:lpstr>POP OPERATION ON STACK</vt:lpstr>
      <vt:lpstr>PowerPoint Presentation</vt:lpstr>
      <vt:lpstr>Display</vt:lpstr>
      <vt:lpstr>Time complexity</vt:lpstr>
      <vt:lpstr>SELF-ASSESSMENT QUESTIONS</vt:lpstr>
      <vt:lpstr>TERMINAL QUESTIONS</vt:lpstr>
      <vt:lpstr>REFERENCES FOR FURTHER LEARNING OF THE SESSION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BES-I </dc:title>
  <cp:lastModifiedBy>A Kumuda</cp:lastModifiedBy>
  <cp:revision>3</cp:revision>
  <dcterms:created xsi:type="dcterms:W3CDTF">2023-12-30T14:06:38Z</dcterms:created>
  <dcterms:modified xsi:type="dcterms:W3CDTF">2024-12-13T09:35:25Z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2023-12-29T00:00:00Z</vt:filetime>
  </property>
  <property fmtid="{D5CDD505-2E9C-101B-9397-08002B2CF9AE}" pid="3" name="LastSaved">
    <vt:filetime>2023-12-30T00:00:00Z</vt:filetime>
  </property>
</Properties>
</file>