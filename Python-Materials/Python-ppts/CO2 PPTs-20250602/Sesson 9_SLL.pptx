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25"/>
  </p:notesMasterIdLst>
  <p:sldIdLst>
    <p:sldId id="271" r:id="rId5"/>
    <p:sldId id="300" r:id="rId6"/>
    <p:sldId id="258" r:id="rId7"/>
    <p:sldId id="288" r:id="rId8"/>
    <p:sldId id="305" r:id="rId9"/>
    <p:sldId id="306" r:id="rId10"/>
    <p:sldId id="311" r:id="rId11"/>
    <p:sldId id="307" r:id="rId12"/>
    <p:sldId id="310" r:id="rId13"/>
    <p:sldId id="312" r:id="rId14"/>
    <p:sldId id="313" r:id="rId15"/>
    <p:sldId id="314" r:id="rId16"/>
    <p:sldId id="315" r:id="rId17"/>
    <p:sldId id="316" r:id="rId18"/>
    <p:sldId id="317" r:id="rId19"/>
    <p:sldId id="318" r:id="rId20"/>
    <p:sldId id="319" r:id="rId21"/>
    <p:sldId id="320" r:id="rId22"/>
    <p:sldId id="323" r:id="rId23"/>
    <p:sldId id="304" r:id="rId2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9900"/>
    <a:srgbClr val="E84845"/>
    <a:srgbClr val="FAD2D2"/>
    <a:srgbClr val="F89E4C"/>
    <a:srgbClr val="A81E24"/>
    <a:srgbClr val="FFF2CC"/>
    <a:srgbClr val="CF2F33"/>
    <a:srgbClr val="BA2532"/>
    <a:srgbClr val="E3293B"/>
    <a:srgbClr val="FFFCF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10"/>
    <p:restoredTop sz="94689"/>
  </p:normalViewPr>
  <p:slideViewPr>
    <p:cSldViewPr snapToGrid="0">
      <p:cViewPr varScale="1">
        <p:scale>
          <a:sx n="78" d="100"/>
          <a:sy n="78" d="100"/>
        </p:scale>
        <p:origin x="850" y="62"/>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ADD66ED-011C-444B-AF08-9B316B070C56}" type="datetimeFigureOut">
              <a:rPr lang="en-US" smtClean="0"/>
              <a:pPr/>
              <a:t>12/13/2024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4E4ADD7-897F-4F47-A317-DE24AB827DD3}" type="slidenum">
              <a:rPr lang="en-US" smtClean="0"/>
              <a:pPr/>
              <a:t>‹#›</a:t>
            </a:fld>
            <a:endParaRPr lang="en-US"/>
          </a:p>
        </p:txBody>
      </p:sp>
    </p:spTree>
    <p:extLst>
      <p:ext uri="{BB962C8B-B14F-4D97-AF65-F5344CB8AC3E}">
        <p14:creationId xmlns:p14="http://schemas.microsoft.com/office/powerpoint/2010/main" val="39866589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0"/>
        <p:cNvGrpSpPr/>
        <p:nvPr/>
      </p:nvGrpSpPr>
      <p:grpSpPr>
        <a:xfrm>
          <a:off x="0" y="0"/>
          <a:ext cx="0" cy="0"/>
          <a:chOff x="0" y="0"/>
          <a:chExt cx="0" cy="0"/>
        </a:xfrm>
      </p:grpSpPr>
      <p:sp>
        <p:nvSpPr>
          <p:cNvPr id="461" name="Google Shape;461;p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62" name="Google Shape;462;p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42443036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54E4ADD7-897F-4F47-A317-DE24AB827DD3}" type="slidenum">
              <a:rPr lang="en-US" smtClean="0"/>
              <a:pPr/>
              <a:t>3</a:t>
            </a:fld>
            <a:endParaRPr lang="en-US"/>
          </a:p>
        </p:txBody>
      </p:sp>
    </p:spTree>
    <p:extLst>
      <p:ext uri="{BB962C8B-B14F-4D97-AF65-F5344CB8AC3E}">
        <p14:creationId xmlns:p14="http://schemas.microsoft.com/office/powerpoint/2010/main" val="322843521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12/13/2024</a:t>
            </a:fld>
            <a:endParaRPr lang="en-US">
              <a:solidFill>
                <a:prstClr val="black">
                  <a:tint val="75000"/>
                </a:prstClr>
              </a:solidFill>
            </a:endParaRPr>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67416564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p:cNvSpPr>
            <a:spLocks noGrp="1"/>
          </p:cNvSpPr>
          <p:nvPr>
            <p:ph idx="1"/>
          </p:nvPr>
        </p:nvSpPr>
        <p:spPr>
          <a:xfrm>
            <a:off x="838200" y="1825625"/>
            <a:ext cx="10515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12/13/2024</a:t>
            </a:fld>
            <a:endParaRPr lang="en-US">
              <a:solidFill>
                <a:prstClr val="black">
                  <a:tint val="75000"/>
                </a:prstClr>
              </a:solidFill>
            </a:endParaRPr>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83124224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a:prstGeom prst="rect">
            <a:avLst/>
          </a:prstGeo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12/13/2024</a:t>
            </a:fld>
            <a:endParaRPr lang="en-US">
              <a:solidFill>
                <a:prstClr val="black">
                  <a:tint val="75000"/>
                </a:prstClr>
              </a:solidFill>
            </a:endParaRPr>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57891905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12/13/2024</a:t>
            </a:fld>
            <a:endParaRPr lang="en-US">
              <a:solidFill>
                <a:prstClr val="black">
                  <a:tint val="75000"/>
                </a:prstClr>
              </a:solidFill>
            </a:endParaRPr>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5429192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a:prstGeom prst="rect">
            <a:avLst/>
          </a:prstGeo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12/13/2024</a:t>
            </a:fld>
            <a:endParaRPr lang="en-US">
              <a:solidFill>
                <a:prstClr val="black">
                  <a:tint val="75000"/>
                </a:prstClr>
              </a:solidFill>
            </a:endParaRPr>
          </a:p>
        </p:txBody>
      </p:sp>
      <p:sp>
        <p:nvSpPr>
          <p:cNvPr id="8" name="Footer Placeholder 7"/>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9" name="Slide Number Placeholder 8"/>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63397714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Date Placeholder 2"/>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12/13/2024</a:t>
            </a:fld>
            <a:endParaRPr lang="en-US">
              <a:solidFill>
                <a:prstClr val="black">
                  <a:tint val="75000"/>
                </a:prstClr>
              </a:solidFill>
            </a:endParaRPr>
          </a:p>
        </p:txBody>
      </p:sp>
      <p:sp>
        <p:nvSpPr>
          <p:cNvPr id="4" name="Footer Placeholder 3"/>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5" name="Slide Number Placeholder 4"/>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40245890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12/13/2024</a:t>
            </a:fld>
            <a:endParaRPr lang="en-US">
              <a:solidFill>
                <a:prstClr val="black">
                  <a:tint val="75000"/>
                </a:prstClr>
              </a:solidFill>
            </a:endParaRPr>
          </a:p>
        </p:txBody>
      </p:sp>
      <p:sp>
        <p:nvSpPr>
          <p:cNvPr id="3" name="Footer Placeholder 2"/>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4" name="Slide Number Placeholder 3"/>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403997098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12/13/2024</a:t>
            </a:fld>
            <a:endParaRPr lang="en-US">
              <a:solidFill>
                <a:prstClr val="black">
                  <a:tint val="75000"/>
                </a:prstClr>
              </a:solidFill>
            </a:endParaRPr>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1388353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a:prstGeom prst="rect">
            <a:avLst/>
          </a:prstGeo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12/13/2024</a:t>
            </a:fld>
            <a:endParaRPr lang="en-US">
              <a:solidFill>
                <a:prstClr val="black">
                  <a:tint val="75000"/>
                </a:prstClr>
              </a:solidFill>
            </a:endParaRPr>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43651549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Only" preserve="1">
  <p:cSld name="Content">
    <p:spTree>
      <p:nvGrpSpPr>
        <p:cNvPr id="1" name=""/>
        <p:cNvGrpSpPr/>
        <p:nvPr/>
      </p:nvGrpSpPr>
      <p:grpSpPr>
        <a:xfrm>
          <a:off x="0" y="0"/>
          <a:ext cx="0" cy="0"/>
          <a:chOff x="0" y="0"/>
          <a:chExt cx="0" cy="0"/>
        </a:xfrm>
      </p:grpSpPr>
      <p:sp>
        <p:nvSpPr>
          <p:cNvPr id="2" name="Content Placeholder 1"/>
          <p:cNvSpPr>
            <a:spLocks noGrp="1"/>
          </p:cNvSpPr>
          <p:nvPr>
            <p:ph/>
          </p:nvPr>
        </p:nvSpPr>
        <p:spPr>
          <a:xfrm>
            <a:off x="838200" y="365125"/>
            <a:ext cx="10515600" cy="58118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Date Placeholder 2"/>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12/13/2024</a:t>
            </a:fld>
            <a:endParaRPr lang="en-US">
              <a:solidFill>
                <a:prstClr val="black">
                  <a:tint val="75000"/>
                </a:prstClr>
              </a:solidFill>
            </a:endParaRPr>
          </a:p>
        </p:txBody>
      </p:sp>
      <p:sp>
        <p:nvSpPr>
          <p:cNvPr id="4" name="Footer Placeholder 3"/>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5" name="Slide Number Placeholder 4"/>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91762861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Content">
  <p:cSld name="1_Title and Content">
    <p:spTree>
      <p:nvGrpSpPr>
        <p:cNvPr id="1" name="Shape 48"/>
        <p:cNvGrpSpPr/>
        <p:nvPr/>
      </p:nvGrpSpPr>
      <p:grpSpPr>
        <a:xfrm>
          <a:off x="0" y="0"/>
          <a:ext cx="0" cy="0"/>
          <a:chOff x="0" y="0"/>
          <a:chExt cx="0" cy="0"/>
        </a:xfrm>
      </p:grpSpPr>
      <p:sp>
        <p:nvSpPr>
          <p:cNvPr id="49" name="Google Shape;49;p47"/>
          <p:cNvSpPr>
            <a:spLocks noGrp="1"/>
          </p:cNvSpPr>
          <p:nvPr>
            <p:ph type="pic" idx="2"/>
          </p:nvPr>
        </p:nvSpPr>
        <p:spPr>
          <a:xfrm>
            <a:off x="0" y="0"/>
            <a:ext cx="5467350" cy="5987983"/>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R="0" lvl="1"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R="0" lvl="2"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R="0" lvl="3"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R="0" lvl="4"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R="0" lvl="5"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R="0" lvl="6"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R="0" lvl="7"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R="0" lvl="8"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Tree>
    <p:extLst>
      <p:ext uri="{BB962C8B-B14F-4D97-AF65-F5344CB8AC3E}">
        <p14:creationId xmlns:p14="http://schemas.microsoft.com/office/powerpoint/2010/main" val="337892924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4">
            <a:lumMod val="20000"/>
            <a:lumOff val="80000"/>
            <a:alpha val="20747"/>
          </a:schemeClr>
        </a:solidFill>
        <a:effectLst/>
      </p:bgPr>
    </p:bg>
    <p:spTree>
      <p:nvGrpSpPr>
        <p:cNvPr id="1" name=""/>
        <p:cNvGrpSpPr/>
        <p:nvPr/>
      </p:nvGrpSpPr>
      <p:grpSpPr>
        <a:xfrm>
          <a:off x="0" y="0"/>
          <a:ext cx="0" cy="0"/>
          <a:chOff x="0" y="0"/>
          <a:chExt cx="0" cy="0"/>
        </a:xfrm>
      </p:grpSpPr>
      <p:pic>
        <p:nvPicPr>
          <p:cNvPr id="11" name="Picture 10" descr="Background pattern&#10;&#10;Description automatically generated">
            <a:extLst>
              <a:ext uri="{FF2B5EF4-FFF2-40B4-BE49-F238E27FC236}">
                <a16:creationId xmlns:a16="http://schemas.microsoft.com/office/drawing/2014/main" id="{2F4508AD-1BA8-6D49-AD89-BB8C58C99DDF}"/>
              </a:ext>
            </a:extLst>
          </p:cNvPr>
          <p:cNvPicPr>
            <a:picLocks noChangeAspect="1"/>
          </p:cNvPicPr>
          <p:nvPr userDrawn="1"/>
        </p:nvPicPr>
        <p:blipFill>
          <a:blip r:embed="rId13">
            <a:clrChange>
              <a:clrFrom>
                <a:srgbClr val="FFFFFF"/>
              </a:clrFrom>
              <a:clrTo>
                <a:srgbClr val="FFFFFF">
                  <a:alpha val="0"/>
                </a:srgbClr>
              </a:clrTo>
            </a:clrChange>
            <a:alphaModFix amt="50000"/>
            <a:extLst>
              <a:ext uri="{28A0092B-C50C-407E-A947-70E740481C1C}">
                <a14:useLocalDpi xmlns:a14="http://schemas.microsoft.com/office/drawing/2010/main" val="0"/>
              </a:ext>
            </a:extLst>
          </a:blip>
          <a:stretch>
            <a:fillRect/>
          </a:stretch>
        </p:blipFill>
        <p:spPr>
          <a:xfrm>
            <a:off x="0" y="0"/>
            <a:ext cx="3003452" cy="3003452"/>
          </a:xfrm>
          <a:prstGeom prst="rect">
            <a:avLst/>
          </a:prstGeom>
        </p:spPr>
      </p:pic>
      <p:sp>
        <p:nvSpPr>
          <p:cNvPr id="2" name="Rectangle 1">
            <a:extLst>
              <a:ext uri="{FF2B5EF4-FFF2-40B4-BE49-F238E27FC236}">
                <a16:creationId xmlns:a16="http://schemas.microsoft.com/office/drawing/2014/main" id="{ACAD2B12-09F5-6D4A-9C1D-AFF6A38F62BF}"/>
              </a:ext>
            </a:extLst>
          </p:cNvPr>
          <p:cNvSpPr/>
          <p:nvPr userDrawn="1"/>
        </p:nvSpPr>
        <p:spPr>
          <a:xfrm>
            <a:off x="0" y="6812281"/>
            <a:ext cx="121920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2072F43C-0ACD-CF48-BDDC-4CA06CD195D7}"/>
              </a:ext>
            </a:extLst>
          </p:cNvPr>
          <p:cNvSpPr/>
          <p:nvPr userDrawn="1"/>
        </p:nvSpPr>
        <p:spPr>
          <a:xfrm>
            <a:off x="0" y="0"/>
            <a:ext cx="121920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4" name="Picture 13" descr="Background pattern&#10;&#10;Description automatically generated">
            <a:extLst>
              <a:ext uri="{FF2B5EF4-FFF2-40B4-BE49-F238E27FC236}">
                <a16:creationId xmlns:a16="http://schemas.microsoft.com/office/drawing/2014/main" id="{D4A3453C-FFE4-E949-B42B-748B5090DD36}"/>
              </a:ext>
            </a:extLst>
          </p:cNvPr>
          <p:cNvPicPr>
            <a:picLocks noChangeAspect="1"/>
          </p:cNvPicPr>
          <p:nvPr userDrawn="1"/>
        </p:nvPicPr>
        <p:blipFill rotWithShape="1">
          <a:blip r:embed="rId14">
            <a:clrChange>
              <a:clrFrom>
                <a:srgbClr val="F6F6F6"/>
              </a:clrFrom>
              <a:clrTo>
                <a:srgbClr val="F6F6F6">
                  <a:alpha val="0"/>
                </a:srgbClr>
              </a:clrTo>
            </a:clrChange>
            <a:duotone>
              <a:schemeClr val="bg2">
                <a:shade val="45000"/>
                <a:satMod val="135000"/>
              </a:schemeClr>
              <a:prstClr val="white"/>
            </a:duotone>
            <a:alphaModFix amt="35000"/>
            <a:extLst>
              <a:ext uri="{28A0092B-C50C-407E-A947-70E740481C1C}">
                <a14:useLocalDpi xmlns:a14="http://schemas.microsoft.com/office/drawing/2010/main" val="0"/>
              </a:ext>
            </a:extLst>
          </a:blip>
          <a:srcRect r="26721" b="8103"/>
          <a:stretch/>
        </p:blipFill>
        <p:spPr>
          <a:xfrm>
            <a:off x="8376334" y="4104641"/>
            <a:ext cx="3815666" cy="2707640"/>
          </a:xfrm>
          <a:prstGeom prst="rect">
            <a:avLst/>
          </a:prstGeom>
        </p:spPr>
      </p:pic>
      <p:sp>
        <p:nvSpPr>
          <p:cNvPr id="7" name="TextBox 6">
            <a:extLst>
              <a:ext uri="{FF2B5EF4-FFF2-40B4-BE49-F238E27FC236}">
                <a16:creationId xmlns:a16="http://schemas.microsoft.com/office/drawing/2014/main" id="{C1A8F9C9-F65C-BB4A-BF8E-4636F166836D}"/>
              </a:ext>
            </a:extLst>
          </p:cNvPr>
          <p:cNvSpPr txBox="1"/>
          <p:nvPr userDrawn="1"/>
        </p:nvSpPr>
        <p:spPr>
          <a:xfrm>
            <a:off x="1" y="6602979"/>
            <a:ext cx="2132068" cy="215444"/>
          </a:xfrm>
          <a:prstGeom prst="rect">
            <a:avLst/>
          </a:prstGeom>
          <a:noFill/>
        </p:spPr>
        <p:txBody>
          <a:bodyPr wrap="square" rtlCol="0">
            <a:spAutoFit/>
          </a:bodyPr>
          <a:lstStyle/>
          <a:p>
            <a:r>
              <a:rPr lang="en-US" sz="800">
                <a:solidFill>
                  <a:schemeClr val="bg1">
                    <a:lumMod val="95000"/>
                  </a:schemeClr>
                </a:solidFill>
              </a:rPr>
              <a:t>CREATED BY K. VICTOR BABU</a:t>
            </a:r>
          </a:p>
        </p:txBody>
      </p:sp>
    </p:spTree>
    <p:extLst>
      <p:ext uri="{BB962C8B-B14F-4D97-AF65-F5344CB8AC3E}">
        <p14:creationId xmlns:p14="http://schemas.microsoft.com/office/powerpoint/2010/main" val="62684126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1.xml"/><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image" Target="../media/image6.svg"/><Relationship Id="rId7" Type="http://schemas.openxmlformats.org/officeDocument/2006/relationships/image" Target="../media/image10.svg"/><Relationship Id="rId2" Type="http://schemas.openxmlformats.org/officeDocument/2006/relationships/image" Target="../media/image5.png"/><Relationship Id="rId1" Type="http://schemas.openxmlformats.org/officeDocument/2006/relationships/slideLayout" Target="../slideLayouts/slideLayout11.xml"/><Relationship Id="rId6" Type="http://schemas.openxmlformats.org/officeDocument/2006/relationships/image" Target="../media/image9.png"/><Relationship Id="rId5" Type="http://schemas.openxmlformats.org/officeDocument/2006/relationships/image" Target="../media/image8.svg"/><Relationship Id="rId4" Type="http://schemas.openxmlformats.org/officeDocument/2006/relationships/image" Target="../media/image7.png"/></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463"/>
        <p:cNvGrpSpPr/>
        <p:nvPr/>
      </p:nvGrpSpPr>
      <p:grpSpPr>
        <a:xfrm>
          <a:off x="0" y="0"/>
          <a:ext cx="0" cy="0"/>
          <a:chOff x="0" y="0"/>
          <a:chExt cx="0" cy="0"/>
        </a:xfrm>
      </p:grpSpPr>
      <p:sp>
        <p:nvSpPr>
          <p:cNvPr id="2" name="Rectangle 1">
            <a:extLst>
              <a:ext uri="{FF2B5EF4-FFF2-40B4-BE49-F238E27FC236}">
                <a16:creationId xmlns:a16="http://schemas.microsoft.com/office/drawing/2014/main" id="{6398423B-5803-30F8-31C4-BF716BD7197E}"/>
              </a:ext>
            </a:extLst>
          </p:cNvPr>
          <p:cNvSpPr/>
          <p:nvPr/>
        </p:nvSpPr>
        <p:spPr>
          <a:xfrm>
            <a:off x="-1" y="0"/>
            <a:ext cx="12192000" cy="6858000"/>
          </a:xfrm>
          <a:prstGeom prst="rect">
            <a:avLst/>
          </a:prstGeom>
          <a:solidFill>
            <a:schemeClr val="bg1"/>
          </a:solidFill>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pic>
        <p:nvPicPr>
          <p:cNvPr id="464" name="Google Shape;464;p16"/>
          <p:cNvPicPr preferRelativeResize="0"/>
          <p:nvPr/>
        </p:nvPicPr>
        <p:blipFill>
          <a:blip r:embed="rId3">
            <a:extLst>
              <a:ext uri="{28A0092B-C50C-407E-A947-70E740481C1C}">
                <a14:useLocalDpi xmlns:a14="http://schemas.microsoft.com/office/drawing/2010/main" val="0"/>
              </a:ext>
            </a:extLst>
          </a:blip>
          <a:stretch>
            <a:fillRect/>
          </a:stretch>
        </p:blipFill>
        <p:spPr>
          <a:xfrm>
            <a:off x="0" y="117034"/>
            <a:ext cx="6027459" cy="6623931"/>
          </a:xfrm>
          <a:prstGeom prst="rect">
            <a:avLst/>
          </a:prstGeom>
          <a:noFill/>
          <a:ln>
            <a:noFill/>
          </a:ln>
        </p:spPr>
      </p:pic>
      <p:sp>
        <p:nvSpPr>
          <p:cNvPr id="476" name="Google Shape;476;p16"/>
          <p:cNvSpPr txBox="1"/>
          <p:nvPr/>
        </p:nvSpPr>
        <p:spPr>
          <a:xfrm>
            <a:off x="5394455" y="1933408"/>
            <a:ext cx="6669726" cy="3416279"/>
          </a:xfrm>
          <a:prstGeom prst="rect">
            <a:avLst/>
          </a:prstGeom>
          <a:noFill/>
          <a:ln>
            <a:noFill/>
          </a:ln>
        </p:spPr>
        <p:txBody>
          <a:bodyPr spcFirstLastPara="1" wrap="square" lIns="91425" tIns="45700" rIns="91425" bIns="45700" anchor="t" anchorCtr="0">
            <a:spAutoFit/>
          </a:bodyPr>
          <a:lstStyle/>
          <a:p>
            <a:pPr algn="ctr"/>
            <a:r>
              <a:rPr lang="en-US" sz="3200" b="1" cap="all" dirty="0">
                <a:ln/>
                <a:solidFill>
                  <a:srgbClr val="C00000"/>
                </a:solidFill>
                <a:latin typeface="Times New Roman" panose="02020603050405020304" pitchFamily="18" charset="0"/>
                <a:cs typeface="Times New Roman" panose="02020603050405020304" pitchFamily="18" charset="0"/>
                <a:sym typeface="BioRhyme ExtraBold"/>
              </a:rPr>
              <a:t>COURSE: </a:t>
            </a:r>
            <a:r>
              <a:rPr lang="en-US" sz="3200" b="1" dirty="0">
                <a:solidFill>
                  <a:schemeClr val="accent1"/>
                </a:solidFill>
                <a:latin typeface="Times New Roman" panose="02020603050405020304" pitchFamily="18" charset="0"/>
                <a:cs typeface="Times New Roman" panose="02020603050405020304" pitchFamily="18" charset="0"/>
              </a:rPr>
              <a:t>Data Structures</a:t>
            </a:r>
            <a:endParaRPr lang="en-IN" sz="3200" b="1" dirty="0">
              <a:solidFill>
                <a:schemeClr val="accent1"/>
              </a:solidFill>
              <a:latin typeface="Times New Roman" panose="02020603050405020304" pitchFamily="18" charset="0"/>
              <a:cs typeface="Times New Roman" panose="02020603050405020304" pitchFamily="18" charset="0"/>
            </a:endParaRPr>
          </a:p>
          <a:p>
            <a:pPr marR="0" lvl="0" indent="0" algn="ctr">
              <a:spcBef>
                <a:spcPts val="0"/>
              </a:spcBef>
              <a:spcAft>
                <a:spcPts val="0"/>
              </a:spcAft>
              <a:buNone/>
            </a:pPr>
            <a:endParaRPr lang="en-US" sz="3200" b="1" cap="all" dirty="0">
              <a:ln/>
              <a:solidFill>
                <a:srgbClr val="C00000"/>
              </a:solidFill>
              <a:latin typeface="Times New Roman" panose="02020603050405020304" pitchFamily="18" charset="0"/>
              <a:cs typeface="Times New Roman" panose="02020603050405020304" pitchFamily="18" charset="0"/>
              <a:sym typeface="BioRhyme ExtraBold"/>
            </a:endParaRPr>
          </a:p>
          <a:p>
            <a:pPr algn="ctr"/>
            <a:r>
              <a:rPr lang="en-US" sz="3200" b="1" cap="all" dirty="0">
                <a:ln/>
                <a:solidFill>
                  <a:srgbClr val="C00000"/>
                </a:solidFill>
                <a:latin typeface="Times New Roman" panose="02020603050405020304" pitchFamily="18" charset="0"/>
                <a:cs typeface="Times New Roman" panose="02020603050405020304" pitchFamily="18" charset="0"/>
                <a:sym typeface="BioRhyme ExtraBold"/>
              </a:rPr>
              <a:t>COURSE CODE: </a:t>
            </a:r>
            <a:r>
              <a:rPr lang="en-US" sz="3200" b="1" dirty="0">
                <a:solidFill>
                  <a:schemeClr val="accent1"/>
                </a:solidFill>
                <a:latin typeface="Times New Roman" panose="02020603050405020304" pitchFamily="18" charset="0"/>
                <a:cs typeface="Times New Roman" panose="02020603050405020304" pitchFamily="18" charset="0"/>
              </a:rPr>
              <a:t>24SC1204</a:t>
            </a:r>
            <a:endParaRPr lang="en-IN" sz="3200" b="1" dirty="0">
              <a:solidFill>
                <a:schemeClr val="accent1"/>
              </a:solidFill>
              <a:latin typeface="Times New Roman" panose="02020603050405020304" pitchFamily="18" charset="0"/>
              <a:cs typeface="Times New Roman" panose="02020603050405020304" pitchFamily="18" charset="0"/>
            </a:endParaRPr>
          </a:p>
          <a:p>
            <a:pPr marR="0" lvl="0" indent="0" algn="ctr">
              <a:spcBef>
                <a:spcPts val="0"/>
              </a:spcBef>
              <a:spcAft>
                <a:spcPts val="0"/>
              </a:spcAft>
              <a:buNone/>
            </a:pPr>
            <a:endParaRPr lang="en-US" sz="2000" b="1" dirty="0">
              <a:solidFill>
                <a:schemeClr val="bg1">
                  <a:lumMod val="50000"/>
                </a:schemeClr>
              </a:solidFill>
              <a:latin typeface="Times New Roman" panose="02020603050405020304" pitchFamily="18" charset="0"/>
              <a:ea typeface="BioRhyme ExtraBold"/>
              <a:cs typeface="Times New Roman" panose="02020603050405020304" pitchFamily="18" charset="0"/>
              <a:sym typeface="BioRhyme ExtraBold"/>
            </a:endParaRPr>
          </a:p>
          <a:p>
            <a:pPr marR="0" lvl="0" indent="0" algn="ctr">
              <a:spcBef>
                <a:spcPts val="0"/>
              </a:spcBef>
              <a:spcAft>
                <a:spcPts val="0"/>
              </a:spcAft>
              <a:buNone/>
            </a:pPr>
            <a:r>
              <a:rPr lang="en-US" sz="2000" b="1" dirty="0">
                <a:solidFill>
                  <a:schemeClr val="bg1">
                    <a:lumMod val="50000"/>
                  </a:schemeClr>
                </a:solidFill>
                <a:latin typeface="Times New Roman" panose="02020603050405020304" pitchFamily="18" charset="0"/>
                <a:ea typeface="BioRhyme ExtraBold"/>
                <a:cs typeface="Times New Roman" panose="02020603050405020304" pitchFamily="18" charset="0"/>
                <a:sym typeface="BioRhyme ExtraBold"/>
              </a:rPr>
              <a:t>Topic: </a:t>
            </a:r>
          </a:p>
          <a:p>
            <a:pPr marR="0" lvl="0" indent="0" algn="ctr">
              <a:spcBef>
                <a:spcPts val="0"/>
              </a:spcBef>
              <a:spcAft>
                <a:spcPts val="0"/>
              </a:spcAft>
              <a:buNone/>
            </a:pPr>
            <a:r>
              <a:rPr lang="en-US" sz="4000" b="1" cap="all" dirty="0">
                <a:ln/>
                <a:solidFill>
                  <a:srgbClr val="C00000"/>
                </a:solidFill>
                <a:effectLst/>
                <a:latin typeface="Times New Roman" panose="02020603050405020304" pitchFamily="18" charset="0"/>
                <a:cs typeface="Times New Roman" panose="02020603050405020304" pitchFamily="18" charset="0"/>
              </a:rPr>
              <a:t>Name of the topic: </a:t>
            </a:r>
          </a:p>
          <a:p>
            <a:pPr marR="0" lvl="0" indent="0" algn="ctr">
              <a:spcBef>
                <a:spcPts val="0"/>
              </a:spcBef>
              <a:spcAft>
                <a:spcPts val="0"/>
              </a:spcAft>
              <a:buNone/>
            </a:pPr>
            <a:r>
              <a:rPr lang="en-US" sz="4000" b="1" dirty="0">
                <a:solidFill>
                  <a:srgbClr val="00B0F0"/>
                </a:solidFill>
                <a:latin typeface="Times New Roman" panose="02020603050405020304" pitchFamily="18" charset="0"/>
                <a:cs typeface="Times New Roman" pitchFamily="18" charset="0"/>
              </a:rPr>
              <a:t>Singly Linked List</a:t>
            </a:r>
            <a:endParaRPr lang="en-US" sz="4000" b="1" dirty="0">
              <a:solidFill>
                <a:srgbClr val="C00000"/>
              </a:solidFill>
              <a:effectLst/>
              <a:latin typeface="Times New Roman" panose="02020603050405020304" pitchFamily="18" charset="0"/>
              <a:cs typeface="Times New Roman" panose="02020603050405020304" pitchFamily="18" charset="0"/>
            </a:endParaRPr>
          </a:p>
        </p:txBody>
      </p:sp>
      <p:sp>
        <p:nvSpPr>
          <p:cNvPr id="19" name="Rectangle: Rounded Corners 18">
            <a:extLst>
              <a:ext uri="{FF2B5EF4-FFF2-40B4-BE49-F238E27FC236}">
                <a16:creationId xmlns:a16="http://schemas.microsoft.com/office/drawing/2014/main" id="{B9F0C376-F4D3-1950-3474-EFF28411BDC6}"/>
              </a:ext>
            </a:extLst>
          </p:cNvPr>
          <p:cNvSpPr/>
          <p:nvPr/>
        </p:nvSpPr>
        <p:spPr>
          <a:xfrm>
            <a:off x="6233250" y="925390"/>
            <a:ext cx="4486331" cy="574765"/>
          </a:xfrm>
          <a:prstGeom prst="roundRect">
            <a:avLst/>
          </a:prstGeom>
          <a:solidFill>
            <a:schemeClr val="bg1">
              <a:alpha val="6000"/>
            </a:schemeClr>
          </a:solidFill>
          <a:ln>
            <a:solidFill>
              <a:srgbClr val="C00000"/>
            </a:solidFill>
          </a:ln>
          <a:effectLst>
            <a:innerShdw blurRad="114300">
              <a:schemeClr val="bg1">
                <a:lumMod val="85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5" name="Google Shape;475;p16"/>
          <p:cNvSpPr txBox="1"/>
          <p:nvPr/>
        </p:nvSpPr>
        <p:spPr>
          <a:xfrm>
            <a:off x="6095999" y="830715"/>
            <a:ext cx="4595447" cy="707846"/>
          </a:xfrm>
          <a:prstGeom prst="rect">
            <a:avLst/>
          </a:prstGeom>
          <a:noFill/>
          <a:ln>
            <a:noFill/>
          </a:ln>
          <a:effectLst/>
        </p:spPr>
        <p:txBody>
          <a:bodyPr spcFirstLastPara="1" wrap="square" lIns="91425" tIns="45700" rIns="91425" bIns="45700" anchor="t" anchorCtr="0">
            <a:spAutoFit/>
          </a:bodyPr>
          <a:lstStyle/>
          <a:p>
            <a:pPr algn="ctr"/>
            <a:r>
              <a:rPr lang="en-US" sz="4000" dirty="0">
                <a:solidFill>
                  <a:srgbClr val="C00000"/>
                </a:solidFill>
                <a:latin typeface="Times New Roman" panose="02020603050405020304" pitchFamily="18" charset="0"/>
                <a:cs typeface="Times New Roman" panose="02020603050405020304" pitchFamily="18" charset="0"/>
              </a:rPr>
              <a:t>Department of </a:t>
            </a:r>
            <a:r>
              <a:rPr lang="en-US" sz="4000" dirty="0">
                <a:solidFill>
                  <a:srgbClr val="FF0000"/>
                </a:solidFill>
                <a:latin typeface="Times New Roman" panose="02020603050405020304" pitchFamily="18" charset="0"/>
                <a:cs typeface="Times New Roman" panose="02020603050405020304" pitchFamily="18" charset="0"/>
              </a:rPr>
              <a:t>BES-I</a:t>
            </a:r>
          </a:p>
        </p:txBody>
      </p:sp>
      <p:sp>
        <p:nvSpPr>
          <p:cNvPr id="8" name="Google Shape;502;p17">
            <a:extLst>
              <a:ext uri="{FF2B5EF4-FFF2-40B4-BE49-F238E27FC236}">
                <a16:creationId xmlns:a16="http://schemas.microsoft.com/office/drawing/2014/main" id="{7153E61F-4441-DBE3-3DFF-6E9EF6C48D23}"/>
              </a:ext>
            </a:extLst>
          </p:cNvPr>
          <p:cNvSpPr/>
          <p:nvPr/>
        </p:nvSpPr>
        <p:spPr>
          <a:xfrm>
            <a:off x="7276164" y="5572270"/>
            <a:ext cx="2235116" cy="453054"/>
          </a:xfrm>
          <a:prstGeom prst="roundRect">
            <a:avLst>
              <a:gd name="adj" fmla="val 35613"/>
            </a:avLst>
          </a:prstGeom>
          <a:solidFill>
            <a:srgbClr val="C00000"/>
          </a:solidFill>
          <a:ln>
            <a:noFill/>
          </a:ln>
          <a:effectLst>
            <a:outerShdw blurRad="190500" sx="102000" sy="102000" algn="ctr" rotWithShape="0">
              <a:srgbClr val="000000">
                <a:alpha val="24705"/>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dirty="0">
                <a:solidFill>
                  <a:schemeClr val="lt1"/>
                </a:solidFill>
                <a:latin typeface="Times New Roman" panose="02020603050405020304" pitchFamily="18" charset="0"/>
                <a:ea typeface="Calibri"/>
                <a:cs typeface="Times New Roman" panose="02020603050405020304" pitchFamily="18" charset="0"/>
                <a:sym typeface="Calibri"/>
              </a:rPr>
              <a:t>Session – 9</a:t>
            </a:r>
            <a:endParaRPr sz="2400" dirty="0">
              <a:solidFill>
                <a:schemeClr val="lt1"/>
              </a:solidFill>
              <a:latin typeface="Times New Roman" panose="02020603050405020304" pitchFamily="18" charset="0"/>
              <a:ea typeface="Calibri"/>
              <a:cs typeface="Times New Roman" panose="02020603050405020304" pitchFamily="18" charset="0"/>
              <a:sym typeface="Calibri"/>
            </a:endParaRPr>
          </a:p>
        </p:txBody>
      </p:sp>
      <p:sp>
        <p:nvSpPr>
          <p:cNvPr id="33" name="Rectangle 32">
            <a:extLst>
              <a:ext uri="{FF2B5EF4-FFF2-40B4-BE49-F238E27FC236}">
                <a16:creationId xmlns:a16="http://schemas.microsoft.com/office/drawing/2014/main" id="{A2BDCC77-0491-FC57-401C-380586D8ED1D}"/>
              </a:ext>
            </a:extLst>
          </p:cNvPr>
          <p:cNvSpPr/>
          <p:nvPr/>
        </p:nvSpPr>
        <p:spPr>
          <a:xfrm>
            <a:off x="0" y="6812281"/>
            <a:ext cx="121920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Rectangle 34">
            <a:extLst>
              <a:ext uri="{FF2B5EF4-FFF2-40B4-BE49-F238E27FC236}">
                <a16:creationId xmlns:a16="http://schemas.microsoft.com/office/drawing/2014/main" id="{38D9C68F-2EE2-5410-B640-4F43BF92A6C1}"/>
              </a:ext>
            </a:extLst>
          </p:cNvPr>
          <p:cNvSpPr/>
          <p:nvPr/>
        </p:nvSpPr>
        <p:spPr>
          <a:xfrm>
            <a:off x="0" y="0"/>
            <a:ext cx="121920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7" name="Picture 2" descr="KL Deemed to be University Logo"/>
          <p:cNvPicPr>
            <a:picLocks noChangeAspect="1" noChangeArrowheads="1"/>
          </p:cNvPicPr>
          <p:nvPr/>
        </p:nvPicPr>
        <p:blipFill>
          <a:blip r:embed="rId4"/>
          <a:srcRect/>
          <a:stretch>
            <a:fillRect/>
          </a:stretch>
        </p:blipFill>
        <p:spPr bwMode="auto">
          <a:xfrm>
            <a:off x="222703" y="81945"/>
            <a:ext cx="2509863" cy="1061599"/>
          </a:xfrm>
          <a:prstGeom prst="rect">
            <a:avLst/>
          </a:prstGeom>
          <a:noFill/>
        </p:spPr>
      </p:pic>
    </p:spTree>
  </p:cSld>
  <p:clrMapOvr>
    <a:masterClrMapping/>
  </p:clrMapOvr>
  <p:transition spd="slow">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a:extLst>
              <a:ext uri="{FF2B5EF4-FFF2-40B4-BE49-F238E27FC236}">
                <a16:creationId xmlns:a16="http://schemas.microsoft.com/office/drawing/2014/main" id="{D530E72E-233E-E443-1A84-D3CD02ECB889}"/>
              </a:ext>
            </a:extLst>
          </p:cNvPr>
          <p:cNvSpPr/>
          <p:nvPr/>
        </p:nvSpPr>
        <p:spPr>
          <a:xfrm>
            <a:off x="3434105" y="212247"/>
            <a:ext cx="5428562" cy="339800"/>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latin typeface="Times New Roman" panose="02020603050405020304" pitchFamily="18" charset="0"/>
                <a:cs typeface="Times New Roman" panose="02020603050405020304" pitchFamily="18" charset="0"/>
              </a:rPr>
              <a:t>AIM OF THE SESSION</a:t>
            </a:r>
          </a:p>
        </p:txBody>
      </p:sp>
      <p:sp>
        <p:nvSpPr>
          <p:cNvPr id="5" name="TextBox 4">
            <a:extLst>
              <a:ext uri="{FF2B5EF4-FFF2-40B4-BE49-F238E27FC236}">
                <a16:creationId xmlns:a16="http://schemas.microsoft.com/office/drawing/2014/main" id="{D7C61438-200D-827A-D4DD-5B5127AFA187}"/>
              </a:ext>
            </a:extLst>
          </p:cNvPr>
          <p:cNvSpPr txBox="1"/>
          <p:nvPr/>
        </p:nvSpPr>
        <p:spPr>
          <a:xfrm>
            <a:off x="1752600" y="615845"/>
            <a:ext cx="8791575" cy="980781"/>
          </a:xfrm>
          <a:prstGeom prst="rect">
            <a:avLst/>
          </a:prstGeom>
          <a:gradFill flip="none" rotWithShape="1">
            <a:gsLst>
              <a:gs pos="0">
                <a:schemeClr val="accent1">
                  <a:lumMod val="5000"/>
                  <a:lumOff val="95000"/>
                  <a:alpha val="0"/>
                </a:schemeClr>
              </a:gs>
              <a:gs pos="100000">
                <a:schemeClr val="accent1">
                  <a:lumMod val="30000"/>
                  <a:lumOff val="70000"/>
                </a:schemeClr>
              </a:gs>
            </a:gsLst>
            <a:path path="circle">
              <a:fillToRect l="50000" t="50000" r="50000" b="50000"/>
            </a:path>
            <a:tileRect/>
          </a:gradFill>
          <a:ln cap="rnd">
            <a:solidFill>
              <a:schemeClr val="accent1">
                <a:lumMod val="20000"/>
                <a:lumOff val="80000"/>
              </a:schemeClr>
            </a:solidFill>
            <a:round/>
          </a:ln>
          <a:effectLst>
            <a:outerShdw blurRad="50800" dist="38100" algn="l" rotWithShape="0">
              <a:schemeClr val="accent1">
                <a:lumMod val="40000"/>
                <a:lumOff val="60000"/>
                <a:alpha val="0"/>
              </a:schemeClr>
            </a:outerShdw>
          </a:effectLst>
        </p:spPr>
        <p:txBody>
          <a:bodyPr wrap="square" lIns="91440" tIns="45720" rIns="91440" bIns="45720" rtlCol="0" anchor="t">
            <a:spAutoFit/>
          </a:bodyPr>
          <a:lstStyle/>
          <a:p>
            <a:pPr>
              <a:lnSpc>
                <a:spcPct val="150000"/>
              </a:lnSpc>
            </a:pPr>
            <a:r>
              <a:rPr lang="en-US" sz="2000" b="0" i="0" dirty="0">
                <a:effectLst/>
                <a:latin typeface="Times New Roman" panose="02020603050405020304" pitchFamily="18" charset="0"/>
                <a:cs typeface="Times New Roman" panose="02020603050405020304" pitchFamily="18" charset="0"/>
              </a:rPr>
              <a:t>To familiarize students with the basic concept of </a:t>
            </a:r>
            <a:r>
              <a:rPr lang="en-US" sz="2400" spc="-5" dirty="0">
                <a:latin typeface="Times New Roman" panose="02020603050405020304" pitchFamily="18" charset="0"/>
                <a:ea typeface="Tahoma" panose="020B0604030504040204" pitchFamily="34" charset="0"/>
                <a:cs typeface="Times New Roman" panose="02020603050405020304" pitchFamily="18" charset="0"/>
              </a:rPr>
              <a:t>Singly linked list</a:t>
            </a:r>
            <a:endParaRPr lang="en-US" sz="2000" b="0" i="0" dirty="0">
              <a:effectLst/>
              <a:latin typeface="Times New Roman" panose="02020603050405020304" pitchFamily="18" charset="0"/>
              <a:cs typeface="Times New Roman" panose="02020603050405020304" pitchFamily="18" charset="0"/>
            </a:endParaRPr>
          </a:p>
          <a:p>
            <a:pPr>
              <a:lnSpc>
                <a:spcPct val="150000"/>
              </a:lnSpc>
            </a:pPr>
            <a:endParaRPr lang="en-US" sz="1600" b="0" i="0" dirty="0">
              <a:effectLst/>
              <a:latin typeface="Poppins"/>
              <a:cs typeface="Poppins"/>
            </a:endParaRPr>
          </a:p>
        </p:txBody>
      </p:sp>
      <p:sp>
        <p:nvSpPr>
          <p:cNvPr id="7" name="Rounded Rectangle 17">
            <a:extLst>
              <a:ext uri="{FF2B5EF4-FFF2-40B4-BE49-F238E27FC236}">
                <a16:creationId xmlns:a16="http://schemas.microsoft.com/office/drawing/2014/main" id="{7F3AABB0-F8BA-C900-B6BF-45F4B58E9490}"/>
              </a:ext>
            </a:extLst>
          </p:cNvPr>
          <p:cNvSpPr/>
          <p:nvPr/>
        </p:nvSpPr>
        <p:spPr>
          <a:xfrm>
            <a:off x="3486304" y="1646496"/>
            <a:ext cx="5219392" cy="371305"/>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latin typeface="Times New Roman" panose="02020603050405020304" pitchFamily="18" charset="0"/>
                <a:cs typeface="Times New Roman" panose="02020603050405020304" pitchFamily="18" charset="0"/>
              </a:rPr>
              <a:t>INSTRUCTIONAL OBJECTIVES</a:t>
            </a:r>
          </a:p>
        </p:txBody>
      </p:sp>
      <p:sp>
        <p:nvSpPr>
          <p:cNvPr id="9" name="TextBox 8">
            <a:extLst>
              <a:ext uri="{FF2B5EF4-FFF2-40B4-BE49-F238E27FC236}">
                <a16:creationId xmlns:a16="http://schemas.microsoft.com/office/drawing/2014/main" id="{2B5EAD4E-C007-9DE7-A40A-12802D3C9611}"/>
              </a:ext>
            </a:extLst>
          </p:cNvPr>
          <p:cNvSpPr txBox="1"/>
          <p:nvPr/>
        </p:nvSpPr>
        <p:spPr>
          <a:xfrm>
            <a:off x="1752600" y="2104286"/>
            <a:ext cx="8791575" cy="2246769"/>
          </a:xfrm>
          <a:prstGeom prst="rect">
            <a:avLst/>
          </a:prstGeom>
          <a:gradFill flip="none" rotWithShape="1">
            <a:gsLst>
              <a:gs pos="0">
                <a:schemeClr val="accent1">
                  <a:lumMod val="5000"/>
                  <a:lumOff val="95000"/>
                </a:schemeClr>
              </a:gs>
              <a:gs pos="100000">
                <a:schemeClr val="accent1">
                  <a:lumMod val="30000"/>
                  <a:lumOff val="70000"/>
                </a:schemeClr>
              </a:gs>
            </a:gsLst>
            <a:path path="circle">
              <a:fillToRect l="50000" t="50000" r="50000" b="50000"/>
            </a:path>
            <a:tileRect/>
          </a:gradFill>
          <a:ln>
            <a:solidFill>
              <a:schemeClr val="accent1">
                <a:lumMod val="20000"/>
                <a:lumOff val="80000"/>
              </a:schemeClr>
            </a:solidFill>
          </a:ln>
          <a:effectLst>
            <a:outerShdw blurRad="50800" dist="38100" algn="l" rotWithShape="0">
              <a:schemeClr val="accent1">
                <a:lumMod val="40000"/>
                <a:lumOff val="60000"/>
                <a:alpha val="40000"/>
              </a:schemeClr>
            </a:outerShdw>
          </a:effectLst>
        </p:spPr>
        <p:txBody>
          <a:bodyPr wrap="square" lIns="91440" tIns="45720" rIns="91440" bIns="45720" rtlCol="0" anchor="t">
            <a:spAutoFit/>
          </a:bodyPr>
          <a:lstStyle/>
          <a:p>
            <a:pPr>
              <a:lnSpc>
                <a:spcPct val="200000"/>
              </a:lnSpc>
            </a:pPr>
            <a:r>
              <a:rPr lang="en-US" sz="2000" dirty="0">
                <a:latin typeface="Times New Roman" panose="02020603050405020304" pitchFamily="18" charset="0"/>
                <a:cs typeface="Times New Roman" panose="02020603050405020304" pitchFamily="18" charset="0"/>
              </a:rPr>
              <a:t>This</a:t>
            </a:r>
            <a:r>
              <a:rPr lang="en-US" sz="2000" b="0" i="0" dirty="0">
                <a:effectLst/>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Session</a:t>
            </a:r>
            <a:r>
              <a:rPr lang="en-US" sz="2000" b="0" i="0" dirty="0">
                <a:effectLst/>
                <a:latin typeface="Times New Roman" panose="02020603050405020304" pitchFamily="18" charset="0"/>
                <a:cs typeface="Times New Roman" panose="02020603050405020304" pitchFamily="18" charset="0"/>
              </a:rPr>
              <a:t> is designed to: </a:t>
            </a:r>
          </a:p>
          <a:p>
            <a:pPr marL="342900" indent="-342900">
              <a:buAutoNum type="arabicPeriod"/>
            </a:pPr>
            <a:r>
              <a:rPr lang="en-US" sz="2000" b="0" i="0" dirty="0">
                <a:effectLst/>
                <a:latin typeface="Times New Roman" panose="02020603050405020304" pitchFamily="18" charset="0"/>
                <a:cs typeface="Times New Roman" panose="02020603050405020304" pitchFamily="18" charset="0"/>
              </a:rPr>
              <a:t>Demonstrate The </a:t>
            </a:r>
            <a:r>
              <a:rPr lang="en-US" sz="2000" spc="-5" dirty="0">
                <a:latin typeface="Times New Roman" panose="02020603050405020304" pitchFamily="18" charset="0"/>
                <a:ea typeface="Tahoma" panose="020B0604030504040204" pitchFamily="34" charset="0"/>
                <a:cs typeface="Times New Roman" panose="02020603050405020304" pitchFamily="18" charset="0"/>
              </a:rPr>
              <a:t>Singly</a:t>
            </a:r>
            <a:r>
              <a:rPr lang="en-US" sz="2000" b="0" i="0" dirty="0">
                <a:effectLst/>
                <a:latin typeface="Times New Roman" panose="02020603050405020304" pitchFamily="18" charset="0"/>
                <a:cs typeface="Times New Roman" panose="02020603050405020304" pitchFamily="18" charset="0"/>
              </a:rPr>
              <a:t> linked list</a:t>
            </a:r>
          </a:p>
          <a:p>
            <a:pPr marL="342900" indent="-342900">
              <a:buAutoNum type="arabicPeriod"/>
            </a:pPr>
            <a:r>
              <a:rPr lang="en-US" sz="2000" b="0" i="0" dirty="0">
                <a:effectLst/>
                <a:latin typeface="Times New Roman" panose="02020603050405020304" pitchFamily="18" charset="0"/>
                <a:cs typeface="Times New Roman" panose="02020603050405020304" pitchFamily="18" charset="0"/>
              </a:rPr>
              <a:t>Describe the types of </a:t>
            </a:r>
            <a:r>
              <a:rPr lang="en-US" sz="2000" spc="-5" dirty="0">
                <a:latin typeface="Times New Roman" panose="02020603050405020304" pitchFamily="18" charset="0"/>
                <a:ea typeface="Tahoma" panose="020B0604030504040204" pitchFamily="34" charset="0"/>
                <a:cs typeface="Times New Roman" panose="02020603050405020304" pitchFamily="18" charset="0"/>
              </a:rPr>
              <a:t>Singly</a:t>
            </a:r>
            <a:r>
              <a:rPr lang="en-US" sz="2000" b="0" i="0" dirty="0">
                <a:effectLst/>
                <a:latin typeface="Times New Roman" panose="02020603050405020304" pitchFamily="18" charset="0"/>
                <a:cs typeface="Times New Roman" panose="02020603050405020304" pitchFamily="18" charset="0"/>
              </a:rPr>
              <a:t> linked list.</a:t>
            </a:r>
          </a:p>
          <a:p>
            <a:pPr marL="342900" indent="-342900">
              <a:buAutoNum type="arabicPeriod"/>
            </a:pPr>
            <a:r>
              <a:rPr lang="en-US" sz="2000" b="0" i="0" dirty="0">
                <a:effectLst/>
                <a:latin typeface="Times New Roman" panose="02020603050405020304" pitchFamily="18" charset="0"/>
                <a:cs typeface="Times New Roman" panose="02020603050405020304" pitchFamily="18" charset="0"/>
              </a:rPr>
              <a:t>List out the operations possible on the </a:t>
            </a:r>
            <a:r>
              <a:rPr lang="en-US" sz="2000" spc="-5" dirty="0">
                <a:latin typeface="Times New Roman" panose="02020603050405020304" pitchFamily="18" charset="0"/>
                <a:ea typeface="Tahoma" panose="020B0604030504040204" pitchFamily="34" charset="0"/>
                <a:cs typeface="Times New Roman" panose="02020603050405020304" pitchFamily="18" charset="0"/>
              </a:rPr>
              <a:t>Singly</a:t>
            </a:r>
            <a:r>
              <a:rPr lang="en-US" sz="2000" b="0" i="0" dirty="0">
                <a:effectLst/>
                <a:latin typeface="Times New Roman" panose="02020603050405020304" pitchFamily="18" charset="0"/>
                <a:cs typeface="Times New Roman" panose="02020603050405020304" pitchFamily="18" charset="0"/>
              </a:rPr>
              <a:t> linked list.</a:t>
            </a:r>
          </a:p>
          <a:p>
            <a:pPr marL="342900" indent="-342900">
              <a:buAutoNum type="arabicPeriod"/>
            </a:pPr>
            <a:r>
              <a:rPr lang="en-US" sz="2000" b="0" i="0" dirty="0">
                <a:effectLst/>
                <a:latin typeface="Times New Roman" panose="02020603050405020304" pitchFamily="18" charset="0"/>
                <a:cs typeface="Times New Roman" panose="02020603050405020304" pitchFamily="18" charset="0"/>
              </a:rPr>
              <a:t>Describe each operation </a:t>
            </a:r>
          </a:p>
          <a:p>
            <a:pPr marL="342900" indent="-342900">
              <a:buAutoNum type="arabicPeriod"/>
            </a:pPr>
            <a:r>
              <a:rPr lang="en-US" sz="2000" dirty="0">
                <a:latin typeface="Times New Roman" panose="02020603050405020304" pitchFamily="18" charset="0"/>
                <a:cs typeface="Times New Roman" panose="02020603050405020304" pitchFamily="18" charset="0"/>
              </a:rPr>
              <a:t>List out the advantages and applications of SLL.</a:t>
            </a:r>
          </a:p>
        </p:txBody>
      </p:sp>
      <p:pic>
        <p:nvPicPr>
          <p:cNvPr id="11" name="Graphic 10" descr="Bullseye outline">
            <a:extLst>
              <a:ext uri="{FF2B5EF4-FFF2-40B4-BE49-F238E27FC236}">
                <a16:creationId xmlns:a16="http://schemas.microsoft.com/office/drawing/2014/main" id="{AB75B03E-9C0C-0AF7-2A76-D8618F8F999A}"/>
              </a:ext>
            </a:extLst>
          </p:cNvPr>
          <p:cNvPicPr>
            <a:picLocks noChangeAspect="1"/>
          </p:cNvPicPr>
          <p:nvPr/>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0" y="625326"/>
            <a:ext cx="914400" cy="914400"/>
          </a:xfrm>
          <a:prstGeom prst="rect">
            <a:avLst/>
          </a:prstGeom>
        </p:spPr>
      </p:pic>
      <p:pic>
        <p:nvPicPr>
          <p:cNvPr id="27" name="Graphic 26" descr="Presentation with checklist outline">
            <a:extLst>
              <a:ext uri="{FF2B5EF4-FFF2-40B4-BE49-F238E27FC236}">
                <a16:creationId xmlns:a16="http://schemas.microsoft.com/office/drawing/2014/main" id="{1E9F25CA-EF99-00B6-5FFA-810D1F1806C7}"/>
              </a:ext>
            </a:extLst>
          </p:cNvPr>
          <p:cNvPicPr>
            <a:picLocks noChangeAspect="1"/>
          </p:cNvPicPr>
          <p:nvPr/>
        </p:nvPicPr>
        <p:blipFill>
          <a:blip r:embed="rId4" cstate="print">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838200" y="2438605"/>
            <a:ext cx="914400" cy="914400"/>
          </a:xfrm>
          <a:prstGeom prst="rect">
            <a:avLst/>
          </a:prstGeom>
        </p:spPr>
      </p:pic>
      <p:sp>
        <p:nvSpPr>
          <p:cNvPr id="29" name="Rounded Rectangle 17">
            <a:extLst>
              <a:ext uri="{FF2B5EF4-FFF2-40B4-BE49-F238E27FC236}">
                <a16:creationId xmlns:a16="http://schemas.microsoft.com/office/drawing/2014/main" id="{6652A33D-9A9E-3EAC-0CAE-113901ECA179}"/>
              </a:ext>
            </a:extLst>
          </p:cNvPr>
          <p:cNvSpPr/>
          <p:nvPr/>
        </p:nvSpPr>
        <p:spPr>
          <a:xfrm>
            <a:off x="3645234" y="4334726"/>
            <a:ext cx="4901532" cy="431045"/>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latin typeface="Times New Roman" panose="02020603050405020304" pitchFamily="18" charset="0"/>
                <a:cs typeface="Times New Roman" panose="02020603050405020304" pitchFamily="18" charset="0"/>
              </a:rPr>
              <a:t>LEARNING OUTCOMES</a:t>
            </a:r>
          </a:p>
        </p:txBody>
      </p:sp>
      <p:pic>
        <p:nvPicPr>
          <p:cNvPr id="31" name="Graphic 30" descr="Idea outline">
            <a:extLst>
              <a:ext uri="{FF2B5EF4-FFF2-40B4-BE49-F238E27FC236}">
                <a16:creationId xmlns:a16="http://schemas.microsoft.com/office/drawing/2014/main" id="{5F765FC3-60CF-297F-C1BD-F5A7B8B943AF}"/>
              </a:ext>
            </a:extLst>
          </p:cNvPr>
          <p:cNvPicPr>
            <a:picLocks noChangeAspect="1"/>
          </p:cNvPicPr>
          <p:nvPr/>
        </p:nvPicPr>
        <p:blipFill>
          <a:blip r:embed="rId6" cstate="print">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914400" y="4765771"/>
            <a:ext cx="914400" cy="914400"/>
          </a:xfrm>
          <a:prstGeom prst="rect">
            <a:avLst/>
          </a:prstGeom>
        </p:spPr>
      </p:pic>
      <p:sp>
        <p:nvSpPr>
          <p:cNvPr id="37" name="TextBox 36">
            <a:extLst>
              <a:ext uri="{FF2B5EF4-FFF2-40B4-BE49-F238E27FC236}">
                <a16:creationId xmlns:a16="http://schemas.microsoft.com/office/drawing/2014/main" id="{B0BB8E68-8B73-12DE-615E-1091F19A9A9A}"/>
              </a:ext>
            </a:extLst>
          </p:cNvPr>
          <p:cNvSpPr txBox="1"/>
          <p:nvPr/>
        </p:nvSpPr>
        <p:spPr>
          <a:xfrm>
            <a:off x="1752600" y="4772230"/>
            <a:ext cx="8791575" cy="1938992"/>
          </a:xfrm>
          <a:prstGeom prst="rect">
            <a:avLst/>
          </a:prstGeom>
          <a:gradFill flip="none" rotWithShape="1">
            <a:gsLst>
              <a:gs pos="0">
                <a:schemeClr val="accent1">
                  <a:lumMod val="5000"/>
                  <a:lumOff val="95000"/>
                </a:schemeClr>
              </a:gs>
              <a:gs pos="100000">
                <a:schemeClr val="accent1">
                  <a:lumMod val="30000"/>
                  <a:lumOff val="70000"/>
                </a:schemeClr>
              </a:gs>
            </a:gsLst>
            <a:path path="circle">
              <a:fillToRect l="50000" t="50000" r="50000" b="50000"/>
            </a:path>
            <a:tileRect/>
          </a:gradFill>
          <a:ln>
            <a:solidFill>
              <a:schemeClr val="accent1">
                <a:lumMod val="20000"/>
                <a:lumOff val="80000"/>
              </a:schemeClr>
            </a:solidFill>
          </a:ln>
          <a:effectLst>
            <a:outerShdw blurRad="50800" dist="38100" algn="l" rotWithShape="0">
              <a:schemeClr val="accent1">
                <a:lumMod val="40000"/>
                <a:lumOff val="60000"/>
                <a:alpha val="40000"/>
              </a:schemeClr>
            </a:outerShdw>
          </a:effectLst>
        </p:spPr>
        <p:txBody>
          <a:bodyPr wrap="square" lIns="91440" tIns="45720" rIns="91440" bIns="45720" rtlCol="0" anchor="t">
            <a:spAutoFit/>
          </a:bodyPr>
          <a:lstStyle/>
          <a:p>
            <a:pPr>
              <a:lnSpc>
                <a:spcPct val="200000"/>
              </a:lnSpc>
            </a:pPr>
            <a:r>
              <a:rPr lang="en-US" sz="2000" b="0" i="0" dirty="0">
                <a:effectLst/>
                <a:latin typeface="Times New Roman" panose="02020603050405020304" pitchFamily="18" charset="0"/>
                <a:cs typeface="Times New Roman" panose="02020603050405020304" pitchFamily="18" charset="0"/>
              </a:rPr>
              <a:t>At the end of this </a:t>
            </a:r>
            <a:r>
              <a:rPr lang="en-US" sz="2000" dirty="0">
                <a:latin typeface="Times New Roman" panose="02020603050405020304" pitchFamily="18" charset="0"/>
                <a:cs typeface="Times New Roman" panose="02020603050405020304" pitchFamily="18" charset="0"/>
              </a:rPr>
              <a:t>session</a:t>
            </a:r>
            <a:r>
              <a:rPr lang="en-US" sz="2000" b="0" i="0" dirty="0">
                <a:effectLst/>
                <a:latin typeface="Times New Roman" panose="02020603050405020304" pitchFamily="18" charset="0"/>
                <a:cs typeface="Times New Roman" panose="02020603050405020304" pitchFamily="18" charset="0"/>
              </a:rPr>
              <a:t>, you should be able to:</a:t>
            </a:r>
          </a:p>
          <a:p>
            <a:pPr marL="342900" indent="-342900">
              <a:buAutoNum type="arabicPeriod"/>
            </a:pPr>
            <a:r>
              <a:rPr lang="en-US" sz="2000" b="0" i="0" dirty="0">
                <a:effectLst/>
                <a:latin typeface="Times New Roman" panose="02020603050405020304" pitchFamily="18" charset="0"/>
                <a:cs typeface="Times New Roman" panose="02020603050405020304" pitchFamily="18" charset="0"/>
              </a:rPr>
              <a:t>Define </a:t>
            </a:r>
            <a:r>
              <a:rPr lang="en-US" sz="2000" spc="-5" dirty="0">
                <a:latin typeface="Times New Roman" panose="02020603050405020304" pitchFamily="18" charset="0"/>
                <a:ea typeface="Tahoma" panose="020B0604030504040204" pitchFamily="34" charset="0"/>
                <a:cs typeface="Times New Roman" panose="02020603050405020304" pitchFamily="18" charset="0"/>
              </a:rPr>
              <a:t>Singly</a:t>
            </a:r>
            <a:r>
              <a:rPr lang="en-US" sz="2000" b="0" i="0" dirty="0">
                <a:effectLst/>
                <a:latin typeface="Times New Roman" panose="02020603050405020304" pitchFamily="18" charset="0"/>
                <a:cs typeface="Times New Roman" panose="02020603050405020304" pitchFamily="18" charset="0"/>
              </a:rPr>
              <a:t> linked list</a:t>
            </a:r>
          </a:p>
          <a:p>
            <a:pPr marL="342900" indent="-342900">
              <a:buAutoNum type="arabicPeriod"/>
            </a:pPr>
            <a:r>
              <a:rPr lang="en-US" sz="2000" b="0" i="0" dirty="0">
                <a:effectLst/>
                <a:latin typeface="Times New Roman" panose="02020603050405020304" pitchFamily="18" charset="0"/>
                <a:cs typeface="Times New Roman" panose="02020603050405020304" pitchFamily="18" charset="0"/>
              </a:rPr>
              <a:t>Describe two types of </a:t>
            </a:r>
            <a:r>
              <a:rPr lang="en-US" sz="2000" spc="-5" dirty="0">
                <a:latin typeface="Times New Roman" panose="02020603050405020304" pitchFamily="18" charset="0"/>
                <a:ea typeface="Tahoma" panose="020B0604030504040204" pitchFamily="34" charset="0"/>
                <a:cs typeface="Times New Roman" panose="02020603050405020304" pitchFamily="18" charset="0"/>
              </a:rPr>
              <a:t>Singly</a:t>
            </a:r>
            <a:r>
              <a:rPr lang="en-US" sz="2000" b="0" i="0" dirty="0">
                <a:effectLst/>
                <a:latin typeface="Times New Roman" panose="02020603050405020304" pitchFamily="18" charset="0"/>
                <a:cs typeface="Times New Roman" panose="02020603050405020304" pitchFamily="18" charset="0"/>
              </a:rPr>
              <a:t> linked list. And their operations</a:t>
            </a:r>
          </a:p>
          <a:p>
            <a:pPr marL="342900" indent="-342900">
              <a:buAutoNum type="arabicPeriod"/>
            </a:pPr>
            <a:r>
              <a:rPr lang="en-US" sz="2000" dirty="0">
                <a:latin typeface="Times New Roman" panose="02020603050405020304" pitchFamily="18" charset="0"/>
                <a:cs typeface="Times New Roman" panose="02020603050405020304" pitchFamily="18" charset="0"/>
              </a:rPr>
              <a:t>Summarize definition, types and operations of circular linked list and its applications</a:t>
            </a:r>
          </a:p>
        </p:txBody>
      </p:sp>
      <p:pic>
        <p:nvPicPr>
          <p:cNvPr id="12" name="Picture 2" descr="KL Deemed to be University Logo"/>
          <p:cNvPicPr>
            <a:picLocks noChangeAspect="1" noChangeArrowheads="1"/>
          </p:cNvPicPr>
          <p:nvPr/>
        </p:nvPicPr>
        <p:blipFill>
          <a:blip r:embed="rId8"/>
          <a:srcRect/>
          <a:stretch>
            <a:fillRect/>
          </a:stretch>
        </p:blipFill>
        <p:spPr bwMode="auto">
          <a:xfrm>
            <a:off x="0" y="0"/>
            <a:ext cx="1990725" cy="600076"/>
          </a:xfrm>
          <a:prstGeom prst="rect">
            <a:avLst/>
          </a:prstGeom>
          <a:noFill/>
        </p:spPr>
      </p:pic>
    </p:spTree>
    <p:extLst>
      <p:ext uri="{BB962C8B-B14F-4D97-AF65-F5344CB8AC3E}">
        <p14:creationId xmlns:p14="http://schemas.microsoft.com/office/powerpoint/2010/main" val="1388607984"/>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fade">
                                      <p:cBhvr>
                                        <p:cTn id="12" dur="500"/>
                                        <p:tgtEl>
                                          <p:spTgt spid="11"/>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fade">
                                      <p:cBhvr>
                                        <p:cTn id="15" dur="500"/>
                                        <p:tgtEl>
                                          <p:spTgt spid="5"/>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7"/>
                                        </p:tgtEl>
                                        <p:attrNameLst>
                                          <p:attrName>style.visibility</p:attrName>
                                        </p:attrNameLst>
                                      </p:cBhvr>
                                      <p:to>
                                        <p:strVal val="visible"/>
                                      </p:to>
                                    </p:set>
                                    <p:animEffect transition="in" filter="fade">
                                      <p:cBhvr>
                                        <p:cTn id="20" dur="500"/>
                                        <p:tgtEl>
                                          <p:spTgt spid="7"/>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9"/>
                                        </p:tgtEl>
                                        <p:attrNameLst>
                                          <p:attrName>style.visibility</p:attrName>
                                        </p:attrNameLst>
                                      </p:cBhvr>
                                      <p:to>
                                        <p:strVal val="visible"/>
                                      </p:to>
                                    </p:set>
                                    <p:animEffect transition="in" filter="fade">
                                      <p:cBhvr>
                                        <p:cTn id="25" dur="500"/>
                                        <p:tgtEl>
                                          <p:spTgt spid="9"/>
                                        </p:tgtEl>
                                      </p:cBhvr>
                                    </p:animEffect>
                                  </p:childTnLst>
                                </p:cTn>
                              </p:par>
                              <p:par>
                                <p:cTn id="26" presetID="10" presetClass="entr" presetSubtype="0" fill="hold" nodeType="withEffect">
                                  <p:stCondLst>
                                    <p:cond delay="0"/>
                                  </p:stCondLst>
                                  <p:childTnLst>
                                    <p:set>
                                      <p:cBhvr>
                                        <p:cTn id="27" dur="1" fill="hold">
                                          <p:stCondLst>
                                            <p:cond delay="0"/>
                                          </p:stCondLst>
                                        </p:cTn>
                                        <p:tgtEl>
                                          <p:spTgt spid="27"/>
                                        </p:tgtEl>
                                        <p:attrNameLst>
                                          <p:attrName>style.visibility</p:attrName>
                                        </p:attrNameLst>
                                      </p:cBhvr>
                                      <p:to>
                                        <p:strVal val="visible"/>
                                      </p:to>
                                    </p:set>
                                    <p:animEffect transition="in" filter="fade">
                                      <p:cBhvr>
                                        <p:cTn id="28" dur="500"/>
                                        <p:tgtEl>
                                          <p:spTgt spid="27"/>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29"/>
                                        </p:tgtEl>
                                        <p:attrNameLst>
                                          <p:attrName>style.visibility</p:attrName>
                                        </p:attrNameLst>
                                      </p:cBhvr>
                                      <p:to>
                                        <p:strVal val="visible"/>
                                      </p:to>
                                    </p:set>
                                    <p:animEffect transition="in" filter="fade">
                                      <p:cBhvr>
                                        <p:cTn id="33" dur="500"/>
                                        <p:tgtEl>
                                          <p:spTgt spid="29"/>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grpId="0" nodeType="clickEffect">
                                  <p:stCondLst>
                                    <p:cond delay="0"/>
                                  </p:stCondLst>
                                  <p:childTnLst>
                                    <p:set>
                                      <p:cBhvr>
                                        <p:cTn id="37" dur="1" fill="hold">
                                          <p:stCondLst>
                                            <p:cond delay="0"/>
                                          </p:stCondLst>
                                        </p:cTn>
                                        <p:tgtEl>
                                          <p:spTgt spid="37"/>
                                        </p:tgtEl>
                                        <p:attrNameLst>
                                          <p:attrName>style.visibility</p:attrName>
                                        </p:attrNameLst>
                                      </p:cBhvr>
                                      <p:to>
                                        <p:strVal val="visible"/>
                                      </p:to>
                                    </p:set>
                                    <p:animEffect transition="in" filter="fade">
                                      <p:cBhvr>
                                        <p:cTn id="38" dur="500"/>
                                        <p:tgtEl>
                                          <p:spTgt spid="37"/>
                                        </p:tgtEl>
                                      </p:cBhvr>
                                    </p:animEffect>
                                  </p:childTnLst>
                                </p:cTn>
                              </p:par>
                              <p:par>
                                <p:cTn id="39" presetID="10" presetClass="entr" presetSubtype="0" fill="hold" nodeType="withEffect">
                                  <p:stCondLst>
                                    <p:cond delay="0"/>
                                  </p:stCondLst>
                                  <p:childTnLst>
                                    <p:set>
                                      <p:cBhvr>
                                        <p:cTn id="40" dur="1" fill="hold">
                                          <p:stCondLst>
                                            <p:cond delay="0"/>
                                          </p:stCondLst>
                                        </p:cTn>
                                        <p:tgtEl>
                                          <p:spTgt spid="31"/>
                                        </p:tgtEl>
                                        <p:attrNameLst>
                                          <p:attrName>style.visibility</p:attrName>
                                        </p:attrNameLst>
                                      </p:cBhvr>
                                      <p:to>
                                        <p:strVal val="visible"/>
                                      </p:to>
                                    </p:set>
                                    <p:animEffect transition="in" filter="fade">
                                      <p:cBhvr>
                                        <p:cTn id="41"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7" grpId="0" animBg="1"/>
      <p:bldP spid="9" grpId="0" animBg="1"/>
      <p:bldP spid="29" grpId="0" animBg="1"/>
      <p:bldP spid="37"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Rounded Rectangle 17">
            <a:extLst>
              <a:ext uri="{FF2B5EF4-FFF2-40B4-BE49-F238E27FC236}">
                <a16:creationId xmlns:a16="http://schemas.microsoft.com/office/drawing/2014/main" id="{9EB8A4A0-26E8-41C7-BE65-3B55B361B40D}"/>
              </a:ext>
            </a:extLst>
          </p:cNvPr>
          <p:cNvSpPr/>
          <p:nvPr/>
        </p:nvSpPr>
        <p:spPr>
          <a:xfrm>
            <a:off x="1933881" y="172551"/>
            <a:ext cx="8324237" cy="1197862"/>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400" spc="-5" dirty="0">
                <a:latin typeface="Times New Roman" panose="02020603050405020304" pitchFamily="18" charset="0"/>
                <a:ea typeface="Tahoma" panose="020B0604030504040204" pitchFamily="34" charset="0"/>
                <a:cs typeface="Times New Roman" panose="02020603050405020304" pitchFamily="18" charset="0"/>
              </a:rPr>
              <a:t>Singly</a:t>
            </a:r>
            <a:r>
              <a:rPr lang="en-US" sz="3400" dirty="0">
                <a:latin typeface="Times New Roman" panose="02020603050405020304" pitchFamily="18" charset="0"/>
                <a:cs typeface="Times New Roman" panose="02020603050405020304" pitchFamily="18" charset="0"/>
              </a:rPr>
              <a:t> Linked List</a:t>
            </a:r>
          </a:p>
          <a:p>
            <a:r>
              <a:rPr lang="en-US" sz="3400" dirty="0">
                <a:latin typeface="Times New Roman" panose="02020603050405020304" pitchFamily="18" charset="0"/>
                <a:cs typeface="Times New Roman" panose="02020603050405020304" pitchFamily="18" charset="0"/>
              </a:rPr>
              <a:t>		     INTRODUCTION </a:t>
            </a:r>
          </a:p>
        </p:txBody>
      </p:sp>
      <p:pic>
        <p:nvPicPr>
          <p:cNvPr id="42" name="Picture 2" descr="KL Deemed to be University Logo"/>
          <p:cNvPicPr>
            <a:picLocks noChangeAspect="1" noChangeArrowheads="1"/>
          </p:cNvPicPr>
          <p:nvPr/>
        </p:nvPicPr>
        <p:blipFill>
          <a:blip r:embed="rId3"/>
          <a:srcRect/>
          <a:stretch>
            <a:fillRect/>
          </a:stretch>
        </p:blipFill>
        <p:spPr bwMode="auto">
          <a:xfrm>
            <a:off x="0" y="0"/>
            <a:ext cx="1990725" cy="600076"/>
          </a:xfrm>
          <a:prstGeom prst="rect">
            <a:avLst/>
          </a:prstGeom>
          <a:noFill/>
        </p:spPr>
      </p:pic>
      <p:sp>
        <p:nvSpPr>
          <p:cNvPr id="53" name="TextBox 52"/>
          <p:cNvSpPr txBox="1"/>
          <p:nvPr/>
        </p:nvSpPr>
        <p:spPr>
          <a:xfrm>
            <a:off x="1579418" y="1465781"/>
            <a:ext cx="10132418" cy="4832092"/>
          </a:xfrm>
          <a:prstGeom prst="rect">
            <a:avLst/>
          </a:prstGeom>
          <a:noFill/>
        </p:spPr>
        <p:txBody>
          <a:bodyPr wrap="square" rtlCol="0">
            <a:spAutoFit/>
          </a:bodyPr>
          <a:lstStyle/>
          <a:p>
            <a:pPr algn="just">
              <a:buFont typeface="Wingdings" pitchFamily="2" charset="2"/>
              <a:buChar char="Ø"/>
            </a:pPr>
            <a:r>
              <a:rPr lang="en-IN" sz="2800" dirty="0">
                <a:latin typeface="Times New Roman" panose="02020603050405020304" pitchFamily="18" charset="0"/>
                <a:cs typeface="Times New Roman" panose="02020603050405020304" pitchFamily="18" charset="0"/>
              </a:rPr>
              <a:t> </a:t>
            </a:r>
            <a:r>
              <a:rPr lang="en-US" sz="2800" dirty="0">
                <a:latin typeface="Times New Roman" panose="02020603050405020304" pitchFamily="18" charset="0"/>
                <a:cs typeface="Times New Roman" panose="02020603050405020304" pitchFamily="18" charset="0"/>
              </a:rPr>
              <a:t>A </a:t>
            </a:r>
            <a:r>
              <a:rPr lang="en-US" sz="2800" b="1" dirty="0">
                <a:latin typeface="Times New Roman" panose="02020603050405020304" pitchFamily="18" charset="0"/>
                <a:cs typeface="Times New Roman" panose="02020603050405020304" pitchFamily="18" charset="0"/>
              </a:rPr>
              <a:t>singly linked list</a:t>
            </a:r>
            <a:r>
              <a:rPr lang="en-US" sz="2800" dirty="0">
                <a:latin typeface="Times New Roman" panose="02020603050405020304" pitchFamily="18" charset="0"/>
                <a:cs typeface="Times New Roman" panose="02020603050405020304" pitchFamily="18" charset="0"/>
              </a:rPr>
              <a:t> is a linear data structure in which the elements are not stored in contiguous memory locations.</a:t>
            </a:r>
          </a:p>
          <a:p>
            <a:pPr algn="just"/>
            <a:endParaRPr lang="en-US" sz="2800" dirty="0">
              <a:latin typeface="Times New Roman" panose="02020603050405020304" pitchFamily="18" charset="0"/>
              <a:cs typeface="Times New Roman" panose="02020603050405020304" pitchFamily="18" charset="0"/>
            </a:endParaRPr>
          </a:p>
          <a:p>
            <a:pPr algn="just">
              <a:buFont typeface="Wingdings" pitchFamily="2" charset="2"/>
              <a:buChar char="Ø"/>
            </a:pPr>
            <a:r>
              <a:rPr lang="en-US" sz="2800" dirty="0">
                <a:latin typeface="Times New Roman" panose="02020603050405020304" pitchFamily="18" charset="0"/>
                <a:cs typeface="Times New Roman" panose="02020603050405020304" pitchFamily="18" charset="0"/>
              </a:rPr>
              <a:t>Each element is connected only to its next element using a pointer</a:t>
            </a:r>
            <a:r>
              <a:rPr lang="en-IN" sz="2800" dirty="0">
                <a:latin typeface="Times New Roman" panose="02020603050405020304" pitchFamily="18" charset="0"/>
                <a:cs typeface="Times New Roman" pitchFamily="18" charset="0"/>
              </a:rPr>
              <a:t>.</a:t>
            </a:r>
          </a:p>
          <a:p>
            <a:pPr algn="just"/>
            <a:endParaRPr lang="en-IN" sz="2800" dirty="0">
              <a:latin typeface="Times New Roman" panose="02020603050405020304" pitchFamily="18" charset="0"/>
              <a:cs typeface="Times New Roman" pitchFamily="18" charset="0"/>
            </a:endParaRPr>
          </a:p>
          <a:p>
            <a:pPr algn="just">
              <a:buFont typeface="Wingdings" pitchFamily="2" charset="2"/>
              <a:buChar char="Ø"/>
            </a:pPr>
            <a:r>
              <a:rPr lang="en-IN" sz="2800" dirty="0">
                <a:latin typeface="Times New Roman" panose="02020603050405020304" pitchFamily="18" charset="0"/>
                <a:cs typeface="Times New Roman" pitchFamily="18" charset="0"/>
              </a:rPr>
              <a:t> Every node points to its next node in the sequence and the last node points NULL. </a:t>
            </a:r>
          </a:p>
          <a:p>
            <a:pPr algn="just"/>
            <a:r>
              <a:rPr lang="en-IN" sz="2800" dirty="0">
                <a:latin typeface="Times New Roman" panose="02020603050405020304" pitchFamily="18" charset="0"/>
                <a:cs typeface="Times New Roman" pitchFamily="18" charset="0"/>
              </a:rPr>
              <a:t>	</a:t>
            </a:r>
          </a:p>
          <a:p>
            <a:pPr algn="just"/>
            <a:endParaRPr lang="en-IN" sz="2800" dirty="0">
              <a:latin typeface="Times New Roman" panose="02020603050405020304" pitchFamily="18" charset="0"/>
              <a:cs typeface="Times New Roman" pitchFamily="18" charset="0"/>
            </a:endParaRPr>
          </a:p>
          <a:p>
            <a:pPr algn="just"/>
            <a:endParaRPr lang="en-IN" sz="2800" dirty="0">
              <a:latin typeface="Times New Roman" panose="02020603050405020304" pitchFamily="18" charset="0"/>
              <a:cs typeface="Times New Roman" pitchFamily="18" charset="0"/>
            </a:endParaRPr>
          </a:p>
          <a:p>
            <a:pPr algn="just"/>
            <a:endParaRPr lang="en-IN" sz="2800" dirty="0">
              <a:latin typeface="Times New Roman" panose="02020603050405020304" pitchFamily="18" charset="0"/>
              <a:cs typeface="Times New Roman" pitchFamily="18" charset="0"/>
            </a:endParaRPr>
          </a:p>
        </p:txBody>
      </p:sp>
      <p:pic>
        <p:nvPicPr>
          <p:cNvPr id="1026" name="Picture 2" descr="Lightbox">
            <a:extLst>
              <a:ext uri="{FF2B5EF4-FFF2-40B4-BE49-F238E27FC236}">
                <a16:creationId xmlns:a16="http://schemas.microsoft.com/office/drawing/2014/main" id="{7193DFAD-EA98-73AF-D927-D3C59AA7AC4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90725" y="4621161"/>
            <a:ext cx="7734300" cy="182357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69052342"/>
      </p:ext>
    </p:extLst>
  </p:cSld>
  <p:clrMapOvr>
    <a:masterClrMapping/>
  </p:clrMapOvr>
  <p:transition spd="slow">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a:extLst>
              <a:ext uri="{FF2B5EF4-FFF2-40B4-BE49-F238E27FC236}">
                <a16:creationId xmlns:a16="http://schemas.microsoft.com/office/drawing/2014/main" id="{39DC903D-9003-4F3D-87E9-EE7D5BEB5D03}"/>
              </a:ext>
            </a:extLst>
          </p:cNvPr>
          <p:cNvSpPr/>
          <p:nvPr/>
        </p:nvSpPr>
        <p:spPr>
          <a:xfrm>
            <a:off x="1768576" y="216696"/>
            <a:ext cx="9291483" cy="664103"/>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IN" sz="3600" b="1" dirty="0">
                <a:solidFill>
                  <a:schemeClr val="bg1"/>
                </a:solidFill>
                <a:latin typeface="Times New Roman" pitchFamily="18" charset="0"/>
                <a:cs typeface="Times New Roman" pitchFamily="18" charset="0"/>
              </a:rPr>
              <a:t>Example of Singly Linked list with 4 nodes</a:t>
            </a:r>
            <a:endParaRPr lang="en-US" sz="3600" dirty="0">
              <a:solidFill>
                <a:schemeClr val="bg1"/>
              </a:solidFill>
            </a:endParaRPr>
          </a:p>
        </p:txBody>
      </p:sp>
      <p:pic>
        <p:nvPicPr>
          <p:cNvPr id="24"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
        <p:nvSpPr>
          <p:cNvPr id="3" name="Content Placeholder 2">
            <a:extLst>
              <a:ext uri="{FF2B5EF4-FFF2-40B4-BE49-F238E27FC236}">
                <a16:creationId xmlns:a16="http://schemas.microsoft.com/office/drawing/2014/main" id="{A29BC752-6031-1D55-1FB5-B7E784443214}"/>
              </a:ext>
            </a:extLst>
          </p:cNvPr>
          <p:cNvSpPr>
            <a:spLocks noGrp="1"/>
          </p:cNvSpPr>
          <p:nvPr>
            <p:ph idx="1"/>
          </p:nvPr>
        </p:nvSpPr>
        <p:spPr>
          <a:xfrm>
            <a:off x="838200" y="1825625"/>
            <a:ext cx="10515600" cy="2254762"/>
          </a:xfrm>
        </p:spPr>
        <p:txBody>
          <a:bodyPr/>
          <a:lstStyle/>
          <a:p>
            <a:endParaRPr lang="en-IN" dirty="0"/>
          </a:p>
          <a:p>
            <a:endParaRPr lang="en-IN" dirty="0"/>
          </a:p>
        </p:txBody>
      </p:sp>
      <p:pic>
        <p:nvPicPr>
          <p:cNvPr id="2052" name="Picture 4" descr="Singly linked list">
            <a:extLst>
              <a:ext uri="{FF2B5EF4-FFF2-40B4-BE49-F238E27FC236}">
                <a16:creationId xmlns:a16="http://schemas.microsoft.com/office/drawing/2014/main" id="{8DFD9807-65C9-D0C7-C56E-32090D95C2A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74838" y="1353179"/>
            <a:ext cx="9878961" cy="500829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80355262"/>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mph" presetSubtype="0" fill="hold" grpId="0" nodeType="clickEffect">
                                  <p:stCondLst>
                                    <p:cond delay="0"/>
                                  </p:stCondLst>
                                  <p:childTnLst>
                                    <p:animEffect transition="out" filter="fade">
                                      <p:cBhvr>
                                        <p:cTn id="6" dur="500" tmFilter="0, 0; .2, .5; .8, .5; 1, 0"/>
                                        <p:tgtEl>
                                          <p:spTgt spid="4"/>
                                        </p:tgtEl>
                                      </p:cBhvr>
                                    </p:animEffect>
                                    <p:animScale>
                                      <p:cBhvr>
                                        <p:cTn id="7" dur="250" autoRev="1" fill="hold"/>
                                        <p:tgtEl>
                                          <p:spTgt spid="4"/>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ounded Rectangle 17">
            <a:extLst>
              <a:ext uri="{FF2B5EF4-FFF2-40B4-BE49-F238E27FC236}">
                <a16:creationId xmlns:a16="http://schemas.microsoft.com/office/drawing/2014/main" id="{0F2E30D4-6F86-49D1-9276-85CE0E9B3E3E}"/>
              </a:ext>
            </a:extLst>
          </p:cNvPr>
          <p:cNvSpPr/>
          <p:nvPr/>
        </p:nvSpPr>
        <p:spPr>
          <a:xfrm>
            <a:off x="1990725" y="245393"/>
            <a:ext cx="9088953" cy="709365"/>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400" b="1" dirty="0">
                <a:latin typeface="Times New Roman" panose="02020603050405020304" pitchFamily="18" charset="0"/>
                <a:cs typeface="Times New Roman" panose="02020603050405020304" pitchFamily="18" charset="0"/>
              </a:rPr>
              <a:t>OPERATIONS ON SINGLY LINKED LIST</a:t>
            </a:r>
            <a:endParaRPr lang="en-US" sz="3400" dirty="0">
              <a:latin typeface="Times New Roman" panose="02020603050405020304" pitchFamily="18" charset="0"/>
              <a:cs typeface="Times New Roman" panose="02020603050405020304" pitchFamily="18" charset="0"/>
            </a:endParaRPr>
          </a:p>
        </p:txBody>
      </p:sp>
      <p:pic>
        <p:nvPicPr>
          <p:cNvPr id="12"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
        <p:nvSpPr>
          <p:cNvPr id="2" name="Rectangle 1"/>
          <p:cNvSpPr/>
          <p:nvPr/>
        </p:nvSpPr>
        <p:spPr>
          <a:xfrm>
            <a:off x="1990725" y="1094589"/>
            <a:ext cx="9088953" cy="4524315"/>
          </a:xfrm>
          <a:prstGeom prst="rect">
            <a:avLst/>
          </a:prstGeom>
        </p:spPr>
        <p:txBody>
          <a:bodyPr wrap="square">
            <a:spAutoFit/>
          </a:bodyPr>
          <a:lstStyle/>
          <a:p>
            <a:r>
              <a:rPr lang="en-IN" sz="2400" dirty="0">
                <a:latin typeface="Times New Roman" panose="02020603050405020304" pitchFamily="18" charset="0"/>
                <a:cs typeface="Times New Roman" panose="02020603050405020304" pitchFamily="18" charset="0"/>
              </a:rPr>
              <a:t>In a singly linked list, we can perform the following operations...</a:t>
            </a:r>
          </a:p>
          <a:p>
            <a:pPr marL="914400" lvl="1" indent="-457200">
              <a:buFont typeface="+mj-lt"/>
              <a:buAutoNum type="arabicPeriod"/>
            </a:pPr>
            <a:r>
              <a:rPr lang="en-IN" sz="2400" dirty="0">
                <a:latin typeface="Times New Roman" panose="02020603050405020304" pitchFamily="18" charset="0"/>
                <a:cs typeface="Times New Roman" panose="02020603050405020304" pitchFamily="18" charset="0"/>
              </a:rPr>
              <a:t>Insertion</a:t>
            </a:r>
          </a:p>
          <a:p>
            <a:pPr marL="914400" lvl="1" indent="-457200">
              <a:buFont typeface="+mj-lt"/>
              <a:buAutoNum type="arabicPeriod"/>
            </a:pPr>
            <a:r>
              <a:rPr lang="en-IN" sz="2400" dirty="0">
                <a:latin typeface="Times New Roman" panose="02020603050405020304" pitchFamily="18" charset="0"/>
                <a:cs typeface="Times New Roman" panose="02020603050405020304" pitchFamily="18" charset="0"/>
              </a:rPr>
              <a:t>Deletion</a:t>
            </a:r>
          </a:p>
          <a:p>
            <a:pPr marL="914400" lvl="1" indent="-457200">
              <a:buFont typeface="+mj-lt"/>
              <a:buAutoNum type="arabicPeriod"/>
            </a:pPr>
            <a:r>
              <a:rPr lang="en-IN" sz="2400" dirty="0">
                <a:latin typeface="Times New Roman" panose="02020603050405020304" pitchFamily="18" charset="0"/>
                <a:cs typeface="Times New Roman" panose="02020603050405020304" pitchFamily="18" charset="0"/>
              </a:rPr>
              <a:t>Display</a:t>
            </a:r>
            <a:endParaRPr lang="en-IN" sz="2400" b="1" dirty="0">
              <a:latin typeface="Times New Roman" panose="02020603050405020304" pitchFamily="18" charset="0"/>
              <a:cs typeface="Times New Roman" panose="02020603050405020304" pitchFamily="18" charset="0"/>
            </a:endParaRPr>
          </a:p>
          <a:p>
            <a:r>
              <a:rPr lang="en-IN" sz="2400" b="1" dirty="0">
                <a:latin typeface="Times New Roman" panose="02020603050405020304" pitchFamily="18" charset="0"/>
                <a:cs typeface="Times New Roman" panose="02020603050405020304" pitchFamily="18" charset="0"/>
              </a:rPr>
              <a:t>1. Insertion:</a:t>
            </a:r>
          </a:p>
          <a:p>
            <a:pPr lvl="1"/>
            <a:r>
              <a:rPr lang="en-IN" sz="2400" dirty="0">
                <a:latin typeface="Times New Roman" panose="02020603050405020304" pitchFamily="18" charset="0"/>
                <a:cs typeface="Times New Roman" panose="02020603050405020304" pitchFamily="18" charset="0"/>
              </a:rPr>
              <a:t>i)   Insertion At Beginning of the SLL</a:t>
            </a:r>
          </a:p>
          <a:p>
            <a:pPr lvl="1"/>
            <a:r>
              <a:rPr lang="en-IN" sz="2400" dirty="0">
                <a:latin typeface="Times New Roman" panose="02020603050405020304" pitchFamily="18" charset="0"/>
                <a:cs typeface="Times New Roman" panose="02020603050405020304" pitchFamily="18" charset="0"/>
              </a:rPr>
              <a:t>ii)  Insertion At End of the SLL</a:t>
            </a:r>
          </a:p>
          <a:p>
            <a:pPr lvl="1"/>
            <a:r>
              <a:rPr lang="en-IN" sz="2400" dirty="0">
                <a:latin typeface="Times New Roman" panose="02020603050405020304" pitchFamily="18" charset="0"/>
                <a:cs typeface="Times New Roman" panose="02020603050405020304" pitchFamily="18" charset="0"/>
              </a:rPr>
              <a:t>iii) Insertion At Specific location in the SLL</a:t>
            </a:r>
          </a:p>
          <a:p>
            <a:r>
              <a:rPr lang="en-IN" sz="2400" b="1" dirty="0">
                <a:latin typeface="Times New Roman" panose="02020603050405020304" pitchFamily="18" charset="0"/>
                <a:cs typeface="Times New Roman" panose="02020603050405020304" pitchFamily="18" charset="0"/>
              </a:rPr>
              <a:t>2. Deletion:</a:t>
            </a:r>
          </a:p>
          <a:p>
            <a:pPr lvl="1"/>
            <a:r>
              <a:rPr lang="en-IN" sz="2400" dirty="0" err="1">
                <a:latin typeface="Times New Roman" panose="02020603050405020304" pitchFamily="18" charset="0"/>
                <a:cs typeface="Times New Roman" panose="02020603050405020304" pitchFamily="18" charset="0"/>
              </a:rPr>
              <a:t>i</a:t>
            </a:r>
            <a:r>
              <a:rPr lang="en-IN" sz="2400" dirty="0">
                <a:latin typeface="Times New Roman" panose="02020603050405020304" pitchFamily="18" charset="0"/>
                <a:cs typeface="Times New Roman" panose="02020603050405020304" pitchFamily="18" charset="0"/>
              </a:rPr>
              <a:t>) Deletion At Beginning of the SLL</a:t>
            </a:r>
          </a:p>
          <a:p>
            <a:pPr lvl="1"/>
            <a:r>
              <a:rPr lang="en-IN" sz="2400" dirty="0">
                <a:latin typeface="Times New Roman" panose="02020603050405020304" pitchFamily="18" charset="0"/>
                <a:cs typeface="Times New Roman" panose="02020603050405020304" pitchFamily="18" charset="0"/>
              </a:rPr>
              <a:t>ii) Deletion At End of the SLL</a:t>
            </a:r>
          </a:p>
          <a:p>
            <a:pPr lvl="1"/>
            <a:r>
              <a:rPr lang="en-IN" sz="2400" dirty="0">
                <a:latin typeface="Times New Roman" panose="02020603050405020304" pitchFamily="18" charset="0"/>
                <a:cs typeface="Times New Roman" panose="02020603050405020304" pitchFamily="18" charset="0"/>
              </a:rPr>
              <a:t>iii) Deletion At Specific location in the SLL</a:t>
            </a:r>
          </a:p>
        </p:txBody>
      </p:sp>
    </p:spTree>
    <p:extLst>
      <p:ext uri="{BB962C8B-B14F-4D97-AF65-F5344CB8AC3E}">
        <p14:creationId xmlns:p14="http://schemas.microsoft.com/office/powerpoint/2010/main" val="3385424300"/>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ounded Rectangle 17">
            <a:extLst>
              <a:ext uri="{FF2B5EF4-FFF2-40B4-BE49-F238E27FC236}">
                <a16:creationId xmlns:a16="http://schemas.microsoft.com/office/drawing/2014/main" id="{0F2E30D4-6F86-49D1-9276-85CE0E9B3E3E}"/>
              </a:ext>
            </a:extLst>
          </p:cNvPr>
          <p:cNvSpPr/>
          <p:nvPr/>
        </p:nvSpPr>
        <p:spPr>
          <a:xfrm>
            <a:off x="1990725" y="272089"/>
            <a:ext cx="8100218" cy="709365"/>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400" b="1" dirty="0">
                <a:latin typeface="Times New Roman" panose="02020603050405020304" pitchFamily="18" charset="0"/>
                <a:cs typeface="Times New Roman" panose="02020603050405020304" pitchFamily="18" charset="0"/>
              </a:rPr>
              <a:t>Setup the Singly Linked List                               </a:t>
            </a:r>
            <a:endParaRPr lang="en-US" sz="3400" dirty="0">
              <a:latin typeface="Times New Roman" panose="02020603050405020304" pitchFamily="18" charset="0"/>
              <a:cs typeface="Times New Roman" panose="02020603050405020304" pitchFamily="18" charset="0"/>
            </a:endParaRPr>
          </a:p>
        </p:txBody>
      </p:sp>
      <p:pic>
        <p:nvPicPr>
          <p:cNvPr id="12"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
        <p:nvSpPr>
          <p:cNvPr id="2" name="Rectangle 1"/>
          <p:cNvSpPr/>
          <p:nvPr/>
        </p:nvSpPr>
        <p:spPr>
          <a:xfrm>
            <a:off x="1141825" y="981454"/>
            <a:ext cx="9908349" cy="5940088"/>
          </a:xfrm>
          <a:prstGeom prst="rect">
            <a:avLst/>
          </a:prstGeom>
        </p:spPr>
        <p:txBody>
          <a:bodyPr wrap="square">
            <a:spAutoFit/>
          </a:bodyPr>
          <a:lstStyle/>
          <a:p>
            <a:r>
              <a:rPr lang="en-IN" sz="2400" dirty="0">
                <a:latin typeface="Times New Roman" panose="02020603050405020304" pitchFamily="18" charset="0"/>
                <a:cs typeface="Times New Roman" panose="02020603050405020304" pitchFamily="18" charset="0"/>
              </a:rPr>
              <a:t>Before we implement those operations, first we need to </a:t>
            </a:r>
            <a:r>
              <a:rPr lang="en-IN" sz="2400" b="1" dirty="0">
                <a:latin typeface="Times New Roman" panose="02020603050405020304" pitchFamily="18" charset="0"/>
                <a:cs typeface="Times New Roman" panose="02020603050405020304" pitchFamily="18" charset="0"/>
              </a:rPr>
              <a:t>setup empty list</a:t>
            </a:r>
            <a:r>
              <a:rPr lang="en-IN" sz="2400" dirty="0">
                <a:latin typeface="Times New Roman" panose="02020603050405020304" pitchFamily="18" charset="0"/>
                <a:cs typeface="Times New Roman" panose="02020603050405020304" pitchFamily="18" charset="0"/>
              </a:rPr>
              <a:t>. </a:t>
            </a:r>
          </a:p>
          <a:p>
            <a:pPr marL="342900" indent="-342900">
              <a:buFont typeface="Wingdings" pitchFamily="2" charset="2"/>
              <a:buChar char="Ø"/>
            </a:pPr>
            <a:r>
              <a:rPr lang="en-IN" sz="2400" b="1" dirty="0">
                <a:latin typeface="Times New Roman" panose="02020603050405020304" pitchFamily="18" charset="0"/>
                <a:cs typeface="Times New Roman" panose="02020603050405020304" pitchFamily="18" charset="0"/>
              </a:rPr>
              <a:t>Perform the following steps to setup Empty SLL:</a:t>
            </a:r>
            <a:r>
              <a:rPr lang="en-IN" sz="2400" dirty="0">
                <a:latin typeface="Times New Roman" panose="02020603050405020304" pitchFamily="18" charset="0"/>
                <a:cs typeface="Times New Roman" panose="02020603050405020304" pitchFamily="18" charset="0"/>
              </a:rPr>
              <a:t>.</a:t>
            </a:r>
          </a:p>
          <a:p>
            <a:r>
              <a:rPr lang="en-IN" sz="2400" dirty="0">
                <a:latin typeface="Times New Roman" panose="02020603050405020304" pitchFamily="18" charset="0"/>
                <a:cs typeface="Times New Roman" panose="02020603050405020304" pitchFamily="18" charset="0"/>
              </a:rPr>
              <a:t>   Step 1 - Define a </a:t>
            </a:r>
            <a:r>
              <a:rPr lang="en-IN" sz="2400" b="1" dirty="0">
                <a:latin typeface="Times New Roman" panose="02020603050405020304" pitchFamily="18" charset="0"/>
                <a:cs typeface="Times New Roman" panose="02020603050405020304" pitchFamily="18" charset="0"/>
              </a:rPr>
              <a:t>Node</a:t>
            </a:r>
            <a:r>
              <a:rPr lang="en-IN" sz="2400" dirty="0">
                <a:latin typeface="Times New Roman" panose="02020603050405020304" pitchFamily="18" charset="0"/>
                <a:cs typeface="Times New Roman" panose="02020603050405020304" pitchFamily="18" charset="0"/>
              </a:rPr>
              <a:t> structure with two members/fields </a:t>
            </a:r>
            <a:r>
              <a:rPr lang="en-IN" sz="2400" b="1" dirty="0">
                <a:latin typeface="Times New Roman" panose="02020603050405020304" pitchFamily="18" charset="0"/>
                <a:cs typeface="Times New Roman" panose="02020603050405020304" pitchFamily="18" charset="0"/>
              </a:rPr>
              <a:t>data</a:t>
            </a:r>
            <a:r>
              <a:rPr lang="en-IN" sz="2400" dirty="0">
                <a:latin typeface="Times New Roman" panose="02020603050405020304" pitchFamily="18" charset="0"/>
                <a:cs typeface="Times New Roman" panose="02020603050405020304" pitchFamily="18" charset="0"/>
              </a:rPr>
              <a:t> and </a:t>
            </a:r>
            <a:r>
              <a:rPr lang="en-IN" sz="2400" b="1" dirty="0">
                <a:latin typeface="Times New Roman" panose="02020603050405020304" pitchFamily="18" charset="0"/>
                <a:cs typeface="Times New Roman" panose="02020603050405020304" pitchFamily="18" charset="0"/>
              </a:rPr>
              <a:t>next</a:t>
            </a:r>
            <a:endParaRPr lang="en-IN" sz="2400" dirty="0">
              <a:latin typeface="Times New Roman" panose="02020603050405020304" pitchFamily="18" charset="0"/>
              <a:cs typeface="Times New Roman" panose="02020603050405020304" pitchFamily="18" charset="0"/>
            </a:endParaRPr>
          </a:p>
          <a:p>
            <a:r>
              <a:rPr lang="en-IN" sz="2400" dirty="0">
                <a:latin typeface="Times New Roman" panose="02020603050405020304" pitchFamily="18" charset="0"/>
                <a:cs typeface="Times New Roman" panose="02020603050405020304" pitchFamily="18" charset="0"/>
              </a:rPr>
              <a:t>   Step 2 - Define a Node pointer '</a:t>
            </a:r>
            <a:r>
              <a:rPr lang="en-IN" sz="2400" b="1" dirty="0">
                <a:latin typeface="Times New Roman" panose="02020603050405020304" pitchFamily="18" charset="0"/>
                <a:cs typeface="Times New Roman" panose="02020603050405020304" pitchFamily="18" charset="0"/>
              </a:rPr>
              <a:t>head</a:t>
            </a:r>
            <a:r>
              <a:rPr lang="en-IN" sz="2400" dirty="0">
                <a:latin typeface="Times New Roman" panose="02020603050405020304" pitchFamily="18" charset="0"/>
                <a:cs typeface="Times New Roman" panose="02020603050405020304" pitchFamily="18" charset="0"/>
              </a:rPr>
              <a:t>' and set it to </a:t>
            </a:r>
            <a:r>
              <a:rPr lang="en-IN" sz="2400" b="1" dirty="0">
                <a:latin typeface="Times New Roman" panose="02020603050405020304" pitchFamily="18" charset="0"/>
                <a:cs typeface="Times New Roman" panose="02020603050405020304" pitchFamily="18" charset="0"/>
              </a:rPr>
              <a:t>NULL</a:t>
            </a:r>
            <a:r>
              <a:rPr lang="en-IN" sz="2400" dirty="0">
                <a:latin typeface="Times New Roman" panose="02020603050405020304" pitchFamily="18" charset="0"/>
                <a:cs typeface="Times New Roman" panose="02020603050405020304" pitchFamily="18" charset="0"/>
              </a:rPr>
              <a:t>.</a:t>
            </a:r>
          </a:p>
          <a:p>
            <a:r>
              <a:rPr lang="en-IN" sz="2400" dirty="0">
                <a:latin typeface="Times New Roman" panose="02020603050405020304" pitchFamily="18" charset="0"/>
                <a:cs typeface="Times New Roman" panose="02020603050405020304" pitchFamily="18" charset="0"/>
              </a:rPr>
              <a:t>   Step 3 – Then perform the Operations one by one.</a:t>
            </a:r>
          </a:p>
          <a:p>
            <a:pPr>
              <a:buFont typeface="Wingdings" pitchFamily="2" charset="2"/>
              <a:buChar char="v"/>
            </a:pPr>
            <a:endParaRPr lang="en-IN" sz="2400" dirty="0">
              <a:latin typeface="Times New Roman" panose="02020603050405020304" pitchFamily="18" charset="0"/>
              <a:cs typeface="Times New Roman" panose="02020603050405020304" pitchFamily="18" charset="0"/>
            </a:endParaRPr>
          </a:p>
          <a:p>
            <a:r>
              <a:rPr lang="en-IN" sz="2400" dirty="0">
                <a:latin typeface="Times New Roman" panose="02020603050405020304" pitchFamily="18" charset="0"/>
                <a:cs typeface="Times New Roman" panose="02020603050405020304" pitchFamily="18" charset="0"/>
              </a:rPr>
              <a:t>      The node is defined (represented) as:</a:t>
            </a:r>
          </a:p>
          <a:p>
            <a:r>
              <a:rPr lang="en-IN" sz="2400"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class Node:</a:t>
            </a:r>
          </a:p>
          <a:p>
            <a:r>
              <a:rPr lang="en-US" sz="2400" dirty="0">
                <a:latin typeface="Times New Roman" panose="02020603050405020304" pitchFamily="18" charset="0"/>
                <a:cs typeface="Times New Roman" panose="02020603050405020304" pitchFamily="18" charset="0"/>
              </a:rPr>
              <a:t>    def __</a:t>
            </a:r>
            <a:r>
              <a:rPr lang="en-US" sz="2400" dirty="0" err="1">
                <a:latin typeface="Times New Roman" panose="02020603050405020304" pitchFamily="18" charset="0"/>
                <a:cs typeface="Times New Roman" panose="02020603050405020304" pitchFamily="18" charset="0"/>
              </a:rPr>
              <a:t>init</a:t>
            </a:r>
            <a:r>
              <a:rPr lang="en-US" sz="2400" dirty="0">
                <a:latin typeface="Times New Roman" panose="02020603050405020304" pitchFamily="18" charset="0"/>
                <a:cs typeface="Times New Roman" panose="02020603050405020304" pitchFamily="18" charset="0"/>
              </a:rPr>
              <a:t>__(self, data):</a:t>
            </a:r>
          </a:p>
          <a:p>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self.data</a:t>
            </a:r>
            <a:r>
              <a:rPr lang="en-US" sz="2400" dirty="0">
                <a:latin typeface="Times New Roman" panose="02020603050405020304" pitchFamily="18" charset="0"/>
                <a:cs typeface="Times New Roman" panose="02020603050405020304" pitchFamily="18" charset="0"/>
              </a:rPr>
              <a:t> = data  # Stores the value</a:t>
            </a:r>
          </a:p>
          <a:p>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self.next</a:t>
            </a:r>
            <a:r>
              <a:rPr lang="en-US" sz="2400" dirty="0">
                <a:latin typeface="Times New Roman" panose="02020603050405020304" pitchFamily="18" charset="0"/>
                <a:cs typeface="Times New Roman" panose="02020603050405020304" pitchFamily="18" charset="0"/>
              </a:rPr>
              <a:t> = None  # Points to the next node (initially None)</a:t>
            </a:r>
          </a:p>
          <a:p>
            <a:endParaRPr lang="en-US" sz="2400"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class LinkedList:</a:t>
            </a:r>
          </a:p>
          <a:p>
            <a:r>
              <a:rPr lang="en-US" sz="2400" dirty="0">
                <a:latin typeface="Times New Roman" panose="02020603050405020304" pitchFamily="18" charset="0"/>
                <a:cs typeface="Times New Roman" panose="02020603050405020304" pitchFamily="18" charset="0"/>
              </a:rPr>
              <a:t>    def __</a:t>
            </a:r>
            <a:r>
              <a:rPr lang="en-US" sz="2400" dirty="0" err="1">
                <a:latin typeface="Times New Roman" panose="02020603050405020304" pitchFamily="18" charset="0"/>
                <a:cs typeface="Times New Roman" panose="02020603050405020304" pitchFamily="18" charset="0"/>
              </a:rPr>
              <a:t>init</a:t>
            </a:r>
            <a:r>
              <a:rPr lang="en-US" sz="2400" dirty="0">
                <a:latin typeface="Times New Roman" panose="02020603050405020304" pitchFamily="18" charset="0"/>
                <a:cs typeface="Times New Roman" panose="02020603050405020304" pitchFamily="18" charset="0"/>
              </a:rPr>
              <a:t>__(self):</a:t>
            </a:r>
          </a:p>
          <a:p>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self.head</a:t>
            </a:r>
            <a:r>
              <a:rPr lang="en-US" sz="2400" dirty="0">
                <a:latin typeface="Times New Roman" panose="02020603050405020304" pitchFamily="18" charset="0"/>
                <a:cs typeface="Times New Roman" panose="02020603050405020304" pitchFamily="18" charset="0"/>
              </a:rPr>
              <a:t> = None  # Points to the first node (initially None)</a:t>
            </a:r>
          </a:p>
          <a:p>
            <a:endParaRPr lang="en-IN" sz="2000" dirty="0"/>
          </a:p>
        </p:txBody>
      </p:sp>
    </p:spTree>
    <p:extLst>
      <p:ext uri="{BB962C8B-B14F-4D97-AF65-F5344CB8AC3E}">
        <p14:creationId xmlns:p14="http://schemas.microsoft.com/office/powerpoint/2010/main" val="3142842744"/>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ounded Rectangle 17">
            <a:extLst>
              <a:ext uri="{FF2B5EF4-FFF2-40B4-BE49-F238E27FC236}">
                <a16:creationId xmlns:a16="http://schemas.microsoft.com/office/drawing/2014/main" id="{0F2E30D4-6F86-49D1-9276-85CE0E9B3E3E}"/>
              </a:ext>
            </a:extLst>
          </p:cNvPr>
          <p:cNvSpPr/>
          <p:nvPr/>
        </p:nvSpPr>
        <p:spPr>
          <a:xfrm>
            <a:off x="2243190" y="253280"/>
            <a:ext cx="7815210" cy="709365"/>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3400" b="1" dirty="0">
                <a:solidFill>
                  <a:schemeClr val="bg1"/>
                </a:solidFill>
                <a:latin typeface="Times New Roman" panose="02020603050405020304" pitchFamily="18" charset="0"/>
                <a:cs typeface="Times New Roman" panose="02020603050405020304" pitchFamily="18" charset="0"/>
              </a:rPr>
              <a:t>i) Insertion At Beginning of the SLL</a:t>
            </a:r>
            <a:endParaRPr lang="en-US" sz="3400" dirty="0">
              <a:solidFill>
                <a:schemeClr val="bg1"/>
              </a:solidFill>
              <a:latin typeface="Times New Roman" panose="02020603050405020304" pitchFamily="18" charset="0"/>
              <a:cs typeface="Times New Roman" panose="02020603050405020304" pitchFamily="18" charset="0"/>
            </a:endParaRPr>
          </a:p>
        </p:txBody>
      </p:sp>
      <p:pic>
        <p:nvPicPr>
          <p:cNvPr id="12"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pic>
        <p:nvPicPr>
          <p:cNvPr id="2" name="Picture 2" descr="Insertion in singly linked list at beginning">
            <a:extLst>
              <a:ext uri="{FF2B5EF4-FFF2-40B4-BE49-F238E27FC236}">
                <a16:creationId xmlns:a16="http://schemas.microsoft.com/office/drawing/2014/main" id="{47BBB89C-8876-303E-8748-BA09047334D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51819" y="2542385"/>
            <a:ext cx="9193162" cy="3937073"/>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3" name="Table 2">
            <a:extLst>
              <a:ext uri="{FF2B5EF4-FFF2-40B4-BE49-F238E27FC236}">
                <a16:creationId xmlns:a16="http://schemas.microsoft.com/office/drawing/2014/main" id="{D50101D4-7D00-E166-BBE9-087A7172FEE4}"/>
              </a:ext>
            </a:extLst>
          </p:cNvPr>
          <p:cNvGraphicFramePr>
            <a:graphicFrameLocks noGrp="1"/>
          </p:cNvGraphicFramePr>
          <p:nvPr>
            <p:extLst>
              <p:ext uri="{D42A27DB-BD31-4B8C-83A1-F6EECF244321}">
                <p14:modId xmlns:p14="http://schemas.microsoft.com/office/powerpoint/2010/main" val="4175117435"/>
              </p:ext>
            </p:extLst>
          </p:nvPr>
        </p:nvGraphicFramePr>
        <p:xfrm>
          <a:off x="1651819" y="1243611"/>
          <a:ext cx="9193162" cy="1007976"/>
        </p:xfrm>
        <a:graphic>
          <a:graphicData uri="http://schemas.openxmlformats.org/drawingml/2006/table">
            <a:tbl>
              <a:tblPr firstRow="1" bandRow="1">
                <a:tableStyleId>{5C22544A-7EE6-4342-B048-85BDC9FD1C3A}</a:tableStyleId>
              </a:tblPr>
              <a:tblGrid>
                <a:gridCol w="9193162">
                  <a:extLst>
                    <a:ext uri="{9D8B030D-6E8A-4147-A177-3AD203B41FA5}">
                      <a16:colId xmlns:a16="http://schemas.microsoft.com/office/drawing/2014/main" val="2511576208"/>
                    </a:ext>
                  </a:extLst>
                </a:gridCol>
              </a:tblGrid>
              <a:tr h="1007976">
                <a:tc>
                  <a:txBody>
                    <a:bodyPr/>
                    <a:lstStyle/>
                    <a:p>
                      <a:r>
                        <a:rPr lang="en-US" sz="2400" b="0" dirty="0">
                          <a:solidFill>
                            <a:sysClr val="windowText" lastClr="000000"/>
                          </a:solidFill>
                          <a:latin typeface="Times New Roman" panose="02020603050405020304" pitchFamily="18" charset="0"/>
                          <a:cs typeface="Times New Roman" panose="02020603050405020304" pitchFamily="18" charset="0"/>
                        </a:rPr>
                        <a:t>It involves inserting any element at the front of the list. We just need to a few link adjustments to make the new node as the head of the list.</a:t>
                      </a:r>
                      <a:endParaRPr lang="en-IN" sz="2400" b="0" dirty="0">
                        <a:solidFill>
                          <a:sysClr val="windowText" lastClr="000000"/>
                        </a:solidFill>
                        <a:latin typeface="Times New Roman" panose="02020603050405020304" pitchFamily="18" charset="0"/>
                        <a:cs typeface="Times New Roman" panose="02020603050405020304" pitchFamily="18" charset="0"/>
                      </a:endParaRPr>
                    </a:p>
                  </a:txBody>
                  <a:tcPr>
                    <a:noFill/>
                  </a:tcPr>
                </a:tc>
                <a:extLst>
                  <a:ext uri="{0D108BD9-81ED-4DB2-BD59-A6C34878D82A}">
                    <a16:rowId xmlns:a16="http://schemas.microsoft.com/office/drawing/2014/main" val="2473556307"/>
                  </a:ext>
                </a:extLst>
              </a:tr>
            </a:tbl>
          </a:graphicData>
        </a:graphic>
      </p:graphicFrame>
    </p:spTree>
    <p:extLst>
      <p:ext uri="{BB962C8B-B14F-4D97-AF65-F5344CB8AC3E}">
        <p14:creationId xmlns:p14="http://schemas.microsoft.com/office/powerpoint/2010/main" val="1021365630"/>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ounded Rectangle 17">
            <a:extLst>
              <a:ext uri="{FF2B5EF4-FFF2-40B4-BE49-F238E27FC236}">
                <a16:creationId xmlns:a16="http://schemas.microsoft.com/office/drawing/2014/main" id="{0F2E30D4-6F86-49D1-9276-85CE0E9B3E3E}"/>
              </a:ext>
            </a:extLst>
          </p:cNvPr>
          <p:cNvSpPr/>
          <p:nvPr/>
        </p:nvSpPr>
        <p:spPr>
          <a:xfrm>
            <a:off x="2243189" y="253280"/>
            <a:ext cx="8139675" cy="709365"/>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3400" b="1" dirty="0">
                <a:solidFill>
                  <a:schemeClr val="bg1"/>
                </a:solidFill>
                <a:latin typeface="Times New Roman" panose="02020603050405020304" pitchFamily="18" charset="0"/>
                <a:cs typeface="Times New Roman" panose="02020603050405020304" pitchFamily="18" charset="0"/>
              </a:rPr>
              <a:t>i) Insertion At Beginning of the SLL</a:t>
            </a:r>
            <a:endParaRPr lang="en-US" sz="3400" dirty="0">
              <a:solidFill>
                <a:schemeClr val="bg1"/>
              </a:solidFill>
              <a:latin typeface="Times New Roman" panose="02020603050405020304" pitchFamily="18" charset="0"/>
              <a:cs typeface="Times New Roman" panose="02020603050405020304" pitchFamily="18" charset="0"/>
            </a:endParaRPr>
          </a:p>
        </p:txBody>
      </p:sp>
      <p:pic>
        <p:nvPicPr>
          <p:cNvPr id="12"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
        <p:nvSpPr>
          <p:cNvPr id="2" name="Rectangle 1"/>
          <p:cNvSpPr/>
          <p:nvPr/>
        </p:nvSpPr>
        <p:spPr>
          <a:xfrm>
            <a:off x="1990725" y="1065093"/>
            <a:ext cx="10088524" cy="5078313"/>
          </a:xfrm>
          <a:prstGeom prst="rect">
            <a:avLst/>
          </a:prstGeom>
        </p:spPr>
        <p:txBody>
          <a:bodyPr wrap="square">
            <a:spAutoFit/>
          </a:bodyPr>
          <a:lstStyle/>
          <a:p>
            <a:r>
              <a:rPr lang="en-IN" sz="2400" dirty="0">
                <a:latin typeface="Times New Roman" panose="02020603050405020304" pitchFamily="18" charset="0"/>
                <a:cs typeface="Times New Roman" panose="02020603050405020304" pitchFamily="18" charset="0"/>
              </a:rPr>
              <a:t>We can insert a new node at beginning(before head node) of the Singly linked list.</a:t>
            </a:r>
          </a:p>
          <a:p>
            <a:r>
              <a:rPr lang="en-IN" sz="2400" b="1" dirty="0">
                <a:latin typeface="Times New Roman" panose="02020603050405020304" pitchFamily="18" charset="0"/>
                <a:cs typeface="Times New Roman" panose="02020603050405020304" pitchFamily="18" charset="0"/>
              </a:rPr>
              <a:t>Algorithm:</a:t>
            </a:r>
          </a:p>
          <a:p>
            <a:pPr algn="l"/>
            <a:r>
              <a:rPr lang="en-US" sz="2400" b="0" i="0" dirty="0">
                <a:effectLst/>
                <a:latin typeface="Times New Roman" panose="02020603050405020304" pitchFamily="18" charset="0"/>
                <a:cs typeface="Times New Roman" panose="02020603050405020304" pitchFamily="18" charset="0"/>
              </a:rPr>
              <a:t>Step 1: IF PTR = NULL</a:t>
            </a:r>
          </a:p>
          <a:p>
            <a:pPr algn="l"/>
            <a:r>
              <a:rPr lang="en-US" sz="2400" b="0" i="0" dirty="0">
                <a:effectLst/>
                <a:latin typeface="Times New Roman" panose="02020603050405020304" pitchFamily="18" charset="0"/>
                <a:cs typeface="Times New Roman" panose="02020603050405020304" pitchFamily="18" charset="0"/>
              </a:rPr>
              <a:t>Write OVERFLOW</a:t>
            </a:r>
          </a:p>
          <a:p>
            <a:pPr algn="l"/>
            <a:r>
              <a:rPr lang="en-US" sz="2400" b="0" i="0" dirty="0">
                <a:effectLst/>
                <a:latin typeface="Times New Roman" panose="02020603050405020304" pitchFamily="18" charset="0"/>
                <a:cs typeface="Times New Roman" panose="02020603050405020304" pitchFamily="18" charset="0"/>
              </a:rPr>
              <a:t>     Go to Step 7</a:t>
            </a:r>
          </a:p>
          <a:p>
            <a:pPr algn="l"/>
            <a:r>
              <a:rPr lang="en-US" sz="2400" b="0" i="0" dirty="0">
                <a:effectLst/>
                <a:latin typeface="Times New Roman" panose="02020603050405020304" pitchFamily="18" charset="0"/>
                <a:cs typeface="Times New Roman" panose="02020603050405020304" pitchFamily="18" charset="0"/>
              </a:rPr>
              <a:t>    [END OF IF]</a:t>
            </a:r>
          </a:p>
          <a:p>
            <a:pPr algn="l"/>
            <a:r>
              <a:rPr lang="en-US" sz="2400" b="0" i="0" dirty="0">
                <a:effectLst/>
                <a:latin typeface="Times New Roman" panose="02020603050405020304" pitchFamily="18" charset="0"/>
                <a:cs typeface="Times New Roman" panose="02020603050405020304" pitchFamily="18" charset="0"/>
              </a:rPr>
              <a:t>Step 2: SET NEW_NODE = PTR</a:t>
            </a:r>
          </a:p>
          <a:p>
            <a:pPr algn="l"/>
            <a:r>
              <a:rPr lang="en-US" sz="2400" b="0" i="0" dirty="0">
                <a:effectLst/>
                <a:latin typeface="Times New Roman" panose="02020603050405020304" pitchFamily="18" charset="0"/>
                <a:cs typeface="Times New Roman" panose="02020603050405020304" pitchFamily="18" charset="0"/>
              </a:rPr>
              <a:t>Step 3: SET PTR = PTR → NEXT</a:t>
            </a:r>
          </a:p>
          <a:p>
            <a:pPr algn="l"/>
            <a:r>
              <a:rPr lang="en-US" sz="2400" b="0" i="0" dirty="0">
                <a:effectLst/>
                <a:latin typeface="Times New Roman" panose="02020603050405020304" pitchFamily="18" charset="0"/>
                <a:cs typeface="Times New Roman" panose="02020603050405020304" pitchFamily="18" charset="0"/>
              </a:rPr>
              <a:t>Step 4: SET NEW_NODE → DATA = VAL</a:t>
            </a:r>
          </a:p>
          <a:p>
            <a:pPr algn="l"/>
            <a:r>
              <a:rPr lang="en-US" sz="2400" b="0" i="0" dirty="0">
                <a:effectLst/>
                <a:latin typeface="Times New Roman" panose="02020603050405020304" pitchFamily="18" charset="0"/>
                <a:cs typeface="Times New Roman" panose="02020603050405020304" pitchFamily="18" charset="0"/>
              </a:rPr>
              <a:t>Step 5: SET NEW_NODE → NEXT = HEAD</a:t>
            </a:r>
          </a:p>
          <a:p>
            <a:pPr algn="l"/>
            <a:r>
              <a:rPr lang="en-US" sz="2400" b="0" i="0" dirty="0">
                <a:effectLst/>
                <a:latin typeface="Times New Roman" panose="02020603050405020304" pitchFamily="18" charset="0"/>
                <a:cs typeface="Times New Roman" panose="02020603050405020304" pitchFamily="18" charset="0"/>
              </a:rPr>
              <a:t>Step 6: SET HEAD = NEW_NODE</a:t>
            </a:r>
          </a:p>
          <a:p>
            <a:pPr algn="l"/>
            <a:r>
              <a:rPr lang="en-US" sz="2400" b="0" i="0" dirty="0">
                <a:effectLst/>
                <a:latin typeface="Times New Roman" panose="02020603050405020304" pitchFamily="18" charset="0"/>
                <a:cs typeface="Times New Roman" panose="02020603050405020304" pitchFamily="18" charset="0"/>
              </a:rPr>
              <a:t>Step 7: EXIT</a:t>
            </a:r>
          </a:p>
        </p:txBody>
      </p:sp>
    </p:spTree>
    <p:extLst>
      <p:ext uri="{BB962C8B-B14F-4D97-AF65-F5344CB8AC3E}">
        <p14:creationId xmlns:p14="http://schemas.microsoft.com/office/powerpoint/2010/main" val="2148906171"/>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ounded Rectangle 17">
            <a:extLst>
              <a:ext uri="{FF2B5EF4-FFF2-40B4-BE49-F238E27FC236}">
                <a16:creationId xmlns:a16="http://schemas.microsoft.com/office/drawing/2014/main" id="{0F2E30D4-6F86-49D1-9276-85CE0E9B3E3E}"/>
              </a:ext>
            </a:extLst>
          </p:cNvPr>
          <p:cNvSpPr/>
          <p:nvPr/>
        </p:nvSpPr>
        <p:spPr>
          <a:xfrm>
            <a:off x="2243189" y="253280"/>
            <a:ext cx="8183345" cy="709365"/>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3400" b="1" dirty="0">
                <a:solidFill>
                  <a:schemeClr val="bg1"/>
                </a:solidFill>
                <a:latin typeface="Times New Roman" panose="02020603050405020304" pitchFamily="18" charset="0"/>
                <a:cs typeface="Times New Roman" panose="02020603050405020304" pitchFamily="18" charset="0"/>
              </a:rPr>
              <a:t>ii) Insertion At End of the SLL</a:t>
            </a:r>
            <a:endParaRPr lang="en-US" sz="3400" dirty="0">
              <a:solidFill>
                <a:schemeClr val="bg1"/>
              </a:solidFill>
              <a:latin typeface="Times New Roman" panose="02020603050405020304" pitchFamily="18" charset="0"/>
              <a:cs typeface="Times New Roman" panose="02020603050405020304" pitchFamily="18" charset="0"/>
            </a:endParaRPr>
          </a:p>
        </p:txBody>
      </p:sp>
      <p:pic>
        <p:nvPicPr>
          <p:cNvPr id="12"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pic>
        <p:nvPicPr>
          <p:cNvPr id="1028" name="Picture 4" descr="inserting node at the last into a non empty list">
            <a:extLst>
              <a:ext uri="{FF2B5EF4-FFF2-40B4-BE49-F238E27FC236}">
                <a16:creationId xmlns:a16="http://schemas.microsoft.com/office/drawing/2014/main" id="{7BF7A7A8-67BA-D116-F1B5-A82D90E6C0C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15846" y="3578942"/>
            <a:ext cx="9360308" cy="3025778"/>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2" name="Table 1">
            <a:extLst>
              <a:ext uri="{FF2B5EF4-FFF2-40B4-BE49-F238E27FC236}">
                <a16:creationId xmlns:a16="http://schemas.microsoft.com/office/drawing/2014/main" id="{5D183B80-6711-B55D-47A4-F6D0D13FBA05}"/>
              </a:ext>
            </a:extLst>
          </p:cNvPr>
          <p:cNvGraphicFramePr>
            <a:graphicFrameLocks noGrp="1"/>
          </p:cNvGraphicFramePr>
          <p:nvPr>
            <p:extLst>
              <p:ext uri="{D42A27DB-BD31-4B8C-83A1-F6EECF244321}">
                <p14:modId xmlns:p14="http://schemas.microsoft.com/office/powerpoint/2010/main" val="3784533420"/>
              </p:ext>
            </p:extLst>
          </p:nvPr>
        </p:nvGraphicFramePr>
        <p:xfrm>
          <a:off x="1415845" y="1258529"/>
          <a:ext cx="9360307" cy="2164080"/>
        </p:xfrm>
        <a:graphic>
          <a:graphicData uri="http://schemas.openxmlformats.org/drawingml/2006/table">
            <a:tbl>
              <a:tblPr firstRow="1" bandRow="1">
                <a:tableStyleId>{5C22544A-7EE6-4342-B048-85BDC9FD1C3A}</a:tableStyleId>
              </a:tblPr>
              <a:tblGrid>
                <a:gridCol w="9360307">
                  <a:extLst>
                    <a:ext uri="{9D8B030D-6E8A-4147-A177-3AD203B41FA5}">
                      <a16:colId xmlns:a16="http://schemas.microsoft.com/office/drawing/2014/main" val="2887662799"/>
                    </a:ext>
                  </a:extLst>
                </a:gridCol>
              </a:tblGrid>
              <a:tr h="2045110">
                <a:tc>
                  <a:txBody>
                    <a:bodyPr/>
                    <a:lstStyle/>
                    <a:p>
                      <a:r>
                        <a:rPr lang="en-US" sz="3400" b="0" dirty="0">
                          <a:solidFill>
                            <a:sysClr val="windowText" lastClr="000000"/>
                          </a:solidFill>
                          <a:latin typeface="Times New Roman" panose="02020603050405020304" pitchFamily="18" charset="0"/>
                          <a:cs typeface="Times New Roman" panose="02020603050405020304" pitchFamily="18" charset="0"/>
                        </a:rPr>
                        <a:t>It involves insertion at the last of the linked list. The new node can be inserted as the only node in the list or it can be inserted as the last one. Different logics are implemented in each scenario.</a:t>
                      </a:r>
                      <a:endParaRPr lang="en-IN" sz="3400" b="0" dirty="0">
                        <a:solidFill>
                          <a:sysClr val="windowText" lastClr="000000"/>
                        </a:solidFill>
                        <a:latin typeface="Times New Roman" panose="02020603050405020304" pitchFamily="18" charset="0"/>
                        <a:cs typeface="Times New Roman" panose="02020603050405020304" pitchFamily="18" charset="0"/>
                      </a:endParaRPr>
                    </a:p>
                  </a:txBody>
                  <a:tcPr>
                    <a:noFill/>
                  </a:tcPr>
                </a:tc>
                <a:extLst>
                  <a:ext uri="{0D108BD9-81ED-4DB2-BD59-A6C34878D82A}">
                    <a16:rowId xmlns:a16="http://schemas.microsoft.com/office/drawing/2014/main" val="3859655688"/>
                  </a:ext>
                </a:extLst>
              </a:tr>
            </a:tbl>
          </a:graphicData>
        </a:graphic>
      </p:graphicFrame>
    </p:spTree>
    <p:extLst>
      <p:ext uri="{BB962C8B-B14F-4D97-AF65-F5344CB8AC3E}">
        <p14:creationId xmlns:p14="http://schemas.microsoft.com/office/powerpoint/2010/main" val="1460568374"/>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ounded Rectangle 17">
            <a:extLst>
              <a:ext uri="{FF2B5EF4-FFF2-40B4-BE49-F238E27FC236}">
                <a16:creationId xmlns:a16="http://schemas.microsoft.com/office/drawing/2014/main" id="{0F2E30D4-6F86-49D1-9276-85CE0E9B3E3E}"/>
              </a:ext>
            </a:extLst>
          </p:cNvPr>
          <p:cNvSpPr/>
          <p:nvPr/>
        </p:nvSpPr>
        <p:spPr>
          <a:xfrm>
            <a:off x="2243189" y="253280"/>
            <a:ext cx="7775881" cy="709365"/>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3200" b="1" dirty="0">
                <a:solidFill>
                  <a:schemeClr val="bg1"/>
                </a:solidFill>
                <a:latin typeface="Times New Roman" panose="02020603050405020304" pitchFamily="18" charset="0"/>
                <a:cs typeface="Times New Roman" panose="02020603050405020304" pitchFamily="18" charset="0"/>
              </a:rPr>
              <a:t>ii) </a:t>
            </a:r>
            <a:r>
              <a:rPr lang="en-IN" sz="3400" b="1" dirty="0">
                <a:solidFill>
                  <a:schemeClr val="bg1"/>
                </a:solidFill>
                <a:latin typeface="Times New Roman" panose="02020603050405020304" pitchFamily="18" charset="0"/>
                <a:cs typeface="Times New Roman" panose="02020603050405020304" pitchFamily="18" charset="0"/>
              </a:rPr>
              <a:t>Insertion</a:t>
            </a:r>
            <a:r>
              <a:rPr lang="en-IN" sz="3200" b="1" dirty="0">
                <a:solidFill>
                  <a:schemeClr val="bg1"/>
                </a:solidFill>
                <a:latin typeface="Times New Roman" panose="02020603050405020304" pitchFamily="18" charset="0"/>
                <a:cs typeface="Times New Roman" panose="02020603050405020304" pitchFamily="18" charset="0"/>
              </a:rPr>
              <a:t> At End of the SLL</a:t>
            </a:r>
            <a:endParaRPr lang="en-US" sz="2800" dirty="0">
              <a:solidFill>
                <a:schemeClr val="bg1"/>
              </a:solidFill>
              <a:latin typeface="Times New Roman" panose="02020603050405020304" pitchFamily="18" charset="0"/>
              <a:cs typeface="Times New Roman" panose="02020603050405020304" pitchFamily="18" charset="0"/>
            </a:endParaRPr>
          </a:p>
        </p:txBody>
      </p:sp>
      <p:pic>
        <p:nvPicPr>
          <p:cNvPr id="12"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
        <p:nvSpPr>
          <p:cNvPr id="2" name="Rectangle 1"/>
          <p:cNvSpPr/>
          <p:nvPr/>
        </p:nvSpPr>
        <p:spPr>
          <a:xfrm>
            <a:off x="786581" y="1065093"/>
            <a:ext cx="11292668" cy="5755422"/>
          </a:xfrm>
          <a:prstGeom prst="rect">
            <a:avLst/>
          </a:prstGeom>
        </p:spPr>
        <p:txBody>
          <a:bodyPr wrap="square">
            <a:spAutoFit/>
          </a:bodyPr>
          <a:lstStyle/>
          <a:p>
            <a:r>
              <a:rPr lang="en-IN" sz="2400" dirty="0">
                <a:latin typeface="Times New Roman" panose="02020603050405020304" pitchFamily="18" charset="0"/>
                <a:cs typeface="Times New Roman" panose="02020603050405020304" pitchFamily="18" charset="0"/>
              </a:rPr>
              <a:t>We can insert a new node at end(after tail/null node) of the singly linked list.</a:t>
            </a:r>
          </a:p>
          <a:p>
            <a:r>
              <a:rPr lang="en-IN" sz="2400" b="1" dirty="0">
                <a:latin typeface="Times New Roman" panose="02020603050405020304" pitchFamily="18" charset="0"/>
                <a:cs typeface="Times New Roman" panose="02020603050405020304" pitchFamily="18" charset="0"/>
              </a:rPr>
              <a:t>Algorithm:</a:t>
            </a:r>
          </a:p>
          <a:p>
            <a:pPr algn="l"/>
            <a:r>
              <a:rPr lang="en-US" sz="2400" b="0" i="0" dirty="0">
                <a:effectLst/>
                <a:latin typeface="Times New Roman" panose="02020603050405020304" pitchFamily="18" charset="0"/>
                <a:cs typeface="Times New Roman" panose="02020603050405020304" pitchFamily="18" charset="0"/>
              </a:rPr>
              <a:t>Step 1: IF PTR = NULL Write OVERFLOW</a:t>
            </a:r>
          </a:p>
          <a:p>
            <a:pPr algn="l"/>
            <a:r>
              <a:rPr lang="en-US" sz="2400" b="0" i="0" dirty="0">
                <a:effectLst/>
                <a:latin typeface="Times New Roman" panose="02020603050405020304" pitchFamily="18" charset="0"/>
                <a:cs typeface="Times New Roman" panose="02020603050405020304" pitchFamily="18" charset="0"/>
              </a:rPr>
              <a:t>    Go to Step 1</a:t>
            </a:r>
          </a:p>
          <a:p>
            <a:pPr algn="l"/>
            <a:r>
              <a:rPr lang="en-US" sz="2400" b="0" i="0" dirty="0">
                <a:effectLst/>
                <a:latin typeface="Times New Roman" panose="02020603050405020304" pitchFamily="18" charset="0"/>
                <a:cs typeface="Times New Roman" panose="02020603050405020304" pitchFamily="18" charset="0"/>
              </a:rPr>
              <a:t>   [END OF IF]</a:t>
            </a:r>
          </a:p>
          <a:p>
            <a:pPr algn="l"/>
            <a:r>
              <a:rPr lang="en-US" sz="2400" b="0" i="0" dirty="0">
                <a:effectLst/>
                <a:latin typeface="Times New Roman" panose="02020603050405020304" pitchFamily="18" charset="0"/>
                <a:cs typeface="Times New Roman" panose="02020603050405020304" pitchFamily="18" charset="0"/>
              </a:rPr>
              <a:t>Step 2: SET NEW_NODE = PTR</a:t>
            </a:r>
          </a:p>
          <a:p>
            <a:pPr algn="l"/>
            <a:r>
              <a:rPr lang="en-US" sz="2400" b="0" i="0" dirty="0">
                <a:effectLst/>
                <a:latin typeface="Times New Roman" panose="02020603050405020304" pitchFamily="18" charset="0"/>
                <a:cs typeface="Times New Roman" panose="02020603050405020304" pitchFamily="18" charset="0"/>
              </a:rPr>
              <a:t>Step 3: SET PTR = PTR - &gt; NEXT</a:t>
            </a:r>
          </a:p>
          <a:p>
            <a:pPr algn="l"/>
            <a:r>
              <a:rPr lang="en-US" sz="2400" b="0" i="0" dirty="0">
                <a:effectLst/>
                <a:latin typeface="Times New Roman" panose="02020603050405020304" pitchFamily="18" charset="0"/>
                <a:cs typeface="Times New Roman" panose="02020603050405020304" pitchFamily="18" charset="0"/>
              </a:rPr>
              <a:t>Step 4: SET NEW_NODE - &gt; DATA = VAL</a:t>
            </a:r>
          </a:p>
          <a:p>
            <a:pPr algn="l"/>
            <a:r>
              <a:rPr lang="en-US" sz="2400" b="0" i="0" dirty="0">
                <a:effectLst/>
                <a:latin typeface="Times New Roman" panose="02020603050405020304" pitchFamily="18" charset="0"/>
                <a:cs typeface="Times New Roman" panose="02020603050405020304" pitchFamily="18" charset="0"/>
              </a:rPr>
              <a:t>Step 5: SET NEW_NODE - &gt; NEXT = NULL</a:t>
            </a:r>
          </a:p>
          <a:p>
            <a:pPr algn="l"/>
            <a:r>
              <a:rPr lang="en-US" sz="2400" b="0" i="0" dirty="0">
                <a:effectLst/>
                <a:latin typeface="Times New Roman" panose="02020603050405020304" pitchFamily="18" charset="0"/>
                <a:cs typeface="Times New Roman" panose="02020603050405020304" pitchFamily="18" charset="0"/>
              </a:rPr>
              <a:t>Step 6: SET PTR = HEAD</a:t>
            </a:r>
          </a:p>
          <a:p>
            <a:pPr algn="l"/>
            <a:r>
              <a:rPr lang="en-US" sz="2400" b="0" i="0" dirty="0">
                <a:effectLst/>
                <a:latin typeface="Times New Roman" panose="02020603050405020304" pitchFamily="18" charset="0"/>
                <a:cs typeface="Times New Roman" panose="02020603050405020304" pitchFamily="18" charset="0"/>
              </a:rPr>
              <a:t>Step 7: Repeat Step 8 while PTR - &gt; NEXT != NULL</a:t>
            </a:r>
          </a:p>
          <a:p>
            <a:pPr algn="l"/>
            <a:r>
              <a:rPr lang="en-US" sz="2400" b="0" i="0" dirty="0">
                <a:effectLst/>
                <a:latin typeface="Times New Roman" panose="02020603050405020304" pitchFamily="18" charset="0"/>
                <a:cs typeface="Times New Roman" panose="02020603050405020304" pitchFamily="18" charset="0"/>
              </a:rPr>
              <a:t>Step 8: SET PTR = PTR - &gt; NEXT</a:t>
            </a:r>
          </a:p>
          <a:p>
            <a:pPr algn="l"/>
            <a:r>
              <a:rPr lang="en-US" sz="2400" b="0" i="0" dirty="0">
                <a:effectLst/>
                <a:latin typeface="Times New Roman" panose="02020603050405020304" pitchFamily="18" charset="0"/>
                <a:cs typeface="Times New Roman" panose="02020603050405020304" pitchFamily="18" charset="0"/>
              </a:rPr>
              <a:t>[END OF LOOP]</a:t>
            </a:r>
          </a:p>
          <a:p>
            <a:pPr algn="l"/>
            <a:r>
              <a:rPr lang="en-US" sz="2400" b="0" i="0" dirty="0">
                <a:effectLst/>
                <a:latin typeface="Times New Roman" panose="02020603050405020304" pitchFamily="18" charset="0"/>
                <a:cs typeface="Times New Roman" panose="02020603050405020304" pitchFamily="18" charset="0"/>
              </a:rPr>
              <a:t>Step 9: SET PTR - &gt; NEXT = NEW_NODE</a:t>
            </a:r>
          </a:p>
          <a:p>
            <a:pPr algn="l"/>
            <a:r>
              <a:rPr lang="en-US" sz="2400" b="0" i="0" dirty="0">
                <a:effectLst/>
                <a:latin typeface="Times New Roman" panose="02020603050405020304" pitchFamily="18" charset="0"/>
                <a:cs typeface="Times New Roman" panose="02020603050405020304" pitchFamily="18" charset="0"/>
              </a:rPr>
              <a:t>Step 10: EXIT</a:t>
            </a:r>
          </a:p>
        </p:txBody>
      </p:sp>
    </p:spTree>
    <p:extLst>
      <p:ext uri="{BB962C8B-B14F-4D97-AF65-F5344CB8AC3E}">
        <p14:creationId xmlns:p14="http://schemas.microsoft.com/office/powerpoint/2010/main" val="2851356339"/>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ounded Rectangle 17">
            <a:extLst>
              <a:ext uri="{FF2B5EF4-FFF2-40B4-BE49-F238E27FC236}">
                <a16:creationId xmlns:a16="http://schemas.microsoft.com/office/drawing/2014/main" id="{0F2E30D4-6F86-49D1-9276-85CE0E9B3E3E}"/>
              </a:ext>
            </a:extLst>
          </p:cNvPr>
          <p:cNvSpPr/>
          <p:nvPr/>
        </p:nvSpPr>
        <p:spPr>
          <a:xfrm>
            <a:off x="2243189" y="253280"/>
            <a:ext cx="8183345" cy="709365"/>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800" b="1" dirty="0">
                <a:solidFill>
                  <a:schemeClr val="bg1"/>
                </a:solidFill>
                <a:latin typeface="Times New Roman" panose="02020603050405020304" pitchFamily="18" charset="0"/>
                <a:cs typeface="Times New Roman" panose="02020603050405020304" pitchFamily="18" charset="0"/>
              </a:rPr>
              <a:t>iii) </a:t>
            </a:r>
            <a:r>
              <a:rPr lang="en-IN" sz="2800" dirty="0">
                <a:latin typeface="Times New Roman" panose="02020603050405020304" pitchFamily="18" charset="0"/>
                <a:cs typeface="Times New Roman" panose="02020603050405020304" pitchFamily="18" charset="0"/>
              </a:rPr>
              <a:t>Insertion At </a:t>
            </a:r>
            <a:r>
              <a:rPr lang="en-IN" sz="3400" dirty="0">
                <a:latin typeface="Times New Roman" panose="02020603050405020304" pitchFamily="18" charset="0"/>
                <a:cs typeface="Times New Roman" panose="02020603050405020304" pitchFamily="18" charset="0"/>
              </a:rPr>
              <a:t>Specific</a:t>
            </a:r>
            <a:r>
              <a:rPr lang="en-IN" sz="2800" dirty="0">
                <a:latin typeface="Times New Roman" panose="02020603050405020304" pitchFamily="18" charset="0"/>
                <a:cs typeface="Times New Roman" panose="02020603050405020304" pitchFamily="18" charset="0"/>
              </a:rPr>
              <a:t> location in the SLL</a:t>
            </a:r>
            <a:endParaRPr lang="en-US" sz="2400" dirty="0">
              <a:solidFill>
                <a:schemeClr val="bg1"/>
              </a:solidFill>
              <a:latin typeface="Times New Roman" panose="02020603050405020304" pitchFamily="18" charset="0"/>
              <a:cs typeface="Times New Roman" panose="02020603050405020304" pitchFamily="18" charset="0"/>
            </a:endParaRPr>
          </a:p>
        </p:txBody>
      </p:sp>
      <p:pic>
        <p:nvPicPr>
          <p:cNvPr id="12"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pic>
        <p:nvPicPr>
          <p:cNvPr id="2050" name="Picture 2" descr="Insertion in singly linked list after specified Node">
            <a:extLst>
              <a:ext uri="{FF2B5EF4-FFF2-40B4-BE49-F238E27FC236}">
                <a16:creationId xmlns:a16="http://schemas.microsoft.com/office/drawing/2014/main" id="{E453FCD4-8E53-4388-BC4E-F85AB6BF5C9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47502" y="2819400"/>
            <a:ext cx="8696996" cy="3785320"/>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2" name="Table 1">
            <a:extLst>
              <a:ext uri="{FF2B5EF4-FFF2-40B4-BE49-F238E27FC236}">
                <a16:creationId xmlns:a16="http://schemas.microsoft.com/office/drawing/2014/main" id="{57F4957E-C2DF-CDDD-E314-9C2BFD17ED88}"/>
              </a:ext>
            </a:extLst>
          </p:cNvPr>
          <p:cNvGraphicFramePr>
            <a:graphicFrameLocks noGrp="1"/>
          </p:cNvGraphicFramePr>
          <p:nvPr>
            <p:extLst>
              <p:ext uri="{D42A27DB-BD31-4B8C-83A1-F6EECF244321}">
                <p14:modId xmlns:p14="http://schemas.microsoft.com/office/powerpoint/2010/main" val="960121571"/>
              </p:ext>
            </p:extLst>
          </p:nvPr>
        </p:nvGraphicFramePr>
        <p:xfrm>
          <a:off x="1747502" y="1115378"/>
          <a:ext cx="8696996" cy="1188720"/>
        </p:xfrm>
        <a:graphic>
          <a:graphicData uri="http://schemas.openxmlformats.org/drawingml/2006/table">
            <a:tbl>
              <a:tblPr firstRow="1" bandRow="1">
                <a:tableStyleId>{5C22544A-7EE6-4342-B048-85BDC9FD1C3A}</a:tableStyleId>
              </a:tblPr>
              <a:tblGrid>
                <a:gridCol w="8696996">
                  <a:extLst>
                    <a:ext uri="{9D8B030D-6E8A-4147-A177-3AD203B41FA5}">
                      <a16:colId xmlns:a16="http://schemas.microsoft.com/office/drawing/2014/main" val="1078517739"/>
                    </a:ext>
                  </a:extLst>
                </a:gridCol>
              </a:tblGrid>
              <a:tr h="370840">
                <a:tc>
                  <a:txBody>
                    <a:bodyPr/>
                    <a:lstStyle/>
                    <a:p>
                      <a:r>
                        <a:rPr lang="en-US" sz="2400" b="0" i="0" kern="1200" dirty="0">
                          <a:solidFill>
                            <a:sysClr val="windowText" lastClr="000000"/>
                          </a:solidFill>
                          <a:effectLst/>
                          <a:latin typeface="Times New Roman" panose="02020603050405020304" pitchFamily="18" charset="0"/>
                          <a:ea typeface="+mn-ea"/>
                          <a:cs typeface="Times New Roman" panose="02020603050405020304" pitchFamily="18" charset="0"/>
                        </a:rPr>
                        <a:t>It involves insertion after the specified node of the linked list. We need to skip the desired number of nodes in order to reach the node after which the new node will be inserted.</a:t>
                      </a:r>
                      <a:endParaRPr lang="en-IN" sz="2400" dirty="0">
                        <a:solidFill>
                          <a:sysClr val="windowText" lastClr="000000"/>
                        </a:solidFill>
                        <a:latin typeface="Times New Roman" panose="02020603050405020304" pitchFamily="18" charset="0"/>
                        <a:cs typeface="Times New Roman" panose="02020603050405020304" pitchFamily="18" charset="0"/>
                      </a:endParaRPr>
                    </a:p>
                  </a:txBody>
                  <a:tcPr>
                    <a:noFill/>
                  </a:tcPr>
                </a:tc>
                <a:extLst>
                  <a:ext uri="{0D108BD9-81ED-4DB2-BD59-A6C34878D82A}">
                    <a16:rowId xmlns:a16="http://schemas.microsoft.com/office/drawing/2014/main" val="1962920545"/>
                  </a:ext>
                </a:extLst>
              </a:tr>
            </a:tbl>
          </a:graphicData>
        </a:graphic>
      </p:graphicFrame>
    </p:spTree>
    <p:extLst>
      <p:ext uri="{BB962C8B-B14F-4D97-AF65-F5344CB8AC3E}">
        <p14:creationId xmlns:p14="http://schemas.microsoft.com/office/powerpoint/2010/main" val="3477512788"/>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ounded Rectangle 17">
            <a:extLst>
              <a:ext uri="{FF2B5EF4-FFF2-40B4-BE49-F238E27FC236}">
                <a16:creationId xmlns:a16="http://schemas.microsoft.com/office/drawing/2014/main" id="{0F2E30D4-6F86-49D1-9276-85CE0E9B3E3E}"/>
              </a:ext>
            </a:extLst>
          </p:cNvPr>
          <p:cNvSpPr/>
          <p:nvPr/>
        </p:nvSpPr>
        <p:spPr>
          <a:xfrm>
            <a:off x="2243189" y="253280"/>
            <a:ext cx="8375649" cy="709365"/>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3400" b="1" dirty="0">
                <a:solidFill>
                  <a:schemeClr val="bg1"/>
                </a:solidFill>
                <a:latin typeface="Times New Roman" panose="02020603050405020304" pitchFamily="18" charset="0"/>
                <a:cs typeface="Times New Roman" panose="02020603050405020304" pitchFamily="18" charset="0"/>
              </a:rPr>
              <a:t>iii) Insertion At Specific location of the SLL</a:t>
            </a:r>
            <a:endParaRPr lang="en-US" sz="3400" dirty="0">
              <a:solidFill>
                <a:schemeClr val="bg1"/>
              </a:solidFill>
              <a:latin typeface="Times New Roman" panose="02020603050405020304" pitchFamily="18" charset="0"/>
              <a:cs typeface="Times New Roman" panose="02020603050405020304" pitchFamily="18" charset="0"/>
            </a:endParaRPr>
          </a:p>
        </p:txBody>
      </p:sp>
      <p:pic>
        <p:nvPicPr>
          <p:cNvPr id="12"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
        <p:nvSpPr>
          <p:cNvPr id="2" name="Rectangle 1"/>
          <p:cNvSpPr/>
          <p:nvPr/>
        </p:nvSpPr>
        <p:spPr>
          <a:xfrm>
            <a:off x="1990725" y="962645"/>
            <a:ext cx="10088524" cy="5632311"/>
          </a:xfrm>
          <a:prstGeom prst="rect">
            <a:avLst/>
          </a:prstGeom>
        </p:spPr>
        <p:txBody>
          <a:bodyPr wrap="square">
            <a:spAutoFit/>
          </a:bodyPr>
          <a:lstStyle/>
          <a:p>
            <a:r>
              <a:rPr lang="en-IN" b="1" dirty="0">
                <a:latin typeface="Times New Roman" panose="02020603050405020304" pitchFamily="18" charset="0"/>
                <a:cs typeface="Times New Roman" panose="02020603050405020304" pitchFamily="18" charset="0"/>
              </a:rPr>
              <a:t>Algorithm:</a:t>
            </a:r>
          </a:p>
          <a:p>
            <a:pPr algn="l"/>
            <a:r>
              <a:rPr lang="en-US" b="0" i="0" dirty="0">
                <a:effectLst/>
                <a:latin typeface="Times New Roman" panose="02020603050405020304" pitchFamily="18" charset="0"/>
                <a:cs typeface="Times New Roman" panose="02020603050405020304" pitchFamily="18" charset="0"/>
              </a:rPr>
              <a:t>STEP 1: IF PTR = NULL</a:t>
            </a:r>
          </a:p>
          <a:p>
            <a:pPr algn="l"/>
            <a:r>
              <a:rPr lang="en-US" b="0" i="0" dirty="0">
                <a:effectLst/>
                <a:latin typeface="Times New Roman" panose="02020603050405020304" pitchFamily="18" charset="0"/>
                <a:cs typeface="Times New Roman" panose="02020603050405020304" pitchFamily="18" charset="0"/>
              </a:rPr>
              <a:t>WRITE OVERFLOW</a:t>
            </a:r>
          </a:p>
          <a:p>
            <a:pPr algn="l"/>
            <a:r>
              <a:rPr lang="en-US" b="0" i="0" dirty="0">
                <a:effectLst/>
                <a:latin typeface="Times New Roman" panose="02020603050405020304" pitchFamily="18" charset="0"/>
                <a:cs typeface="Times New Roman" panose="02020603050405020304" pitchFamily="18" charset="0"/>
              </a:rPr>
              <a:t>    GOTO STEP 12</a:t>
            </a:r>
          </a:p>
          <a:p>
            <a:pPr algn="l"/>
            <a:r>
              <a:rPr lang="en-US" b="0" i="0" dirty="0">
                <a:effectLst/>
                <a:latin typeface="Times New Roman" panose="02020603050405020304" pitchFamily="18" charset="0"/>
                <a:cs typeface="Times New Roman" panose="02020603050405020304" pitchFamily="18" charset="0"/>
              </a:rPr>
              <a:t>   END OF IF</a:t>
            </a:r>
          </a:p>
          <a:p>
            <a:pPr algn="l"/>
            <a:r>
              <a:rPr lang="en-US" b="0" i="0" dirty="0">
                <a:effectLst/>
                <a:latin typeface="Times New Roman" panose="02020603050405020304" pitchFamily="18" charset="0"/>
                <a:cs typeface="Times New Roman" panose="02020603050405020304" pitchFamily="18" charset="0"/>
              </a:rPr>
              <a:t>STEP 2: SET NEW_NODE = PTR</a:t>
            </a:r>
          </a:p>
          <a:p>
            <a:pPr algn="l"/>
            <a:r>
              <a:rPr lang="en-US" b="0" i="0" dirty="0">
                <a:effectLst/>
                <a:latin typeface="Times New Roman" panose="02020603050405020304" pitchFamily="18" charset="0"/>
                <a:cs typeface="Times New Roman" panose="02020603050405020304" pitchFamily="18" charset="0"/>
              </a:rPr>
              <a:t>STEP 3: NEW_NODE → DATA = VAL</a:t>
            </a:r>
          </a:p>
          <a:p>
            <a:pPr algn="l"/>
            <a:r>
              <a:rPr lang="en-US" b="0" i="0" dirty="0">
                <a:effectLst/>
                <a:latin typeface="Times New Roman" panose="02020603050405020304" pitchFamily="18" charset="0"/>
                <a:cs typeface="Times New Roman" panose="02020603050405020304" pitchFamily="18" charset="0"/>
              </a:rPr>
              <a:t>STEP 4: SET TEMP = HEAD</a:t>
            </a:r>
          </a:p>
          <a:p>
            <a:pPr algn="l"/>
            <a:r>
              <a:rPr lang="en-US" b="0" i="0" dirty="0">
                <a:effectLst/>
                <a:latin typeface="Times New Roman" panose="02020603050405020304" pitchFamily="18" charset="0"/>
                <a:cs typeface="Times New Roman" panose="02020603050405020304" pitchFamily="18" charset="0"/>
              </a:rPr>
              <a:t>STEP 5: SET I = 0</a:t>
            </a:r>
          </a:p>
          <a:p>
            <a:pPr algn="l"/>
            <a:r>
              <a:rPr lang="en-US" b="0" i="0" dirty="0">
                <a:effectLst/>
                <a:latin typeface="Times New Roman" panose="02020603050405020304" pitchFamily="18" charset="0"/>
                <a:cs typeface="Times New Roman" panose="02020603050405020304" pitchFamily="18" charset="0"/>
              </a:rPr>
              <a:t>STEP 6: REPEAT STEP 5 AND 6 UNTIL I</a:t>
            </a:r>
          </a:p>
          <a:p>
            <a:pPr algn="l"/>
            <a:r>
              <a:rPr lang="en-US" b="0" i="0" dirty="0">
                <a:effectLst/>
                <a:latin typeface="Times New Roman" panose="02020603050405020304" pitchFamily="18" charset="0"/>
                <a:cs typeface="Times New Roman" panose="02020603050405020304" pitchFamily="18" charset="0"/>
              </a:rPr>
              <a:t>STEP 7: TEMP = TEMP → NEXT</a:t>
            </a:r>
          </a:p>
          <a:p>
            <a:pPr algn="l"/>
            <a:r>
              <a:rPr lang="en-US" b="0" i="0" dirty="0">
                <a:effectLst/>
                <a:latin typeface="Times New Roman" panose="02020603050405020304" pitchFamily="18" charset="0"/>
                <a:cs typeface="Times New Roman" panose="02020603050405020304" pitchFamily="18" charset="0"/>
              </a:rPr>
              <a:t>STEP 8: IF TEMP = NULL</a:t>
            </a:r>
          </a:p>
          <a:p>
            <a:pPr algn="l"/>
            <a:r>
              <a:rPr lang="en-US" b="0" i="0" dirty="0">
                <a:effectLst/>
                <a:latin typeface="Times New Roman" panose="02020603050405020304" pitchFamily="18" charset="0"/>
                <a:cs typeface="Times New Roman" panose="02020603050405020304" pitchFamily="18" charset="0"/>
              </a:rPr>
              <a:t>WRITE "DESIRED NODE NOT PRESENT"</a:t>
            </a:r>
          </a:p>
          <a:p>
            <a:pPr algn="l"/>
            <a:r>
              <a:rPr lang="en-US" b="0" i="0" dirty="0">
                <a:effectLst/>
                <a:latin typeface="Times New Roman" panose="02020603050405020304" pitchFamily="18" charset="0"/>
                <a:cs typeface="Times New Roman" panose="02020603050405020304" pitchFamily="18" charset="0"/>
              </a:rPr>
              <a:t>     GOTO STEP 12</a:t>
            </a:r>
          </a:p>
          <a:p>
            <a:pPr algn="l"/>
            <a:r>
              <a:rPr lang="en-US" b="0" i="0" dirty="0">
                <a:effectLst/>
                <a:latin typeface="Times New Roman" panose="02020603050405020304" pitchFamily="18" charset="0"/>
                <a:cs typeface="Times New Roman" panose="02020603050405020304" pitchFamily="18" charset="0"/>
              </a:rPr>
              <a:t>    END OF IF</a:t>
            </a:r>
          </a:p>
          <a:p>
            <a:pPr algn="l"/>
            <a:r>
              <a:rPr lang="en-US" b="0" i="0" dirty="0">
                <a:effectLst/>
                <a:latin typeface="Times New Roman" panose="02020603050405020304" pitchFamily="18" charset="0"/>
                <a:cs typeface="Times New Roman" panose="02020603050405020304" pitchFamily="18" charset="0"/>
              </a:rPr>
              <a:t> END OF LOOP</a:t>
            </a:r>
          </a:p>
          <a:p>
            <a:pPr algn="l"/>
            <a:r>
              <a:rPr lang="en-US" b="0" i="0" dirty="0">
                <a:effectLst/>
                <a:latin typeface="Times New Roman" panose="02020603050405020304" pitchFamily="18" charset="0"/>
                <a:cs typeface="Times New Roman" panose="02020603050405020304" pitchFamily="18" charset="0"/>
              </a:rPr>
              <a:t>STEP 9: PTR → NEXT = TEMP → NEXT</a:t>
            </a:r>
          </a:p>
          <a:p>
            <a:pPr algn="l"/>
            <a:r>
              <a:rPr lang="en-US" b="0" i="0" dirty="0">
                <a:effectLst/>
                <a:latin typeface="Times New Roman" panose="02020603050405020304" pitchFamily="18" charset="0"/>
                <a:cs typeface="Times New Roman" panose="02020603050405020304" pitchFamily="18" charset="0"/>
              </a:rPr>
              <a:t>STEP 10: TEMP → NEXT = PTR</a:t>
            </a:r>
          </a:p>
          <a:p>
            <a:pPr algn="l"/>
            <a:r>
              <a:rPr lang="en-US" b="0" i="0" dirty="0">
                <a:effectLst/>
                <a:latin typeface="Times New Roman" panose="02020603050405020304" pitchFamily="18" charset="0"/>
                <a:cs typeface="Times New Roman" panose="02020603050405020304" pitchFamily="18" charset="0"/>
              </a:rPr>
              <a:t>STEP 11: SET PTR = NEW_NODE</a:t>
            </a:r>
          </a:p>
          <a:p>
            <a:pPr algn="l"/>
            <a:r>
              <a:rPr lang="en-US" b="0" i="0" dirty="0">
                <a:effectLst/>
                <a:latin typeface="Times New Roman" panose="02020603050405020304" pitchFamily="18" charset="0"/>
                <a:cs typeface="Times New Roman" panose="02020603050405020304" pitchFamily="18" charset="0"/>
              </a:rPr>
              <a:t>STEP 12: EXIT</a:t>
            </a:r>
          </a:p>
        </p:txBody>
      </p:sp>
    </p:spTree>
    <p:extLst>
      <p:ext uri="{BB962C8B-B14F-4D97-AF65-F5344CB8AC3E}">
        <p14:creationId xmlns:p14="http://schemas.microsoft.com/office/powerpoint/2010/main" val="2307265544"/>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ounded Rectangle 17">
            <a:extLst>
              <a:ext uri="{FF2B5EF4-FFF2-40B4-BE49-F238E27FC236}">
                <a16:creationId xmlns:a16="http://schemas.microsoft.com/office/drawing/2014/main" id="{0F2E30D4-6F86-49D1-9276-85CE0E9B3E3E}"/>
              </a:ext>
            </a:extLst>
          </p:cNvPr>
          <p:cNvSpPr/>
          <p:nvPr/>
        </p:nvSpPr>
        <p:spPr>
          <a:xfrm>
            <a:off x="2243190" y="253280"/>
            <a:ext cx="7893868" cy="709365"/>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3400" b="1" dirty="0">
                <a:solidFill>
                  <a:schemeClr val="bg1"/>
                </a:solidFill>
                <a:latin typeface="Times New Roman" panose="02020603050405020304" pitchFamily="18" charset="0"/>
                <a:cs typeface="Times New Roman" panose="02020603050405020304" pitchFamily="18" charset="0"/>
              </a:rPr>
              <a:t>i) Deletion At Beginning of the SLL</a:t>
            </a:r>
            <a:endParaRPr lang="en-US" sz="3400" dirty="0">
              <a:solidFill>
                <a:schemeClr val="bg1"/>
              </a:solidFill>
              <a:latin typeface="Times New Roman" panose="02020603050405020304" pitchFamily="18" charset="0"/>
              <a:cs typeface="Times New Roman" panose="02020603050405020304" pitchFamily="18" charset="0"/>
            </a:endParaRPr>
          </a:p>
        </p:txBody>
      </p:sp>
      <p:pic>
        <p:nvPicPr>
          <p:cNvPr id="12"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pic>
        <p:nvPicPr>
          <p:cNvPr id="5122" name="Picture 2" descr="DS Deletion in singly linked list at beginning">
            <a:extLst>
              <a:ext uri="{FF2B5EF4-FFF2-40B4-BE49-F238E27FC236}">
                <a16:creationId xmlns:a16="http://schemas.microsoft.com/office/drawing/2014/main" id="{738DE675-0225-B0E5-0834-00DFC710CEB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56852" y="2481332"/>
            <a:ext cx="9763431" cy="4123388"/>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3" name="Table 2">
            <a:extLst>
              <a:ext uri="{FF2B5EF4-FFF2-40B4-BE49-F238E27FC236}">
                <a16:creationId xmlns:a16="http://schemas.microsoft.com/office/drawing/2014/main" id="{379FA8C4-7940-9B49-F4B1-3B4A1EA6A38D}"/>
              </a:ext>
            </a:extLst>
          </p:cNvPr>
          <p:cNvGraphicFramePr>
            <a:graphicFrameLocks noGrp="1"/>
          </p:cNvGraphicFramePr>
          <p:nvPr>
            <p:extLst>
              <p:ext uri="{D42A27DB-BD31-4B8C-83A1-F6EECF244321}">
                <p14:modId xmlns:p14="http://schemas.microsoft.com/office/powerpoint/2010/main" val="3005546937"/>
              </p:ext>
            </p:extLst>
          </p:nvPr>
        </p:nvGraphicFramePr>
        <p:xfrm>
          <a:off x="1356853" y="878981"/>
          <a:ext cx="9763430" cy="1323446"/>
        </p:xfrm>
        <a:graphic>
          <a:graphicData uri="http://schemas.openxmlformats.org/drawingml/2006/table">
            <a:tbl>
              <a:tblPr firstRow="1" bandRow="1">
                <a:tableStyleId>{5C22544A-7EE6-4342-B048-85BDC9FD1C3A}</a:tableStyleId>
              </a:tblPr>
              <a:tblGrid>
                <a:gridCol w="9763430">
                  <a:extLst>
                    <a:ext uri="{9D8B030D-6E8A-4147-A177-3AD203B41FA5}">
                      <a16:colId xmlns:a16="http://schemas.microsoft.com/office/drawing/2014/main" val="3697389799"/>
                    </a:ext>
                  </a:extLst>
                </a:gridCol>
              </a:tblGrid>
              <a:tr h="1323446">
                <a:tc>
                  <a:txBody>
                    <a:bodyPr/>
                    <a:lstStyle/>
                    <a:p>
                      <a:r>
                        <a:rPr lang="en-US" sz="2400" b="0" i="0" kern="1200" dirty="0">
                          <a:solidFill>
                            <a:sysClr val="windowText" lastClr="000000"/>
                          </a:solidFill>
                          <a:effectLst/>
                          <a:latin typeface="Times New Roman" panose="02020603050405020304" pitchFamily="18" charset="0"/>
                          <a:ea typeface="+mn-ea"/>
                          <a:cs typeface="Times New Roman" panose="02020603050405020304" pitchFamily="18" charset="0"/>
                        </a:rPr>
                        <a:t>It involves deletion of a node from the beginning of the list. This is the simplest operation among all. It just need a few adjustments in the node pointers.</a:t>
                      </a:r>
                      <a:endParaRPr lang="en-IN" sz="2400" dirty="0">
                        <a:solidFill>
                          <a:sysClr val="windowText" lastClr="000000"/>
                        </a:solidFill>
                        <a:latin typeface="Times New Roman" panose="02020603050405020304" pitchFamily="18" charset="0"/>
                        <a:cs typeface="Times New Roman" panose="02020603050405020304" pitchFamily="18" charset="0"/>
                      </a:endParaRPr>
                    </a:p>
                  </a:txBody>
                  <a:tcPr>
                    <a:solidFill>
                      <a:schemeClr val="bg1"/>
                    </a:solidFill>
                  </a:tcPr>
                </a:tc>
                <a:extLst>
                  <a:ext uri="{0D108BD9-81ED-4DB2-BD59-A6C34878D82A}">
                    <a16:rowId xmlns:a16="http://schemas.microsoft.com/office/drawing/2014/main" val="34007467"/>
                  </a:ext>
                </a:extLst>
              </a:tr>
            </a:tbl>
          </a:graphicData>
        </a:graphic>
      </p:graphicFrame>
    </p:spTree>
    <p:extLst>
      <p:ext uri="{BB962C8B-B14F-4D97-AF65-F5344CB8AC3E}">
        <p14:creationId xmlns:p14="http://schemas.microsoft.com/office/powerpoint/2010/main" val="3046755418"/>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ounded Rectangle 17">
            <a:extLst>
              <a:ext uri="{FF2B5EF4-FFF2-40B4-BE49-F238E27FC236}">
                <a16:creationId xmlns:a16="http://schemas.microsoft.com/office/drawing/2014/main" id="{0F2E30D4-6F86-49D1-9276-85CE0E9B3E3E}"/>
              </a:ext>
            </a:extLst>
          </p:cNvPr>
          <p:cNvSpPr/>
          <p:nvPr/>
        </p:nvSpPr>
        <p:spPr>
          <a:xfrm>
            <a:off x="2243190" y="253280"/>
            <a:ext cx="8061016" cy="709365"/>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3400" b="1" dirty="0">
                <a:solidFill>
                  <a:schemeClr val="bg1"/>
                </a:solidFill>
                <a:latin typeface="Times New Roman" panose="02020603050405020304" pitchFamily="18" charset="0"/>
                <a:cs typeface="Times New Roman" panose="02020603050405020304" pitchFamily="18" charset="0"/>
              </a:rPr>
              <a:t>i) Deletion At Beginning of the SLL</a:t>
            </a:r>
            <a:endParaRPr lang="en-US" sz="3400" dirty="0">
              <a:solidFill>
                <a:schemeClr val="bg1"/>
              </a:solidFill>
              <a:latin typeface="Times New Roman" panose="02020603050405020304" pitchFamily="18" charset="0"/>
              <a:cs typeface="Times New Roman" panose="02020603050405020304" pitchFamily="18" charset="0"/>
            </a:endParaRPr>
          </a:p>
        </p:txBody>
      </p:sp>
      <p:pic>
        <p:nvPicPr>
          <p:cNvPr id="12"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
        <p:nvSpPr>
          <p:cNvPr id="2" name="Rectangle 1"/>
          <p:cNvSpPr/>
          <p:nvPr/>
        </p:nvSpPr>
        <p:spPr>
          <a:xfrm>
            <a:off x="1990725" y="1065093"/>
            <a:ext cx="10088524" cy="4154984"/>
          </a:xfrm>
          <a:prstGeom prst="rect">
            <a:avLst/>
          </a:prstGeom>
        </p:spPr>
        <p:txBody>
          <a:bodyPr wrap="square">
            <a:spAutoFit/>
          </a:bodyPr>
          <a:lstStyle/>
          <a:p>
            <a:r>
              <a:rPr lang="en-IN" sz="2400" dirty="0">
                <a:latin typeface="Times New Roman" panose="02020603050405020304" pitchFamily="18" charset="0"/>
                <a:cs typeface="Times New Roman" panose="02020603050405020304" pitchFamily="18" charset="0"/>
              </a:rPr>
              <a:t>We can delete a node </a:t>
            </a:r>
            <a:r>
              <a:rPr lang="en-US" sz="2400" b="0" i="0" dirty="0">
                <a:solidFill>
                  <a:srgbClr val="333333"/>
                </a:solidFill>
                <a:effectLst/>
                <a:latin typeface="Times New Roman" panose="02020603050405020304" pitchFamily="18" charset="0"/>
                <a:cs typeface="Times New Roman" panose="02020603050405020304" pitchFamily="18" charset="0"/>
              </a:rPr>
              <a:t>from the beginning of the </a:t>
            </a:r>
            <a:r>
              <a:rPr lang="en-IN" sz="2400" dirty="0">
                <a:latin typeface="Times New Roman" panose="02020603050405020304" pitchFamily="18" charset="0"/>
                <a:cs typeface="Times New Roman" panose="02020603050405020304" pitchFamily="18" charset="0"/>
              </a:rPr>
              <a:t>list.</a:t>
            </a:r>
          </a:p>
          <a:p>
            <a:r>
              <a:rPr lang="en-IN" sz="2400" b="1" dirty="0">
                <a:latin typeface="Times New Roman" panose="02020603050405020304" pitchFamily="18" charset="0"/>
                <a:cs typeface="Times New Roman" panose="02020603050405020304" pitchFamily="18" charset="0"/>
              </a:rPr>
              <a:t>Algorithm:</a:t>
            </a:r>
          </a:p>
          <a:p>
            <a:r>
              <a:rPr lang="en-US" sz="2400" dirty="0">
                <a:latin typeface="Times New Roman" panose="02020603050405020304" pitchFamily="18" charset="0"/>
                <a:cs typeface="Times New Roman" panose="02020603050405020304" pitchFamily="18" charset="0"/>
              </a:rPr>
              <a:t>Step 1: IF HEAD = NULL</a:t>
            </a:r>
          </a:p>
          <a:p>
            <a:r>
              <a:rPr lang="en-US" sz="2400" dirty="0">
                <a:latin typeface="Times New Roman" panose="02020603050405020304" pitchFamily="18" charset="0"/>
                <a:cs typeface="Times New Roman" panose="02020603050405020304" pitchFamily="18" charset="0"/>
              </a:rPr>
              <a:t>Write UNDERFLOW</a:t>
            </a:r>
          </a:p>
          <a:p>
            <a:r>
              <a:rPr lang="en-US" sz="2400" dirty="0">
                <a:latin typeface="Times New Roman" panose="02020603050405020304" pitchFamily="18" charset="0"/>
                <a:cs typeface="Times New Roman" panose="02020603050405020304" pitchFamily="18" charset="0"/>
              </a:rPr>
              <a:t>     Go to Step 5</a:t>
            </a:r>
          </a:p>
          <a:p>
            <a:r>
              <a:rPr lang="en-US" sz="2400" dirty="0">
                <a:latin typeface="Times New Roman" panose="02020603050405020304" pitchFamily="18" charset="0"/>
                <a:cs typeface="Times New Roman" panose="02020603050405020304" pitchFamily="18" charset="0"/>
              </a:rPr>
              <a:t>    [END OF IF]</a:t>
            </a:r>
          </a:p>
          <a:p>
            <a:endParaRPr lang="en-US" sz="2400"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Step 2: SET PTR = HEAD</a:t>
            </a:r>
          </a:p>
          <a:p>
            <a:r>
              <a:rPr lang="en-US" sz="2400" dirty="0">
                <a:latin typeface="Times New Roman" panose="02020603050405020304" pitchFamily="18" charset="0"/>
                <a:cs typeface="Times New Roman" panose="02020603050405020304" pitchFamily="18" charset="0"/>
              </a:rPr>
              <a:t>Step 3: SET HEAD = HEAD -&gt; NEXT</a:t>
            </a:r>
          </a:p>
          <a:p>
            <a:r>
              <a:rPr lang="en-US" sz="2400" dirty="0">
                <a:latin typeface="Times New Roman" panose="02020603050405020304" pitchFamily="18" charset="0"/>
                <a:cs typeface="Times New Roman" panose="02020603050405020304" pitchFamily="18" charset="0"/>
              </a:rPr>
              <a:t>Step 4: FREE PTR</a:t>
            </a:r>
          </a:p>
          <a:p>
            <a:r>
              <a:rPr lang="en-US" sz="2400" dirty="0">
                <a:latin typeface="Times New Roman" panose="02020603050405020304" pitchFamily="18" charset="0"/>
                <a:cs typeface="Times New Roman" panose="02020603050405020304" pitchFamily="18" charset="0"/>
              </a:rPr>
              <a:t>Step 5: EXIT</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31749726"/>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ounded Rectangle 17">
            <a:extLst>
              <a:ext uri="{FF2B5EF4-FFF2-40B4-BE49-F238E27FC236}">
                <a16:creationId xmlns:a16="http://schemas.microsoft.com/office/drawing/2014/main" id="{0F2E30D4-6F86-49D1-9276-85CE0E9B3E3E}"/>
              </a:ext>
            </a:extLst>
          </p:cNvPr>
          <p:cNvSpPr/>
          <p:nvPr/>
        </p:nvSpPr>
        <p:spPr>
          <a:xfrm>
            <a:off x="2243189" y="253280"/>
            <a:ext cx="8183345" cy="709365"/>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3400" b="1" dirty="0">
                <a:solidFill>
                  <a:schemeClr val="bg1"/>
                </a:solidFill>
                <a:latin typeface="Times New Roman" panose="02020603050405020304" pitchFamily="18" charset="0"/>
                <a:cs typeface="Times New Roman" panose="02020603050405020304" pitchFamily="18" charset="0"/>
              </a:rPr>
              <a:t>ii) Deletion At End of the SLL</a:t>
            </a:r>
            <a:endParaRPr lang="en-US" sz="3400" dirty="0">
              <a:solidFill>
                <a:schemeClr val="bg1"/>
              </a:solidFill>
              <a:latin typeface="Times New Roman" panose="02020603050405020304" pitchFamily="18" charset="0"/>
              <a:cs typeface="Times New Roman" panose="02020603050405020304" pitchFamily="18" charset="0"/>
            </a:endParaRPr>
          </a:p>
        </p:txBody>
      </p:sp>
      <p:pic>
        <p:nvPicPr>
          <p:cNvPr id="12"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pic>
        <p:nvPicPr>
          <p:cNvPr id="6146" name="Picture 2" descr="DS Delete element from end">
            <a:extLst>
              <a:ext uri="{FF2B5EF4-FFF2-40B4-BE49-F238E27FC236}">
                <a16:creationId xmlns:a16="http://schemas.microsoft.com/office/drawing/2014/main" id="{528DAB5A-DFF4-E6E5-5723-E4275EA2696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16956" y="2577607"/>
            <a:ext cx="8435809" cy="4027113"/>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2" name="Table 1">
            <a:extLst>
              <a:ext uri="{FF2B5EF4-FFF2-40B4-BE49-F238E27FC236}">
                <a16:creationId xmlns:a16="http://schemas.microsoft.com/office/drawing/2014/main" id="{1934E6F9-679F-1DE4-C2E0-CF8F336FE88D}"/>
              </a:ext>
            </a:extLst>
          </p:cNvPr>
          <p:cNvGraphicFramePr>
            <a:graphicFrameLocks noGrp="1"/>
          </p:cNvGraphicFramePr>
          <p:nvPr>
            <p:extLst>
              <p:ext uri="{D42A27DB-BD31-4B8C-83A1-F6EECF244321}">
                <p14:modId xmlns:p14="http://schemas.microsoft.com/office/powerpoint/2010/main" val="871678945"/>
              </p:ext>
            </p:extLst>
          </p:nvPr>
        </p:nvGraphicFramePr>
        <p:xfrm>
          <a:off x="2116955" y="1170039"/>
          <a:ext cx="8435809" cy="1200174"/>
        </p:xfrm>
        <a:graphic>
          <a:graphicData uri="http://schemas.openxmlformats.org/drawingml/2006/table">
            <a:tbl>
              <a:tblPr firstRow="1" bandRow="1">
                <a:tableStyleId>{5C22544A-7EE6-4342-B048-85BDC9FD1C3A}</a:tableStyleId>
              </a:tblPr>
              <a:tblGrid>
                <a:gridCol w="8435809">
                  <a:extLst>
                    <a:ext uri="{9D8B030D-6E8A-4147-A177-3AD203B41FA5}">
                      <a16:colId xmlns:a16="http://schemas.microsoft.com/office/drawing/2014/main" val="1158556924"/>
                    </a:ext>
                  </a:extLst>
                </a:gridCol>
              </a:tblGrid>
              <a:tr h="1200174">
                <a:tc>
                  <a:txBody>
                    <a:bodyPr/>
                    <a:lstStyle/>
                    <a:p>
                      <a:r>
                        <a:rPr lang="en-US" sz="2400" b="0" dirty="0">
                          <a:solidFill>
                            <a:schemeClr val="tx1">
                              <a:lumMod val="95000"/>
                              <a:lumOff val="5000"/>
                            </a:schemeClr>
                          </a:solidFill>
                          <a:latin typeface="Times New Roman" panose="02020603050405020304" pitchFamily="18" charset="0"/>
                          <a:cs typeface="Times New Roman" panose="02020603050405020304" pitchFamily="18" charset="0"/>
                        </a:rPr>
                        <a:t>It involves deleting the last node of the list. The list can either be empty or full. Different logic is implemented for the different scenarios.</a:t>
                      </a:r>
                      <a:endParaRPr lang="en-IN" sz="2400" b="0" dirty="0">
                        <a:solidFill>
                          <a:schemeClr val="tx1">
                            <a:lumMod val="95000"/>
                            <a:lumOff val="5000"/>
                          </a:schemeClr>
                        </a:solidFill>
                        <a:latin typeface="Times New Roman" panose="02020603050405020304" pitchFamily="18" charset="0"/>
                        <a:cs typeface="Times New Roman" panose="02020603050405020304" pitchFamily="18" charset="0"/>
                      </a:endParaRPr>
                    </a:p>
                  </a:txBody>
                  <a:tcPr>
                    <a:noFill/>
                  </a:tcPr>
                </a:tc>
                <a:extLst>
                  <a:ext uri="{0D108BD9-81ED-4DB2-BD59-A6C34878D82A}">
                    <a16:rowId xmlns:a16="http://schemas.microsoft.com/office/drawing/2014/main" val="543241577"/>
                  </a:ext>
                </a:extLst>
              </a:tr>
            </a:tbl>
          </a:graphicData>
        </a:graphic>
      </p:graphicFrame>
    </p:spTree>
    <p:extLst>
      <p:ext uri="{BB962C8B-B14F-4D97-AF65-F5344CB8AC3E}">
        <p14:creationId xmlns:p14="http://schemas.microsoft.com/office/powerpoint/2010/main" val="4126174402"/>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ounded Rectangle 17">
            <a:extLst>
              <a:ext uri="{FF2B5EF4-FFF2-40B4-BE49-F238E27FC236}">
                <a16:creationId xmlns:a16="http://schemas.microsoft.com/office/drawing/2014/main" id="{0F2E30D4-6F86-49D1-9276-85CE0E9B3E3E}"/>
              </a:ext>
            </a:extLst>
          </p:cNvPr>
          <p:cNvSpPr/>
          <p:nvPr/>
        </p:nvSpPr>
        <p:spPr>
          <a:xfrm>
            <a:off x="2243190" y="253280"/>
            <a:ext cx="7972526" cy="709365"/>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3400" b="1" dirty="0">
                <a:solidFill>
                  <a:schemeClr val="bg1"/>
                </a:solidFill>
                <a:latin typeface="Times New Roman" panose="02020603050405020304" pitchFamily="18" charset="0"/>
                <a:cs typeface="Times New Roman" panose="02020603050405020304" pitchFamily="18" charset="0"/>
              </a:rPr>
              <a:t>ii) Deletion At End of the SLL</a:t>
            </a:r>
            <a:endParaRPr lang="en-US" sz="3400" dirty="0">
              <a:solidFill>
                <a:schemeClr val="bg1"/>
              </a:solidFill>
              <a:latin typeface="Times New Roman" panose="02020603050405020304" pitchFamily="18" charset="0"/>
              <a:cs typeface="Times New Roman" panose="02020603050405020304" pitchFamily="18" charset="0"/>
            </a:endParaRPr>
          </a:p>
        </p:txBody>
      </p:sp>
      <p:pic>
        <p:nvPicPr>
          <p:cNvPr id="12"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
        <p:nvSpPr>
          <p:cNvPr id="2" name="Rectangle 1"/>
          <p:cNvSpPr/>
          <p:nvPr/>
        </p:nvSpPr>
        <p:spPr>
          <a:xfrm>
            <a:off x="1990725" y="1065093"/>
            <a:ext cx="10088524" cy="5386090"/>
          </a:xfrm>
          <a:prstGeom prst="rect">
            <a:avLst/>
          </a:prstGeom>
        </p:spPr>
        <p:txBody>
          <a:bodyPr wrap="square">
            <a:spAutoFit/>
          </a:bodyPr>
          <a:lstStyle/>
          <a:p>
            <a:r>
              <a:rPr lang="en-IN" sz="2400" dirty="0">
                <a:latin typeface="Times New Roman" panose="02020603050405020304" pitchFamily="18" charset="0"/>
                <a:cs typeface="Times New Roman" panose="02020603050405020304" pitchFamily="18" charset="0"/>
              </a:rPr>
              <a:t>We can delete a node at end of the singly linked list.</a:t>
            </a:r>
          </a:p>
          <a:p>
            <a:r>
              <a:rPr lang="en-IN" sz="2400" b="1" dirty="0">
                <a:latin typeface="Times New Roman" panose="02020603050405020304" pitchFamily="18" charset="0"/>
                <a:cs typeface="Times New Roman" panose="02020603050405020304" pitchFamily="18" charset="0"/>
              </a:rPr>
              <a:t>Algorithm:</a:t>
            </a:r>
          </a:p>
          <a:p>
            <a:pPr algn="l"/>
            <a:r>
              <a:rPr lang="en-US" sz="2400" b="0" i="0" dirty="0">
                <a:effectLst/>
                <a:latin typeface="Times New Roman" panose="02020603050405020304" pitchFamily="18" charset="0"/>
                <a:cs typeface="Times New Roman" panose="02020603050405020304" pitchFamily="18" charset="0"/>
              </a:rPr>
              <a:t>Step 1: IF HEAD = NULL</a:t>
            </a:r>
          </a:p>
          <a:p>
            <a:pPr algn="l"/>
            <a:r>
              <a:rPr lang="en-US" sz="2400" b="0" i="0" dirty="0">
                <a:effectLst/>
                <a:latin typeface="Times New Roman" panose="02020603050405020304" pitchFamily="18" charset="0"/>
                <a:cs typeface="Times New Roman" panose="02020603050405020304" pitchFamily="18" charset="0"/>
              </a:rPr>
              <a:t>Write UNDERFLOW</a:t>
            </a:r>
          </a:p>
          <a:p>
            <a:pPr algn="l"/>
            <a:r>
              <a:rPr lang="en-US" sz="2400" b="0" i="0" dirty="0">
                <a:effectLst/>
                <a:latin typeface="Times New Roman" panose="02020603050405020304" pitchFamily="18" charset="0"/>
                <a:cs typeface="Times New Roman" panose="02020603050405020304" pitchFamily="18" charset="0"/>
              </a:rPr>
              <a:t>   Go to Step 8</a:t>
            </a:r>
          </a:p>
          <a:p>
            <a:pPr algn="l"/>
            <a:r>
              <a:rPr lang="en-US" sz="2400" b="0" i="0" dirty="0">
                <a:effectLst/>
                <a:latin typeface="Times New Roman" panose="02020603050405020304" pitchFamily="18" charset="0"/>
                <a:cs typeface="Times New Roman" panose="02020603050405020304" pitchFamily="18" charset="0"/>
              </a:rPr>
              <a:t>  [END OF IF]</a:t>
            </a:r>
          </a:p>
          <a:p>
            <a:pPr algn="l"/>
            <a:r>
              <a:rPr lang="en-US" sz="2400" b="0" i="0" dirty="0">
                <a:effectLst/>
                <a:latin typeface="Times New Roman" panose="02020603050405020304" pitchFamily="18" charset="0"/>
                <a:cs typeface="Times New Roman" panose="02020603050405020304" pitchFamily="18" charset="0"/>
              </a:rPr>
              <a:t>Step 2: SET PTR = HEAD</a:t>
            </a:r>
          </a:p>
          <a:p>
            <a:pPr algn="l"/>
            <a:r>
              <a:rPr lang="en-US" sz="2400" b="0" i="0" dirty="0">
                <a:effectLst/>
                <a:latin typeface="Times New Roman" panose="02020603050405020304" pitchFamily="18" charset="0"/>
                <a:cs typeface="Times New Roman" panose="02020603050405020304" pitchFamily="18" charset="0"/>
              </a:rPr>
              <a:t>Step 3: Repeat Steps 4 and 5 while PTR -&gt; NEXT!= NULL</a:t>
            </a:r>
          </a:p>
          <a:p>
            <a:pPr algn="l"/>
            <a:r>
              <a:rPr lang="en-US" sz="2400" b="0" i="0" dirty="0">
                <a:effectLst/>
                <a:latin typeface="Times New Roman" panose="02020603050405020304" pitchFamily="18" charset="0"/>
                <a:cs typeface="Times New Roman" panose="02020603050405020304" pitchFamily="18" charset="0"/>
              </a:rPr>
              <a:t>Step 4: SET PREPTR = PTR</a:t>
            </a:r>
          </a:p>
          <a:p>
            <a:pPr algn="l"/>
            <a:r>
              <a:rPr lang="en-US" sz="2400" b="0" i="0" dirty="0">
                <a:effectLst/>
                <a:latin typeface="Times New Roman" panose="02020603050405020304" pitchFamily="18" charset="0"/>
                <a:cs typeface="Times New Roman" panose="02020603050405020304" pitchFamily="18" charset="0"/>
              </a:rPr>
              <a:t>Step 5: SET PTR = PTR -&gt; NEXT</a:t>
            </a:r>
          </a:p>
          <a:p>
            <a:pPr algn="l"/>
            <a:r>
              <a:rPr lang="en-US" sz="2400" b="0" i="0" dirty="0">
                <a:effectLst/>
                <a:latin typeface="Times New Roman" panose="02020603050405020304" pitchFamily="18" charset="0"/>
                <a:cs typeface="Times New Roman" panose="02020603050405020304" pitchFamily="18" charset="0"/>
              </a:rPr>
              <a:t>[END OF LOOP]</a:t>
            </a:r>
          </a:p>
          <a:p>
            <a:pPr algn="l"/>
            <a:r>
              <a:rPr lang="en-US" sz="2400" b="0" i="0" dirty="0">
                <a:effectLst/>
                <a:latin typeface="Times New Roman" panose="02020603050405020304" pitchFamily="18" charset="0"/>
                <a:cs typeface="Times New Roman" panose="02020603050405020304" pitchFamily="18" charset="0"/>
              </a:rPr>
              <a:t>Step 6: SET PREPTR -&gt; NEXT = NULL</a:t>
            </a:r>
          </a:p>
          <a:p>
            <a:pPr algn="l"/>
            <a:r>
              <a:rPr lang="en-US" sz="2400" b="0" i="0" dirty="0">
                <a:effectLst/>
                <a:latin typeface="Times New Roman" panose="02020603050405020304" pitchFamily="18" charset="0"/>
                <a:cs typeface="Times New Roman" panose="02020603050405020304" pitchFamily="18" charset="0"/>
              </a:rPr>
              <a:t>Step 7: FREE PTR</a:t>
            </a:r>
          </a:p>
          <a:p>
            <a:pPr algn="l"/>
            <a:r>
              <a:rPr lang="en-US" sz="2400" b="0" i="0" dirty="0">
                <a:effectLst/>
                <a:latin typeface="Times New Roman" panose="02020603050405020304" pitchFamily="18" charset="0"/>
                <a:cs typeface="Times New Roman" panose="02020603050405020304" pitchFamily="18" charset="0"/>
              </a:rPr>
              <a:t>Step 8: EXIT</a:t>
            </a:r>
          </a:p>
        </p:txBody>
      </p:sp>
    </p:spTree>
    <p:extLst>
      <p:ext uri="{BB962C8B-B14F-4D97-AF65-F5344CB8AC3E}">
        <p14:creationId xmlns:p14="http://schemas.microsoft.com/office/powerpoint/2010/main" val="209603495"/>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ounded Rectangle 17">
            <a:extLst>
              <a:ext uri="{FF2B5EF4-FFF2-40B4-BE49-F238E27FC236}">
                <a16:creationId xmlns:a16="http://schemas.microsoft.com/office/drawing/2014/main" id="{0F2E30D4-6F86-49D1-9276-85CE0E9B3E3E}"/>
              </a:ext>
            </a:extLst>
          </p:cNvPr>
          <p:cNvSpPr/>
          <p:nvPr/>
        </p:nvSpPr>
        <p:spPr>
          <a:xfrm>
            <a:off x="2243189" y="253280"/>
            <a:ext cx="8183345" cy="709365"/>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800" b="1" dirty="0">
                <a:solidFill>
                  <a:schemeClr val="bg1"/>
                </a:solidFill>
              </a:rPr>
              <a:t>iii) </a:t>
            </a:r>
            <a:r>
              <a:rPr lang="en-IN" sz="3400" dirty="0">
                <a:latin typeface="Times New Roman" panose="02020603050405020304" pitchFamily="18" charset="0"/>
                <a:cs typeface="Times New Roman" panose="02020603050405020304" pitchFamily="18" charset="0"/>
              </a:rPr>
              <a:t>Deletion</a:t>
            </a:r>
            <a:r>
              <a:rPr lang="en-IN" sz="2800" dirty="0"/>
              <a:t> At Specific location in the SLL</a:t>
            </a:r>
            <a:endParaRPr lang="en-US" sz="2400" dirty="0">
              <a:solidFill>
                <a:schemeClr val="bg1"/>
              </a:solidFill>
            </a:endParaRPr>
          </a:p>
        </p:txBody>
      </p:sp>
      <p:pic>
        <p:nvPicPr>
          <p:cNvPr id="12"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pic>
        <p:nvPicPr>
          <p:cNvPr id="8194" name="Picture 2" descr="DS Deletion in singly linked list after the specified node">
            <a:extLst>
              <a:ext uri="{FF2B5EF4-FFF2-40B4-BE49-F238E27FC236}">
                <a16:creationId xmlns:a16="http://schemas.microsoft.com/office/drawing/2014/main" id="{A6A408DD-3C9D-344F-E63F-0FC1721D5E5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92782" y="2389239"/>
            <a:ext cx="9284157" cy="3796554"/>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2" name="Table 1">
            <a:extLst>
              <a:ext uri="{FF2B5EF4-FFF2-40B4-BE49-F238E27FC236}">
                <a16:creationId xmlns:a16="http://schemas.microsoft.com/office/drawing/2014/main" id="{384F3297-550B-5201-A8CE-E7E1C117F2F6}"/>
              </a:ext>
            </a:extLst>
          </p:cNvPr>
          <p:cNvGraphicFramePr>
            <a:graphicFrameLocks noGrp="1"/>
          </p:cNvGraphicFramePr>
          <p:nvPr>
            <p:extLst>
              <p:ext uri="{D42A27DB-BD31-4B8C-83A1-F6EECF244321}">
                <p14:modId xmlns:p14="http://schemas.microsoft.com/office/powerpoint/2010/main" val="414835172"/>
              </p:ext>
            </p:extLst>
          </p:nvPr>
        </p:nvGraphicFramePr>
        <p:xfrm>
          <a:off x="1692782" y="1112269"/>
          <a:ext cx="9284156" cy="1276969"/>
        </p:xfrm>
        <a:graphic>
          <a:graphicData uri="http://schemas.openxmlformats.org/drawingml/2006/table">
            <a:tbl>
              <a:tblPr firstRow="1" bandRow="1">
                <a:tableStyleId>{5C22544A-7EE6-4342-B048-85BDC9FD1C3A}</a:tableStyleId>
              </a:tblPr>
              <a:tblGrid>
                <a:gridCol w="9284156">
                  <a:extLst>
                    <a:ext uri="{9D8B030D-6E8A-4147-A177-3AD203B41FA5}">
                      <a16:colId xmlns:a16="http://schemas.microsoft.com/office/drawing/2014/main" val="52317792"/>
                    </a:ext>
                  </a:extLst>
                </a:gridCol>
              </a:tblGrid>
              <a:tr h="1276969">
                <a:tc>
                  <a:txBody>
                    <a:bodyPr/>
                    <a:lstStyle/>
                    <a:p>
                      <a:r>
                        <a:rPr lang="en-US" sz="2400" b="0" i="0" kern="1200" dirty="0">
                          <a:solidFill>
                            <a:schemeClr val="tx1"/>
                          </a:solidFill>
                          <a:effectLst/>
                          <a:latin typeface="Times New Roman" panose="02020603050405020304" pitchFamily="18" charset="0"/>
                          <a:ea typeface="+mn-ea"/>
                          <a:cs typeface="Times New Roman" panose="02020603050405020304" pitchFamily="18" charset="0"/>
                        </a:rPr>
                        <a:t>It involves deleting the node after the specified node in the list. we need to skip the desired number of nodes to reach the node after which the node will be deleted. This requires traversing through the list.</a:t>
                      </a:r>
                      <a:endParaRPr lang="en-IN" sz="2400" dirty="0">
                        <a:solidFill>
                          <a:schemeClr val="tx1"/>
                        </a:solidFill>
                        <a:latin typeface="Times New Roman" panose="02020603050405020304" pitchFamily="18" charset="0"/>
                        <a:cs typeface="Times New Roman" panose="02020603050405020304" pitchFamily="18" charset="0"/>
                      </a:endParaRPr>
                    </a:p>
                  </a:txBody>
                  <a:tcPr>
                    <a:solidFill>
                      <a:schemeClr val="bg1"/>
                    </a:solidFill>
                  </a:tcPr>
                </a:tc>
                <a:extLst>
                  <a:ext uri="{0D108BD9-81ED-4DB2-BD59-A6C34878D82A}">
                    <a16:rowId xmlns:a16="http://schemas.microsoft.com/office/drawing/2014/main" val="3808432011"/>
                  </a:ext>
                </a:extLst>
              </a:tr>
            </a:tbl>
          </a:graphicData>
        </a:graphic>
      </p:graphicFrame>
    </p:spTree>
    <p:extLst>
      <p:ext uri="{BB962C8B-B14F-4D97-AF65-F5344CB8AC3E}">
        <p14:creationId xmlns:p14="http://schemas.microsoft.com/office/powerpoint/2010/main" val="3958046909"/>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ounded Rectangle 17">
            <a:extLst>
              <a:ext uri="{FF2B5EF4-FFF2-40B4-BE49-F238E27FC236}">
                <a16:creationId xmlns:a16="http://schemas.microsoft.com/office/drawing/2014/main" id="{0F2E30D4-6F86-49D1-9276-85CE0E9B3E3E}"/>
              </a:ext>
            </a:extLst>
          </p:cNvPr>
          <p:cNvSpPr/>
          <p:nvPr/>
        </p:nvSpPr>
        <p:spPr>
          <a:xfrm>
            <a:off x="2243190" y="253280"/>
            <a:ext cx="8414978" cy="709365"/>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3400" b="1" dirty="0">
                <a:solidFill>
                  <a:schemeClr val="bg1"/>
                </a:solidFill>
                <a:latin typeface="Times New Roman" panose="02020603050405020304" pitchFamily="18" charset="0"/>
                <a:cs typeface="Times New Roman" panose="02020603050405020304" pitchFamily="18" charset="0"/>
              </a:rPr>
              <a:t>iii) Deletion At Specific location of the SLL</a:t>
            </a:r>
            <a:endParaRPr lang="en-US" sz="3400" dirty="0">
              <a:solidFill>
                <a:schemeClr val="bg1"/>
              </a:solidFill>
              <a:latin typeface="Times New Roman" panose="02020603050405020304" pitchFamily="18" charset="0"/>
              <a:cs typeface="Times New Roman" panose="02020603050405020304" pitchFamily="18" charset="0"/>
            </a:endParaRPr>
          </a:p>
        </p:txBody>
      </p:sp>
      <p:pic>
        <p:nvPicPr>
          <p:cNvPr id="12"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
        <p:nvSpPr>
          <p:cNvPr id="2" name="Rectangle 1"/>
          <p:cNvSpPr/>
          <p:nvPr/>
        </p:nvSpPr>
        <p:spPr>
          <a:xfrm>
            <a:off x="1990725" y="1065093"/>
            <a:ext cx="10088524" cy="5447645"/>
          </a:xfrm>
          <a:prstGeom prst="rect">
            <a:avLst/>
          </a:prstGeom>
        </p:spPr>
        <p:txBody>
          <a:bodyPr wrap="square">
            <a:spAutoFit/>
          </a:bodyPr>
          <a:lstStyle/>
          <a:p>
            <a:r>
              <a:rPr lang="en-IN" sz="2400" b="1" dirty="0">
                <a:latin typeface="Times New Roman" panose="02020603050405020304" pitchFamily="18" charset="0"/>
                <a:cs typeface="Times New Roman" panose="02020603050405020304" pitchFamily="18" charset="0"/>
              </a:rPr>
              <a:t>Algorithm:</a:t>
            </a:r>
          </a:p>
          <a:p>
            <a:pPr algn="l"/>
            <a:r>
              <a:rPr lang="en-US" b="0" i="0" dirty="0">
                <a:effectLst/>
                <a:latin typeface="Times New Roman" panose="02020603050405020304" pitchFamily="18" charset="0"/>
                <a:cs typeface="Times New Roman" panose="02020603050405020304" pitchFamily="18" charset="0"/>
              </a:rPr>
              <a:t>STEP 1: IF HEAD = NULL</a:t>
            </a:r>
          </a:p>
          <a:p>
            <a:pPr algn="l"/>
            <a:r>
              <a:rPr lang="en-US" b="0" i="0" dirty="0">
                <a:effectLst/>
                <a:latin typeface="Times New Roman" panose="02020603050405020304" pitchFamily="18" charset="0"/>
                <a:cs typeface="Times New Roman" panose="02020603050405020304" pitchFamily="18" charset="0"/>
              </a:rPr>
              <a:t>WRITE UNDERFLOW</a:t>
            </a:r>
          </a:p>
          <a:p>
            <a:pPr algn="l"/>
            <a:r>
              <a:rPr lang="en-US" b="0" i="0" dirty="0">
                <a:effectLst/>
                <a:latin typeface="Times New Roman" panose="02020603050405020304" pitchFamily="18" charset="0"/>
                <a:cs typeface="Times New Roman" panose="02020603050405020304" pitchFamily="18" charset="0"/>
              </a:rPr>
              <a:t>    GOTO STEP 10</a:t>
            </a:r>
          </a:p>
          <a:p>
            <a:pPr algn="l"/>
            <a:r>
              <a:rPr lang="en-US" b="0" i="0" dirty="0">
                <a:effectLst/>
                <a:latin typeface="Times New Roman" panose="02020603050405020304" pitchFamily="18" charset="0"/>
                <a:cs typeface="Times New Roman" panose="02020603050405020304" pitchFamily="18" charset="0"/>
              </a:rPr>
              <a:t>   END OF IF</a:t>
            </a:r>
          </a:p>
          <a:p>
            <a:pPr algn="l"/>
            <a:r>
              <a:rPr lang="en-US" b="0" i="0" dirty="0">
                <a:effectLst/>
                <a:latin typeface="Times New Roman" panose="02020603050405020304" pitchFamily="18" charset="0"/>
                <a:cs typeface="Times New Roman" panose="02020603050405020304" pitchFamily="18" charset="0"/>
              </a:rPr>
              <a:t>STEP 2: SET TEMP = HEAD</a:t>
            </a:r>
          </a:p>
          <a:p>
            <a:pPr algn="l"/>
            <a:r>
              <a:rPr lang="en-US" b="0" i="0" dirty="0">
                <a:effectLst/>
                <a:latin typeface="Times New Roman" panose="02020603050405020304" pitchFamily="18" charset="0"/>
                <a:cs typeface="Times New Roman" panose="02020603050405020304" pitchFamily="18" charset="0"/>
              </a:rPr>
              <a:t>STEP 3: SET I = 0</a:t>
            </a:r>
          </a:p>
          <a:p>
            <a:pPr algn="l"/>
            <a:r>
              <a:rPr lang="en-US" b="0" i="0" dirty="0">
                <a:effectLst/>
                <a:latin typeface="Times New Roman" panose="02020603050405020304" pitchFamily="18" charset="0"/>
                <a:cs typeface="Times New Roman" panose="02020603050405020304" pitchFamily="18" charset="0"/>
              </a:rPr>
              <a:t>STEP 4: REPEAT STEP 5 TO 8 UNTIL I</a:t>
            </a:r>
          </a:p>
          <a:p>
            <a:pPr algn="l"/>
            <a:r>
              <a:rPr lang="en-US" b="0" i="0" dirty="0">
                <a:effectLst/>
                <a:latin typeface="Times New Roman" panose="02020603050405020304" pitchFamily="18" charset="0"/>
                <a:cs typeface="Times New Roman" panose="02020603050405020304" pitchFamily="18" charset="0"/>
              </a:rPr>
              <a:t>STEP 5: TEMP1 = TEMP</a:t>
            </a:r>
          </a:p>
          <a:p>
            <a:pPr algn="l"/>
            <a:r>
              <a:rPr lang="en-US" b="0" i="0" dirty="0">
                <a:effectLst/>
                <a:latin typeface="Times New Roman" panose="02020603050405020304" pitchFamily="18" charset="0"/>
                <a:cs typeface="Times New Roman" panose="02020603050405020304" pitchFamily="18" charset="0"/>
              </a:rPr>
              <a:t>STEP 6: TEMP = TEMP → NEXT</a:t>
            </a:r>
          </a:p>
          <a:p>
            <a:pPr algn="l"/>
            <a:r>
              <a:rPr lang="en-US" b="0" i="0" dirty="0">
                <a:effectLst/>
                <a:latin typeface="Times New Roman" panose="02020603050405020304" pitchFamily="18" charset="0"/>
                <a:cs typeface="Times New Roman" panose="02020603050405020304" pitchFamily="18" charset="0"/>
              </a:rPr>
              <a:t>STEP 7: IF TEMP = NULL</a:t>
            </a:r>
          </a:p>
          <a:p>
            <a:pPr algn="l"/>
            <a:r>
              <a:rPr lang="en-US" b="0" i="0" dirty="0">
                <a:effectLst/>
                <a:latin typeface="Times New Roman" panose="02020603050405020304" pitchFamily="18" charset="0"/>
                <a:cs typeface="Times New Roman" panose="02020603050405020304" pitchFamily="18" charset="0"/>
              </a:rPr>
              <a:t>WRITE "DESIRED NODE NOT PRESENT"</a:t>
            </a:r>
          </a:p>
          <a:p>
            <a:pPr algn="l"/>
            <a:r>
              <a:rPr lang="en-US" b="0" i="0" dirty="0">
                <a:effectLst/>
                <a:latin typeface="Times New Roman" panose="02020603050405020304" pitchFamily="18" charset="0"/>
                <a:cs typeface="Times New Roman" panose="02020603050405020304" pitchFamily="18" charset="0"/>
              </a:rPr>
              <a:t>    GOTO STEP 12</a:t>
            </a:r>
          </a:p>
          <a:p>
            <a:pPr algn="l"/>
            <a:r>
              <a:rPr lang="en-US" b="0" i="0" dirty="0">
                <a:effectLst/>
                <a:latin typeface="Times New Roman" panose="02020603050405020304" pitchFamily="18" charset="0"/>
                <a:cs typeface="Times New Roman" panose="02020603050405020304" pitchFamily="18" charset="0"/>
              </a:rPr>
              <a:t>    END OF IF</a:t>
            </a:r>
          </a:p>
          <a:p>
            <a:pPr algn="l"/>
            <a:r>
              <a:rPr lang="en-US" b="0" i="0" dirty="0">
                <a:effectLst/>
                <a:latin typeface="Times New Roman" panose="02020603050405020304" pitchFamily="18" charset="0"/>
                <a:cs typeface="Times New Roman" panose="02020603050405020304" pitchFamily="18" charset="0"/>
              </a:rPr>
              <a:t>STEP 8: I = I+1</a:t>
            </a:r>
          </a:p>
          <a:p>
            <a:pPr algn="l"/>
            <a:r>
              <a:rPr lang="en-US" b="0" i="0" dirty="0">
                <a:effectLst/>
                <a:latin typeface="Times New Roman" panose="02020603050405020304" pitchFamily="18" charset="0"/>
                <a:cs typeface="Times New Roman" panose="02020603050405020304" pitchFamily="18" charset="0"/>
              </a:rPr>
              <a:t>END OF LOOP</a:t>
            </a:r>
          </a:p>
          <a:p>
            <a:pPr algn="l"/>
            <a:r>
              <a:rPr lang="en-US" b="0" i="0" dirty="0">
                <a:effectLst/>
                <a:latin typeface="Times New Roman" panose="02020603050405020304" pitchFamily="18" charset="0"/>
                <a:cs typeface="Times New Roman" panose="02020603050405020304" pitchFamily="18" charset="0"/>
              </a:rPr>
              <a:t>STEP 9: TEMP1 → NEXT = TEMP → NEXT</a:t>
            </a:r>
          </a:p>
          <a:p>
            <a:pPr algn="l"/>
            <a:r>
              <a:rPr lang="en-US" b="0" i="0" dirty="0">
                <a:effectLst/>
                <a:latin typeface="Times New Roman" panose="02020603050405020304" pitchFamily="18" charset="0"/>
                <a:cs typeface="Times New Roman" panose="02020603050405020304" pitchFamily="18" charset="0"/>
              </a:rPr>
              <a:t>STEP 10: FREE TEMP</a:t>
            </a:r>
          </a:p>
          <a:p>
            <a:pPr algn="l"/>
            <a:r>
              <a:rPr lang="en-US" b="0" i="0" dirty="0">
                <a:effectLst/>
                <a:latin typeface="Times New Roman" panose="02020603050405020304" pitchFamily="18" charset="0"/>
                <a:cs typeface="Times New Roman" panose="02020603050405020304" pitchFamily="18" charset="0"/>
              </a:rPr>
              <a:t>STEP 11: EXIT</a:t>
            </a:r>
          </a:p>
        </p:txBody>
      </p:sp>
    </p:spTree>
    <p:extLst>
      <p:ext uri="{BB962C8B-B14F-4D97-AF65-F5344CB8AC3E}">
        <p14:creationId xmlns:p14="http://schemas.microsoft.com/office/powerpoint/2010/main" val="2708301140"/>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ounded Rectangle 17">
            <a:extLst>
              <a:ext uri="{FF2B5EF4-FFF2-40B4-BE49-F238E27FC236}">
                <a16:creationId xmlns:a16="http://schemas.microsoft.com/office/drawing/2014/main" id="{0F2E30D4-6F86-49D1-9276-85CE0E9B3E3E}"/>
              </a:ext>
            </a:extLst>
          </p:cNvPr>
          <p:cNvSpPr/>
          <p:nvPr/>
        </p:nvSpPr>
        <p:spPr>
          <a:xfrm>
            <a:off x="2243190" y="253280"/>
            <a:ext cx="7343262" cy="709365"/>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400" dirty="0">
                <a:solidFill>
                  <a:schemeClr val="bg1"/>
                </a:solidFill>
                <a:latin typeface="Times New Roman" panose="02020603050405020304" pitchFamily="18" charset="0"/>
                <a:cs typeface="Times New Roman" panose="02020603050405020304" pitchFamily="18" charset="0"/>
              </a:rPr>
              <a:t>Display Operation in Singly Linked List</a:t>
            </a:r>
          </a:p>
        </p:txBody>
      </p:sp>
      <p:pic>
        <p:nvPicPr>
          <p:cNvPr id="12"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
        <p:nvSpPr>
          <p:cNvPr id="2" name="Rectangle 1"/>
          <p:cNvSpPr/>
          <p:nvPr/>
        </p:nvSpPr>
        <p:spPr>
          <a:xfrm>
            <a:off x="346427" y="1065093"/>
            <a:ext cx="11732822" cy="4893647"/>
          </a:xfrm>
          <a:prstGeom prst="rect">
            <a:avLst/>
          </a:prstGeom>
        </p:spPr>
        <p:txBody>
          <a:bodyPr wrap="square">
            <a:spAutoFit/>
          </a:bodyPr>
          <a:lstStyle/>
          <a:p>
            <a:r>
              <a:rPr lang="en-US" sz="2400" dirty="0">
                <a:latin typeface="Times New Roman" panose="02020603050405020304" pitchFamily="18" charset="0"/>
                <a:cs typeface="Times New Roman" panose="02020603050405020304" pitchFamily="18" charset="0"/>
              </a:rPr>
              <a:t>We can use the following steps to display the elements of a single linked list</a:t>
            </a:r>
          </a:p>
          <a:p>
            <a:endParaRPr lang="en-IN" sz="2400" dirty="0">
              <a:latin typeface="Times New Roman" panose="02020603050405020304" pitchFamily="18" charset="0"/>
              <a:cs typeface="Times New Roman" panose="02020603050405020304" pitchFamily="18" charset="0"/>
            </a:endParaRPr>
          </a:p>
          <a:p>
            <a:r>
              <a:rPr lang="en-IN" sz="2400" b="1" dirty="0">
                <a:latin typeface="Times New Roman" panose="02020603050405020304" pitchFamily="18" charset="0"/>
                <a:cs typeface="Times New Roman" panose="02020603050405020304" pitchFamily="18" charset="0"/>
              </a:rPr>
              <a:t>Algorithm:</a:t>
            </a:r>
          </a:p>
          <a:p>
            <a:endParaRPr lang="en-IN" sz="2400" b="1" dirty="0">
              <a:latin typeface="Times New Roman" panose="02020603050405020304" pitchFamily="18" charset="0"/>
              <a:cs typeface="Times New Roman" panose="02020603050405020304" pitchFamily="18" charset="0"/>
            </a:endParaRPr>
          </a:p>
          <a:p>
            <a:pPr algn="l"/>
            <a:r>
              <a:rPr lang="en-US" sz="2400" b="0" i="0" dirty="0">
                <a:effectLst/>
                <a:latin typeface="Times New Roman" panose="02020603050405020304" pitchFamily="18" charset="0"/>
                <a:cs typeface="Times New Roman" panose="02020603050405020304" pitchFamily="18" charset="0"/>
              </a:rPr>
              <a:t>Step 1 - Check whether list is Empty (head == NULL)</a:t>
            </a:r>
          </a:p>
          <a:p>
            <a:pPr algn="l"/>
            <a:endParaRPr lang="en-US" sz="2400" b="0" i="0" dirty="0">
              <a:effectLst/>
              <a:latin typeface="Times New Roman" panose="02020603050405020304" pitchFamily="18" charset="0"/>
              <a:cs typeface="Times New Roman" panose="02020603050405020304" pitchFamily="18" charset="0"/>
            </a:endParaRPr>
          </a:p>
          <a:p>
            <a:pPr algn="l"/>
            <a:r>
              <a:rPr lang="en-US" sz="2400" b="0" i="0" dirty="0">
                <a:effectLst/>
                <a:latin typeface="Times New Roman" panose="02020603050405020304" pitchFamily="18" charset="0"/>
                <a:cs typeface="Times New Roman" panose="02020603050405020304" pitchFamily="18" charset="0"/>
              </a:rPr>
              <a:t>Step 2 - If it is Empty then, display 'List is Empty!!!' and terminate the function.</a:t>
            </a:r>
          </a:p>
          <a:p>
            <a:pPr algn="l"/>
            <a:endParaRPr lang="en-US" sz="2400" b="0" i="0" dirty="0">
              <a:effectLst/>
              <a:latin typeface="Times New Roman" panose="02020603050405020304" pitchFamily="18" charset="0"/>
              <a:cs typeface="Times New Roman" panose="02020603050405020304" pitchFamily="18" charset="0"/>
            </a:endParaRPr>
          </a:p>
          <a:p>
            <a:pPr algn="l"/>
            <a:r>
              <a:rPr lang="en-US" sz="2400" b="0" i="0" dirty="0">
                <a:effectLst/>
                <a:latin typeface="Times New Roman" panose="02020603050405020304" pitchFamily="18" charset="0"/>
                <a:cs typeface="Times New Roman" panose="02020603050405020304" pitchFamily="18" charset="0"/>
              </a:rPr>
              <a:t>Step 3 - If it is Not Empty then, define a Node pointer 'temp' and initialize with head.</a:t>
            </a:r>
          </a:p>
          <a:p>
            <a:pPr algn="l"/>
            <a:endParaRPr lang="en-US" sz="2400" b="0" i="0" dirty="0">
              <a:effectLst/>
              <a:latin typeface="Times New Roman" panose="02020603050405020304" pitchFamily="18" charset="0"/>
              <a:cs typeface="Times New Roman" panose="02020603050405020304" pitchFamily="18" charset="0"/>
            </a:endParaRPr>
          </a:p>
          <a:p>
            <a:pPr algn="l"/>
            <a:r>
              <a:rPr lang="en-US" sz="2400" b="0" i="0" dirty="0">
                <a:effectLst/>
                <a:latin typeface="Times New Roman" panose="02020603050405020304" pitchFamily="18" charset="0"/>
                <a:cs typeface="Times New Roman" panose="02020603050405020304" pitchFamily="18" charset="0"/>
              </a:rPr>
              <a:t>Step 4 - Keep displaying temp → data with an arrow (---&gt;) until temp reaches to the last node</a:t>
            </a:r>
          </a:p>
          <a:p>
            <a:pPr algn="l"/>
            <a:endParaRPr lang="en-US" sz="2400" b="0" i="0" dirty="0">
              <a:effectLst/>
              <a:latin typeface="Times New Roman" panose="02020603050405020304" pitchFamily="18" charset="0"/>
              <a:cs typeface="Times New Roman" panose="02020603050405020304" pitchFamily="18" charset="0"/>
            </a:endParaRPr>
          </a:p>
          <a:p>
            <a:pPr algn="l"/>
            <a:r>
              <a:rPr lang="en-US" sz="2400" b="0" i="0" dirty="0">
                <a:effectLst/>
                <a:latin typeface="Times New Roman" panose="02020603050405020304" pitchFamily="18" charset="0"/>
                <a:cs typeface="Times New Roman" panose="02020603050405020304" pitchFamily="18" charset="0"/>
              </a:rPr>
              <a:t>Step 5 - Finally display temp → data with arrow pointing to NULL (temp → data ---&gt; NULL).</a:t>
            </a:r>
          </a:p>
        </p:txBody>
      </p:sp>
    </p:spTree>
    <p:extLst>
      <p:ext uri="{BB962C8B-B14F-4D97-AF65-F5344CB8AC3E}">
        <p14:creationId xmlns:p14="http://schemas.microsoft.com/office/powerpoint/2010/main" val="2290326743"/>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3">
            <a:extLst>
              <a:ext uri="{FF2B5EF4-FFF2-40B4-BE49-F238E27FC236}">
                <a16:creationId xmlns:a16="http://schemas.microsoft.com/office/drawing/2014/main" id="{E792BE84-3448-2348-B352-CD5BC083E5FD}"/>
              </a:ext>
            </a:extLst>
          </p:cNvPr>
          <p:cNvSpPr/>
          <p:nvPr/>
        </p:nvSpPr>
        <p:spPr>
          <a:xfrm>
            <a:off x="2602523" y="1856934"/>
            <a:ext cx="7920111" cy="2883877"/>
          </a:xfrm>
          <a:prstGeom prst="roundRect">
            <a:avLst/>
          </a:prstGeom>
          <a:solidFill>
            <a:schemeClr val="accent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latin typeface="Poppins" pitchFamily="2" charset="77"/>
              <a:cs typeface="Poppins" pitchFamily="2" charset="77"/>
            </a:endParaRPr>
          </a:p>
          <a:p>
            <a:pPr algn="ctr"/>
            <a:endParaRPr lang="en-US" sz="2400" b="1" dirty="0">
              <a:latin typeface="Poppins" pitchFamily="2" charset="77"/>
              <a:cs typeface="Poppins" pitchFamily="2" charset="77"/>
            </a:endParaRPr>
          </a:p>
          <a:p>
            <a:pPr algn="ctr"/>
            <a:r>
              <a:rPr lang="en-US" sz="3200" b="1" dirty="0">
                <a:latin typeface="Poppins" pitchFamily="2" charset="77"/>
                <a:cs typeface="Poppins" pitchFamily="2" charset="77"/>
              </a:rPr>
              <a:t>THANK YOU</a:t>
            </a:r>
          </a:p>
          <a:p>
            <a:pPr algn="ctr"/>
            <a:endParaRPr lang="en-US" sz="2400" dirty="0">
              <a:latin typeface="Poppins" pitchFamily="2" charset="77"/>
              <a:cs typeface="Poppins" pitchFamily="2" charset="77"/>
            </a:endParaRPr>
          </a:p>
          <a:p>
            <a:pPr algn="ctr"/>
            <a:endParaRPr lang="en-US" sz="2400" dirty="0">
              <a:latin typeface="Poppins" pitchFamily="2" charset="77"/>
              <a:cs typeface="Poppins" pitchFamily="2" charset="77"/>
            </a:endParaRPr>
          </a:p>
          <a:p>
            <a:pPr algn="ctr"/>
            <a:endParaRPr lang="en-US" sz="2400" dirty="0">
              <a:latin typeface="Poppins" pitchFamily="2" charset="77"/>
              <a:cs typeface="Poppins" pitchFamily="2" charset="77"/>
            </a:endParaRPr>
          </a:p>
          <a:p>
            <a:pPr algn="ctr"/>
            <a:endParaRPr lang="en-US" sz="2400" dirty="0">
              <a:latin typeface="Poppins" pitchFamily="2" charset="77"/>
              <a:cs typeface="Poppins" pitchFamily="2" charset="77"/>
            </a:endParaRPr>
          </a:p>
          <a:p>
            <a:pPr algn="ctr"/>
            <a:r>
              <a:rPr lang="en-US" sz="3600" b="1" dirty="0">
                <a:latin typeface="Poppins" pitchFamily="2" charset="77"/>
                <a:cs typeface="Poppins" pitchFamily="2" charset="77"/>
              </a:rPr>
              <a:t>Team – Data Structures</a:t>
            </a:r>
          </a:p>
          <a:p>
            <a:pPr algn="ctr"/>
            <a:endParaRPr lang="en-US" sz="2400" dirty="0">
              <a:solidFill>
                <a:schemeClr val="bg1"/>
              </a:solidFill>
              <a:latin typeface="Poppins" pitchFamily="2" charset="77"/>
              <a:cs typeface="Poppins" pitchFamily="2" charset="77"/>
            </a:endParaRPr>
          </a:p>
          <a:p>
            <a:pPr algn="ctr"/>
            <a:endParaRPr lang="en-US" sz="2400" dirty="0">
              <a:solidFill>
                <a:schemeClr val="bg1"/>
              </a:solidFill>
              <a:latin typeface="Poppins" pitchFamily="2" charset="77"/>
              <a:cs typeface="Poppins" pitchFamily="2" charset="77"/>
            </a:endParaRPr>
          </a:p>
          <a:p>
            <a:pPr algn="ctr"/>
            <a:endParaRPr lang="en-US" sz="2400" dirty="0">
              <a:solidFill>
                <a:schemeClr val="bg1"/>
              </a:solidFill>
              <a:latin typeface="Poppins" pitchFamily="2" charset="77"/>
              <a:cs typeface="Poppins" pitchFamily="2" charset="77"/>
            </a:endParaRPr>
          </a:p>
        </p:txBody>
      </p:sp>
      <p:pic>
        <p:nvPicPr>
          <p:cNvPr id="6" name="Picture 2" descr="KL Deemed to be University Logo"/>
          <p:cNvPicPr>
            <a:picLocks noChangeAspect="1" noChangeArrowheads="1"/>
          </p:cNvPicPr>
          <p:nvPr/>
        </p:nvPicPr>
        <p:blipFill>
          <a:blip r:embed="rId2"/>
          <a:srcRect/>
          <a:stretch>
            <a:fillRect/>
          </a:stretch>
        </p:blipFill>
        <p:spPr bwMode="auto">
          <a:xfrm>
            <a:off x="5514534" y="2560321"/>
            <a:ext cx="3235570" cy="1083212"/>
          </a:xfrm>
          <a:prstGeom prst="rect">
            <a:avLst/>
          </a:prstGeom>
          <a:noFill/>
        </p:spPr>
      </p:pic>
    </p:spTree>
  </p:cSld>
  <p:clrMapOvr>
    <a:masterClrMapping/>
  </p:clrMapOvr>
</p:sld>
</file>

<file path=ppt/theme/theme1.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Extreme Shadow">
      <a:fillStyleLst>
        <a:solidFill>
          <a:schemeClr val="phClr"/>
        </a:solidFill>
        <a:gradFill rotWithShape="1">
          <a:gsLst>
            <a:gs pos="0">
              <a:schemeClr val="phClr">
                <a:tint val="90000"/>
              </a:schemeClr>
            </a:gs>
            <a:gs pos="48000">
              <a:schemeClr val="phClr">
                <a:tint val="54000"/>
                <a:satMod val="140000"/>
              </a:schemeClr>
            </a:gs>
            <a:gs pos="100000">
              <a:schemeClr val="phClr">
                <a:tint val="24000"/>
                <a:satMod val="260000"/>
              </a:schemeClr>
            </a:gs>
          </a:gsLst>
          <a:lin ang="16200000" scaled="1"/>
        </a:gradFill>
        <a:gradFill rotWithShape="1">
          <a:gsLst>
            <a:gs pos="0">
              <a:schemeClr val="phClr"/>
            </a:gs>
            <a:gs pos="100000">
              <a:schemeClr val="phClr">
                <a:shade val="48000"/>
                <a:satMod val="180000"/>
                <a:lumMod val="94000"/>
              </a:schemeClr>
            </a:gs>
            <a:gs pos="100000">
              <a:schemeClr val="phClr">
                <a:shade val="48000"/>
                <a:satMod val="180000"/>
                <a:lumMod val="94000"/>
              </a:schemeClr>
            </a:gs>
          </a:gsLst>
          <a:lin ang="4140000" scaled="1"/>
        </a:gradFill>
      </a:fillStyleLst>
      <a:lnStyleLst>
        <a:ln w="12700" cap="flat" cmpd="sng" algn="ctr">
          <a:solidFill>
            <a:schemeClr val="phClr"/>
          </a:solidFill>
          <a:prstDash val="solid"/>
        </a:ln>
        <a:ln w="19050" cap="flat" cmpd="sng" algn="ctr">
          <a:solidFill>
            <a:schemeClr val="phClr"/>
          </a:solidFill>
          <a:prstDash val="solid"/>
        </a:ln>
        <a:ln w="28575" cap="flat" cmpd="sng" algn="ctr">
          <a:solidFill>
            <a:schemeClr val="phClr"/>
          </a:solidFill>
          <a:prstDash val="solid"/>
        </a:ln>
      </a:lnStyleLst>
      <a:effectStyleLst>
        <a:effectStyle>
          <a:effectLst>
            <a:outerShdw blurRad="63500" dist="12700" dir="5400000" sx="102000" sy="102000" rotWithShape="0">
              <a:srgbClr val="000000">
                <a:alpha val="32000"/>
              </a:srgbClr>
            </a:outerShdw>
          </a:effectLst>
        </a:effectStyle>
        <a:effectStyle>
          <a:effectLst>
            <a:outerShdw blurRad="76200" dist="38100" dir="5400000" rotWithShape="0">
              <a:srgbClr val="000000">
                <a:alpha val="60000"/>
              </a:srgbClr>
            </a:outerShdw>
          </a:effectLst>
          <a:scene3d>
            <a:camera prst="orthographicFront">
              <a:rot lat="0" lon="0" rev="0"/>
            </a:camera>
            <a:lightRig rig="threePt" dir="tl">
              <a:rot lat="0" lon="0" rev="19800000"/>
            </a:lightRig>
          </a:scene3d>
          <a:sp3d prstMaterial="plastic">
            <a:bevelT w="25400" h="19050"/>
          </a:sp3d>
        </a:effectStyle>
        <a:effectStyle>
          <a:effectLst>
            <a:outerShdw blurRad="114300" dist="114300" dir="5400000" rotWithShape="0">
              <a:srgbClr val="000000">
                <a:alpha val="70000"/>
              </a:srgbClr>
            </a:outerShdw>
          </a:effectLst>
          <a:scene3d>
            <a:camera prst="orthographicFront">
              <a:rot lat="0" lon="0" rev="0"/>
            </a:camera>
            <a:lightRig rig="threePt" dir="t">
              <a:rot lat="0" lon="0" rev="19800000"/>
            </a:lightRig>
          </a:scene3d>
          <a:sp3d prstMaterial="plastic">
            <a:bevelT w="38100" h="31750"/>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845058B0D91A7444BDF69F20EF097C18" ma:contentTypeVersion="14" ma:contentTypeDescription="Create a new document." ma:contentTypeScope="" ma:versionID="0ede872240208156a106060c7bf37a70">
  <xsd:schema xmlns:xsd="http://www.w3.org/2001/XMLSchema" xmlns:xs="http://www.w3.org/2001/XMLSchema" xmlns:p="http://schemas.microsoft.com/office/2006/metadata/properties" xmlns:ns3="d43ee83c-3e71-4748-8ebc-8eaadf793425" xmlns:ns4="0125a647-8023-46ae-ae6e-85cf36d841bd" targetNamespace="http://schemas.microsoft.com/office/2006/metadata/properties" ma:root="true" ma:fieldsID="e836ceb473825fb8f3d8aa266dca4abb" ns3:_="" ns4:_="">
    <xsd:import namespace="d43ee83c-3e71-4748-8ebc-8eaadf793425"/>
    <xsd:import namespace="0125a647-8023-46ae-ae6e-85cf36d841bd"/>
    <xsd:element name="properties">
      <xsd:complexType>
        <xsd:sequence>
          <xsd:element name="documentManagement">
            <xsd:complexType>
              <xsd:all>
                <xsd:element ref="ns3:SharedWithUsers" minOccurs="0"/>
                <xsd:element ref="ns3:SharedWithDetails" minOccurs="0"/>
                <xsd:element ref="ns3:SharingHintHash" minOccurs="0"/>
                <xsd:element ref="ns4:MediaServiceMetadata" minOccurs="0"/>
                <xsd:element ref="ns4:MediaServiceFastMetadata" minOccurs="0"/>
                <xsd:element ref="ns4:MediaServiceDateTaken" minOccurs="0"/>
                <xsd:element ref="ns4:MediaServiceAutoTags" minOccurs="0"/>
                <xsd:element ref="ns4:MediaServiceGenerationTime" minOccurs="0"/>
                <xsd:element ref="ns4:MediaServiceEventHashCode" minOccurs="0"/>
                <xsd:element ref="ns4:MediaServiceOCR" minOccurs="0"/>
                <xsd:element ref="ns4:MediaLengthInSeconds" minOccurs="0"/>
                <xsd:element ref="ns4:MediaServiceAutoKeyPoints" minOccurs="0"/>
                <xsd:element ref="ns4:MediaServiceKeyPoints" minOccurs="0"/>
                <xsd:element ref="ns4: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43ee83c-3e71-4748-8ebc-8eaadf793425" elementFormDefault="qualified">
    <xsd:import namespace="http://schemas.microsoft.com/office/2006/documentManagement/types"/>
    <xsd:import namespace="http://schemas.microsoft.com/office/infopath/2007/PartnerControls"/>
    <xsd:element name="SharedWithUsers" ma:index="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internalName="SharedWithDetails" ma:readOnly="true">
      <xsd:simpleType>
        <xsd:restriction base="dms:Note">
          <xsd:maxLength value="255"/>
        </xsd:restriction>
      </xsd:simpleType>
    </xsd:element>
    <xsd:element name="SharingHintHash" ma:index="10" nillable="true" ma:displayName="Sharing Hint Hash" ma:hidden="true" ma:internalName="SharingHintHash"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0125a647-8023-46ae-ae6e-85cf36d841bd" elementFormDefault="qualified">
    <xsd:import namespace="http://schemas.microsoft.com/office/2006/documentManagement/types"/>
    <xsd:import namespace="http://schemas.microsoft.com/office/infopath/2007/PartnerControls"/>
    <xsd:element name="MediaServiceMetadata" ma:index="11" nillable="true" ma:displayName="MediaServiceMetadata" ma:hidden="true" ma:internalName="MediaServiceMetadata" ma:readOnly="true">
      <xsd:simpleType>
        <xsd:restriction base="dms:Note"/>
      </xsd:simpleType>
    </xsd:element>
    <xsd:element name="MediaServiceFastMetadata" ma:index="12" nillable="true" ma:displayName="MediaServiceFastMetadata" ma:hidden="true" ma:internalName="MediaServiceFastMetadata" ma:readOnly="true">
      <xsd:simpleType>
        <xsd:restriction base="dms:Note"/>
      </xsd:simpleType>
    </xsd:element>
    <xsd:element name="MediaServiceDateTaken" ma:index="13" nillable="true" ma:displayName="MediaServiceDateTaken" ma:hidden="true" ma:internalName="MediaServiceDateTaken" ma:readOnly="true">
      <xsd:simpleType>
        <xsd:restriction base="dms:Text"/>
      </xsd:simpleType>
    </xsd:element>
    <xsd:element name="MediaServiceAutoTags" ma:index="14" nillable="true" ma:displayName="Tags" ma:internalName="MediaServiceAutoTags" ma:readOnly="true">
      <xsd:simpleType>
        <xsd:restriction base="dms:Text"/>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LengthInSeconds" ma:index="18" nillable="true" ma:displayName="Length (seconds)" ma:internalName="MediaLengthInSeconds" ma:readOnly="true">
      <xsd:simpleType>
        <xsd:restriction base="dms:Unknown"/>
      </xsd:simpleType>
    </xsd:element>
    <xsd:element name="MediaServiceAutoKeyPoints" ma:index="19" nillable="true" ma:displayName="MediaServiceAutoKeyPoints" ma:hidden="true" ma:internalName="MediaServiceAutoKeyPoints" ma:readOnly="true">
      <xsd:simpleType>
        <xsd:restriction base="dms:Note"/>
      </xsd:simpleType>
    </xsd:element>
    <xsd:element name="MediaServiceKeyPoints" ma:index="20" nillable="true" ma:displayName="KeyPoints" ma:internalName="MediaServiceKeyPoints" ma:readOnly="true">
      <xsd:simpleType>
        <xsd:restriction base="dms:Note">
          <xsd:maxLength value="255"/>
        </xsd:restriction>
      </xsd:simpleType>
    </xsd:element>
    <xsd:element name="MediaServiceLocation" ma:index="21" nillable="true" ma:displayName="Location" ma:internalName="MediaServiceLocation"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EBBD0A98-E68B-4DAA-8964-2F739D6D4075}">
  <ds:schemaRefs>
    <ds:schemaRef ds:uri="http://schemas.microsoft.com/office/2006/metadata/properties"/>
    <ds:schemaRef ds:uri="http://www.w3.org/2000/xmlns/"/>
    <ds:schemaRef ds:uri="http://schemas.microsoft.com/office/infopath/2007/PartnerControls"/>
  </ds:schemaRefs>
</ds:datastoreItem>
</file>

<file path=customXml/itemProps2.xml><?xml version="1.0" encoding="utf-8"?>
<ds:datastoreItem xmlns:ds="http://schemas.openxmlformats.org/officeDocument/2006/customXml" ds:itemID="{3DA00F5F-5366-4B1C-9406-30DECA796ABB}">
  <ds:schemaRefs>
    <ds:schemaRef ds:uri="http://schemas.microsoft.com/sharepoint/v3/contenttype/forms"/>
  </ds:schemaRefs>
</ds:datastoreItem>
</file>

<file path=customXml/itemProps3.xml><?xml version="1.0" encoding="utf-8"?>
<ds:datastoreItem xmlns:ds="http://schemas.openxmlformats.org/officeDocument/2006/customXml" ds:itemID="{C89A6ECA-0C1B-4F00-836D-A696F073E5C2}">
  <ds:schemaRefs>
    <ds:schemaRef ds:uri="http://schemas.microsoft.com/office/2006/metadata/contentType"/>
    <ds:schemaRef ds:uri="http://schemas.microsoft.com/office/2006/metadata/properties/metaAttributes"/>
    <ds:schemaRef ds:uri="http://www.w3.org/2000/xmlns/"/>
    <ds:schemaRef ds:uri="http://www.w3.org/2001/XMLSchema"/>
    <ds:schemaRef ds:uri="d43ee83c-3e71-4748-8ebc-8eaadf793425"/>
    <ds:schemaRef ds:uri="0125a647-8023-46ae-ae6e-85cf36d841bd"/>
    <ds:schemaRef ds:uri="http://schemas.microsoft.com/office/2006/metadata/properties"/>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Office Theme</Template>
  <TotalTime>2155</TotalTime>
  <Words>1476</Words>
  <Application>Microsoft Office PowerPoint</Application>
  <PresentationFormat>Widescreen</PresentationFormat>
  <Paragraphs>195</Paragraphs>
  <Slides>20</Slides>
  <Notes>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20</vt:i4>
      </vt:variant>
    </vt:vector>
  </HeadingPairs>
  <TitlesOfParts>
    <vt:vector size="26" baseType="lpstr">
      <vt:lpstr>Arial</vt:lpstr>
      <vt:lpstr>Calibri</vt:lpstr>
      <vt:lpstr>Poppins</vt:lpstr>
      <vt:lpstr>Times New Roman</vt:lpstr>
      <vt:lpstr>Wingdings</vt:lpstr>
      <vt:lpstr>1_Office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1 : FUNDMENTALS OF ORGANIZATIONAL BEHAVIOUR</dc:title>
  <dc:creator>Younus Sayyad</dc:creator>
  <cp:lastModifiedBy>A Kumuda</cp:lastModifiedBy>
  <cp:revision>148</cp:revision>
  <dcterms:created xsi:type="dcterms:W3CDTF">2020-02-08T09:57:44Z</dcterms:created>
  <dcterms:modified xsi:type="dcterms:W3CDTF">2024-12-13T07:54:10Z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0x010100845058B0D91A7444BDF69F20EF097C18</vt:lpwstr>
  </property>
</Properties>
</file>