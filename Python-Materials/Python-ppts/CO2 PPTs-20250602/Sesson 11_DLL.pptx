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71" r:id="rId5"/>
    <p:sldId id="300" r:id="rId6"/>
    <p:sldId id="258" r:id="rId7"/>
    <p:sldId id="261" r:id="rId8"/>
    <p:sldId id="314" r:id="rId9"/>
    <p:sldId id="277" r:id="rId10"/>
    <p:sldId id="315" r:id="rId11"/>
    <p:sldId id="325" r:id="rId12"/>
    <p:sldId id="316" r:id="rId13"/>
    <p:sldId id="288" r:id="rId14"/>
    <p:sldId id="327" r:id="rId15"/>
    <p:sldId id="317" r:id="rId16"/>
    <p:sldId id="318" r:id="rId17"/>
    <p:sldId id="319" r:id="rId18"/>
    <p:sldId id="320" r:id="rId19"/>
    <p:sldId id="321" r:id="rId20"/>
    <p:sldId id="322" r:id="rId21"/>
    <p:sldId id="324" r:id="rId22"/>
    <p:sldId id="323" r:id="rId23"/>
    <p:sldId id="299" r:id="rId24"/>
    <p:sldId id="326" r:id="rId25"/>
    <p:sldId id="285" r:id="rId26"/>
    <p:sldId id="287" r:id="rId27"/>
    <p:sldId id="301" r:id="rId28"/>
    <p:sldId id="302" r:id="rId29"/>
    <p:sldId id="303" r:id="rId30"/>
    <p:sldId id="30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93B"/>
    <a:srgbClr val="A81E24"/>
    <a:srgbClr val="E84845"/>
    <a:srgbClr val="FF9900"/>
    <a:srgbClr val="FAD2D2"/>
    <a:srgbClr val="F89E4C"/>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FDB9A-789B-4CB9-998D-BDFF742DC4A1}" v="2" dt="2023-12-29T09:35:58.51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 Haritha" userId="550545d3-18dc-474c-99a8-9d1e2949031b" providerId="ADAL" clId="{410FDB9A-789B-4CB9-998D-BDFF742DC4A1}"/>
    <pc:docChg chg="undo custSel modSld">
      <pc:chgData name="U Haritha" userId="550545d3-18dc-474c-99a8-9d1e2949031b" providerId="ADAL" clId="{410FDB9A-789B-4CB9-998D-BDFF742DC4A1}" dt="2023-12-29T09:36:49.326" v="6" actId="1076"/>
      <pc:docMkLst>
        <pc:docMk/>
      </pc:docMkLst>
      <pc:sldChg chg="modSp mod modAnim">
        <pc:chgData name="U Haritha" userId="550545d3-18dc-474c-99a8-9d1e2949031b" providerId="ADAL" clId="{410FDB9A-789B-4CB9-998D-BDFF742DC4A1}" dt="2023-12-29T09:36:49.326" v="6" actId="1076"/>
        <pc:sldMkLst>
          <pc:docMk/>
          <pc:sldMk cId="0" sldId="277"/>
        </pc:sldMkLst>
        <pc:spChg chg="mod">
          <ac:chgData name="U Haritha" userId="550545d3-18dc-474c-99a8-9d1e2949031b" providerId="ADAL" clId="{410FDB9A-789B-4CB9-998D-BDFF742DC4A1}" dt="2023-12-29T09:36:41.428" v="5" actId="1076"/>
          <ac:spMkLst>
            <pc:docMk/>
            <pc:sldMk cId="0" sldId="277"/>
            <ac:spMk id="23" creationId="{A9D0F89D-7BD1-5314-8304-9EB573168E33}"/>
          </ac:spMkLst>
        </pc:spChg>
        <pc:spChg chg="mod">
          <ac:chgData name="U Haritha" userId="550545d3-18dc-474c-99a8-9d1e2949031b" providerId="ADAL" clId="{410FDB9A-789B-4CB9-998D-BDFF742DC4A1}" dt="2023-12-29T09:36:34.733" v="4" actId="1076"/>
          <ac:spMkLst>
            <pc:docMk/>
            <pc:sldMk cId="0" sldId="277"/>
            <ac:spMk id="29" creationId="{CBD5DEBF-A9E7-4CE9-C9FE-E4CE4E14FF61}"/>
          </ac:spMkLst>
        </pc:spChg>
        <pc:spChg chg="mod">
          <ac:chgData name="U Haritha" userId="550545d3-18dc-474c-99a8-9d1e2949031b" providerId="ADAL" clId="{410FDB9A-789B-4CB9-998D-BDFF742DC4A1}" dt="2023-12-29T09:36:49.326" v="6" actId="1076"/>
          <ac:spMkLst>
            <pc:docMk/>
            <pc:sldMk cId="0" sldId="277"/>
            <ac:spMk id="6147" creationId="{1A146D1F-1BD0-6DDF-DFE8-32BB4E3579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3199009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val="871523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9</a:t>
            </a:fld>
            <a:endParaRPr lang="en-US"/>
          </a:p>
        </p:txBody>
      </p:sp>
    </p:spTree>
    <p:extLst>
      <p:ext uri="{BB962C8B-B14F-4D97-AF65-F5344CB8AC3E}">
        <p14:creationId xmlns:p14="http://schemas.microsoft.com/office/powerpoint/2010/main" val="923593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10</a:t>
            </a:fld>
            <a:endParaRPr lang="en-US"/>
          </a:p>
        </p:txBody>
      </p:sp>
    </p:spTree>
    <p:extLst>
      <p:ext uri="{BB962C8B-B14F-4D97-AF65-F5344CB8AC3E}">
        <p14:creationId xmlns:p14="http://schemas.microsoft.com/office/powerpoint/2010/main" val="359678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17</a:t>
            </a:fld>
            <a:endParaRPr lang="en-US"/>
          </a:p>
        </p:txBody>
      </p:sp>
    </p:spTree>
    <p:extLst>
      <p:ext uri="{BB962C8B-B14F-4D97-AF65-F5344CB8AC3E}">
        <p14:creationId xmlns:p14="http://schemas.microsoft.com/office/powerpoint/2010/main" val="3018994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37582"/>
            <a:ext cx="6027459" cy="6623931"/>
          </a:xfrm>
          <a:prstGeom prst="rect">
            <a:avLst/>
          </a:prstGeom>
          <a:noFill/>
          <a:ln>
            <a:noFill/>
          </a:ln>
        </p:spPr>
      </p:pic>
      <p:sp>
        <p:nvSpPr>
          <p:cNvPr id="476" name="Google Shape;476;p16"/>
          <p:cNvSpPr txBox="1"/>
          <p:nvPr/>
        </p:nvSpPr>
        <p:spPr>
          <a:xfrm>
            <a:off x="5394455" y="1944294"/>
            <a:ext cx="6601602"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latin typeface="Times New Roman" pitchFamily="18" charset="0"/>
                <a:cs typeface="Times New Roman" pitchFamily="18" charset="0"/>
              </a:rPr>
              <a:t>Doubly Linked List  </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080955" y="6154717"/>
            <a:ext cx="2235116" cy="487553"/>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11</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600" y="617443"/>
            <a:ext cx="10731286" cy="42601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concept of</a:t>
            </a:r>
            <a:r>
              <a:rPr lang="en-US" sz="1600" dirty="0"/>
              <a:t> Doubly Linked List . </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dirty="0">
                <a:latin typeface="Arial" panose="020B0604020202020204" pitchFamily="34" charset="0"/>
              </a:rPr>
              <a:t>the concept of Doubly Linked List.</a:t>
            </a:r>
          </a:p>
          <a:p>
            <a:pPr marL="342900" indent="-342900">
              <a:buAutoNum type="arabicPeriod"/>
            </a:pPr>
            <a:r>
              <a:rPr lang="en-US" sz="1600" dirty="0">
                <a:latin typeface="Arial" panose="020B0604020202020204" pitchFamily="34" charset="0"/>
              </a:rPr>
              <a:t>To implement doubly linked list in C.</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To create functions for performing operations like insertion , Deletion and Display</a:t>
            </a:r>
            <a:r>
              <a:rPr lang="en-US" sz="1600" b="0" i="0" dirty="0">
                <a:effectLst/>
                <a:latin typeface="Arial" panose="020B0604020202020204" pitchFamily="34" charset="0"/>
              </a:rPr>
              <a: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94002"/>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1" dirty="0"/>
              <a:t>Understand the concept  and  importance of Doubly Linked List.</a:t>
            </a:r>
          </a:p>
          <a:p>
            <a:pPr marL="342900" indent="-342900">
              <a:buAutoNum type="arabicPeriod"/>
            </a:pPr>
            <a:r>
              <a:rPr lang="en-US" sz="1600" b="1" dirty="0"/>
              <a:t>To create doubly linked list and perform operations  such as insertion, deletion and display,</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9385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Doubly Linked List          </a:t>
            </a:r>
            <a:r>
              <a:rPr lang="en-US" sz="2400" dirty="0">
                <a:latin typeface="Times New Roman" panose="02020603050405020304" pitchFamily="18" charset="0"/>
                <a:cs typeface="Times New Roman" panose="02020603050405020304" pitchFamily="18" charset="0"/>
              </a:rPr>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44983" cy="5755422"/>
          </a:xfrm>
          <a:prstGeom prst="rect">
            <a:avLst/>
          </a:prstGeom>
          <a:noFill/>
        </p:spPr>
        <p:txBody>
          <a:bodyPr wrap="square" rtlCol="0">
            <a:spAutoFit/>
          </a:bodyPr>
          <a:lstStyle/>
          <a:p>
            <a:pPr marL="285750" indent="-285750">
              <a:buFont typeface="Arial" panose="020B0604020202020204" pitchFamily="34" charset="0"/>
              <a:buChar char="•"/>
              <a:defRPr/>
            </a:pPr>
            <a:r>
              <a:rPr lang="en-IN" sz="2800" b="1" dirty="0"/>
              <a:t>A linked data structure  consisting of a set of sequentially linked records called nodes</a:t>
            </a:r>
            <a:r>
              <a:rPr lang="en-IN" sz="2800" dirty="0"/>
              <a:t>. </a:t>
            </a:r>
            <a:endPar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endPar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Every node has the following fields</a:t>
            </a:r>
          </a:p>
          <a:p>
            <a:pPr marL="1657350" lvl="3" indent="-285750">
              <a:buFont typeface="Arial" panose="020B0604020202020204" pitchFamily="34" charset="0"/>
              <a:buChar char="•"/>
              <a:defRPr/>
            </a:pPr>
            <a:r>
              <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Data part</a:t>
            </a:r>
          </a:p>
          <a:p>
            <a:pPr marL="1657350" lvl="3" indent="-285750">
              <a:buFont typeface="Arial" panose="020B0604020202020204" pitchFamily="34" charset="0"/>
              <a:buChar char="•"/>
              <a:defRPr/>
            </a:pPr>
            <a:r>
              <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Link to the previous node</a:t>
            </a:r>
          </a:p>
          <a:p>
            <a:pPr marL="1657350" lvl="3" indent="-285750">
              <a:buFont typeface="Arial" panose="020B0604020202020204" pitchFamily="34" charset="0"/>
              <a:buChar char="•"/>
              <a:defRPr/>
            </a:pPr>
            <a:r>
              <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Link to the next node</a:t>
            </a:r>
          </a:p>
          <a:p>
            <a:pPr marL="1657350" lvl="3" indent="-285750">
              <a:buFont typeface="Arial" panose="020B0604020202020204" pitchFamily="34" charset="0"/>
              <a:buChar char="•"/>
              <a:defRPr/>
            </a:pPr>
            <a:endPar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lvl="3">
              <a:defRPr/>
            </a:pPr>
            <a:endPar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endPar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Hence in a  doubly linked lists navigation is possible in both directions.</a:t>
            </a:r>
          </a:p>
          <a:p>
            <a:pPr>
              <a:defRPr/>
            </a:pPr>
            <a:endParaRPr lang="en-US" sz="280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32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B1B68F61-BE53-E0B0-5ACE-4EACB5B8BC20}"/>
              </a:ext>
            </a:extLst>
          </p:cNvPr>
          <p:cNvPicPr>
            <a:picLocks noChangeAspect="1"/>
          </p:cNvPicPr>
          <p:nvPr/>
        </p:nvPicPr>
        <p:blipFill>
          <a:blip r:embed="rId4"/>
          <a:stretch>
            <a:fillRect/>
          </a:stretch>
        </p:blipFill>
        <p:spPr>
          <a:xfrm>
            <a:off x="1990725" y="4722561"/>
            <a:ext cx="4747532" cy="939848"/>
          </a:xfrm>
          <a:prstGeom prst="rect">
            <a:avLst/>
          </a:prstGeom>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36C371-DE63-7E58-6882-E0A1B32AB6FC}"/>
              </a:ext>
            </a:extLst>
          </p:cNvPr>
          <p:cNvSpPr/>
          <p:nvPr/>
        </p:nvSpPr>
        <p:spPr>
          <a:xfrm>
            <a:off x="1720850" y="4379914"/>
            <a:ext cx="79533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sp>
        <p:nvSpPr>
          <p:cNvPr id="8" name="Rectangle 7">
            <a:extLst>
              <a:ext uri="{FF2B5EF4-FFF2-40B4-BE49-F238E27FC236}">
                <a16:creationId xmlns:a16="http://schemas.microsoft.com/office/drawing/2014/main" id="{87430ADE-296C-79B9-E43F-265AB0C2786C}"/>
              </a:ext>
            </a:extLst>
          </p:cNvPr>
          <p:cNvSpPr/>
          <p:nvPr/>
        </p:nvSpPr>
        <p:spPr>
          <a:xfrm>
            <a:off x="2486025" y="4379914"/>
            <a:ext cx="896938" cy="88582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10</a:t>
            </a:r>
          </a:p>
        </p:txBody>
      </p:sp>
      <p:sp>
        <p:nvSpPr>
          <p:cNvPr id="9" name="Rectangle 8">
            <a:extLst>
              <a:ext uri="{FF2B5EF4-FFF2-40B4-BE49-F238E27FC236}">
                <a16:creationId xmlns:a16="http://schemas.microsoft.com/office/drawing/2014/main" id="{7E550F5D-A6EA-B735-A13F-074F5A38F102}"/>
              </a:ext>
            </a:extLst>
          </p:cNvPr>
          <p:cNvSpPr/>
          <p:nvPr/>
        </p:nvSpPr>
        <p:spPr>
          <a:xfrm>
            <a:off x="3354389" y="4379914"/>
            <a:ext cx="89693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2000</a:t>
            </a:r>
          </a:p>
        </p:txBody>
      </p:sp>
      <p:sp>
        <p:nvSpPr>
          <p:cNvPr id="10" name="Rectangle 9">
            <a:extLst>
              <a:ext uri="{FF2B5EF4-FFF2-40B4-BE49-F238E27FC236}">
                <a16:creationId xmlns:a16="http://schemas.microsoft.com/office/drawing/2014/main" id="{D950B2C5-EC34-A40F-DEE8-A897C1EEF737}"/>
              </a:ext>
            </a:extLst>
          </p:cNvPr>
          <p:cNvSpPr/>
          <p:nvPr/>
        </p:nvSpPr>
        <p:spPr>
          <a:xfrm>
            <a:off x="4924425" y="4379914"/>
            <a:ext cx="101758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1000</a:t>
            </a:r>
          </a:p>
        </p:txBody>
      </p:sp>
      <p:sp>
        <p:nvSpPr>
          <p:cNvPr id="11" name="Rectangle 10">
            <a:extLst>
              <a:ext uri="{FF2B5EF4-FFF2-40B4-BE49-F238E27FC236}">
                <a16:creationId xmlns:a16="http://schemas.microsoft.com/office/drawing/2014/main" id="{6035B8F9-42FC-DB8E-C0E7-7173ACE35ED1}"/>
              </a:ext>
            </a:extLst>
          </p:cNvPr>
          <p:cNvSpPr/>
          <p:nvPr/>
        </p:nvSpPr>
        <p:spPr>
          <a:xfrm>
            <a:off x="5903914" y="4379914"/>
            <a:ext cx="877887" cy="88582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30</a:t>
            </a:r>
          </a:p>
        </p:txBody>
      </p:sp>
      <p:sp>
        <p:nvSpPr>
          <p:cNvPr id="12" name="Rectangle 11">
            <a:extLst>
              <a:ext uri="{FF2B5EF4-FFF2-40B4-BE49-F238E27FC236}">
                <a16:creationId xmlns:a16="http://schemas.microsoft.com/office/drawing/2014/main" id="{AD9748F8-364C-A3EB-F469-4D031172AD9B}"/>
              </a:ext>
            </a:extLst>
          </p:cNvPr>
          <p:cNvSpPr/>
          <p:nvPr/>
        </p:nvSpPr>
        <p:spPr>
          <a:xfrm>
            <a:off x="6742114" y="4379914"/>
            <a:ext cx="87788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3000</a:t>
            </a:r>
          </a:p>
        </p:txBody>
      </p:sp>
      <p:sp>
        <p:nvSpPr>
          <p:cNvPr id="13" name="Rectangle 12">
            <a:extLst>
              <a:ext uri="{FF2B5EF4-FFF2-40B4-BE49-F238E27FC236}">
                <a16:creationId xmlns:a16="http://schemas.microsoft.com/office/drawing/2014/main" id="{62FA2516-01A4-C702-9BBE-C5EDF8EFF657}"/>
              </a:ext>
            </a:extLst>
          </p:cNvPr>
          <p:cNvSpPr/>
          <p:nvPr/>
        </p:nvSpPr>
        <p:spPr>
          <a:xfrm>
            <a:off x="8054975" y="4379914"/>
            <a:ext cx="87788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2000</a:t>
            </a:r>
          </a:p>
        </p:txBody>
      </p:sp>
      <p:sp>
        <p:nvSpPr>
          <p:cNvPr id="14" name="Rectangle 13">
            <a:extLst>
              <a:ext uri="{FF2B5EF4-FFF2-40B4-BE49-F238E27FC236}">
                <a16:creationId xmlns:a16="http://schemas.microsoft.com/office/drawing/2014/main" id="{324062CD-D647-7AEF-6286-0E4907017DCA}"/>
              </a:ext>
            </a:extLst>
          </p:cNvPr>
          <p:cNvSpPr/>
          <p:nvPr/>
        </p:nvSpPr>
        <p:spPr>
          <a:xfrm>
            <a:off x="8894764" y="4379914"/>
            <a:ext cx="879475" cy="88582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50</a:t>
            </a:r>
          </a:p>
        </p:txBody>
      </p:sp>
      <p:sp>
        <p:nvSpPr>
          <p:cNvPr id="16" name="Rectangle 15">
            <a:extLst>
              <a:ext uri="{FF2B5EF4-FFF2-40B4-BE49-F238E27FC236}">
                <a16:creationId xmlns:a16="http://schemas.microsoft.com/office/drawing/2014/main" id="{8BC6FF99-8BAF-BAD6-CB34-0FC2F9D326A5}"/>
              </a:ext>
            </a:extLst>
          </p:cNvPr>
          <p:cNvSpPr/>
          <p:nvPr/>
        </p:nvSpPr>
        <p:spPr>
          <a:xfrm>
            <a:off x="9790114" y="4379914"/>
            <a:ext cx="87788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b="1" dirty="0">
              <a:solidFill>
                <a:srgbClr val="002060"/>
              </a:solidFill>
            </a:endParaRPr>
          </a:p>
          <a:p>
            <a:pPr algn="ctr">
              <a:defRPr/>
            </a:pPr>
            <a:r>
              <a:rPr lang="en-IN" b="1" dirty="0">
                <a:solidFill>
                  <a:srgbClr val="002060"/>
                </a:solidFill>
              </a:rPr>
              <a:t>NULL</a:t>
            </a:r>
          </a:p>
          <a:p>
            <a:pPr algn="ctr">
              <a:defRPr/>
            </a:pPr>
            <a:endParaRPr lang="en-IN" dirty="0"/>
          </a:p>
        </p:txBody>
      </p:sp>
      <p:sp>
        <p:nvSpPr>
          <p:cNvPr id="17" name="Arrow: Right 16">
            <a:extLst>
              <a:ext uri="{FF2B5EF4-FFF2-40B4-BE49-F238E27FC236}">
                <a16:creationId xmlns:a16="http://schemas.microsoft.com/office/drawing/2014/main" id="{84EC98A1-1EDF-B08D-7048-A80DB8722FF9}"/>
              </a:ext>
            </a:extLst>
          </p:cNvPr>
          <p:cNvSpPr/>
          <p:nvPr/>
        </p:nvSpPr>
        <p:spPr>
          <a:xfrm>
            <a:off x="4251326" y="4622800"/>
            <a:ext cx="657225" cy="46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Arrow: Right 17">
            <a:extLst>
              <a:ext uri="{FF2B5EF4-FFF2-40B4-BE49-F238E27FC236}">
                <a16:creationId xmlns:a16="http://schemas.microsoft.com/office/drawing/2014/main" id="{F0D78FD2-139D-0545-7BA7-0A3D92867209}"/>
              </a:ext>
            </a:extLst>
          </p:cNvPr>
          <p:cNvSpPr/>
          <p:nvPr/>
        </p:nvSpPr>
        <p:spPr>
          <a:xfrm>
            <a:off x="7620001" y="4668838"/>
            <a:ext cx="434975" cy="44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9" name="Arrow: Left 18">
            <a:extLst>
              <a:ext uri="{FF2B5EF4-FFF2-40B4-BE49-F238E27FC236}">
                <a16:creationId xmlns:a16="http://schemas.microsoft.com/office/drawing/2014/main" id="{827318C8-E259-B493-A628-921937A810E0}"/>
              </a:ext>
            </a:extLst>
          </p:cNvPr>
          <p:cNvSpPr/>
          <p:nvPr/>
        </p:nvSpPr>
        <p:spPr>
          <a:xfrm>
            <a:off x="4267200" y="5005389"/>
            <a:ext cx="641350"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0" name="Arrow: Left 19">
            <a:extLst>
              <a:ext uri="{FF2B5EF4-FFF2-40B4-BE49-F238E27FC236}">
                <a16:creationId xmlns:a16="http://schemas.microsoft.com/office/drawing/2014/main" id="{E49DA187-CF51-EB7D-D0BE-C98A0846E2DF}"/>
              </a:ext>
            </a:extLst>
          </p:cNvPr>
          <p:cNvSpPr/>
          <p:nvPr/>
        </p:nvSpPr>
        <p:spPr>
          <a:xfrm>
            <a:off x="7580313" y="5005389"/>
            <a:ext cx="474662"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115" name="TextBox 20">
            <a:extLst>
              <a:ext uri="{FF2B5EF4-FFF2-40B4-BE49-F238E27FC236}">
                <a16:creationId xmlns:a16="http://schemas.microsoft.com/office/drawing/2014/main" id="{393496B7-1F05-52A7-4638-B5160F1527B3}"/>
              </a:ext>
            </a:extLst>
          </p:cNvPr>
          <p:cNvSpPr txBox="1">
            <a:spLocks noChangeArrowheads="1"/>
          </p:cNvSpPr>
          <p:nvPr/>
        </p:nvSpPr>
        <p:spPr bwMode="auto">
          <a:xfrm>
            <a:off x="2424113" y="5573714"/>
            <a:ext cx="1020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1000</a:t>
            </a:r>
          </a:p>
        </p:txBody>
      </p:sp>
      <p:sp>
        <p:nvSpPr>
          <p:cNvPr id="4116" name="TextBox 21">
            <a:extLst>
              <a:ext uri="{FF2B5EF4-FFF2-40B4-BE49-F238E27FC236}">
                <a16:creationId xmlns:a16="http://schemas.microsoft.com/office/drawing/2014/main" id="{3B3ED3F4-F6C5-2988-FC54-1F0353220E94}"/>
              </a:ext>
            </a:extLst>
          </p:cNvPr>
          <p:cNvSpPr txBox="1">
            <a:spLocks noChangeArrowheads="1"/>
          </p:cNvSpPr>
          <p:nvPr/>
        </p:nvSpPr>
        <p:spPr bwMode="auto">
          <a:xfrm>
            <a:off x="5832476" y="5573714"/>
            <a:ext cx="1020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2000</a:t>
            </a:r>
          </a:p>
        </p:txBody>
      </p:sp>
      <p:sp>
        <p:nvSpPr>
          <p:cNvPr id="4117" name="TextBox 22">
            <a:extLst>
              <a:ext uri="{FF2B5EF4-FFF2-40B4-BE49-F238E27FC236}">
                <a16:creationId xmlns:a16="http://schemas.microsoft.com/office/drawing/2014/main" id="{8B467081-AAF2-3333-B78E-72D3119A94BA}"/>
              </a:ext>
            </a:extLst>
          </p:cNvPr>
          <p:cNvSpPr txBox="1">
            <a:spLocks noChangeArrowheads="1"/>
          </p:cNvSpPr>
          <p:nvPr/>
        </p:nvSpPr>
        <p:spPr bwMode="auto">
          <a:xfrm>
            <a:off x="8769351" y="5573714"/>
            <a:ext cx="1020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3000</a:t>
            </a:r>
          </a:p>
        </p:txBody>
      </p:sp>
      <p:sp>
        <p:nvSpPr>
          <p:cNvPr id="4118" name="TextBox 23">
            <a:extLst>
              <a:ext uri="{FF2B5EF4-FFF2-40B4-BE49-F238E27FC236}">
                <a16:creationId xmlns:a16="http://schemas.microsoft.com/office/drawing/2014/main" id="{6127FFC1-B303-DF62-0BFD-581EFFF6602F}"/>
              </a:ext>
            </a:extLst>
          </p:cNvPr>
          <p:cNvSpPr txBox="1">
            <a:spLocks noChangeArrowheads="1"/>
          </p:cNvSpPr>
          <p:nvPr/>
        </p:nvSpPr>
        <p:spPr bwMode="auto">
          <a:xfrm>
            <a:off x="2853647" y="3331937"/>
            <a:ext cx="1265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dirty="0">
                <a:solidFill>
                  <a:schemeClr val="tx1"/>
                </a:solidFill>
                <a:latin typeface="Times New Roman" panose="02020603050405020304" pitchFamily="18" charset="0"/>
              </a:rPr>
              <a:t>    Head</a:t>
            </a:r>
          </a:p>
        </p:txBody>
      </p:sp>
      <p:pic>
        <p:nvPicPr>
          <p:cNvPr id="5" name="Picture 2" descr="KL Deemed to be University Logo">
            <a:extLst>
              <a:ext uri="{FF2B5EF4-FFF2-40B4-BE49-F238E27FC236}">
                <a16:creationId xmlns:a16="http://schemas.microsoft.com/office/drawing/2014/main" id="{82440E1E-7841-A960-0B20-24A4AE546C59}"/>
              </a:ext>
            </a:extLst>
          </p:cNvPr>
          <p:cNvPicPr>
            <a:picLocks noChangeAspect="1" noChangeArrowheads="1"/>
          </p:cNvPicPr>
          <p:nvPr/>
        </p:nvPicPr>
        <p:blipFill>
          <a:blip r:embed="rId2"/>
          <a:srcRect/>
          <a:stretch>
            <a:fillRect/>
          </a:stretch>
        </p:blipFill>
        <p:spPr bwMode="auto">
          <a:xfrm>
            <a:off x="202522" y="153989"/>
            <a:ext cx="1990725" cy="600076"/>
          </a:xfrm>
          <a:prstGeom prst="rect">
            <a:avLst/>
          </a:prstGeom>
          <a:noFill/>
        </p:spPr>
      </p:pic>
      <p:sp>
        <p:nvSpPr>
          <p:cNvPr id="22" name="Rounded Rectangle 17">
            <a:extLst>
              <a:ext uri="{FF2B5EF4-FFF2-40B4-BE49-F238E27FC236}">
                <a16:creationId xmlns:a16="http://schemas.microsoft.com/office/drawing/2014/main" id="{CA7A789B-D156-C2FF-34BF-4B5D81DA4A7E}"/>
              </a:ext>
            </a:extLst>
          </p:cNvPr>
          <p:cNvSpPr/>
          <p:nvPr/>
        </p:nvSpPr>
        <p:spPr>
          <a:xfrm>
            <a:off x="1933881" y="97538"/>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  Sample Doubly Linked List</a:t>
            </a:r>
          </a:p>
        </p:txBody>
      </p:sp>
      <p:sp>
        <p:nvSpPr>
          <p:cNvPr id="23" name="Rectangle 22">
            <a:extLst>
              <a:ext uri="{FF2B5EF4-FFF2-40B4-BE49-F238E27FC236}">
                <a16:creationId xmlns:a16="http://schemas.microsoft.com/office/drawing/2014/main" id="{4F87DABE-7DCF-4EC6-A104-65AC04D30819}"/>
              </a:ext>
            </a:extLst>
          </p:cNvPr>
          <p:cNvSpPr/>
          <p:nvPr/>
        </p:nvSpPr>
        <p:spPr>
          <a:xfrm>
            <a:off x="2122265" y="3331937"/>
            <a:ext cx="795338" cy="460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1000</a:t>
            </a:r>
          </a:p>
        </p:txBody>
      </p:sp>
      <p:sp>
        <p:nvSpPr>
          <p:cNvPr id="2" name="Arrow: Up 1">
            <a:extLst>
              <a:ext uri="{FF2B5EF4-FFF2-40B4-BE49-F238E27FC236}">
                <a16:creationId xmlns:a16="http://schemas.microsoft.com/office/drawing/2014/main" id="{D3F9144C-7720-4DEC-A7CD-E3A3A8A4E2A3}"/>
              </a:ext>
            </a:extLst>
          </p:cNvPr>
          <p:cNvSpPr/>
          <p:nvPr/>
        </p:nvSpPr>
        <p:spPr>
          <a:xfrm>
            <a:off x="2424113" y="3792312"/>
            <a:ext cx="45719" cy="58760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088697" y="67684"/>
            <a:ext cx="6064704"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Operations on Doubly Linked List</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97972" y="250372"/>
            <a:ext cx="1990725" cy="600076"/>
          </a:xfrm>
          <a:prstGeom prst="rect">
            <a:avLst/>
          </a:prstGeom>
          <a:noFill/>
        </p:spPr>
      </p:pic>
      <p:sp>
        <p:nvSpPr>
          <p:cNvPr id="53" name="TextBox 52"/>
          <p:cNvSpPr txBox="1"/>
          <p:nvPr/>
        </p:nvSpPr>
        <p:spPr>
          <a:xfrm>
            <a:off x="375781" y="1465781"/>
            <a:ext cx="11644983" cy="5956759"/>
          </a:xfrm>
          <a:prstGeom prst="rect">
            <a:avLst/>
          </a:prstGeom>
          <a:noFill/>
        </p:spPr>
        <p:txBody>
          <a:bodyPr wrap="square" rtlCol="0">
            <a:spAutoFit/>
          </a:bodyPr>
          <a:lstStyle/>
          <a:p>
            <a:pPr>
              <a:lnSpc>
                <a:spcPct val="107000"/>
              </a:lnSpc>
              <a:buFont typeface="Symbol" panose="05050102010706020507" pitchFamily="18" charset="2"/>
              <a:buChar char=""/>
              <a:defRPr/>
            </a:pPr>
            <a:r>
              <a:rPr lang="en-US" sz="3200" dirty="0">
                <a:latin typeface="Calibri" panose="020F0502020204030204" pitchFamily="34" charset="0"/>
                <a:ea typeface="Calibri" panose="020F0502020204030204" pitchFamily="34" charset="0"/>
                <a:cs typeface="Times New Roman" panose="02020603050405020304" pitchFamily="18" charset="0"/>
              </a:rPr>
              <a:t> </a:t>
            </a:r>
            <a:r>
              <a:rPr lang="en-US" sz="3200" b="1" dirty="0">
                <a:latin typeface="Calibri" panose="020F0502020204030204" pitchFamily="34" charset="0"/>
                <a:ea typeface="Calibri" panose="020F0502020204030204" pitchFamily="34" charset="0"/>
                <a:cs typeface="Times New Roman" panose="02020603050405020304" pitchFamily="18" charset="0"/>
              </a:rPr>
              <a:t>Insertion   </a:t>
            </a:r>
            <a:endParaRPr lang="en-US" sz="2800" b="1" dirty="0">
              <a:latin typeface="Times New Roman" panose="02020603050405020304" pitchFamily="18" charset="0"/>
              <a:cs typeface="Times New Roman" panose="02020603050405020304" pitchFamily="18" charset="0"/>
            </a:endParaRPr>
          </a:p>
          <a:p>
            <a:pPr marL="0" indent="0">
              <a:lnSpc>
                <a:spcPct val="107000"/>
              </a:lnSpc>
              <a:buFont typeface="Arial" panose="020B0604020202020204" pitchFamily="34" charset="0"/>
              <a:buNone/>
              <a:defRPr/>
            </a:pPr>
            <a:r>
              <a:rPr lang="en-US" sz="3200" b="1" dirty="0">
                <a:latin typeface="Calibri" panose="020F0502020204030204" pitchFamily="34" charset="0"/>
                <a:ea typeface="Calibri" panose="020F0502020204030204" pitchFamily="34" charset="0"/>
                <a:cs typeface="Times New Roman" panose="02020603050405020304" pitchFamily="18" charset="0"/>
              </a:rPr>
              <a:t>                            Insert a Node in the  beginning. </a:t>
            </a:r>
          </a:p>
          <a:p>
            <a:pPr marL="0" indent="0">
              <a:lnSpc>
                <a:spcPct val="107000"/>
              </a:lnSpc>
              <a:buFont typeface="Arial" panose="020B0604020202020204" pitchFamily="34" charset="0"/>
              <a:buNone/>
              <a:defRPr/>
            </a:pPr>
            <a:r>
              <a:rPr lang="en-US" sz="3200" b="1" dirty="0">
                <a:latin typeface="Calibri" panose="020F0502020204030204" pitchFamily="34" charset="0"/>
                <a:ea typeface="Calibri" panose="020F0502020204030204" pitchFamily="34" charset="0"/>
                <a:cs typeface="Times New Roman" panose="02020603050405020304" pitchFamily="18" charset="0"/>
              </a:rPr>
              <a:t>                            Insert a Node at the end.</a:t>
            </a:r>
          </a:p>
          <a:p>
            <a:pPr marL="0" indent="0">
              <a:lnSpc>
                <a:spcPct val="107000"/>
              </a:lnSpc>
              <a:buFont typeface="Arial" panose="020B0604020202020204" pitchFamily="34" charset="0"/>
              <a:buNone/>
              <a:defRPr/>
            </a:pPr>
            <a:r>
              <a:rPr lang="en-US" sz="3200" b="1" dirty="0">
                <a:latin typeface="Calibri" panose="020F0502020204030204" pitchFamily="34" charset="0"/>
                <a:ea typeface="Calibri" panose="020F0502020204030204" pitchFamily="34" charset="0"/>
                <a:cs typeface="Times New Roman" panose="02020603050405020304" pitchFamily="18" charset="0"/>
              </a:rPr>
              <a:t>                            Insert a Node at a specified position.</a:t>
            </a:r>
            <a:endParaRPr lang="en-IN" sz="32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Font typeface="Symbol" panose="05050102010706020507" pitchFamily="18" charset="2"/>
              <a:buChar char=""/>
              <a:defRPr/>
            </a:pPr>
            <a:r>
              <a:rPr lang="en-US" sz="3200" b="1" dirty="0">
                <a:latin typeface="Calibri" panose="020F0502020204030204" pitchFamily="34" charset="0"/>
                <a:ea typeface="Calibri" panose="020F0502020204030204" pitchFamily="34" charset="0"/>
                <a:cs typeface="Times New Roman" panose="02020603050405020304" pitchFamily="18" charset="0"/>
              </a:rPr>
              <a:t>Deletion </a:t>
            </a:r>
          </a:p>
          <a:p>
            <a:pPr marL="0" indent="0">
              <a:lnSpc>
                <a:spcPct val="107000"/>
              </a:lnSpc>
              <a:buFont typeface="Arial" panose="020B0604020202020204" pitchFamily="34" charset="0"/>
              <a:buNone/>
              <a:defRPr/>
            </a:pPr>
            <a:r>
              <a:rPr lang="en-US" sz="3200" b="1" dirty="0">
                <a:latin typeface="Calibri" panose="020F0502020204030204" pitchFamily="34" charset="0"/>
                <a:ea typeface="Calibri" panose="020F0502020204030204" pitchFamily="34" charset="0"/>
                <a:cs typeface="Times New Roman" panose="02020603050405020304" pitchFamily="18" charset="0"/>
              </a:rPr>
              <a:t>                            Delete a Node in the  beginning. </a:t>
            </a:r>
          </a:p>
          <a:p>
            <a:pPr marL="0" indent="0">
              <a:lnSpc>
                <a:spcPct val="107000"/>
              </a:lnSpc>
              <a:buFont typeface="Arial" panose="020B0604020202020204" pitchFamily="34" charset="0"/>
              <a:buNone/>
              <a:defRPr/>
            </a:pPr>
            <a:r>
              <a:rPr lang="en-US" sz="3200" b="1" dirty="0">
                <a:latin typeface="Calibri" panose="020F0502020204030204" pitchFamily="34" charset="0"/>
                <a:ea typeface="Calibri" panose="020F0502020204030204" pitchFamily="34" charset="0"/>
                <a:cs typeface="Times New Roman" panose="02020603050405020304" pitchFamily="18" charset="0"/>
              </a:rPr>
              <a:t>                            Delete a Node at the end.</a:t>
            </a:r>
          </a:p>
          <a:p>
            <a:pPr marL="0" indent="0">
              <a:lnSpc>
                <a:spcPct val="107000"/>
              </a:lnSpc>
              <a:buFont typeface="Arial" panose="020B0604020202020204" pitchFamily="34" charset="0"/>
              <a:buNone/>
              <a:defRPr/>
            </a:pPr>
            <a:r>
              <a:rPr lang="en-US" sz="3200" b="1" dirty="0">
                <a:latin typeface="Calibri" panose="020F0502020204030204" pitchFamily="34" charset="0"/>
                <a:ea typeface="Calibri" panose="020F0502020204030204" pitchFamily="34" charset="0"/>
                <a:cs typeface="Times New Roman" panose="02020603050405020304" pitchFamily="18" charset="0"/>
              </a:rPr>
              <a:t>                            Delete a Node at a specified position.</a:t>
            </a:r>
            <a:endParaRPr lang="en-IN" sz="32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defRPr/>
            </a:pPr>
            <a:r>
              <a:rPr lang="en-US" sz="3200" b="1"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buFont typeface="Symbol" panose="05050102010706020507" pitchFamily="18" charset="2"/>
              <a:buChar char=""/>
              <a:defRPr/>
            </a:pPr>
            <a:r>
              <a:rPr lang="en-US" sz="3200" b="1" dirty="0">
                <a:latin typeface="Calibri" panose="020F0502020204030204" pitchFamily="34" charset="0"/>
                <a:ea typeface="Calibri" panose="020F0502020204030204" pitchFamily="34" charset="0"/>
                <a:cs typeface="Times New Roman" panose="02020603050405020304" pitchFamily="18" charset="0"/>
              </a:rPr>
              <a:t>Display</a:t>
            </a:r>
            <a:endParaRPr lang="en-AU" altLang="en-US" sz="3200" b="1" dirty="0">
              <a:latin typeface="Times New Roman" panose="02020603050405020304" pitchFamily="18" charset="0"/>
              <a:cs typeface="Times New Roman" panose="02020603050405020304" pitchFamily="18" charset="0"/>
            </a:endParaRPr>
          </a:p>
          <a:p>
            <a:pPr algn="just"/>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2521744024"/>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a:extLst>
              <a:ext uri="{FF2B5EF4-FFF2-40B4-BE49-F238E27FC236}">
                <a16:creationId xmlns:a16="http://schemas.microsoft.com/office/drawing/2014/main" id="{1A146D1F-1BD0-6DDF-DFE8-32BB4E3579F8}"/>
              </a:ext>
            </a:extLst>
          </p:cNvPr>
          <p:cNvSpPr>
            <a:spLocks noGrp="1"/>
          </p:cNvSpPr>
          <p:nvPr>
            <p:ph idx="1"/>
          </p:nvPr>
        </p:nvSpPr>
        <p:spPr>
          <a:xfrm>
            <a:off x="460601" y="1074058"/>
            <a:ext cx="10768262" cy="5475515"/>
          </a:xfrm>
        </p:spPr>
        <p:txBody>
          <a:bodyPr/>
          <a:lstStyle/>
          <a:p>
            <a:pPr marL="0" indent="0">
              <a:buNone/>
            </a:pPr>
            <a:r>
              <a:rPr lang="en-IN" altLang="en-US" dirty="0"/>
              <a:t> </a:t>
            </a:r>
          </a:p>
          <a:p>
            <a:pPr marL="0" indent="0">
              <a:buNone/>
            </a:pPr>
            <a:r>
              <a:rPr lang="en-IN" altLang="en-US" dirty="0"/>
              <a:t>        Case I</a:t>
            </a:r>
          </a:p>
          <a:p>
            <a:pPr marL="0" indent="0">
              <a:buNone/>
            </a:pPr>
            <a:endParaRPr lang="en-IN" altLang="en-US" dirty="0"/>
          </a:p>
          <a:p>
            <a:pPr marL="0" indent="0">
              <a:buNone/>
            </a:pPr>
            <a:endParaRPr lang="en-IN" altLang="en-US" dirty="0"/>
          </a:p>
          <a:p>
            <a:pPr marL="0" indent="0">
              <a:buNone/>
            </a:pPr>
            <a:r>
              <a:rPr lang="en-IN" altLang="en-US" dirty="0"/>
              <a:t>        Case II</a:t>
            </a:r>
          </a:p>
        </p:txBody>
      </p:sp>
      <p:sp>
        <p:nvSpPr>
          <p:cNvPr id="4" name="Date Placeholder 3">
            <a:extLst>
              <a:ext uri="{FF2B5EF4-FFF2-40B4-BE49-F238E27FC236}">
                <a16:creationId xmlns:a16="http://schemas.microsoft.com/office/drawing/2014/main" id="{8F497423-ADD9-47E4-FAF5-330A0A253F22}"/>
              </a:ext>
            </a:extLst>
          </p:cNvPr>
          <p:cNvSpPr>
            <a:spLocks noGrp="1"/>
          </p:cNvSpPr>
          <p:nvPr>
            <p:ph type="dt" sz="quarter" idx="10"/>
          </p:nvPr>
        </p:nvSpPr>
        <p:spPr>
          <a:xfrm>
            <a:off x="1126447" y="6179686"/>
            <a:ext cx="2133600" cy="365125"/>
          </a:xfrm>
        </p:spPr>
        <p:txBody>
          <a:bodyPr/>
          <a:lstStyle/>
          <a:p>
            <a:pPr>
              <a:defRPr/>
            </a:pPr>
            <a:fld id="{A8AAD1E7-2541-41E8-82CB-B7D970924116}" type="datetime2">
              <a:rPr lang="en-US" smtClean="0"/>
              <a:pPr>
                <a:defRPr/>
              </a:pPr>
              <a:t>Friday, December 13, 2024</a:t>
            </a:fld>
            <a:endParaRPr lang="en-US" dirty="0"/>
          </a:p>
        </p:txBody>
      </p:sp>
      <p:sp>
        <p:nvSpPr>
          <p:cNvPr id="5" name="Footer Placeholder 4">
            <a:extLst>
              <a:ext uri="{FF2B5EF4-FFF2-40B4-BE49-F238E27FC236}">
                <a16:creationId xmlns:a16="http://schemas.microsoft.com/office/drawing/2014/main" id="{0721C892-C661-92AA-7C7B-DFAA9A484437}"/>
              </a:ext>
            </a:extLst>
          </p:cNvPr>
          <p:cNvSpPr>
            <a:spLocks noGrp="1"/>
          </p:cNvSpPr>
          <p:nvPr>
            <p:ph type="ftr" sz="quarter" idx="11"/>
          </p:nvPr>
        </p:nvSpPr>
        <p:spPr>
          <a:xfrm>
            <a:off x="6667388" y="6238876"/>
            <a:ext cx="4114800" cy="365125"/>
          </a:xfrm>
        </p:spPr>
        <p:txBody>
          <a:bodyPr/>
          <a:lstStyle/>
          <a:p>
            <a:pPr>
              <a:defRPr/>
            </a:pPr>
            <a:r>
              <a:rPr lang="en-US" dirty="0"/>
              <a:t>Department of BES-1       KLEF                                       </a:t>
            </a:r>
          </a:p>
        </p:txBody>
      </p:sp>
      <p:sp>
        <p:nvSpPr>
          <p:cNvPr id="6" name="Rectangle 5">
            <a:extLst>
              <a:ext uri="{FF2B5EF4-FFF2-40B4-BE49-F238E27FC236}">
                <a16:creationId xmlns:a16="http://schemas.microsoft.com/office/drawing/2014/main" id="{3913162D-8CFE-997B-F71B-5C873920CD35}"/>
              </a:ext>
            </a:extLst>
          </p:cNvPr>
          <p:cNvSpPr/>
          <p:nvPr/>
        </p:nvSpPr>
        <p:spPr>
          <a:xfrm>
            <a:off x="5049839" y="1373189"/>
            <a:ext cx="1381125" cy="655637"/>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rgbClr val="FF0000"/>
                </a:solidFill>
              </a:rPr>
              <a:t>3500</a:t>
            </a:r>
          </a:p>
        </p:txBody>
      </p:sp>
      <p:sp>
        <p:nvSpPr>
          <p:cNvPr id="7" name="Rectangle 6">
            <a:extLst>
              <a:ext uri="{FF2B5EF4-FFF2-40B4-BE49-F238E27FC236}">
                <a16:creationId xmlns:a16="http://schemas.microsoft.com/office/drawing/2014/main" id="{C1100D3F-4026-2067-9876-FEEB7F02FFCC}"/>
              </a:ext>
            </a:extLst>
          </p:cNvPr>
          <p:cNvSpPr/>
          <p:nvPr/>
        </p:nvSpPr>
        <p:spPr>
          <a:xfrm>
            <a:off x="4505325" y="3735389"/>
            <a:ext cx="79533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strike="sngStrike" dirty="0">
                <a:solidFill>
                  <a:srgbClr val="002060"/>
                </a:solidFill>
              </a:rPr>
              <a:t>NULL</a:t>
            </a:r>
          </a:p>
        </p:txBody>
      </p:sp>
      <p:sp>
        <p:nvSpPr>
          <p:cNvPr id="8" name="Rectangle 7">
            <a:extLst>
              <a:ext uri="{FF2B5EF4-FFF2-40B4-BE49-F238E27FC236}">
                <a16:creationId xmlns:a16="http://schemas.microsoft.com/office/drawing/2014/main" id="{8BB98D95-A79D-6D99-C456-770F548600EF}"/>
              </a:ext>
            </a:extLst>
          </p:cNvPr>
          <p:cNvSpPr/>
          <p:nvPr/>
        </p:nvSpPr>
        <p:spPr>
          <a:xfrm>
            <a:off x="5322888" y="3740491"/>
            <a:ext cx="896938"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10</a:t>
            </a:r>
          </a:p>
        </p:txBody>
      </p:sp>
      <p:sp>
        <p:nvSpPr>
          <p:cNvPr id="9" name="Rectangle 8">
            <a:extLst>
              <a:ext uri="{FF2B5EF4-FFF2-40B4-BE49-F238E27FC236}">
                <a16:creationId xmlns:a16="http://schemas.microsoft.com/office/drawing/2014/main" id="{AC0352C2-EE26-09DC-83D3-1DFDA95CBE40}"/>
              </a:ext>
            </a:extLst>
          </p:cNvPr>
          <p:cNvSpPr/>
          <p:nvPr/>
        </p:nvSpPr>
        <p:spPr>
          <a:xfrm>
            <a:off x="6219826" y="3737204"/>
            <a:ext cx="89693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3000</a:t>
            </a:r>
          </a:p>
        </p:txBody>
      </p:sp>
      <p:sp>
        <p:nvSpPr>
          <p:cNvPr id="10" name="Rectangle 9">
            <a:extLst>
              <a:ext uri="{FF2B5EF4-FFF2-40B4-BE49-F238E27FC236}">
                <a16:creationId xmlns:a16="http://schemas.microsoft.com/office/drawing/2014/main" id="{9A138B13-73E5-28C4-D3C0-4703489961F0}"/>
              </a:ext>
            </a:extLst>
          </p:cNvPr>
          <p:cNvSpPr/>
          <p:nvPr/>
        </p:nvSpPr>
        <p:spPr>
          <a:xfrm>
            <a:off x="7840664" y="3703639"/>
            <a:ext cx="101758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2000</a:t>
            </a:r>
          </a:p>
        </p:txBody>
      </p:sp>
      <p:sp>
        <p:nvSpPr>
          <p:cNvPr id="11" name="Rectangle 10">
            <a:extLst>
              <a:ext uri="{FF2B5EF4-FFF2-40B4-BE49-F238E27FC236}">
                <a16:creationId xmlns:a16="http://schemas.microsoft.com/office/drawing/2014/main" id="{83E05078-62A8-B2B2-9419-D1C3F3AD06F3}"/>
              </a:ext>
            </a:extLst>
          </p:cNvPr>
          <p:cNvSpPr/>
          <p:nvPr/>
        </p:nvSpPr>
        <p:spPr>
          <a:xfrm>
            <a:off x="8858251" y="3699103"/>
            <a:ext cx="877888"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30</a:t>
            </a:r>
          </a:p>
        </p:txBody>
      </p:sp>
      <p:sp>
        <p:nvSpPr>
          <p:cNvPr id="16" name="Arrow: Right 15">
            <a:extLst>
              <a:ext uri="{FF2B5EF4-FFF2-40B4-BE49-F238E27FC236}">
                <a16:creationId xmlns:a16="http://schemas.microsoft.com/office/drawing/2014/main" id="{76E44C4F-5CC3-3AF4-140E-9D343641419C}"/>
              </a:ext>
            </a:extLst>
          </p:cNvPr>
          <p:cNvSpPr/>
          <p:nvPr/>
        </p:nvSpPr>
        <p:spPr>
          <a:xfrm>
            <a:off x="7161214" y="3911600"/>
            <a:ext cx="657225" cy="46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Arrow: Left 17">
            <a:extLst>
              <a:ext uri="{FF2B5EF4-FFF2-40B4-BE49-F238E27FC236}">
                <a16:creationId xmlns:a16="http://schemas.microsoft.com/office/drawing/2014/main" id="{3F27904A-7470-3972-9FDB-6088EDCB1C3B}"/>
              </a:ext>
            </a:extLst>
          </p:cNvPr>
          <p:cNvSpPr/>
          <p:nvPr/>
        </p:nvSpPr>
        <p:spPr>
          <a:xfrm flipV="1">
            <a:off x="7188200" y="4316414"/>
            <a:ext cx="641350"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6158" name="TextBox 21">
            <a:extLst>
              <a:ext uri="{FF2B5EF4-FFF2-40B4-BE49-F238E27FC236}">
                <a16:creationId xmlns:a16="http://schemas.microsoft.com/office/drawing/2014/main" id="{EFC48F18-1D6C-2A3B-B496-AA281F0664AB}"/>
              </a:ext>
            </a:extLst>
          </p:cNvPr>
          <p:cNvSpPr txBox="1">
            <a:spLocks noChangeArrowheads="1"/>
          </p:cNvSpPr>
          <p:nvPr/>
        </p:nvSpPr>
        <p:spPr bwMode="auto">
          <a:xfrm>
            <a:off x="4805363" y="4773614"/>
            <a:ext cx="1020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2000</a:t>
            </a:r>
          </a:p>
        </p:txBody>
      </p:sp>
      <p:sp>
        <p:nvSpPr>
          <p:cNvPr id="6159" name="TextBox 22">
            <a:extLst>
              <a:ext uri="{FF2B5EF4-FFF2-40B4-BE49-F238E27FC236}">
                <a16:creationId xmlns:a16="http://schemas.microsoft.com/office/drawing/2014/main" id="{01CFB858-1F4D-98CC-AC17-7182FCE87A08}"/>
              </a:ext>
            </a:extLst>
          </p:cNvPr>
          <p:cNvSpPr txBox="1">
            <a:spLocks noChangeArrowheads="1"/>
          </p:cNvSpPr>
          <p:nvPr/>
        </p:nvSpPr>
        <p:spPr bwMode="auto">
          <a:xfrm>
            <a:off x="8262938" y="4791076"/>
            <a:ext cx="1020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3000</a:t>
            </a:r>
          </a:p>
        </p:txBody>
      </p:sp>
      <p:sp>
        <p:nvSpPr>
          <p:cNvPr id="23" name="Rectangle 22">
            <a:extLst>
              <a:ext uri="{FF2B5EF4-FFF2-40B4-BE49-F238E27FC236}">
                <a16:creationId xmlns:a16="http://schemas.microsoft.com/office/drawing/2014/main" id="{A9D0F89D-7BD1-5314-8304-9EB573168E33}"/>
              </a:ext>
            </a:extLst>
          </p:cNvPr>
          <p:cNvSpPr/>
          <p:nvPr/>
        </p:nvSpPr>
        <p:spPr>
          <a:xfrm>
            <a:off x="7589839" y="1270455"/>
            <a:ext cx="79533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sp>
        <p:nvSpPr>
          <p:cNvPr id="24" name="Rectangle 23">
            <a:extLst>
              <a:ext uri="{FF2B5EF4-FFF2-40B4-BE49-F238E27FC236}">
                <a16:creationId xmlns:a16="http://schemas.microsoft.com/office/drawing/2014/main" id="{D9ABE205-9940-BACA-C2DE-25888D7CDF4E}"/>
              </a:ext>
            </a:extLst>
          </p:cNvPr>
          <p:cNvSpPr/>
          <p:nvPr/>
        </p:nvSpPr>
        <p:spPr>
          <a:xfrm>
            <a:off x="8408989" y="1277939"/>
            <a:ext cx="898525"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10</a:t>
            </a:r>
          </a:p>
        </p:txBody>
      </p:sp>
      <p:sp>
        <p:nvSpPr>
          <p:cNvPr id="26" name="TextBox 25">
            <a:extLst>
              <a:ext uri="{FF2B5EF4-FFF2-40B4-BE49-F238E27FC236}">
                <a16:creationId xmlns:a16="http://schemas.microsoft.com/office/drawing/2014/main" id="{6D9AA98C-4F7A-B1D7-DDA4-19C21E843014}"/>
              </a:ext>
            </a:extLst>
          </p:cNvPr>
          <p:cNvSpPr txBox="1"/>
          <p:nvPr/>
        </p:nvSpPr>
        <p:spPr>
          <a:xfrm>
            <a:off x="4103371" y="2772459"/>
            <a:ext cx="873760" cy="646331"/>
          </a:xfrm>
          <a:prstGeom prst="rect">
            <a:avLst/>
          </a:prstGeom>
          <a:noFill/>
          <a:ln>
            <a:solidFill>
              <a:schemeClr val="accent1"/>
            </a:solidFill>
          </a:ln>
        </p:spPr>
        <p:txBody>
          <a:bodyPr>
            <a:spAutoFit/>
          </a:bodyPr>
          <a:lstStyle/>
          <a:p>
            <a:pPr>
              <a:defRPr/>
            </a:pPr>
            <a:r>
              <a:rPr lang="en-IN" strike="sngStrike" dirty="0"/>
              <a:t>2000</a:t>
            </a:r>
          </a:p>
          <a:p>
            <a:pPr>
              <a:defRPr/>
            </a:pPr>
            <a:r>
              <a:rPr lang="en-IN" dirty="0"/>
              <a:t>3500 </a:t>
            </a:r>
          </a:p>
        </p:txBody>
      </p:sp>
      <p:sp>
        <p:nvSpPr>
          <p:cNvPr id="29" name="Rectangle 28">
            <a:extLst>
              <a:ext uri="{FF2B5EF4-FFF2-40B4-BE49-F238E27FC236}">
                <a16:creationId xmlns:a16="http://schemas.microsoft.com/office/drawing/2014/main" id="{CBD5DEBF-A9E7-4CE9-C9FE-E4CE4E14FF61}"/>
              </a:ext>
            </a:extLst>
          </p:cNvPr>
          <p:cNvSpPr/>
          <p:nvPr/>
        </p:nvSpPr>
        <p:spPr>
          <a:xfrm>
            <a:off x="9307514" y="1270455"/>
            <a:ext cx="79533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sp>
        <p:nvSpPr>
          <p:cNvPr id="30" name="Rectangle 29">
            <a:extLst>
              <a:ext uri="{FF2B5EF4-FFF2-40B4-BE49-F238E27FC236}">
                <a16:creationId xmlns:a16="http://schemas.microsoft.com/office/drawing/2014/main" id="{20C6CEC7-0C4A-6EB3-A479-E0E7E543C5D0}"/>
              </a:ext>
            </a:extLst>
          </p:cNvPr>
          <p:cNvSpPr/>
          <p:nvPr/>
        </p:nvSpPr>
        <p:spPr>
          <a:xfrm>
            <a:off x="9652000" y="3709989"/>
            <a:ext cx="79533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sp>
        <p:nvSpPr>
          <p:cNvPr id="6165" name="TextBox 30">
            <a:extLst>
              <a:ext uri="{FF2B5EF4-FFF2-40B4-BE49-F238E27FC236}">
                <a16:creationId xmlns:a16="http://schemas.microsoft.com/office/drawing/2014/main" id="{A7A14E4A-9997-AD56-4228-ABAD86433756}"/>
              </a:ext>
            </a:extLst>
          </p:cNvPr>
          <p:cNvSpPr txBox="1">
            <a:spLocks noChangeArrowheads="1"/>
          </p:cNvSpPr>
          <p:nvPr/>
        </p:nvSpPr>
        <p:spPr bwMode="auto">
          <a:xfrm>
            <a:off x="1968500" y="4819651"/>
            <a:ext cx="1847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dirty="0">
                <a:solidFill>
                  <a:schemeClr val="tx1"/>
                </a:solidFill>
                <a:latin typeface="Times New Roman" panose="02020603050405020304" pitchFamily="18" charset="0"/>
              </a:rPr>
              <a:t>Newnode   3500</a:t>
            </a:r>
          </a:p>
        </p:txBody>
      </p:sp>
      <p:sp>
        <p:nvSpPr>
          <p:cNvPr id="6166" name="TextBox 35">
            <a:extLst>
              <a:ext uri="{FF2B5EF4-FFF2-40B4-BE49-F238E27FC236}">
                <a16:creationId xmlns:a16="http://schemas.microsoft.com/office/drawing/2014/main" id="{A66FF8C9-E793-C9FB-13A5-B49C4CBC8940}"/>
              </a:ext>
            </a:extLst>
          </p:cNvPr>
          <p:cNvSpPr txBox="1">
            <a:spLocks noChangeArrowheads="1"/>
          </p:cNvSpPr>
          <p:nvPr/>
        </p:nvSpPr>
        <p:spPr bwMode="auto">
          <a:xfrm>
            <a:off x="4198939" y="1538288"/>
            <a:ext cx="896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Head</a:t>
            </a:r>
          </a:p>
        </p:txBody>
      </p:sp>
      <p:sp>
        <p:nvSpPr>
          <p:cNvPr id="37" name="Arrow: Right 36">
            <a:extLst>
              <a:ext uri="{FF2B5EF4-FFF2-40B4-BE49-F238E27FC236}">
                <a16:creationId xmlns:a16="http://schemas.microsoft.com/office/drawing/2014/main" id="{5E58551B-CF03-9643-761B-CABE62DC67DB}"/>
              </a:ext>
            </a:extLst>
          </p:cNvPr>
          <p:cNvSpPr/>
          <p:nvPr/>
        </p:nvSpPr>
        <p:spPr>
          <a:xfrm>
            <a:off x="3973514" y="3952875"/>
            <a:ext cx="566737" cy="46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39" name="Arrow: Left 38">
            <a:extLst>
              <a:ext uri="{FF2B5EF4-FFF2-40B4-BE49-F238E27FC236}">
                <a16:creationId xmlns:a16="http://schemas.microsoft.com/office/drawing/2014/main" id="{DEC5AA87-7313-54A3-B4F6-3C6F7125F648}"/>
              </a:ext>
            </a:extLst>
          </p:cNvPr>
          <p:cNvSpPr/>
          <p:nvPr/>
        </p:nvSpPr>
        <p:spPr>
          <a:xfrm>
            <a:off x="3983039" y="4316414"/>
            <a:ext cx="549275"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2" name="Arrow: Left 41">
            <a:extLst>
              <a:ext uri="{FF2B5EF4-FFF2-40B4-BE49-F238E27FC236}">
                <a16:creationId xmlns:a16="http://schemas.microsoft.com/office/drawing/2014/main" id="{AA86C568-E050-CDDF-5690-53A3D7E2D6CD}"/>
              </a:ext>
            </a:extLst>
          </p:cNvPr>
          <p:cNvSpPr/>
          <p:nvPr/>
        </p:nvSpPr>
        <p:spPr>
          <a:xfrm>
            <a:off x="6462714" y="1589089"/>
            <a:ext cx="1127125"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6170" name="TextBox 42">
            <a:extLst>
              <a:ext uri="{FF2B5EF4-FFF2-40B4-BE49-F238E27FC236}">
                <a16:creationId xmlns:a16="http://schemas.microsoft.com/office/drawing/2014/main" id="{F89E7930-F54F-D656-33E1-BA9FDBD4C7C2}"/>
              </a:ext>
            </a:extLst>
          </p:cNvPr>
          <p:cNvSpPr txBox="1">
            <a:spLocks noChangeArrowheads="1"/>
          </p:cNvSpPr>
          <p:nvPr/>
        </p:nvSpPr>
        <p:spPr bwMode="auto">
          <a:xfrm>
            <a:off x="5004254" y="2939256"/>
            <a:ext cx="896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dirty="0">
                <a:solidFill>
                  <a:schemeClr val="tx1"/>
                </a:solidFill>
                <a:latin typeface="Times New Roman" panose="02020603050405020304" pitchFamily="18" charset="0"/>
              </a:rPr>
              <a:t>Head</a:t>
            </a:r>
          </a:p>
        </p:txBody>
      </p:sp>
      <p:sp>
        <p:nvSpPr>
          <p:cNvPr id="44" name="Rectangle 43">
            <a:extLst>
              <a:ext uri="{FF2B5EF4-FFF2-40B4-BE49-F238E27FC236}">
                <a16:creationId xmlns:a16="http://schemas.microsoft.com/office/drawing/2014/main" id="{DF37896B-C293-89D3-E9AD-62E24F50B831}"/>
              </a:ext>
            </a:extLst>
          </p:cNvPr>
          <p:cNvSpPr/>
          <p:nvPr/>
        </p:nvSpPr>
        <p:spPr>
          <a:xfrm>
            <a:off x="1577975" y="3852864"/>
            <a:ext cx="79533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sp>
        <p:nvSpPr>
          <p:cNvPr id="45" name="Rectangle 44">
            <a:extLst>
              <a:ext uri="{FF2B5EF4-FFF2-40B4-BE49-F238E27FC236}">
                <a16:creationId xmlns:a16="http://schemas.microsoft.com/office/drawing/2014/main" id="{6DE990EE-67CC-AF2E-F9EA-A0F7BD30F6BD}"/>
              </a:ext>
            </a:extLst>
          </p:cNvPr>
          <p:cNvSpPr/>
          <p:nvPr/>
        </p:nvSpPr>
        <p:spPr>
          <a:xfrm>
            <a:off x="2278064" y="3844926"/>
            <a:ext cx="896937"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10</a:t>
            </a:r>
          </a:p>
        </p:txBody>
      </p:sp>
      <p:sp>
        <p:nvSpPr>
          <p:cNvPr id="46" name="Rectangle 45">
            <a:extLst>
              <a:ext uri="{FF2B5EF4-FFF2-40B4-BE49-F238E27FC236}">
                <a16:creationId xmlns:a16="http://schemas.microsoft.com/office/drawing/2014/main" id="{143880C3-3C1C-8C92-5340-58BB060608CE}"/>
              </a:ext>
            </a:extLst>
          </p:cNvPr>
          <p:cNvSpPr/>
          <p:nvPr/>
        </p:nvSpPr>
        <p:spPr>
          <a:xfrm>
            <a:off x="3193372" y="3844925"/>
            <a:ext cx="79533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cxnSp>
        <p:nvCxnSpPr>
          <p:cNvPr id="48" name="Straight Connector 47">
            <a:extLst>
              <a:ext uri="{FF2B5EF4-FFF2-40B4-BE49-F238E27FC236}">
                <a16:creationId xmlns:a16="http://schemas.microsoft.com/office/drawing/2014/main" id="{961B620B-D3C4-846B-706D-FAE7A5517363}"/>
              </a:ext>
            </a:extLst>
          </p:cNvPr>
          <p:cNvCxnSpPr/>
          <p:nvPr/>
        </p:nvCxnSpPr>
        <p:spPr>
          <a:xfrm flipV="1">
            <a:off x="3175000" y="3040063"/>
            <a:ext cx="0" cy="8048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0B5AAF7-8615-BBE6-1DF3-1480CE347F28}"/>
              </a:ext>
            </a:extLst>
          </p:cNvPr>
          <p:cNvCxnSpPr/>
          <p:nvPr/>
        </p:nvCxnSpPr>
        <p:spPr>
          <a:xfrm>
            <a:off x="3175000" y="3040063"/>
            <a:ext cx="919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76" name="TextBox 30">
            <a:extLst>
              <a:ext uri="{FF2B5EF4-FFF2-40B4-BE49-F238E27FC236}">
                <a16:creationId xmlns:a16="http://schemas.microsoft.com/office/drawing/2014/main" id="{E8BB6318-41DA-65B2-9B8F-53D53ACDABD1}"/>
              </a:ext>
            </a:extLst>
          </p:cNvPr>
          <p:cNvSpPr txBox="1">
            <a:spLocks noChangeArrowheads="1"/>
          </p:cNvSpPr>
          <p:nvPr/>
        </p:nvSpPr>
        <p:spPr bwMode="auto">
          <a:xfrm>
            <a:off x="10304938" y="1377727"/>
            <a:ext cx="1847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dirty="0">
                <a:solidFill>
                  <a:schemeClr val="tx1"/>
                </a:solidFill>
                <a:latin typeface="Times New Roman" panose="02020603050405020304" pitchFamily="18" charset="0"/>
              </a:rPr>
              <a:t>Newnode   3500</a:t>
            </a:r>
          </a:p>
        </p:txBody>
      </p:sp>
      <p:sp>
        <p:nvSpPr>
          <p:cNvPr id="12" name="Rounded Rectangle 17">
            <a:extLst>
              <a:ext uri="{FF2B5EF4-FFF2-40B4-BE49-F238E27FC236}">
                <a16:creationId xmlns:a16="http://schemas.microsoft.com/office/drawing/2014/main" id="{F5FB1112-D722-6A2C-71C6-1F45C9782310}"/>
              </a:ext>
            </a:extLst>
          </p:cNvPr>
          <p:cNvSpPr/>
          <p:nvPr/>
        </p:nvSpPr>
        <p:spPr>
          <a:xfrm>
            <a:off x="3405867" y="185399"/>
            <a:ext cx="5106761" cy="7436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Insertion at the </a:t>
            </a:r>
            <a:r>
              <a:rPr lang="en-US" sz="2800" dirty="0" err="1">
                <a:latin typeface="Arial"/>
                <a:cs typeface="Arial"/>
              </a:rPr>
              <a:t>begining</a:t>
            </a:r>
            <a:endParaRPr lang="en-US" sz="2800" dirty="0">
              <a:latin typeface="Arial"/>
              <a:cs typeface="Arial"/>
            </a:endParaRPr>
          </a:p>
        </p:txBody>
      </p:sp>
      <p:pic>
        <p:nvPicPr>
          <p:cNvPr id="13" name="Picture 2" descr="KL Deemed to be University Logo">
            <a:extLst>
              <a:ext uri="{FF2B5EF4-FFF2-40B4-BE49-F238E27FC236}">
                <a16:creationId xmlns:a16="http://schemas.microsoft.com/office/drawing/2014/main" id="{C7B857FF-59A6-97C3-D5D2-7428F5E16585}"/>
              </a:ext>
            </a:extLst>
          </p:cNvPr>
          <p:cNvPicPr>
            <a:picLocks noChangeAspect="1" noChangeArrowheads="1"/>
          </p:cNvPicPr>
          <p:nvPr/>
        </p:nvPicPr>
        <p:blipFill>
          <a:blip r:embed="rId2"/>
          <a:srcRect/>
          <a:stretch>
            <a:fillRect/>
          </a:stretch>
        </p:blipFill>
        <p:spPr bwMode="auto">
          <a:xfrm>
            <a:off x="202522" y="153989"/>
            <a:ext cx="1990725" cy="600076"/>
          </a:xfrm>
          <a:prstGeom prst="rect">
            <a:avLst/>
          </a:prstGeom>
          <a:noFill/>
        </p:spPr>
      </p:pic>
      <p:cxnSp>
        <p:nvCxnSpPr>
          <p:cNvPr id="3" name="Straight Connector 2">
            <a:extLst>
              <a:ext uri="{FF2B5EF4-FFF2-40B4-BE49-F238E27FC236}">
                <a16:creationId xmlns:a16="http://schemas.microsoft.com/office/drawing/2014/main" id="{495B88A7-2C11-CF05-1B2A-B358B60C0EC9}"/>
              </a:ext>
            </a:extLst>
          </p:cNvPr>
          <p:cNvCxnSpPr>
            <a:endCxn id="46" idx="3"/>
          </p:cNvCxnSpPr>
          <p:nvPr/>
        </p:nvCxnSpPr>
        <p:spPr>
          <a:xfrm flipV="1">
            <a:off x="3473450" y="4287838"/>
            <a:ext cx="515259" cy="19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5C2C10-5DD1-445A-AF60-477A7AC72526}"/>
              </a:ext>
            </a:extLst>
          </p:cNvPr>
          <p:cNvCxnSpPr/>
          <p:nvPr/>
        </p:nvCxnSpPr>
        <p:spPr>
          <a:xfrm>
            <a:off x="3405867" y="4287838"/>
            <a:ext cx="410483"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F1A552-31F4-5392-64C9-0E922256FED2}"/>
              </a:ext>
            </a:extLst>
          </p:cNvPr>
          <p:cNvSpPr txBox="1"/>
          <p:nvPr/>
        </p:nvSpPr>
        <p:spPr>
          <a:xfrm>
            <a:off x="3276168" y="4361935"/>
            <a:ext cx="883082" cy="369332"/>
          </a:xfrm>
          <a:prstGeom prst="rect">
            <a:avLst/>
          </a:prstGeom>
          <a:noFill/>
        </p:spPr>
        <p:txBody>
          <a:bodyPr wrap="square" rtlCol="0">
            <a:spAutoFit/>
          </a:bodyPr>
          <a:lstStyle/>
          <a:p>
            <a:r>
              <a:rPr lang="en-IN" dirty="0"/>
              <a:t>2000</a:t>
            </a:r>
          </a:p>
        </p:txBody>
      </p:sp>
      <p:sp>
        <p:nvSpPr>
          <p:cNvPr id="19" name="TextBox 18">
            <a:extLst>
              <a:ext uri="{FF2B5EF4-FFF2-40B4-BE49-F238E27FC236}">
                <a16:creationId xmlns:a16="http://schemas.microsoft.com/office/drawing/2014/main" id="{07B52DC3-AFE4-30A5-0A92-E3AE7E0A029C}"/>
              </a:ext>
            </a:extLst>
          </p:cNvPr>
          <p:cNvSpPr txBox="1"/>
          <p:nvPr/>
        </p:nvSpPr>
        <p:spPr>
          <a:xfrm>
            <a:off x="4516439" y="4339432"/>
            <a:ext cx="735012" cy="369332"/>
          </a:xfrm>
          <a:prstGeom prst="rect">
            <a:avLst/>
          </a:prstGeom>
          <a:noFill/>
        </p:spPr>
        <p:txBody>
          <a:bodyPr wrap="square" rtlCol="0">
            <a:spAutoFit/>
          </a:bodyPr>
          <a:lstStyle/>
          <a:p>
            <a:r>
              <a:rPr lang="en-IN" dirty="0"/>
              <a:t>3500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p:cNvSpPr txBox="1"/>
          <p:nvPr/>
        </p:nvSpPr>
        <p:spPr>
          <a:xfrm>
            <a:off x="375781" y="1465781"/>
            <a:ext cx="11644983" cy="1015663"/>
          </a:xfrm>
          <a:prstGeom prst="rect">
            <a:avLst/>
          </a:prstGeom>
          <a:noFill/>
        </p:spPr>
        <p:txBody>
          <a:bodyPr wrap="square" rtlCol="0">
            <a:spAutoFit/>
          </a:bodyPr>
          <a:lstStyle/>
          <a:p>
            <a:pPr algn="just" fontAlgn="base"/>
            <a:endParaRPr lang="en-US" sz="2800" dirty="0">
              <a:latin typeface="Times New Roman" panose="02020603050405020304" pitchFamily="18" charset="0"/>
              <a:cs typeface="Times New Roman" panose="02020603050405020304" pitchFamily="18" charset="0"/>
            </a:endParaRPr>
          </a:p>
          <a:p>
            <a:pPr algn="just"/>
            <a:endParaRPr lang="en-US" sz="3200" dirty="0">
              <a:latin typeface="Times New Roman" pitchFamily="18" charset="0"/>
              <a:cs typeface="Times New Roman" pitchFamily="18" charset="0"/>
            </a:endParaRPr>
          </a:p>
        </p:txBody>
      </p:sp>
      <p:pic>
        <p:nvPicPr>
          <p:cNvPr id="2" name="Picture 2" descr="KL Deemed to be University Logo">
            <a:extLst>
              <a:ext uri="{FF2B5EF4-FFF2-40B4-BE49-F238E27FC236}">
                <a16:creationId xmlns:a16="http://schemas.microsoft.com/office/drawing/2014/main" id="{1E821D88-BA7E-B770-353C-EDD6A4879D71}"/>
              </a:ext>
            </a:extLst>
          </p:cNvPr>
          <p:cNvPicPr>
            <a:picLocks noChangeAspect="1" noChangeArrowheads="1"/>
          </p:cNvPicPr>
          <p:nvPr/>
        </p:nvPicPr>
        <p:blipFill>
          <a:blip r:embed="rId3"/>
          <a:srcRect/>
          <a:stretch>
            <a:fillRect/>
          </a:stretch>
        </p:blipFill>
        <p:spPr bwMode="auto">
          <a:xfrm>
            <a:off x="97972" y="250372"/>
            <a:ext cx="1990725" cy="600076"/>
          </a:xfrm>
          <a:prstGeom prst="rect">
            <a:avLst/>
          </a:prstGeom>
          <a:noFill/>
        </p:spPr>
      </p:pic>
      <p:sp>
        <p:nvSpPr>
          <p:cNvPr id="4" name="Rounded Rectangle 17">
            <a:extLst>
              <a:ext uri="{FF2B5EF4-FFF2-40B4-BE49-F238E27FC236}">
                <a16:creationId xmlns:a16="http://schemas.microsoft.com/office/drawing/2014/main" id="{FC3237EE-4BF8-4D3F-6FE4-62C0C5B7469E}"/>
              </a:ext>
            </a:extLst>
          </p:cNvPr>
          <p:cNvSpPr/>
          <p:nvPr/>
        </p:nvSpPr>
        <p:spPr>
          <a:xfrm>
            <a:off x="2088697" y="305142"/>
            <a:ext cx="6946447" cy="7436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Insertion at the beginning - Algorithm</a:t>
            </a:r>
          </a:p>
        </p:txBody>
      </p:sp>
      <p:sp>
        <p:nvSpPr>
          <p:cNvPr id="5" name="TextBox 4">
            <a:extLst>
              <a:ext uri="{FF2B5EF4-FFF2-40B4-BE49-F238E27FC236}">
                <a16:creationId xmlns:a16="http://schemas.microsoft.com/office/drawing/2014/main" id="{6BE16EF4-87AB-4BCF-1F93-AA870C526EB3}"/>
              </a:ext>
            </a:extLst>
          </p:cNvPr>
          <p:cNvSpPr txBox="1"/>
          <p:nvPr/>
        </p:nvSpPr>
        <p:spPr>
          <a:xfrm>
            <a:off x="1556658" y="1698901"/>
            <a:ext cx="9590314" cy="2677656"/>
          </a:xfrm>
          <a:prstGeom prst="rect">
            <a:avLst/>
          </a:prstGeom>
          <a:noFill/>
        </p:spPr>
        <p:txBody>
          <a:bodyPr wrap="square">
            <a:spAutoFit/>
          </a:bodyPr>
          <a:lstStyle/>
          <a:p>
            <a:pPr marL="0" indent="0" algn="just">
              <a:buNone/>
            </a:pPr>
            <a:r>
              <a:rPr lang="en-US" altLang="en-US" sz="2400" b="1" dirty="0">
                <a:solidFill>
                  <a:srgbClr val="0070C0"/>
                </a:solidFill>
                <a:latin typeface="Times New Roman" panose="02020603050405020304" pitchFamily="18" charset="0"/>
                <a:cs typeface="Times New Roman" panose="02020603050405020304" pitchFamily="18" charset="0"/>
              </a:rPr>
              <a:t>Step 1:</a:t>
            </a:r>
            <a:r>
              <a:rPr lang="en-US" altLang="en-US" sz="2400" dirty="0">
                <a:solidFill>
                  <a:srgbClr val="0070C0"/>
                </a:solidFill>
                <a:latin typeface="Times New Roman" panose="02020603050405020304" pitchFamily="18" charset="0"/>
                <a:cs typeface="Times New Roman" panose="02020603050405020304" pitchFamily="18" charset="0"/>
              </a:rPr>
              <a:t> IF Head = NULL THEN</a:t>
            </a:r>
          </a:p>
          <a:p>
            <a:pPr marL="0" indent="0" algn="just">
              <a:buNone/>
            </a:pPr>
            <a:r>
              <a:rPr lang="en-US" altLang="en-US" sz="2400" dirty="0">
                <a:solidFill>
                  <a:srgbClr val="0070C0"/>
                </a:solidFill>
                <a:latin typeface="Times New Roman" panose="02020603050405020304" pitchFamily="18" charset="0"/>
                <a:cs typeface="Times New Roman" panose="02020603050405020304" pitchFamily="18" charset="0"/>
              </a:rPr>
              <a:t>                  Head = </a:t>
            </a:r>
            <a:r>
              <a:rPr lang="en-US" altLang="en-US" sz="2400" dirty="0" err="1">
                <a:solidFill>
                  <a:srgbClr val="0070C0"/>
                </a:solidFill>
                <a:latin typeface="Times New Roman" panose="02020603050405020304" pitchFamily="18" charset="0"/>
                <a:cs typeface="Times New Roman" panose="02020603050405020304" pitchFamily="18" charset="0"/>
              </a:rPr>
              <a:t>Newnode</a:t>
            </a:r>
            <a:endParaRPr lang="en-US" altLang="en-US" sz="24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altLang="en-US" sz="2400" b="1" dirty="0">
                <a:solidFill>
                  <a:srgbClr val="0070C0"/>
                </a:solidFill>
                <a:latin typeface="Times New Roman" panose="02020603050405020304" pitchFamily="18" charset="0"/>
                <a:cs typeface="Times New Roman" panose="02020603050405020304" pitchFamily="18" charset="0"/>
              </a:rPr>
              <a:t>Step 2:</a:t>
            </a:r>
            <a:r>
              <a:rPr lang="en-US" altLang="en-US" sz="2400" dirty="0">
                <a:solidFill>
                  <a:srgbClr val="0070C0"/>
                </a:solidFill>
                <a:latin typeface="Times New Roman" panose="02020603050405020304" pitchFamily="18" charset="0"/>
                <a:cs typeface="Times New Roman" panose="02020603050405020304" pitchFamily="18" charset="0"/>
              </a:rPr>
              <a:t> ELSE SET NEW_NODE -&gt; DATA = VAL</a:t>
            </a:r>
          </a:p>
          <a:p>
            <a:pPr marL="0" indent="0" algn="just">
              <a:buNone/>
            </a:pPr>
            <a:r>
              <a:rPr lang="en-US" altLang="en-US" sz="2400" b="1" dirty="0">
                <a:solidFill>
                  <a:srgbClr val="0070C0"/>
                </a:solidFill>
                <a:latin typeface="Times New Roman" panose="02020603050405020304" pitchFamily="18" charset="0"/>
                <a:cs typeface="Times New Roman" panose="02020603050405020304" pitchFamily="18" charset="0"/>
              </a:rPr>
              <a:t>Step 3:</a:t>
            </a:r>
            <a:r>
              <a:rPr lang="en-US" altLang="en-US" sz="2400" dirty="0">
                <a:solidFill>
                  <a:srgbClr val="0070C0"/>
                </a:solidFill>
                <a:latin typeface="Times New Roman" panose="02020603050405020304" pitchFamily="18" charset="0"/>
                <a:cs typeface="Times New Roman" panose="02020603050405020304" pitchFamily="18" charset="0"/>
              </a:rPr>
              <a:t>  SET NEW_NODE -&gt; NEXT = Head</a:t>
            </a:r>
          </a:p>
          <a:p>
            <a:pPr marL="0" indent="0" algn="just">
              <a:buNone/>
            </a:pPr>
            <a:r>
              <a:rPr lang="en-US" altLang="en-US" sz="2400" b="1" dirty="0">
                <a:solidFill>
                  <a:srgbClr val="0070C0"/>
                </a:solidFill>
                <a:latin typeface="Times New Roman" panose="02020603050405020304" pitchFamily="18" charset="0"/>
                <a:cs typeface="Times New Roman" panose="02020603050405020304" pitchFamily="18" charset="0"/>
              </a:rPr>
              <a:t>Step 4:</a:t>
            </a:r>
            <a:r>
              <a:rPr lang="en-US" altLang="en-US" sz="2400" dirty="0">
                <a:solidFill>
                  <a:srgbClr val="0070C0"/>
                </a:solidFill>
                <a:latin typeface="Times New Roman" panose="02020603050405020304" pitchFamily="18" charset="0"/>
                <a:cs typeface="Times New Roman" panose="02020603050405020304" pitchFamily="18" charset="0"/>
              </a:rPr>
              <a:t>  SET Head-&gt;</a:t>
            </a:r>
            <a:r>
              <a:rPr lang="en-US" altLang="en-US" sz="2400" dirty="0" err="1">
                <a:solidFill>
                  <a:srgbClr val="0070C0"/>
                </a:solidFill>
                <a:latin typeface="Times New Roman" panose="02020603050405020304" pitchFamily="18" charset="0"/>
                <a:cs typeface="Times New Roman" panose="02020603050405020304" pitchFamily="18" charset="0"/>
              </a:rPr>
              <a:t>prev</a:t>
            </a:r>
            <a:r>
              <a:rPr lang="en-US" altLang="en-US" sz="2400" dirty="0">
                <a:solidFill>
                  <a:srgbClr val="0070C0"/>
                </a:solidFill>
                <a:latin typeface="Times New Roman" panose="02020603050405020304" pitchFamily="18" charset="0"/>
                <a:cs typeface="Times New Roman" panose="02020603050405020304" pitchFamily="18" charset="0"/>
              </a:rPr>
              <a:t>=</a:t>
            </a:r>
            <a:r>
              <a:rPr lang="en-US" altLang="en-US" sz="2400" dirty="0" err="1">
                <a:solidFill>
                  <a:srgbClr val="0070C0"/>
                </a:solidFill>
                <a:latin typeface="Times New Roman" panose="02020603050405020304" pitchFamily="18" charset="0"/>
                <a:cs typeface="Times New Roman" panose="02020603050405020304" pitchFamily="18" charset="0"/>
              </a:rPr>
              <a:t>Newnode</a:t>
            </a:r>
            <a:endParaRPr lang="en-US" altLang="en-US" sz="24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altLang="en-US" sz="2400" b="1" dirty="0">
                <a:solidFill>
                  <a:srgbClr val="0070C0"/>
                </a:solidFill>
                <a:latin typeface="Times New Roman" panose="02020603050405020304" pitchFamily="18" charset="0"/>
                <a:cs typeface="Times New Roman" panose="02020603050405020304" pitchFamily="18" charset="0"/>
              </a:rPr>
              <a:t>Step 5:</a:t>
            </a:r>
            <a:r>
              <a:rPr lang="en-US" altLang="en-US" sz="2400" dirty="0">
                <a:solidFill>
                  <a:srgbClr val="0070C0"/>
                </a:solidFill>
                <a:latin typeface="Times New Roman" panose="02020603050405020304" pitchFamily="18" charset="0"/>
                <a:cs typeface="Times New Roman" panose="02020603050405020304" pitchFamily="18" charset="0"/>
              </a:rPr>
              <a:t>   Head=</a:t>
            </a:r>
            <a:r>
              <a:rPr lang="en-US" altLang="en-US" sz="2400" dirty="0" err="1">
                <a:solidFill>
                  <a:srgbClr val="0070C0"/>
                </a:solidFill>
                <a:latin typeface="Times New Roman" panose="02020603050405020304" pitchFamily="18" charset="0"/>
                <a:cs typeface="Times New Roman" panose="02020603050405020304" pitchFamily="18" charset="0"/>
              </a:rPr>
              <a:t>Newnode</a:t>
            </a:r>
            <a:endParaRPr lang="en-US" altLang="en-US" sz="24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altLang="en-US" sz="2400" b="1" dirty="0">
                <a:solidFill>
                  <a:srgbClr val="0070C0"/>
                </a:solidFill>
                <a:latin typeface="Times New Roman" panose="02020603050405020304" pitchFamily="18" charset="0"/>
                <a:cs typeface="Times New Roman" panose="02020603050405020304" pitchFamily="18" charset="0"/>
              </a:rPr>
              <a:t>Step 6:  </a:t>
            </a:r>
            <a:r>
              <a:rPr lang="en-US" altLang="en-US" sz="2400" dirty="0">
                <a:solidFill>
                  <a:srgbClr val="0070C0"/>
                </a:solidFill>
                <a:latin typeface="Times New Roman" panose="02020603050405020304" pitchFamily="18" charset="0"/>
                <a:cs typeface="Times New Roman" panose="02020603050405020304" pitchFamily="18" charset="0"/>
              </a:rPr>
              <a:t> EXIT</a:t>
            </a:r>
          </a:p>
        </p:txBody>
      </p:sp>
    </p:spTree>
    <p:extLst>
      <p:ext uri="{BB962C8B-B14F-4D97-AF65-F5344CB8AC3E}">
        <p14:creationId xmlns:p14="http://schemas.microsoft.com/office/powerpoint/2010/main" val="1076374759"/>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8FE28C-0B5E-7F12-3CE7-C931A08119C5}"/>
              </a:ext>
            </a:extLst>
          </p:cNvPr>
          <p:cNvSpPr/>
          <p:nvPr/>
        </p:nvSpPr>
        <p:spPr>
          <a:xfrm>
            <a:off x="4062414" y="1611314"/>
            <a:ext cx="2033587" cy="1311275"/>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Data </a:t>
            </a:r>
          </a:p>
        </p:txBody>
      </p:sp>
      <p:sp>
        <p:nvSpPr>
          <p:cNvPr id="4" name="Rectangle 3">
            <a:extLst>
              <a:ext uri="{FF2B5EF4-FFF2-40B4-BE49-F238E27FC236}">
                <a16:creationId xmlns:a16="http://schemas.microsoft.com/office/drawing/2014/main" id="{B01B4682-2318-B831-5E0F-EA592226D3DE}"/>
              </a:ext>
            </a:extLst>
          </p:cNvPr>
          <p:cNvSpPr/>
          <p:nvPr/>
        </p:nvSpPr>
        <p:spPr>
          <a:xfrm>
            <a:off x="2160589" y="1611314"/>
            <a:ext cx="1863725" cy="131127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Previous  Link</a:t>
            </a:r>
          </a:p>
        </p:txBody>
      </p:sp>
      <p:sp>
        <p:nvSpPr>
          <p:cNvPr id="6" name="Rectangle 5">
            <a:extLst>
              <a:ext uri="{FF2B5EF4-FFF2-40B4-BE49-F238E27FC236}">
                <a16:creationId xmlns:a16="http://schemas.microsoft.com/office/drawing/2014/main" id="{247E7ACC-491C-D881-E986-54FFDBD5E485}"/>
              </a:ext>
            </a:extLst>
          </p:cNvPr>
          <p:cNvSpPr/>
          <p:nvPr/>
        </p:nvSpPr>
        <p:spPr>
          <a:xfrm>
            <a:off x="6096001" y="1631951"/>
            <a:ext cx="1933575" cy="131127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Next Link</a:t>
            </a:r>
          </a:p>
        </p:txBody>
      </p:sp>
      <p:sp>
        <p:nvSpPr>
          <p:cNvPr id="7" name="Rectangle 6">
            <a:extLst>
              <a:ext uri="{FF2B5EF4-FFF2-40B4-BE49-F238E27FC236}">
                <a16:creationId xmlns:a16="http://schemas.microsoft.com/office/drawing/2014/main" id="{0936C371-DE63-7E58-6882-E0A1B32AB6FC}"/>
              </a:ext>
            </a:extLst>
          </p:cNvPr>
          <p:cNvSpPr/>
          <p:nvPr/>
        </p:nvSpPr>
        <p:spPr>
          <a:xfrm>
            <a:off x="1720850" y="4379914"/>
            <a:ext cx="79533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1600" b="1" dirty="0">
                <a:solidFill>
                  <a:srgbClr val="002060"/>
                </a:solidFill>
              </a:rPr>
              <a:t>NULL</a:t>
            </a:r>
          </a:p>
        </p:txBody>
      </p:sp>
      <p:sp>
        <p:nvSpPr>
          <p:cNvPr id="8" name="Rectangle 7">
            <a:extLst>
              <a:ext uri="{FF2B5EF4-FFF2-40B4-BE49-F238E27FC236}">
                <a16:creationId xmlns:a16="http://schemas.microsoft.com/office/drawing/2014/main" id="{87430ADE-296C-79B9-E43F-265AB0C2786C}"/>
              </a:ext>
            </a:extLst>
          </p:cNvPr>
          <p:cNvSpPr/>
          <p:nvPr/>
        </p:nvSpPr>
        <p:spPr>
          <a:xfrm>
            <a:off x="2486025" y="4379914"/>
            <a:ext cx="896938"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10</a:t>
            </a:r>
          </a:p>
        </p:txBody>
      </p:sp>
      <p:sp>
        <p:nvSpPr>
          <p:cNvPr id="9" name="Rectangle 8">
            <a:extLst>
              <a:ext uri="{FF2B5EF4-FFF2-40B4-BE49-F238E27FC236}">
                <a16:creationId xmlns:a16="http://schemas.microsoft.com/office/drawing/2014/main" id="{7E550F5D-A6EA-B735-A13F-074F5A38F102}"/>
              </a:ext>
            </a:extLst>
          </p:cNvPr>
          <p:cNvSpPr/>
          <p:nvPr/>
        </p:nvSpPr>
        <p:spPr>
          <a:xfrm>
            <a:off x="3354389" y="4379914"/>
            <a:ext cx="89693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2000</a:t>
            </a:r>
          </a:p>
        </p:txBody>
      </p:sp>
      <p:sp>
        <p:nvSpPr>
          <p:cNvPr id="10" name="Rectangle 9">
            <a:extLst>
              <a:ext uri="{FF2B5EF4-FFF2-40B4-BE49-F238E27FC236}">
                <a16:creationId xmlns:a16="http://schemas.microsoft.com/office/drawing/2014/main" id="{D950B2C5-EC34-A40F-DEE8-A897C1EEF737}"/>
              </a:ext>
            </a:extLst>
          </p:cNvPr>
          <p:cNvSpPr/>
          <p:nvPr/>
        </p:nvSpPr>
        <p:spPr>
          <a:xfrm>
            <a:off x="4924425" y="4379914"/>
            <a:ext cx="101758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1000</a:t>
            </a:r>
          </a:p>
        </p:txBody>
      </p:sp>
      <p:sp>
        <p:nvSpPr>
          <p:cNvPr id="11" name="Rectangle 10">
            <a:extLst>
              <a:ext uri="{FF2B5EF4-FFF2-40B4-BE49-F238E27FC236}">
                <a16:creationId xmlns:a16="http://schemas.microsoft.com/office/drawing/2014/main" id="{6035B8F9-42FC-DB8E-C0E7-7173ACE35ED1}"/>
              </a:ext>
            </a:extLst>
          </p:cNvPr>
          <p:cNvSpPr/>
          <p:nvPr/>
        </p:nvSpPr>
        <p:spPr>
          <a:xfrm>
            <a:off x="5903914" y="4379914"/>
            <a:ext cx="877887"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30</a:t>
            </a:r>
          </a:p>
        </p:txBody>
      </p:sp>
      <p:sp>
        <p:nvSpPr>
          <p:cNvPr id="12" name="Rectangle 11">
            <a:extLst>
              <a:ext uri="{FF2B5EF4-FFF2-40B4-BE49-F238E27FC236}">
                <a16:creationId xmlns:a16="http://schemas.microsoft.com/office/drawing/2014/main" id="{AD9748F8-364C-A3EB-F469-4D031172AD9B}"/>
              </a:ext>
            </a:extLst>
          </p:cNvPr>
          <p:cNvSpPr/>
          <p:nvPr/>
        </p:nvSpPr>
        <p:spPr>
          <a:xfrm>
            <a:off x="6742114" y="4379914"/>
            <a:ext cx="87788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3000</a:t>
            </a:r>
          </a:p>
        </p:txBody>
      </p:sp>
      <p:sp>
        <p:nvSpPr>
          <p:cNvPr id="13" name="Rectangle 12">
            <a:extLst>
              <a:ext uri="{FF2B5EF4-FFF2-40B4-BE49-F238E27FC236}">
                <a16:creationId xmlns:a16="http://schemas.microsoft.com/office/drawing/2014/main" id="{62FA2516-01A4-C702-9BBE-C5EDF8EFF657}"/>
              </a:ext>
            </a:extLst>
          </p:cNvPr>
          <p:cNvSpPr/>
          <p:nvPr/>
        </p:nvSpPr>
        <p:spPr>
          <a:xfrm>
            <a:off x="8054975" y="4379914"/>
            <a:ext cx="877888"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t>2000</a:t>
            </a:r>
          </a:p>
        </p:txBody>
      </p:sp>
      <p:sp>
        <p:nvSpPr>
          <p:cNvPr id="14" name="Rectangle 13">
            <a:extLst>
              <a:ext uri="{FF2B5EF4-FFF2-40B4-BE49-F238E27FC236}">
                <a16:creationId xmlns:a16="http://schemas.microsoft.com/office/drawing/2014/main" id="{324062CD-D647-7AEF-6286-0E4907017DCA}"/>
              </a:ext>
            </a:extLst>
          </p:cNvPr>
          <p:cNvSpPr/>
          <p:nvPr/>
        </p:nvSpPr>
        <p:spPr>
          <a:xfrm>
            <a:off x="8894764" y="4379914"/>
            <a:ext cx="879475" cy="885825"/>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50</a:t>
            </a:r>
          </a:p>
        </p:txBody>
      </p:sp>
      <p:sp>
        <p:nvSpPr>
          <p:cNvPr id="16" name="Rectangle 15">
            <a:extLst>
              <a:ext uri="{FF2B5EF4-FFF2-40B4-BE49-F238E27FC236}">
                <a16:creationId xmlns:a16="http://schemas.microsoft.com/office/drawing/2014/main" id="{8BC6FF99-8BAF-BAD6-CB34-0FC2F9D326A5}"/>
              </a:ext>
            </a:extLst>
          </p:cNvPr>
          <p:cNvSpPr/>
          <p:nvPr/>
        </p:nvSpPr>
        <p:spPr>
          <a:xfrm>
            <a:off x="9790114" y="4379914"/>
            <a:ext cx="877887" cy="88582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b="1" dirty="0">
              <a:solidFill>
                <a:srgbClr val="002060"/>
              </a:solidFill>
            </a:endParaRPr>
          </a:p>
          <a:p>
            <a:pPr algn="ctr">
              <a:defRPr/>
            </a:pPr>
            <a:r>
              <a:rPr lang="en-IN" b="1" dirty="0">
                <a:solidFill>
                  <a:srgbClr val="002060"/>
                </a:solidFill>
              </a:rPr>
              <a:t>NULL</a:t>
            </a:r>
          </a:p>
          <a:p>
            <a:pPr algn="ctr">
              <a:defRPr/>
            </a:pPr>
            <a:endParaRPr lang="en-IN" dirty="0"/>
          </a:p>
        </p:txBody>
      </p:sp>
      <p:sp>
        <p:nvSpPr>
          <p:cNvPr id="17" name="Arrow: Right 16">
            <a:extLst>
              <a:ext uri="{FF2B5EF4-FFF2-40B4-BE49-F238E27FC236}">
                <a16:creationId xmlns:a16="http://schemas.microsoft.com/office/drawing/2014/main" id="{84EC98A1-1EDF-B08D-7048-A80DB8722FF9}"/>
              </a:ext>
            </a:extLst>
          </p:cNvPr>
          <p:cNvSpPr/>
          <p:nvPr/>
        </p:nvSpPr>
        <p:spPr>
          <a:xfrm>
            <a:off x="4251326" y="4622800"/>
            <a:ext cx="657225" cy="46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Arrow: Right 17">
            <a:extLst>
              <a:ext uri="{FF2B5EF4-FFF2-40B4-BE49-F238E27FC236}">
                <a16:creationId xmlns:a16="http://schemas.microsoft.com/office/drawing/2014/main" id="{F0D78FD2-139D-0545-7BA7-0A3D92867209}"/>
              </a:ext>
            </a:extLst>
          </p:cNvPr>
          <p:cNvSpPr/>
          <p:nvPr/>
        </p:nvSpPr>
        <p:spPr>
          <a:xfrm>
            <a:off x="7620001" y="4668838"/>
            <a:ext cx="434975" cy="44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9" name="Arrow: Left 18">
            <a:extLst>
              <a:ext uri="{FF2B5EF4-FFF2-40B4-BE49-F238E27FC236}">
                <a16:creationId xmlns:a16="http://schemas.microsoft.com/office/drawing/2014/main" id="{827318C8-E259-B493-A628-921937A810E0}"/>
              </a:ext>
            </a:extLst>
          </p:cNvPr>
          <p:cNvSpPr/>
          <p:nvPr/>
        </p:nvSpPr>
        <p:spPr>
          <a:xfrm>
            <a:off x="4267200" y="5005389"/>
            <a:ext cx="641350"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0" name="Arrow: Left 19">
            <a:extLst>
              <a:ext uri="{FF2B5EF4-FFF2-40B4-BE49-F238E27FC236}">
                <a16:creationId xmlns:a16="http://schemas.microsoft.com/office/drawing/2014/main" id="{E49DA187-CF51-EB7D-D0BE-C98A0846E2DF}"/>
              </a:ext>
            </a:extLst>
          </p:cNvPr>
          <p:cNvSpPr/>
          <p:nvPr/>
        </p:nvSpPr>
        <p:spPr>
          <a:xfrm>
            <a:off x="7580313" y="5005389"/>
            <a:ext cx="474662" cy="460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115" name="TextBox 20">
            <a:extLst>
              <a:ext uri="{FF2B5EF4-FFF2-40B4-BE49-F238E27FC236}">
                <a16:creationId xmlns:a16="http://schemas.microsoft.com/office/drawing/2014/main" id="{393496B7-1F05-52A7-4638-B5160F1527B3}"/>
              </a:ext>
            </a:extLst>
          </p:cNvPr>
          <p:cNvSpPr txBox="1">
            <a:spLocks noChangeArrowheads="1"/>
          </p:cNvSpPr>
          <p:nvPr/>
        </p:nvSpPr>
        <p:spPr bwMode="auto">
          <a:xfrm>
            <a:off x="2424113" y="5573714"/>
            <a:ext cx="1020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1000</a:t>
            </a:r>
          </a:p>
        </p:txBody>
      </p:sp>
      <p:sp>
        <p:nvSpPr>
          <p:cNvPr id="4116" name="TextBox 21">
            <a:extLst>
              <a:ext uri="{FF2B5EF4-FFF2-40B4-BE49-F238E27FC236}">
                <a16:creationId xmlns:a16="http://schemas.microsoft.com/office/drawing/2014/main" id="{3B3ED3F4-F6C5-2988-FC54-1F0353220E94}"/>
              </a:ext>
            </a:extLst>
          </p:cNvPr>
          <p:cNvSpPr txBox="1">
            <a:spLocks noChangeArrowheads="1"/>
          </p:cNvSpPr>
          <p:nvPr/>
        </p:nvSpPr>
        <p:spPr bwMode="auto">
          <a:xfrm>
            <a:off x="5832476" y="5573714"/>
            <a:ext cx="1020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2000</a:t>
            </a:r>
          </a:p>
        </p:txBody>
      </p:sp>
      <p:sp>
        <p:nvSpPr>
          <p:cNvPr id="4117" name="TextBox 22">
            <a:extLst>
              <a:ext uri="{FF2B5EF4-FFF2-40B4-BE49-F238E27FC236}">
                <a16:creationId xmlns:a16="http://schemas.microsoft.com/office/drawing/2014/main" id="{8B467081-AAF2-3333-B78E-72D3119A94BA}"/>
              </a:ext>
            </a:extLst>
          </p:cNvPr>
          <p:cNvSpPr txBox="1">
            <a:spLocks noChangeArrowheads="1"/>
          </p:cNvSpPr>
          <p:nvPr/>
        </p:nvSpPr>
        <p:spPr bwMode="auto">
          <a:xfrm>
            <a:off x="8769351" y="5573714"/>
            <a:ext cx="1020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3000</a:t>
            </a:r>
          </a:p>
        </p:txBody>
      </p:sp>
      <p:sp>
        <p:nvSpPr>
          <p:cNvPr id="4118" name="TextBox 23">
            <a:extLst>
              <a:ext uri="{FF2B5EF4-FFF2-40B4-BE49-F238E27FC236}">
                <a16:creationId xmlns:a16="http://schemas.microsoft.com/office/drawing/2014/main" id="{6127FFC1-B303-DF62-0BFD-581EFFF6602F}"/>
              </a:ext>
            </a:extLst>
          </p:cNvPr>
          <p:cNvSpPr txBox="1">
            <a:spLocks noChangeArrowheads="1"/>
          </p:cNvSpPr>
          <p:nvPr/>
        </p:nvSpPr>
        <p:spPr bwMode="auto">
          <a:xfrm>
            <a:off x="2117725" y="3732214"/>
            <a:ext cx="19065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a:solidFill>
                  <a:schemeClr val="tx1"/>
                </a:solidFill>
                <a:latin typeface="Times New Roman" panose="02020603050405020304" pitchFamily="18" charset="0"/>
              </a:rPr>
              <a:t>1000    Head</a:t>
            </a:r>
          </a:p>
        </p:txBody>
      </p:sp>
      <p:pic>
        <p:nvPicPr>
          <p:cNvPr id="5" name="Picture 2" descr="KL Deemed to be University Logo">
            <a:extLst>
              <a:ext uri="{FF2B5EF4-FFF2-40B4-BE49-F238E27FC236}">
                <a16:creationId xmlns:a16="http://schemas.microsoft.com/office/drawing/2014/main" id="{C4FB6A15-0662-4BC3-5DFC-EF445560750C}"/>
              </a:ext>
            </a:extLst>
          </p:cNvPr>
          <p:cNvPicPr>
            <a:picLocks noChangeAspect="1" noChangeArrowheads="1"/>
          </p:cNvPicPr>
          <p:nvPr/>
        </p:nvPicPr>
        <p:blipFill>
          <a:blip r:embed="rId2"/>
          <a:srcRect/>
          <a:stretch>
            <a:fillRect/>
          </a:stretch>
        </p:blipFill>
        <p:spPr bwMode="auto">
          <a:xfrm>
            <a:off x="169864" y="201613"/>
            <a:ext cx="1990725" cy="60007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036153" y="156632"/>
            <a:ext cx="8324237" cy="68156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Insertion at the End</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185057" y="238124"/>
            <a:ext cx="1990725" cy="600076"/>
          </a:xfrm>
          <a:prstGeom prst="rect">
            <a:avLst/>
          </a:prstGeom>
          <a:noFill/>
        </p:spPr>
      </p:pic>
      <p:sp>
        <p:nvSpPr>
          <p:cNvPr id="53" name="TextBox 52"/>
          <p:cNvSpPr txBox="1"/>
          <p:nvPr/>
        </p:nvSpPr>
        <p:spPr>
          <a:xfrm>
            <a:off x="375781" y="1465781"/>
            <a:ext cx="11644983" cy="1015663"/>
          </a:xfrm>
          <a:prstGeom prst="rect">
            <a:avLst/>
          </a:prstGeom>
          <a:noFill/>
        </p:spPr>
        <p:txBody>
          <a:bodyPr wrap="square" rtlCol="0">
            <a:spAutoFit/>
          </a:bodyPr>
          <a:lstStyle/>
          <a:p>
            <a:pPr algn="just" fontAlgn="base"/>
            <a:endParaRPr lang="en-US" sz="2800" dirty="0">
              <a:latin typeface="Times New Roman" panose="02020603050405020304" pitchFamily="18" charset="0"/>
              <a:cs typeface="Times New Roman" panose="02020603050405020304" pitchFamily="18" charset="0"/>
            </a:endParaRPr>
          </a:p>
          <a:p>
            <a:pPr algn="just"/>
            <a:endParaRPr lang="en-US" sz="32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2C0ECE79-A979-94B8-5862-8B6A5A4A2BB3}"/>
              </a:ext>
            </a:extLst>
          </p:cNvPr>
          <p:cNvPicPr>
            <a:picLocks noChangeAspect="1"/>
          </p:cNvPicPr>
          <p:nvPr/>
        </p:nvPicPr>
        <p:blipFill>
          <a:blip r:embed="rId4"/>
          <a:stretch>
            <a:fillRect/>
          </a:stretch>
        </p:blipFill>
        <p:spPr>
          <a:xfrm>
            <a:off x="-78506" y="1011098"/>
            <a:ext cx="9916885" cy="2120037"/>
          </a:xfrm>
          <a:prstGeom prst="rect">
            <a:avLst/>
          </a:prstGeom>
        </p:spPr>
      </p:pic>
      <p:sp>
        <p:nvSpPr>
          <p:cNvPr id="5" name="TextBox 4">
            <a:extLst>
              <a:ext uri="{FF2B5EF4-FFF2-40B4-BE49-F238E27FC236}">
                <a16:creationId xmlns:a16="http://schemas.microsoft.com/office/drawing/2014/main" id="{0C339142-4B55-59BD-0A5C-3FF31C8E48D0}"/>
              </a:ext>
            </a:extLst>
          </p:cNvPr>
          <p:cNvSpPr txBox="1"/>
          <p:nvPr/>
        </p:nvSpPr>
        <p:spPr>
          <a:xfrm>
            <a:off x="8597143" y="3038250"/>
            <a:ext cx="587829" cy="430887"/>
          </a:xfrm>
          <a:prstGeom prst="rect">
            <a:avLst/>
          </a:prstGeom>
          <a:noFill/>
        </p:spPr>
        <p:txBody>
          <a:bodyPr wrap="square" rtlCol="0">
            <a:spAutoFit/>
          </a:bodyPr>
          <a:lstStyle/>
          <a:p>
            <a:r>
              <a:rPr lang="en-IN" sz="2200" b="1" dirty="0"/>
              <a:t>ptr</a:t>
            </a:r>
          </a:p>
        </p:txBody>
      </p:sp>
      <p:sp>
        <p:nvSpPr>
          <p:cNvPr id="6" name="Rectangle 5">
            <a:extLst>
              <a:ext uri="{FF2B5EF4-FFF2-40B4-BE49-F238E27FC236}">
                <a16:creationId xmlns:a16="http://schemas.microsoft.com/office/drawing/2014/main" id="{EFB304AE-752F-4EE2-E67D-CB5B4F4DB210}"/>
              </a:ext>
            </a:extLst>
          </p:cNvPr>
          <p:cNvSpPr/>
          <p:nvPr/>
        </p:nvSpPr>
        <p:spPr>
          <a:xfrm>
            <a:off x="9933277" y="1926769"/>
            <a:ext cx="718457" cy="5546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NULL</a:t>
            </a:r>
          </a:p>
        </p:txBody>
      </p:sp>
      <p:sp>
        <p:nvSpPr>
          <p:cNvPr id="7" name="Rectangle 6">
            <a:extLst>
              <a:ext uri="{FF2B5EF4-FFF2-40B4-BE49-F238E27FC236}">
                <a16:creationId xmlns:a16="http://schemas.microsoft.com/office/drawing/2014/main" id="{F6E98826-47FC-3FCB-9FBE-DD6864C8E45D}"/>
              </a:ext>
            </a:extLst>
          </p:cNvPr>
          <p:cNvSpPr/>
          <p:nvPr/>
        </p:nvSpPr>
        <p:spPr>
          <a:xfrm>
            <a:off x="10651734" y="1943097"/>
            <a:ext cx="718457" cy="554673"/>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55</a:t>
            </a:r>
          </a:p>
        </p:txBody>
      </p:sp>
      <p:sp>
        <p:nvSpPr>
          <p:cNvPr id="8" name="Rectangle 7">
            <a:extLst>
              <a:ext uri="{FF2B5EF4-FFF2-40B4-BE49-F238E27FC236}">
                <a16:creationId xmlns:a16="http://schemas.microsoft.com/office/drawing/2014/main" id="{AD2221A3-B8F5-1F08-26C0-F307D4978981}"/>
              </a:ext>
            </a:extLst>
          </p:cNvPr>
          <p:cNvSpPr/>
          <p:nvPr/>
        </p:nvSpPr>
        <p:spPr>
          <a:xfrm>
            <a:off x="11397205" y="1926768"/>
            <a:ext cx="718457" cy="5546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NULL</a:t>
            </a:r>
          </a:p>
        </p:txBody>
      </p:sp>
      <p:pic>
        <p:nvPicPr>
          <p:cNvPr id="12" name="Picture 11">
            <a:extLst>
              <a:ext uri="{FF2B5EF4-FFF2-40B4-BE49-F238E27FC236}">
                <a16:creationId xmlns:a16="http://schemas.microsoft.com/office/drawing/2014/main" id="{1B81D02E-3B04-21B3-A036-E665DBFD1364}"/>
              </a:ext>
            </a:extLst>
          </p:cNvPr>
          <p:cNvPicPr>
            <a:picLocks noChangeAspect="1"/>
          </p:cNvPicPr>
          <p:nvPr/>
        </p:nvPicPr>
        <p:blipFill>
          <a:blip r:embed="rId4"/>
          <a:stretch>
            <a:fillRect/>
          </a:stretch>
        </p:blipFill>
        <p:spPr>
          <a:xfrm>
            <a:off x="38163" y="4144883"/>
            <a:ext cx="9916885" cy="2120037"/>
          </a:xfrm>
          <a:prstGeom prst="rect">
            <a:avLst/>
          </a:prstGeom>
        </p:spPr>
      </p:pic>
      <p:sp>
        <p:nvSpPr>
          <p:cNvPr id="13" name="Arrow: Up 12">
            <a:extLst>
              <a:ext uri="{FF2B5EF4-FFF2-40B4-BE49-F238E27FC236}">
                <a16:creationId xmlns:a16="http://schemas.microsoft.com/office/drawing/2014/main" id="{F753DE12-A048-50B4-FB2F-0936C8B6C511}"/>
              </a:ext>
            </a:extLst>
          </p:cNvPr>
          <p:cNvSpPr/>
          <p:nvPr/>
        </p:nvSpPr>
        <p:spPr>
          <a:xfrm>
            <a:off x="8678848" y="5846902"/>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Up 13">
            <a:extLst>
              <a:ext uri="{FF2B5EF4-FFF2-40B4-BE49-F238E27FC236}">
                <a16:creationId xmlns:a16="http://schemas.microsoft.com/office/drawing/2014/main" id="{F1D2899A-89B7-3B4F-730D-C4837A63A429}"/>
              </a:ext>
            </a:extLst>
          </p:cNvPr>
          <p:cNvSpPr/>
          <p:nvPr/>
        </p:nvSpPr>
        <p:spPr>
          <a:xfrm>
            <a:off x="8374048" y="2767304"/>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1E419B79-8966-13E1-340E-4AEBDF1A8AA9}"/>
              </a:ext>
            </a:extLst>
          </p:cNvPr>
          <p:cNvSpPr/>
          <p:nvPr/>
        </p:nvSpPr>
        <p:spPr>
          <a:xfrm>
            <a:off x="10001161" y="5018312"/>
            <a:ext cx="718457" cy="5546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3000</a:t>
            </a:r>
          </a:p>
        </p:txBody>
      </p:sp>
      <p:sp>
        <p:nvSpPr>
          <p:cNvPr id="16" name="Rectangle 15">
            <a:extLst>
              <a:ext uri="{FF2B5EF4-FFF2-40B4-BE49-F238E27FC236}">
                <a16:creationId xmlns:a16="http://schemas.microsoft.com/office/drawing/2014/main" id="{1FD4F246-2009-455E-E851-8E476CE61BBF}"/>
              </a:ext>
            </a:extLst>
          </p:cNvPr>
          <p:cNvSpPr/>
          <p:nvPr/>
        </p:nvSpPr>
        <p:spPr>
          <a:xfrm>
            <a:off x="10719618" y="5018311"/>
            <a:ext cx="718457" cy="554673"/>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55</a:t>
            </a:r>
          </a:p>
        </p:txBody>
      </p:sp>
      <p:sp>
        <p:nvSpPr>
          <p:cNvPr id="17" name="Rectangle 16">
            <a:extLst>
              <a:ext uri="{FF2B5EF4-FFF2-40B4-BE49-F238E27FC236}">
                <a16:creationId xmlns:a16="http://schemas.microsoft.com/office/drawing/2014/main" id="{6316150E-1354-5E6D-B037-405A6FC34971}"/>
              </a:ext>
            </a:extLst>
          </p:cNvPr>
          <p:cNvSpPr/>
          <p:nvPr/>
        </p:nvSpPr>
        <p:spPr>
          <a:xfrm>
            <a:off x="11438075" y="5032027"/>
            <a:ext cx="718457" cy="5546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NULL</a:t>
            </a:r>
          </a:p>
        </p:txBody>
      </p:sp>
      <p:sp>
        <p:nvSpPr>
          <p:cNvPr id="19" name="Arrow: Right 18">
            <a:extLst>
              <a:ext uri="{FF2B5EF4-FFF2-40B4-BE49-F238E27FC236}">
                <a16:creationId xmlns:a16="http://schemas.microsoft.com/office/drawing/2014/main" id="{E2227C2A-FE10-282D-8C71-27AC6A5A5665}"/>
              </a:ext>
            </a:extLst>
          </p:cNvPr>
          <p:cNvSpPr/>
          <p:nvPr/>
        </p:nvSpPr>
        <p:spPr>
          <a:xfrm>
            <a:off x="9339943" y="5236029"/>
            <a:ext cx="661218" cy="59618"/>
          </a:xfrm>
          <a:prstGeom prst="rightArrow">
            <a:avLst/>
          </a:prstGeom>
          <a:solidFill>
            <a:srgbClr val="E329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Left 19">
            <a:extLst>
              <a:ext uri="{FF2B5EF4-FFF2-40B4-BE49-F238E27FC236}">
                <a16:creationId xmlns:a16="http://schemas.microsoft.com/office/drawing/2014/main" id="{B0255A36-3FBE-7AC2-E24D-2491E126B0D9}"/>
              </a:ext>
            </a:extLst>
          </p:cNvPr>
          <p:cNvSpPr/>
          <p:nvPr/>
        </p:nvSpPr>
        <p:spPr>
          <a:xfrm>
            <a:off x="9427029" y="5513364"/>
            <a:ext cx="528019" cy="5962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A7D6CD8C-9607-A5FA-BE2F-254264D3CF2D}"/>
              </a:ext>
            </a:extLst>
          </p:cNvPr>
          <p:cNvSpPr txBox="1"/>
          <p:nvPr/>
        </p:nvSpPr>
        <p:spPr>
          <a:xfrm>
            <a:off x="8839200" y="6049476"/>
            <a:ext cx="587829" cy="430887"/>
          </a:xfrm>
          <a:prstGeom prst="rect">
            <a:avLst/>
          </a:prstGeom>
          <a:noFill/>
        </p:spPr>
        <p:txBody>
          <a:bodyPr wrap="square" rtlCol="0">
            <a:spAutoFit/>
          </a:bodyPr>
          <a:lstStyle/>
          <a:p>
            <a:r>
              <a:rPr lang="en-IN" sz="2200" b="1" dirty="0"/>
              <a:t>ptr</a:t>
            </a:r>
          </a:p>
        </p:txBody>
      </p:sp>
      <p:sp>
        <p:nvSpPr>
          <p:cNvPr id="22" name="TextBox 21">
            <a:extLst>
              <a:ext uri="{FF2B5EF4-FFF2-40B4-BE49-F238E27FC236}">
                <a16:creationId xmlns:a16="http://schemas.microsoft.com/office/drawing/2014/main" id="{DD8CC208-0F69-AF9D-6CB0-00E64BDF809B}"/>
              </a:ext>
            </a:extLst>
          </p:cNvPr>
          <p:cNvSpPr txBox="1"/>
          <p:nvPr/>
        </p:nvSpPr>
        <p:spPr>
          <a:xfrm>
            <a:off x="10692707" y="2786743"/>
            <a:ext cx="1480457" cy="369332"/>
          </a:xfrm>
          <a:prstGeom prst="rect">
            <a:avLst/>
          </a:prstGeom>
          <a:noFill/>
        </p:spPr>
        <p:txBody>
          <a:bodyPr wrap="square" rtlCol="0">
            <a:spAutoFit/>
          </a:bodyPr>
          <a:lstStyle/>
          <a:p>
            <a:r>
              <a:rPr lang="en-IN" dirty="0"/>
              <a:t>Newnode</a:t>
            </a:r>
          </a:p>
        </p:txBody>
      </p:sp>
      <p:sp>
        <p:nvSpPr>
          <p:cNvPr id="24" name="TextBox 23">
            <a:extLst>
              <a:ext uri="{FF2B5EF4-FFF2-40B4-BE49-F238E27FC236}">
                <a16:creationId xmlns:a16="http://schemas.microsoft.com/office/drawing/2014/main" id="{F1B17B33-9B99-CB09-7F49-5E0CA57E8879}"/>
              </a:ext>
            </a:extLst>
          </p:cNvPr>
          <p:cNvSpPr txBox="1"/>
          <p:nvPr/>
        </p:nvSpPr>
        <p:spPr>
          <a:xfrm>
            <a:off x="723219" y="3593522"/>
            <a:ext cx="3914095" cy="461665"/>
          </a:xfrm>
          <a:prstGeom prst="rect">
            <a:avLst/>
          </a:prstGeom>
          <a:noFill/>
        </p:spPr>
        <p:txBody>
          <a:bodyPr wrap="square" rtlCol="0">
            <a:spAutoFit/>
          </a:bodyPr>
          <a:lstStyle/>
          <a:p>
            <a:r>
              <a:rPr lang="en-IN" sz="2400" b="1" dirty="0"/>
              <a:t>AFTER INSERTION</a:t>
            </a:r>
          </a:p>
        </p:txBody>
      </p:sp>
      <p:sp>
        <p:nvSpPr>
          <p:cNvPr id="25" name="TextBox 24">
            <a:extLst>
              <a:ext uri="{FF2B5EF4-FFF2-40B4-BE49-F238E27FC236}">
                <a16:creationId xmlns:a16="http://schemas.microsoft.com/office/drawing/2014/main" id="{3B9A64FB-9194-2CD1-57BA-864FC1461044}"/>
              </a:ext>
            </a:extLst>
          </p:cNvPr>
          <p:cNvSpPr txBox="1"/>
          <p:nvPr/>
        </p:nvSpPr>
        <p:spPr>
          <a:xfrm>
            <a:off x="9318757" y="4321124"/>
            <a:ext cx="2083263" cy="369332"/>
          </a:xfrm>
          <a:prstGeom prst="rect">
            <a:avLst/>
          </a:prstGeom>
          <a:noFill/>
        </p:spPr>
        <p:txBody>
          <a:bodyPr wrap="none" rtlCol="0">
            <a:spAutoFit/>
          </a:bodyPr>
          <a:lstStyle/>
          <a:p>
            <a:r>
              <a:rPr lang="en-IN" dirty="0"/>
              <a:t>Ptr-&gt;next=Newnode</a:t>
            </a:r>
          </a:p>
        </p:txBody>
      </p:sp>
      <p:sp>
        <p:nvSpPr>
          <p:cNvPr id="26" name="TextBox 25">
            <a:extLst>
              <a:ext uri="{FF2B5EF4-FFF2-40B4-BE49-F238E27FC236}">
                <a16:creationId xmlns:a16="http://schemas.microsoft.com/office/drawing/2014/main" id="{14FB5E17-C01C-FE2F-FD8F-0E6BA72DFACF}"/>
              </a:ext>
            </a:extLst>
          </p:cNvPr>
          <p:cNvSpPr txBox="1"/>
          <p:nvPr/>
        </p:nvSpPr>
        <p:spPr>
          <a:xfrm>
            <a:off x="9133114" y="5704176"/>
            <a:ext cx="2090701" cy="369332"/>
          </a:xfrm>
          <a:prstGeom prst="rect">
            <a:avLst/>
          </a:prstGeom>
          <a:noFill/>
        </p:spPr>
        <p:txBody>
          <a:bodyPr wrap="none" rtlCol="0">
            <a:spAutoFit/>
          </a:bodyPr>
          <a:lstStyle/>
          <a:p>
            <a:r>
              <a:rPr lang="en-IN" dirty="0" err="1"/>
              <a:t>Newnode</a:t>
            </a:r>
            <a:r>
              <a:rPr lang="en-IN" dirty="0"/>
              <a:t>-&gt;</a:t>
            </a:r>
            <a:r>
              <a:rPr lang="en-IN" dirty="0" err="1"/>
              <a:t>prev</a:t>
            </a:r>
            <a:r>
              <a:rPr lang="en-IN" dirty="0"/>
              <a:t>=ptr</a:t>
            </a:r>
          </a:p>
        </p:txBody>
      </p:sp>
      <p:cxnSp>
        <p:nvCxnSpPr>
          <p:cNvPr id="28" name="Connector: Curved 27">
            <a:extLst>
              <a:ext uri="{FF2B5EF4-FFF2-40B4-BE49-F238E27FC236}">
                <a16:creationId xmlns:a16="http://schemas.microsoft.com/office/drawing/2014/main" id="{0335E949-5F6F-7722-0171-7F2D567B077B}"/>
              </a:ext>
            </a:extLst>
          </p:cNvPr>
          <p:cNvCxnSpPr/>
          <p:nvPr/>
        </p:nvCxnSpPr>
        <p:spPr>
          <a:xfrm rot="5400000" flipH="1" flipV="1">
            <a:off x="9665071" y="4695938"/>
            <a:ext cx="341571" cy="33060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F2ADD9FA-735F-9DBB-A9E1-A9352DC79F13}"/>
              </a:ext>
            </a:extLst>
          </p:cNvPr>
          <p:cNvCxnSpPr/>
          <p:nvPr/>
        </p:nvCxnSpPr>
        <p:spPr>
          <a:xfrm rot="16200000" flipH="1">
            <a:off x="9633346" y="5644392"/>
            <a:ext cx="260202" cy="14481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7918429"/>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480458" y="348985"/>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Insertion at End - Algorithm</a:t>
            </a:r>
          </a:p>
        </p:txBody>
      </p:sp>
      <p:pic>
        <p:nvPicPr>
          <p:cNvPr id="24"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64179"/>
            <a:ext cx="10515600" cy="4912784"/>
          </a:xfrm>
        </p:spPr>
        <p:txBody>
          <a:bodyPr/>
          <a:lstStyle/>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1:</a:t>
            </a:r>
            <a:r>
              <a:rPr lang="en-US" altLang="en-US" sz="2200" dirty="0">
                <a:solidFill>
                  <a:srgbClr val="0070C0"/>
                </a:solidFill>
                <a:latin typeface="Times New Roman" panose="02020603050405020304" pitchFamily="18" charset="0"/>
                <a:cs typeface="Times New Roman" panose="02020603050405020304" pitchFamily="18" charset="0"/>
              </a:rPr>
              <a:t> IF Head = NULL THEN</a:t>
            </a:r>
          </a:p>
          <a:p>
            <a:pPr marL="0" indent="0" algn="just">
              <a:buNone/>
            </a:pPr>
            <a:r>
              <a:rPr lang="en-US" altLang="en-US" sz="2200" dirty="0">
                <a:solidFill>
                  <a:srgbClr val="0070C0"/>
                </a:solidFill>
                <a:latin typeface="Times New Roman" panose="02020603050405020304" pitchFamily="18" charset="0"/>
                <a:cs typeface="Times New Roman" panose="02020603050405020304" pitchFamily="18" charset="0"/>
              </a:rPr>
              <a:t>                  Head = </a:t>
            </a:r>
            <a:r>
              <a:rPr lang="en-US" altLang="en-US" sz="2200" dirty="0" err="1">
                <a:solidFill>
                  <a:srgbClr val="0070C0"/>
                </a:solidFill>
                <a:latin typeface="Times New Roman" panose="02020603050405020304" pitchFamily="18" charset="0"/>
                <a:cs typeface="Times New Roman" panose="02020603050405020304" pitchFamily="18" charset="0"/>
              </a:rPr>
              <a:t>Newnode</a:t>
            </a:r>
            <a:endParaRPr lang="en-US" altLang="en-US" sz="22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2:</a:t>
            </a:r>
            <a:r>
              <a:rPr lang="en-US" altLang="en-US" sz="2200" dirty="0">
                <a:solidFill>
                  <a:srgbClr val="0070C0"/>
                </a:solidFill>
                <a:latin typeface="Times New Roman" panose="02020603050405020304" pitchFamily="18" charset="0"/>
                <a:cs typeface="Times New Roman" panose="02020603050405020304" pitchFamily="18" charset="0"/>
              </a:rPr>
              <a:t> ELSE SET NEW_NODE -&gt; DATA = VAL</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3:</a:t>
            </a:r>
            <a:r>
              <a:rPr lang="en-US" altLang="en-US" sz="2200" dirty="0">
                <a:solidFill>
                  <a:srgbClr val="0070C0"/>
                </a:solidFill>
                <a:latin typeface="Times New Roman" panose="02020603050405020304" pitchFamily="18" charset="0"/>
                <a:cs typeface="Times New Roman" panose="02020603050405020304" pitchFamily="18" charset="0"/>
              </a:rPr>
              <a:t>  SET NEW_NODE -&gt; NEXT = NULL</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4:</a:t>
            </a:r>
            <a:r>
              <a:rPr lang="en-US" altLang="en-US" sz="2200" dirty="0">
                <a:solidFill>
                  <a:srgbClr val="0070C0"/>
                </a:solidFill>
                <a:latin typeface="Times New Roman" panose="02020603050405020304" pitchFamily="18" charset="0"/>
                <a:cs typeface="Times New Roman" panose="02020603050405020304" pitchFamily="18" charset="0"/>
              </a:rPr>
              <a:t> SET NEW_NODE -&gt; PREV = NULL</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5:</a:t>
            </a:r>
            <a:r>
              <a:rPr lang="en-US" altLang="en-US" sz="2200" dirty="0">
                <a:solidFill>
                  <a:srgbClr val="0070C0"/>
                </a:solidFill>
                <a:latin typeface="Times New Roman" panose="02020603050405020304" pitchFamily="18" charset="0"/>
                <a:cs typeface="Times New Roman" panose="02020603050405020304" pitchFamily="18" charset="0"/>
              </a:rPr>
              <a:t> SET </a:t>
            </a:r>
            <a:r>
              <a:rPr lang="en-US" altLang="en-US" sz="2200" dirty="0" err="1">
                <a:solidFill>
                  <a:srgbClr val="0070C0"/>
                </a:solidFill>
                <a:latin typeface="Times New Roman" panose="02020603050405020304" pitchFamily="18" charset="0"/>
                <a:cs typeface="Times New Roman" panose="02020603050405020304" pitchFamily="18" charset="0"/>
              </a:rPr>
              <a:t>ptr</a:t>
            </a:r>
            <a:r>
              <a:rPr lang="en-US" altLang="en-US" sz="2200" dirty="0">
                <a:solidFill>
                  <a:srgbClr val="0070C0"/>
                </a:solidFill>
                <a:latin typeface="Times New Roman" panose="02020603050405020304" pitchFamily="18" charset="0"/>
                <a:cs typeface="Times New Roman" panose="02020603050405020304" pitchFamily="18" charset="0"/>
              </a:rPr>
              <a:t> = Head</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6:</a:t>
            </a:r>
            <a:r>
              <a:rPr lang="en-US" altLang="en-US" sz="2200" dirty="0">
                <a:solidFill>
                  <a:srgbClr val="0070C0"/>
                </a:solidFill>
                <a:latin typeface="Times New Roman" panose="02020603050405020304" pitchFamily="18" charset="0"/>
                <a:cs typeface="Times New Roman" panose="02020603050405020304" pitchFamily="18" charset="0"/>
              </a:rPr>
              <a:t> Repeat  while </a:t>
            </a:r>
            <a:r>
              <a:rPr lang="en-US" altLang="en-US" sz="2200" dirty="0" err="1">
                <a:solidFill>
                  <a:srgbClr val="0070C0"/>
                </a:solidFill>
                <a:latin typeface="Times New Roman" panose="02020603050405020304" pitchFamily="18" charset="0"/>
                <a:cs typeface="Times New Roman" panose="02020603050405020304" pitchFamily="18" charset="0"/>
              </a:rPr>
              <a:t>ptr</a:t>
            </a:r>
            <a:r>
              <a:rPr lang="en-US" altLang="en-US" sz="2200" dirty="0">
                <a:solidFill>
                  <a:srgbClr val="0070C0"/>
                </a:solidFill>
                <a:latin typeface="Times New Roman" panose="02020603050405020304" pitchFamily="18" charset="0"/>
                <a:cs typeface="Times New Roman" panose="02020603050405020304" pitchFamily="18" charset="0"/>
              </a:rPr>
              <a:t>-&gt; NEXT != NULL</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                 6.1 </a:t>
            </a:r>
            <a:r>
              <a:rPr lang="en-US" altLang="en-US" sz="2200" dirty="0">
                <a:solidFill>
                  <a:srgbClr val="0070C0"/>
                </a:solidFill>
                <a:latin typeface="Times New Roman" panose="02020603050405020304" pitchFamily="18" charset="0"/>
                <a:cs typeface="Times New Roman" panose="02020603050405020304" pitchFamily="18" charset="0"/>
              </a:rPr>
              <a:t> SET </a:t>
            </a:r>
            <a:r>
              <a:rPr lang="en-US" altLang="en-US" sz="2200" dirty="0" err="1">
                <a:solidFill>
                  <a:srgbClr val="0070C0"/>
                </a:solidFill>
                <a:latin typeface="Times New Roman" panose="02020603050405020304" pitchFamily="18" charset="0"/>
                <a:cs typeface="Times New Roman" panose="02020603050405020304" pitchFamily="18" charset="0"/>
              </a:rPr>
              <a:t>ptr</a:t>
            </a:r>
            <a:r>
              <a:rPr lang="en-US" altLang="en-US" sz="2200" dirty="0">
                <a:solidFill>
                  <a:srgbClr val="0070C0"/>
                </a:solidFill>
                <a:latin typeface="Times New Roman" panose="02020603050405020304" pitchFamily="18" charset="0"/>
                <a:cs typeface="Times New Roman" panose="02020603050405020304" pitchFamily="18" charset="0"/>
              </a:rPr>
              <a:t> = </a:t>
            </a:r>
            <a:r>
              <a:rPr lang="en-US" altLang="en-US" sz="2200" dirty="0" err="1">
                <a:solidFill>
                  <a:srgbClr val="0070C0"/>
                </a:solidFill>
                <a:latin typeface="Times New Roman" panose="02020603050405020304" pitchFamily="18" charset="0"/>
                <a:cs typeface="Times New Roman" panose="02020603050405020304" pitchFamily="18" charset="0"/>
              </a:rPr>
              <a:t>ptr</a:t>
            </a:r>
            <a:r>
              <a:rPr lang="en-US" altLang="en-US" sz="2200" dirty="0">
                <a:solidFill>
                  <a:srgbClr val="0070C0"/>
                </a:solidFill>
                <a:latin typeface="Times New Roman" panose="02020603050405020304" pitchFamily="18" charset="0"/>
                <a:cs typeface="Times New Roman" panose="02020603050405020304" pitchFamily="18" charset="0"/>
              </a:rPr>
              <a:t>-&gt; NEXT</a:t>
            </a:r>
          </a:p>
          <a:p>
            <a:pPr marL="0" indent="0" algn="just">
              <a:buNone/>
            </a:pPr>
            <a:r>
              <a:rPr lang="en-US" altLang="en-US" sz="2200" dirty="0">
                <a:solidFill>
                  <a:srgbClr val="0070C0"/>
                </a:solidFill>
                <a:latin typeface="Times New Roman" panose="02020603050405020304" pitchFamily="18" charset="0"/>
                <a:cs typeface="Times New Roman" panose="02020603050405020304" pitchFamily="18" charset="0"/>
              </a:rPr>
              <a:t>    [END OF LOOP]</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7:</a:t>
            </a:r>
            <a:r>
              <a:rPr lang="en-US" altLang="en-US" sz="2200" dirty="0">
                <a:solidFill>
                  <a:srgbClr val="0070C0"/>
                </a:solidFill>
                <a:latin typeface="Times New Roman" panose="02020603050405020304" pitchFamily="18" charset="0"/>
                <a:cs typeface="Times New Roman" panose="02020603050405020304" pitchFamily="18" charset="0"/>
              </a:rPr>
              <a:t>  SET </a:t>
            </a:r>
            <a:r>
              <a:rPr lang="en-US" altLang="en-US" sz="2200" dirty="0" err="1">
                <a:solidFill>
                  <a:srgbClr val="0070C0"/>
                </a:solidFill>
                <a:latin typeface="Times New Roman" panose="02020603050405020304" pitchFamily="18" charset="0"/>
                <a:cs typeface="Times New Roman" panose="02020603050405020304" pitchFamily="18" charset="0"/>
              </a:rPr>
              <a:t>ptr</a:t>
            </a:r>
            <a:r>
              <a:rPr lang="en-US" altLang="en-US" sz="2200" dirty="0">
                <a:solidFill>
                  <a:srgbClr val="0070C0"/>
                </a:solidFill>
                <a:latin typeface="Times New Roman" panose="02020603050405020304" pitchFamily="18" charset="0"/>
                <a:cs typeface="Times New Roman" panose="02020603050405020304" pitchFamily="18" charset="0"/>
              </a:rPr>
              <a:t> -&gt; NEXT = NEW_NODE</a:t>
            </a: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8:</a:t>
            </a:r>
            <a:r>
              <a:rPr lang="en-US" altLang="en-US" sz="2200" dirty="0">
                <a:solidFill>
                  <a:srgbClr val="0070C0"/>
                </a:solidFill>
                <a:latin typeface="Times New Roman" panose="02020603050405020304" pitchFamily="18" charset="0"/>
                <a:cs typeface="Times New Roman" panose="02020603050405020304" pitchFamily="18" charset="0"/>
              </a:rPr>
              <a:t> SET NEW_NODE -&gt; PREV = </a:t>
            </a:r>
            <a:r>
              <a:rPr lang="en-US" altLang="en-US" sz="2200" dirty="0" err="1">
                <a:solidFill>
                  <a:srgbClr val="0070C0"/>
                </a:solidFill>
                <a:latin typeface="Times New Roman" panose="02020603050405020304" pitchFamily="18" charset="0"/>
                <a:cs typeface="Times New Roman" panose="02020603050405020304" pitchFamily="18" charset="0"/>
              </a:rPr>
              <a:t>ptr</a:t>
            </a:r>
            <a:endParaRPr lang="en-US" altLang="en-US" sz="22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altLang="en-US" sz="2200" b="1" dirty="0">
                <a:solidFill>
                  <a:srgbClr val="0070C0"/>
                </a:solidFill>
                <a:latin typeface="Times New Roman" panose="02020603050405020304" pitchFamily="18" charset="0"/>
                <a:cs typeface="Times New Roman" panose="02020603050405020304" pitchFamily="18" charset="0"/>
              </a:rPr>
              <a:t>Step 9:</a:t>
            </a:r>
            <a:r>
              <a:rPr lang="en-US" altLang="en-US" sz="2200" dirty="0">
                <a:solidFill>
                  <a:srgbClr val="0070C0"/>
                </a:solidFill>
                <a:latin typeface="Times New Roman" panose="02020603050405020304" pitchFamily="18" charset="0"/>
                <a:cs typeface="Times New Roman" panose="02020603050405020304" pitchFamily="18" charset="0"/>
              </a:rPr>
              <a:t> EXIT</a:t>
            </a:r>
          </a:p>
          <a:p>
            <a:pPr marL="0" indent="0">
              <a:buNone/>
            </a:pPr>
            <a:endParaRPr lang="en-US" sz="2200"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E86696-A87E-CA71-E93C-6F038913723E}"/>
              </a:ext>
            </a:extLst>
          </p:cNvPr>
          <p:cNvPicPr>
            <a:picLocks noGrp="1" noChangeAspect="1"/>
          </p:cNvPicPr>
          <p:nvPr>
            <p:ph idx="1"/>
          </p:nvPr>
        </p:nvPicPr>
        <p:blipFill>
          <a:blip r:embed="rId2"/>
          <a:stretch>
            <a:fillRect/>
          </a:stretch>
        </p:blipFill>
        <p:spPr>
          <a:xfrm>
            <a:off x="707571" y="1817914"/>
            <a:ext cx="10515600" cy="3208957"/>
          </a:xfrm>
        </p:spPr>
      </p:pic>
      <p:sp>
        <p:nvSpPr>
          <p:cNvPr id="6" name="Rounded Rectangle 17">
            <a:extLst>
              <a:ext uri="{FF2B5EF4-FFF2-40B4-BE49-F238E27FC236}">
                <a16:creationId xmlns:a16="http://schemas.microsoft.com/office/drawing/2014/main" id="{D1C7A887-AED4-1CCF-6B1D-527B0E3C7DF0}"/>
              </a:ext>
            </a:extLst>
          </p:cNvPr>
          <p:cNvSpPr>
            <a:spLocks noGrp="1"/>
          </p:cNvSpPr>
          <p:nvPr>
            <p:ph type="title"/>
          </p:nvPr>
        </p:nvSpPr>
        <p:spPr>
          <a:xfrm>
            <a:off x="838200" y="365125"/>
            <a:ext cx="10515600" cy="7667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Insertion at a specified position</a:t>
            </a:r>
          </a:p>
        </p:txBody>
      </p:sp>
    </p:spTree>
    <p:extLst>
      <p:ext uri="{BB962C8B-B14F-4D97-AF65-F5344CB8AC3E}">
        <p14:creationId xmlns:p14="http://schemas.microsoft.com/office/powerpoint/2010/main" val="420606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9" name="Rounded Rectangle 17">
            <a:extLst>
              <a:ext uri="{FF2B5EF4-FFF2-40B4-BE49-F238E27FC236}">
                <a16:creationId xmlns:a16="http://schemas.microsoft.com/office/drawing/2014/main" id="{11A1DB0B-CE35-51E3-6653-2221B52B2B17}"/>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Insertion at a specified position</a:t>
            </a:r>
          </a:p>
        </p:txBody>
      </p:sp>
      <p:pic>
        <p:nvPicPr>
          <p:cNvPr id="13" name="Picture 12">
            <a:extLst>
              <a:ext uri="{FF2B5EF4-FFF2-40B4-BE49-F238E27FC236}">
                <a16:creationId xmlns:a16="http://schemas.microsoft.com/office/drawing/2014/main" id="{0C4E4DD1-5E6F-EA33-9C26-02DB080A97D9}"/>
              </a:ext>
            </a:extLst>
          </p:cNvPr>
          <p:cNvPicPr>
            <a:picLocks noChangeAspect="1"/>
          </p:cNvPicPr>
          <p:nvPr/>
        </p:nvPicPr>
        <p:blipFill>
          <a:blip r:embed="rId3"/>
          <a:stretch>
            <a:fillRect/>
          </a:stretch>
        </p:blipFill>
        <p:spPr>
          <a:xfrm>
            <a:off x="0" y="1047024"/>
            <a:ext cx="9916885" cy="2120037"/>
          </a:xfrm>
          <a:prstGeom prst="rect">
            <a:avLst/>
          </a:prstGeom>
        </p:spPr>
      </p:pic>
      <p:sp>
        <p:nvSpPr>
          <p:cNvPr id="14" name="Rectangle 13">
            <a:extLst>
              <a:ext uri="{FF2B5EF4-FFF2-40B4-BE49-F238E27FC236}">
                <a16:creationId xmlns:a16="http://schemas.microsoft.com/office/drawing/2014/main" id="{4CB42328-6DB8-B301-4E36-7B0BB6F9E571}"/>
              </a:ext>
            </a:extLst>
          </p:cNvPr>
          <p:cNvSpPr/>
          <p:nvPr/>
        </p:nvSpPr>
        <p:spPr>
          <a:xfrm>
            <a:off x="5558210" y="3432786"/>
            <a:ext cx="718457" cy="5546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NULL</a:t>
            </a:r>
          </a:p>
        </p:txBody>
      </p:sp>
      <p:sp>
        <p:nvSpPr>
          <p:cNvPr id="15" name="Rectangle 14">
            <a:extLst>
              <a:ext uri="{FF2B5EF4-FFF2-40B4-BE49-F238E27FC236}">
                <a16:creationId xmlns:a16="http://schemas.microsoft.com/office/drawing/2014/main" id="{F4E067A2-310A-9959-F266-8F92AD1FC1A8}"/>
              </a:ext>
            </a:extLst>
          </p:cNvPr>
          <p:cNvSpPr/>
          <p:nvPr/>
        </p:nvSpPr>
        <p:spPr>
          <a:xfrm>
            <a:off x="6276667" y="3432786"/>
            <a:ext cx="718457" cy="554673"/>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100</a:t>
            </a:r>
          </a:p>
        </p:txBody>
      </p:sp>
      <p:sp>
        <p:nvSpPr>
          <p:cNvPr id="16" name="Rectangle 15">
            <a:extLst>
              <a:ext uri="{FF2B5EF4-FFF2-40B4-BE49-F238E27FC236}">
                <a16:creationId xmlns:a16="http://schemas.microsoft.com/office/drawing/2014/main" id="{A8DF1FA5-8A37-67A1-0919-7D7338594C62}"/>
              </a:ext>
            </a:extLst>
          </p:cNvPr>
          <p:cNvSpPr/>
          <p:nvPr/>
        </p:nvSpPr>
        <p:spPr>
          <a:xfrm>
            <a:off x="6995124" y="3432786"/>
            <a:ext cx="718457" cy="5546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NULL</a:t>
            </a:r>
          </a:p>
        </p:txBody>
      </p:sp>
      <p:sp>
        <p:nvSpPr>
          <p:cNvPr id="17" name="TextBox 16">
            <a:extLst>
              <a:ext uri="{FF2B5EF4-FFF2-40B4-BE49-F238E27FC236}">
                <a16:creationId xmlns:a16="http://schemas.microsoft.com/office/drawing/2014/main" id="{CA2CFE98-932C-9D8D-276B-C1ED9042969A}"/>
              </a:ext>
            </a:extLst>
          </p:cNvPr>
          <p:cNvSpPr txBox="1"/>
          <p:nvPr/>
        </p:nvSpPr>
        <p:spPr>
          <a:xfrm>
            <a:off x="6276667" y="4068518"/>
            <a:ext cx="1480457" cy="369332"/>
          </a:xfrm>
          <a:prstGeom prst="rect">
            <a:avLst/>
          </a:prstGeom>
          <a:noFill/>
        </p:spPr>
        <p:txBody>
          <a:bodyPr wrap="square" rtlCol="0">
            <a:spAutoFit/>
          </a:bodyPr>
          <a:lstStyle/>
          <a:p>
            <a:r>
              <a:rPr lang="en-IN" dirty="0"/>
              <a:t>Newnode</a:t>
            </a:r>
          </a:p>
        </p:txBody>
      </p:sp>
      <p:sp>
        <p:nvSpPr>
          <p:cNvPr id="18" name="Arrow: Up 17">
            <a:extLst>
              <a:ext uri="{FF2B5EF4-FFF2-40B4-BE49-F238E27FC236}">
                <a16:creationId xmlns:a16="http://schemas.microsoft.com/office/drawing/2014/main" id="{6C12466D-1B87-8597-2F11-6EA82C547890}"/>
              </a:ext>
            </a:extLst>
          </p:cNvPr>
          <p:cNvSpPr/>
          <p:nvPr/>
        </p:nvSpPr>
        <p:spPr>
          <a:xfrm>
            <a:off x="4200524" y="2617626"/>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07F815F0-0873-A950-6E2E-82408EEEC743}"/>
              </a:ext>
            </a:extLst>
          </p:cNvPr>
          <p:cNvSpPr txBox="1"/>
          <p:nvPr/>
        </p:nvSpPr>
        <p:spPr>
          <a:xfrm>
            <a:off x="4132862" y="3387067"/>
            <a:ext cx="849086" cy="369332"/>
          </a:xfrm>
          <a:prstGeom prst="rect">
            <a:avLst/>
          </a:prstGeom>
          <a:noFill/>
        </p:spPr>
        <p:txBody>
          <a:bodyPr wrap="square">
            <a:spAutoFit/>
          </a:bodyPr>
          <a:lstStyle/>
          <a:p>
            <a:r>
              <a:rPr lang="en-IN" sz="1800" b="1" dirty="0"/>
              <a:t>ptr</a:t>
            </a:r>
          </a:p>
        </p:txBody>
      </p:sp>
      <p:cxnSp>
        <p:nvCxnSpPr>
          <p:cNvPr id="22" name="Connector: Curved 21">
            <a:extLst>
              <a:ext uri="{FF2B5EF4-FFF2-40B4-BE49-F238E27FC236}">
                <a16:creationId xmlns:a16="http://schemas.microsoft.com/office/drawing/2014/main" id="{C0ED6391-533E-D56C-5154-575B9B21FD1E}"/>
              </a:ext>
            </a:extLst>
          </p:cNvPr>
          <p:cNvCxnSpPr>
            <a:endCxn id="14" idx="1"/>
          </p:cNvCxnSpPr>
          <p:nvPr/>
        </p:nvCxnSpPr>
        <p:spPr>
          <a:xfrm rot="5400000">
            <a:off x="5297932" y="2731387"/>
            <a:ext cx="1239015" cy="718457"/>
          </a:xfrm>
          <a:prstGeom prst="curvedConnector4">
            <a:avLst>
              <a:gd name="adj1" fmla="val 38808"/>
              <a:gd name="adj2" fmla="val 131818"/>
            </a:avLst>
          </a:prstGeom>
          <a:ln w="38100">
            <a:solidFill>
              <a:srgbClr val="A81E24"/>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591B1BCD-7265-7BC9-80D4-8630231CFBBC}"/>
              </a:ext>
            </a:extLst>
          </p:cNvPr>
          <p:cNvCxnSpPr/>
          <p:nvPr/>
        </p:nvCxnSpPr>
        <p:spPr>
          <a:xfrm rot="16200000" flipV="1">
            <a:off x="4321946" y="2798366"/>
            <a:ext cx="1138773" cy="866467"/>
          </a:xfrm>
          <a:prstGeom prst="curvedConnector3">
            <a:avLst/>
          </a:prstGeom>
          <a:ln w="38100">
            <a:solidFill>
              <a:srgbClr val="E3293B"/>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35831E7-4F42-5BAC-7195-B74E1DF49AB0}"/>
              </a:ext>
            </a:extLst>
          </p:cNvPr>
          <p:cNvSpPr txBox="1"/>
          <p:nvPr/>
        </p:nvSpPr>
        <p:spPr>
          <a:xfrm>
            <a:off x="5736771" y="2926806"/>
            <a:ext cx="359229" cy="369332"/>
          </a:xfrm>
          <a:prstGeom prst="rect">
            <a:avLst/>
          </a:prstGeom>
          <a:noFill/>
        </p:spPr>
        <p:txBody>
          <a:bodyPr wrap="square" rtlCol="0">
            <a:spAutoFit/>
          </a:bodyPr>
          <a:lstStyle/>
          <a:p>
            <a:r>
              <a:rPr lang="en-IN" dirty="0"/>
              <a:t>1</a:t>
            </a:r>
          </a:p>
        </p:txBody>
      </p:sp>
      <p:sp>
        <p:nvSpPr>
          <p:cNvPr id="28" name="TextBox 27">
            <a:extLst>
              <a:ext uri="{FF2B5EF4-FFF2-40B4-BE49-F238E27FC236}">
                <a16:creationId xmlns:a16="http://schemas.microsoft.com/office/drawing/2014/main" id="{2F5A9066-40F3-2C3C-4987-B05E6C942676}"/>
              </a:ext>
            </a:extLst>
          </p:cNvPr>
          <p:cNvSpPr txBox="1"/>
          <p:nvPr/>
        </p:nvSpPr>
        <p:spPr>
          <a:xfrm>
            <a:off x="4811300" y="3429343"/>
            <a:ext cx="359229" cy="369332"/>
          </a:xfrm>
          <a:prstGeom prst="rect">
            <a:avLst/>
          </a:prstGeom>
          <a:noFill/>
        </p:spPr>
        <p:txBody>
          <a:bodyPr wrap="square" rtlCol="0">
            <a:spAutoFit/>
          </a:bodyPr>
          <a:lstStyle/>
          <a:p>
            <a:r>
              <a:rPr lang="en-IN" dirty="0"/>
              <a:t>2</a:t>
            </a:r>
          </a:p>
        </p:txBody>
      </p:sp>
      <p:sp>
        <p:nvSpPr>
          <p:cNvPr id="29" name="TextBox 28">
            <a:extLst>
              <a:ext uri="{FF2B5EF4-FFF2-40B4-BE49-F238E27FC236}">
                <a16:creationId xmlns:a16="http://schemas.microsoft.com/office/drawing/2014/main" id="{CA3A228D-1454-A41A-12AF-D9CBF2ABDE4F}"/>
              </a:ext>
            </a:extLst>
          </p:cNvPr>
          <p:cNvSpPr txBox="1"/>
          <p:nvPr/>
        </p:nvSpPr>
        <p:spPr>
          <a:xfrm>
            <a:off x="744433" y="4988302"/>
            <a:ext cx="4066867" cy="1569660"/>
          </a:xfrm>
          <a:prstGeom prst="rect">
            <a:avLst/>
          </a:prstGeom>
          <a:noFill/>
        </p:spPr>
        <p:txBody>
          <a:bodyPr wrap="square" rtlCol="0">
            <a:spAutoFit/>
          </a:bodyPr>
          <a:lstStyle/>
          <a:p>
            <a:pPr marL="342900" indent="-342900">
              <a:buAutoNum type="arabicPeriod"/>
            </a:pPr>
            <a:r>
              <a:rPr lang="en-IN" sz="2400" dirty="0">
                <a:latin typeface="Times New Roman" panose="02020603050405020304" pitchFamily="18" charset="0"/>
                <a:cs typeface="Times New Roman" panose="02020603050405020304" pitchFamily="18" charset="0"/>
              </a:rPr>
              <a:t>ptr-&gt;next=Newnode</a:t>
            </a:r>
          </a:p>
          <a:p>
            <a:pPr marL="342900" indent="-342900">
              <a:buAutoNum type="arabicPeriod"/>
            </a:pPr>
            <a:r>
              <a:rPr lang="en-IN" sz="2400" dirty="0">
                <a:latin typeface="Times New Roman" panose="02020603050405020304" pitchFamily="18" charset="0"/>
                <a:cs typeface="Times New Roman" panose="02020603050405020304" pitchFamily="18" charset="0"/>
              </a:rPr>
              <a:t>Newnode-&gt;</a:t>
            </a:r>
            <a:r>
              <a:rPr lang="en-IN" sz="2400" dirty="0" err="1">
                <a:latin typeface="Times New Roman" panose="02020603050405020304" pitchFamily="18" charset="0"/>
                <a:cs typeface="Times New Roman" panose="02020603050405020304" pitchFamily="18" charset="0"/>
              </a:rPr>
              <a:t>prev</a:t>
            </a:r>
            <a:r>
              <a:rPr lang="en-IN" sz="2400" dirty="0">
                <a:latin typeface="Times New Roman" panose="02020603050405020304" pitchFamily="18" charset="0"/>
                <a:cs typeface="Times New Roman" panose="02020603050405020304" pitchFamily="18" charset="0"/>
              </a:rPr>
              <a:t>=ptr</a:t>
            </a:r>
          </a:p>
          <a:p>
            <a:pPr marL="342900" indent="-342900">
              <a:buAutoNum type="arabicPeriod"/>
            </a:pPr>
            <a:r>
              <a:rPr lang="en-IN" sz="2400" dirty="0">
                <a:latin typeface="Times New Roman" panose="02020603050405020304" pitchFamily="18" charset="0"/>
                <a:cs typeface="Times New Roman" panose="02020603050405020304" pitchFamily="18" charset="0"/>
              </a:rPr>
              <a:t>Newnode-&gt;next=ptr-&gt;next</a:t>
            </a:r>
          </a:p>
          <a:p>
            <a:pPr marL="342900" indent="-342900">
              <a:buAutoNum type="arabicPeriod"/>
            </a:pPr>
            <a:r>
              <a:rPr lang="en-IN" sz="2400" dirty="0">
                <a:latin typeface="Times New Roman" panose="02020603050405020304" pitchFamily="18" charset="0"/>
                <a:cs typeface="Times New Roman" panose="02020603050405020304" pitchFamily="18" charset="0"/>
              </a:rPr>
              <a:t>Ptr-&gt;next-&gt;</a:t>
            </a:r>
            <a:r>
              <a:rPr lang="en-IN" sz="2400" dirty="0" err="1">
                <a:latin typeface="Times New Roman" panose="02020603050405020304" pitchFamily="18" charset="0"/>
                <a:cs typeface="Times New Roman" panose="02020603050405020304" pitchFamily="18" charset="0"/>
              </a:rPr>
              <a:t>prev</a:t>
            </a:r>
            <a:r>
              <a:rPr lang="en-IN" sz="2400" dirty="0">
                <a:latin typeface="Times New Roman" panose="02020603050405020304" pitchFamily="18" charset="0"/>
                <a:cs typeface="Times New Roman" panose="02020603050405020304" pitchFamily="18" charset="0"/>
              </a:rPr>
              <a:t>=Newnode</a:t>
            </a:r>
          </a:p>
        </p:txBody>
      </p:sp>
      <p:cxnSp>
        <p:nvCxnSpPr>
          <p:cNvPr id="30" name="Connector: Curved 29">
            <a:extLst>
              <a:ext uri="{FF2B5EF4-FFF2-40B4-BE49-F238E27FC236}">
                <a16:creationId xmlns:a16="http://schemas.microsoft.com/office/drawing/2014/main" id="{50015A0C-0137-538D-1440-1319DE9F5E6E}"/>
              </a:ext>
            </a:extLst>
          </p:cNvPr>
          <p:cNvCxnSpPr/>
          <p:nvPr/>
        </p:nvCxnSpPr>
        <p:spPr>
          <a:xfrm rot="5400000">
            <a:off x="6454843" y="2567577"/>
            <a:ext cx="1239015" cy="718457"/>
          </a:xfrm>
          <a:prstGeom prst="curvedConnector4">
            <a:avLst>
              <a:gd name="adj1" fmla="val 38808"/>
              <a:gd name="adj2" fmla="val 131818"/>
            </a:avLst>
          </a:prstGeom>
          <a:ln w="38100">
            <a:solidFill>
              <a:srgbClr val="A81E24"/>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2FC18BE0-CC58-2FCC-765B-E9E8845DB541}"/>
              </a:ext>
            </a:extLst>
          </p:cNvPr>
          <p:cNvCxnSpPr/>
          <p:nvPr/>
        </p:nvCxnSpPr>
        <p:spPr>
          <a:xfrm rot="5400000" flipH="1" flipV="1">
            <a:off x="7646252" y="2686221"/>
            <a:ext cx="1181049" cy="936171"/>
          </a:xfrm>
          <a:prstGeom prst="curvedConnector3">
            <a:avLst/>
          </a:prstGeom>
          <a:ln w="38100">
            <a:solidFill>
              <a:srgbClr val="E3293B"/>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8703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283029"/>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8" name="Rounded Rectangle 17">
            <a:extLst>
              <a:ext uri="{FF2B5EF4-FFF2-40B4-BE49-F238E27FC236}">
                <a16:creationId xmlns:a16="http://schemas.microsoft.com/office/drawing/2014/main" id="{8C2F2AF4-F9DD-55E3-B794-5702B3387E18}"/>
              </a:ext>
            </a:extLst>
          </p:cNvPr>
          <p:cNvSpPr/>
          <p:nvPr/>
        </p:nvSpPr>
        <p:spPr>
          <a:xfrm>
            <a:off x="2492830" y="125866"/>
            <a:ext cx="7469580" cy="60007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Insertion at a specified position - Algorithm</a:t>
            </a:r>
          </a:p>
        </p:txBody>
      </p:sp>
      <p:sp>
        <p:nvSpPr>
          <p:cNvPr id="5" name="TextBox 4">
            <a:extLst>
              <a:ext uri="{FF2B5EF4-FFF2-40B4-BE49-F238E27FC236}">
                <a16:creationId xmlns:a16="http://schemas.microsoft.com/office/drawing/2014/main" id="{C5240DCB-4D0A-D6C9-06F5-51EF4B702B23}"/>
              </a:ext>
            </a:extLst>
          </p:cNvPr>
          <p:cNvSpPr txBox="1"/>
          <p:nvPr/>
        </p:nvSpPr>
        <p:spPr>
          <a:xfrm>
            <a:off x="1290948" y="878479"/>
            <a:ext cx="9873343" cy="5632311"/>
          </a:xfrm>
          <a:prstGeom prst="rect">
            <a:avLst/>
          </a:prstGeom>
          <a:noFill/>
        </p:spPr>
        <p:txBody>
          <a:bodyPr wrap="square">
            <a:spAutoFit/>
          </a:bodyPr>
          <a:lstStyle/>
          <a:p>
            <a:r>
              <a:rPr lang="en-US" b="1" dirty="0"/>
              <a:t> Step 1:</a:t>
            </a:r>
            <a:r>
              <a:rPr lang="en-US" dirty="0"/>
              <a:t> IF PTR = NULL</a:t>
            </a:r>
          </a:p>
          <a:p>
            <a:r>
              <a:rPr lang="en-US" dirty="0"/>
              <a:t>   Write OVERFLOW</a:t>
            </a:r>
            <a:br>
              <a:rPr lang="en-US" dirty="0"/>
            </a:br>
            <a:r>
              <a:rPr lang="en-US" dirty="0"/>
              <a:t>   Go to Step 15</a:t>
            </a:r>
            <a:br>
              <a:rPr lang="en-US" dirty="0"/>
            </a:br>
            <a:r>
              <a:rPr lang="en-US" dirty="0"/>
              <a:t> [END OF IF]</a:t>
            </a:r>
          </a:p>
          <a:p>
            <a:r>
              <a:rPr lang="en-US" b="1" dirty="0"/>
              <a:t>Step 2:</a:t>
            </a:r>
            <a:r>
              <a:rPr lang="en-US" dirty="0"/>
              <a:t> SET NEW_NODE = PTR</a:t>
            </a:r>
          </a:p>
          <a:p>
            <a:r>
              <a:rPr lang="en-US" b="1" dirty="0"/>
              <a:t>Step 3:</a:t>
            </a:r>
            <a:r>
              <a:rPr lang="en-US" dirty="0"/>
              <a:t> SET PTR = PTR -&gt; NEXT</a:t>
            </a:r>
          </a:p>
          <a:p>
            <a:r>
              <a:rPr lang="en-US" b="1" dirty="0"/>
              <a:t>Step 4:</a:t>
            </a:r>
            <a:r>
              <a:rPr lang="en-US" dirty="0"/>
              <a:t> SET NEW_NODE -&gt; DATA = VAL</a:t>
            </a:r>
          </a:p>
          <a:p>
            <a:r>
              <a:rPr lang="en-US" b="1" dirty="0"/>
              <a:t>Step 5:</a:t>
            </a:r>
            <a:r>
              <a:rPr lang="en-US" dirty="0"/>
              <a:t> SET TEMP = START</a:t>
            </a:r>
          </a:p>
          <a:p>
            <a:r>
              <a:rPr lang="en-US" b="1" dirty="0"/>
              <a:t>Step 6:</a:t>
            </a:r>
            <a:r>
              <a:rPr lang="en-US" dirty="0"/>
              <a:t> SET I = 0</a:t>
            </a:r>
          </a:p>
          <a:p>
            <a:r>
              <a:rPr lang="en-US" b="1" dirty="0"/>
              <a:t> Step 7:</a:t>
            </a:r>
            <a:r>
              <a:rPr lang="en-US" dirty="0"/>
              <a:t> REPEAT 8 to 10 until I&lt;="" li=""&gt; </a:t>
            </a:r>
          </a:p>
          <a:p>
            <a:r>
              <a:rPr lang="en-US" b="1" dirty="0"/>
              <a:t> Step 8:</a:t>
            </a:r>
            <a:r>
              <a:rPr lang="en-US" dirty="0"/>
              <a:t> SET TEMP = TEMP -&gt; NEXT</a:t>
            </a:r>
          </a:p>
          <a:p>
            <a:r>
              <a:rPr lang="en-US" b="1" dirty="0"/>
              <a:t> Step 9:</a:t>
            </a:r>
            <a:r>
              <a:rPr lang="en-US" dirty="0"/>
              <a:t> IF TEMP = NULL </a:t>
            </a:r>
          </a:p>
          <a:p>
            <a:r>
              <a:rPr lang="en-US" b="1" dirty="0"/>
              <a:t> Step 10:</a:t>
            </a:r>
            <a:r>
              <a:rPr lang="en-US" dirty="0"/>
              <a:t> WRITE "LESS THAN DESIRED NO. OF ELEMENTS"</a:t>
            </a:r>
          </a:p>
          <a:p>
            <a:r>
              <a:rPr lang="en-US" dirty="0"/>
              <a:t>                  GOTO STEP 15</a:t>
            </a:r>
            <a:br>
              <a:rPr lang="en-US" dirty="0"/>
            </a:br>
            <a:r>
              <a:rPr lang="en-US" dirty="0"/>
              <a:t>                   [END OF IF] </a:t>
            </a:r>
          </a:p>
          <a:p>
            <a:r>
              <a:rPr lang="en-US" b="1" dirty="0"/>
              <a:t> Step 11:</a:t>
            </a:r>
            <a:r>
              <a:rPr lang="en-US" dirty="0"/>
              <a:t> SET NEW_NODE -&gt; NEXT = TEMP -&gt; NEXT</a:t>
            </a:r>
          </a:p>
          <a:p>
            <a:r>
              <a:rPr lang="en-US" b="1" dirty="0"/>
              <a:t> Step 12:</a:t>
            </a:r>
            <a:r>
              <a:rPr lang="en-US" dirty="0"/>
              <a:t> SET NEW_NODE -&gt; PREV = TEMP</a:t>
            </a:r>
          </a:p>
          <a:p>
            <a:r>
              <a:rPr lang="en-US" b="1" dirty="0"/>
              <a:t>  Step 13 :</a:t>
            </a:r>
            <a:r>
              <a:rPr lang="en-US" dirty="0"/>
              <a:t> SET TEMP -&gt; NEXT = NEW_NODE</a:t>
            </a:r>
          </a:p>
          <a:p>
            <a:r>
              <a:rPr lang="en-US" b="1" dirty="0"/>
              <a:t>  Step 14:</a:t>
            </a:r>
            <a:r>
              <a:rPr lang="en-US" dirty="0"/>
              <a:t> SET TEMP -&gt; NEXT -&gt; PREV = NEW_NODE</a:t>
            </a:r>
          </a:p>
          <a:p>
            <a:r>
              <a:rPr lang="en-US" b="1" dirty="0"/>
              <a:t>   Step 15:</a:t>
            </a:r>
            <a:r>
              <a:rPr lang="en-US" dirty="0"/>
              <a:t> EXIT</a:t>
            </a:r>
          </a:p>
        </p:txBody>
      </p:sp>
    </p:spTree>
    <p:extLst>
      <p:ext uri="{BB962C8B-B14F-4D97-AF65-F5344CB8AC3E}">
        <p14:creationId xmlns:p14="http://schemas.microsoft.com/office/powerpoint/2010/main" val="17137982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6" name="Rounded Rectangle 17">
            <a:extLst>
              <a:ext uri="{FF2B5EF4-FFF2-40B4-BE49-F238E27FC236}">
                <a16:creationId xmlns:a16="http://schemas.microsoft.com/office/drawing/2014/main" id="{56F8DCD8-002A-7D4D-D2A5-3B3908A200B4}"/>
              </a:ext>
            </a:extLst>
          </p:cNvPr>
          <p:cNvSpPr/>
          <p:nvPr/>
        </p:nvSpPr>
        <p:spPr>
          <a:xfrm>
            <a:off x="2122715" y="109499"/>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Deletion at Begin </a:t>
            </a:r>
          </a:p>
        </p:txBody>
      </p:sp>
      <p:pic>
        <p:nvPicPr>
          <p:cNvPr id="11" name="Picture 10">
            <a:extLst>
              <a:ext uri="{FF2B5EF4-FFF2-40B4-BE49-F238E27FC236}">
                <a16:creationId xmlns:a16="http://schemas.microsoft.com/office/drawing/2014/main" id="{70C54094-804F-EF37-1FB5-541B87E2713B}"/>
              </a:ext>
            </a:extLst>
          </p:cNvPr>
          <p:cNvPicPr>
            <a:picLocks noChangeAspect="1"/>
          </p:cNvPicPr>
          <p:nvPr/>
        </p:nvPicPr>
        <p:blipFill>
          <a:blip r:embed="rId3"/>
          <a:stretch>
            <a:fillRect/>
          </a:stretch>
        </p:blipFill>
        <p:spPr>
          <a:xfrm>
            <a:off x="1297657" y="1257562"/>
            <a:ext cx="9596686" cy="2167653"/>
          </a:xfrm>
          <a:prstGeom prst="rect">
            <a:avLst/>
          </a:prstGeom>
        </p:spPr>
      </p:pic>
      <p:sp>
        <p:nvSpPr>
          <p:cNvPr id="12" name="TextBox 23">
            <a:extLst>
              <a:ext uri="{FF2B5EF4-FFF2-40B4-BE49-F238E27FC236}">
                <a16:creationId xmlns:a16="http://schemas.microsoft.com/office/drawing/2014/main" id="{A99DC7E5-58B3-666B-9DE3-E9CCAB8AFDC2}"/>
              </a:ext>
            </a:extLst>
          </p:cNvPr>
          <p:cNvSpPr txBox="1">
            <a:spLocks noChangeArrowheads="1"/>
          </p:cNvSpPr>
          <p:nvPr/>
        </p:nvSpPr>
        <p:spPr bwMode="auto">
          <a:xfrm>
            <a:off x="1861457" y="853848"/>
            <a:ext cx="19065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dirty="0">
                <a:solidFill>
                  <a:schemeClr val="tx1"/>
                </a:solidFill>
                <a:latin typeface="Times New Roman" panose="02020603050405020304" pitchFamily="18" charset="0"/>
              </a:rPr>
              <a:t>1000   Head</a:t>
            </a:r>
          </a:p>
        </p:txBody>
      </p:sp>
      <p:pic>
        <p:nvPicPr>
          <p:cNvPr id="13" name="Picture 12">
            <a:extLst>
              <a:ext uri="{FF2B5EF4-FFF2-40B4-BE49-F238E27FC236}">
                <a16:creationId xmlns:a16="http://schemas.microsoft.com/office/drawing/2014/main" id="{2A61D9DA-8D64-42EE-35A7-F3628A35E001}"/>
              </a:ext>
            </a:extLst>
          </p:cNvPr>
          <p:cNvPicPr>
            <a:picLocks noChangeAspect="1"/>
          </p:cNvPicPr>
          <p:nvPr/>
        </p:nvPicPr>
        <p:blipFill>
          <a:blip r:embed="rId3"/>
          <a:stretch>
            <a:fillRect/>
          </a:stretch>
        </p:blipFill>
        <p:spPr>
          <a:xfrm>
            <a:off x="1059162" y="4580848"/>
            <a:ext cx="9596686" cy="2167653"/>
          </a:xfrm>
          <a:prstGeom prst="rect">
            <a:avLst/>
          </a:prstGeom>
        </p:spPr>
      </p:pic>
      <p:sp>
        <p:nvSpPr>
          <p:cNvPr id="14" name="TextBox 23">
            <a:extLst>
              <a:ext uri="{FF2B5EF4-FFF2-40B4-BE49-F238E27FC236}">
                <a16:creationId xmlns:a16="http://schemas.microsoft.com/office/drawing/2014/main" id="{A6B36C4B-5128-64E8-5105-C35EB52FA70A}"/>
              </a:ext>
            </a:extLst>
          </p:cNvPr>
          <p:cNvSpPr txBox="1">
            <a:spLocks noChangeArrowheads="1"/>
          </p:cNvSpPr>
          <p:nvPr/>
        </p:nvSpPr>
        <p:spPr bwMode="auto">
          <a:xfrm>
            <a:off x="2122715" y="3547973"/>
            <a:ext cx="8761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rgbClr val="595959"/>
                </a:solidFill>
                <a:latin typeface="Arial" panose="020B0604020202020204" pitchFamily="34" charset="0"/>
              </a:defRPr>
            </a:lvl1pPr>
            <a:lvl2pPr marL="742950" indent="-285750">
              <a:spcBef>
                <a:spcPct val="20000"/>
              </a:spcBef>
              <a:buFont typeface="Arial" panose="020B0604020202020204" pitchFamily="34" charset="0"/>
              <a:buChar char="–"/>
              <a:defRPr sz="2800">
                <a:solidFill>
                  <a:srgbClr val="595959"/>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rgbClr val="595959"/>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rgbClr val="595959"/>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rgbClr val="595959"/>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595959"/>
                </a:solidFill>
                <a:latin typeface="Arial" panose="020B0604020202020204" pitchFamily="34" charset="0"/>
              </a:defRPr>
            </a:lvl9pPr>
          </a:lstStyle>
          <a:p>
            <a:pPr>
              <a:spcBef>
                <a:spcPct val="0"/>
              </a:spcBef>
              <a:buFontTx/>
              <a:buNone/>
            </a:pPr>
            <a:r>
              <a:rPr lang="en-IN" altLang="en-US" sz="2400" strike="sngStrike" dirty="0">
                <a:solidFill>
                  <a:schemeClr val="tx1"/>
                </a:solidFill>
                <a:latin typeface="Times New Roman" panose="02020603050405020304" pitchFamily="18" charset="0"/>
              </a:rPr>
              <a:t>1000       </a:t>
            </a:r>
          </a:p>
          <a:p>
            <a:pPr>
              <a:spcBef>
                <a:spcPct val="0"/>
              </a:spcBef>
              <a:buFontTx/>
              <a:buNone/>
            </a:pPr>
            <a:r>
              <a:rPr lang="en-IN" altLang="en-US" sz="2400" b="1" dirty="0">
                <a:solidFill>
                  <a:schemeClr val="tx1"/>
                </a:solidFill>
                <a:highlight>
                  <a:srgbClr val="FFFF00"/>
                </a:highlight>
                <a:latin typeface="Times New Roman" panose="02020603050405020304" pitchFamily="18" charset="0"/>
              </a:rPr>
              <a:t> </a:t>
            </a:r>
            <a:r>
              <a:rPr lang="en-IN" altLang="en-US" sz="2400" dirty="0">
                <a:solidFill>
                  <a:schemeClr val="tx1"/>
                </a:solidFill>
                <a:latin typeface="Times New Roman" panose="02020603050405020304" pitchFamily="18" charset="0"/>
              </a:rPr>
              <a:t> </a:t>
            </a:r>
          </a:p>
        </p:txBody>
      </p:sp>
      <p:cxnSp>
        <p:nvCxnSpPr>
          <p:cNvPr id="19" name="Straight Connector 18">
            <a:extLst>
              <a:ext uri="{FF2B5EF4-FFF2-40B4-BE49-F238E27FC236}">
                <a16:creationId xmlns:a16="http://schemas.microsoft.com/office/drawing/2014/main" id="{EEBA7518-A9BE-BCDD-8BF6-A7074CDB6002}"/>
              </a:ext>
            </a:extLst>
          </p:cNvPr>
          <p:cNvCxnSpPr/>
          <p:nvPr/>
        </p:nvCxnSpPr>
        <p:spPr>
          <a:xfrm>
            <a:off x="1676400" y="4321629"/>
            <a:ext cx="1611086" cy="2013857"/>
          </a:xfrm>
          <a:prstGeom prst="line">
            <a:avLst/>
          </a:prstGeom>
          <a:ln w="44450">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CEB960-F8DB-C1BB-583B-767FC1B22F4B}"/>
              </a:ext>
            </a:extLst>
          </p:cNvPr>
          <p:cNvCxnSpPr/>
          <p:nvPr/>
        </p:nvCxnSpPr>
        <p:spPr>
          <a:xfrm flipV="1">
            <a:off x="1676400" y="4141530"/>
            <a:ext cx="1611086" cy="2193956"/>
          </a:xfrm>
          <a:prstGeom prst="line">
            <a:avLst/>
          </a:prstGeom>
          <a:ln w="44450">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8C3663-588A-361C-CC18-EC700BF89F6E}"/>
              </a:ext>
            </a:extLst>
          </p:cNvPr>
          <p:cNvCxnSpPr/>
          <p:nvPr/>
        </p:nvCxnSpPr>
        <p:spPr>
          <a:xfrm>
            <a:off x="4615543" y="5421086"/>
            <a:ext cx="947057" cy="0"/>
          </a:xfrm>
          <a:prstGeom prst="line">
            <a:avLst/>
          </a:prstGeom>
          <a:ln w="38100">
            <a:solidFill>
              <a:srgbClr val="E3293B"/>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96B8CB-BBCE-CE00-4CBC-813CA8A461A8}"/>
              </a:ext>
            </a:extLst>
          </p:cNvPr>
          <p:cNvSpPr txBox="1"/>
          <p:nvPr/>
        </p:nvSpPr>
        <p:spPr>
          <a:xfrm>
            <a:off x="4702629" y="5528441"/>
            <a:ext cx="947057" cy="369332"/>
          </a:xfrm>
          <a:prstGeom prst="rect">
            <a:avLst/>
          </a:prstGeom>
          <a:noFill/>
        </p:spPr>
        <p:txBody>
          <a:bodyPr wrap="square" rtlCol="0">
            <a:spAutoFit/>
          </a:bodyPr>
          <a:lstStyle/>
          <a:p>
            <a:r>
              <a:rPr lang="en-IN" dirty="0"/>
              <a:t>NULL</a:t>
            </a:r>
          </a:p>
        </p:txBody>
      </p:sp>
      <p:sp>
        <p:nvSpPr>
          <p:cNvPr id="3" name="TextBox 2">
            <a:extLst>
              <a:ext uri="{FF2B5EF4-FFF2-40B4-BE49-F238E27FC236}">
                <a16:creationId xmlns:a16="http://schemas.microsoft.com/office/drawing/2014/main" id="{160A8085-A988-71DC-D91C-A6CD13453181}"/>
              </a:ext>
            </a:extLst>
          </p:cNvPr>
          <p:cNvSpPr txBox="1"/>
          <p:nvPr/>
        </p:nvSpPr>
        <p:spPr>
          <a:xfrm>
            <a:off x="2993732" y="3510413"/>
            <a:ext cx="876140" cy="646331"/>
          </a:xfrm>
          <a:prstGeom prst="rect">
            <a:avLst/>
          </a:prstGeom>
          <a:noFill/>
        </p:spPr>
        <p:txBody>
          <a:bodyPr wrap="square" rtlCol="0">
            <a:spAutoFit/>
          </a:bodyPr>
          <a:lstStyle/>
          <a:p>
            <a:r>
              <a:rPr lang="en-IN" b="1" dirty="0"/>
              <a:t>2000 Head</a:t>
            </a:r>
          </a:p>
        </p:txBody>
      </p:sp>
      <p:sp>
        <p:nvSpPr>
          <p:cNvPr id="4" name="Arrow: Up 3">
            <a:extLst>
              <a:ext uri="{FF2B5EF4-FFF2-40B4-BE49-F238E27FC236}">
                <a16:creationId xmlns:a16="http://schemas.microsoft.com/office/drawing/2014/main" id="{D2FBAC83-8306-3A50-B5F4-0C86C4076228}"/>
              </a:ext>
            </a:extLst>
          </p:cNvPr>
          <p:cNvSpPr/>
          <p:nvPr/>
        </p:nvSpPr>
        <p:spPr>
          <a:xfrm>
            <a:off x="2591656" y="6004152"/>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D58DE65-02CD-A0C8-AE13-639EF74E553D}"/>
              </a:ext>
            </a:extLst>
          </p:cNvPr>
          <p:cNvSpPr txBox="1"/>
          <p:nvPr/>
        </p:nvSpPr>
        <p:spPr>
          <a:xfrm>
            <a:off x="2814751" y="6292970"/>
            <a:ext cx="1256506" cy="369332"/>
          </a:xfrm>
          <a:prstGeom prst="rect">
            <a:avLst/>
          </a:prstGeom>
          <a:noFill/>
        </p:spPr>
        <p:txBody>
          <a:bodyPr wrap="square" rtlCol="0">
            <a:spAutoFit/>
          </a:bodyPr>
          <a:lstStyle/>
          <a:p>
            <a:r>
              <a:rPr lang="en-IN" b="1" dirty="0"/>
              <a:t>ptr</a:t>
            </a:r>
          </a:p>
        </p:txBody>
      </p:sp>
    </p:spTree>
    <p:extLst>
      <p:ext uri="{BB962C8B-B14F-4D97-AF65-F5344CB8AC3E}">
        <p14:creationId xmlns:p14="http://schemas.microsoft.com/office/powerpoint/2010/main" val="42357060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8" name="Rounded Rectangle 17">
            <a:extLst>
              <a:ext uri="{FF2B5EF4-FFF2-40B4-BE49-F238E27FC236}">
                <a16:creationId xmlns:a16="http://schemas.microsoft.com/office/drawing/2014/main" id="{E1EEC3AA-88F5-AD65-A356-60A83837FE5B}"/>
              </a:ext>
            </a:extLst>
          </p:cNvPr>
          <p:cNvSpPr/>
          <p:nvPr/>
        </p:nvSpPr>
        <p:spPr>
          <a:xfrm>
            <a:off x="1480458" y="348985"/>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Deletion at Begin- Algorithm</a:t>
            </a:r>
          </a:p>
        </p:txBody>
      </p:sp>
      <p:sp>
        <p:nvSpPr>
          <p:cNvPr id="4" name="TextBox 3">
            <a:extLst>
              <a:ext uri="{FF2B5EF4-FFF2-40B4-BE49-F238E27FC236}">
                <a16:creationId xmlns:a16="http://schemas.microsoft.com/office/drawing/2014/main" id="{DA826E17-4C90-4707-092F-7238F922878E}"/>
              </a:ext>
            </a:extLst>
          </p:cNvPr>
          <p:cNvSpPr txBox="1"/>
          <p:nvPr/>
        </p:nvSpPr>
        <p:spPr>
          <a:xfrm>
            <a:off x="2167248" y="1609333"/>
            <a:ext cx="6096000" cy="2677656"/>
          </a:xfrm>
          <a:prstGeom prst="rect">
            <a:avLst/>
          </a:prstGeom>
          <a:noFill/>
        </p:spPr>
        <p:txBody>
          <a:bodyPr wrap="square">
            <a:spAutoFit/>
          </a:bodyPr>
          <a:lstStyle/>
          <a:p>
            <a:pPr algn="just">
              <a:defRPr/>
            </a:pPr>
            <a:r>
              <a:rPr lang="en-US" sz="2400" b="1" dirty="0">
                <a:solidFill>
                  <a:srgbClr val="0070C0"/>
                </a:solidFill>
                <a:cs typeface="Times New Roman" panose="02020603050405020304" pitchFamily="18" charset="0"/>
              </a:rPr>
              <a:t>STEP 1:</a:t>
            </a:r>
            <a:r>
              <a:rPr lang="en-US" sz="2400" dirty="0">
                <a:solidFill>
                  <a:srgbClr val="0070C0"/>
                </a:solidFill>
                <a:cs typeface="Times New Roman" panose="02020603050405020304" pitchFamily="18" charset="0"/>
              </a:rPr>
              <a:t> IF HEAD = NULL  THEN</a:t>
            </a:r>
          </a:p>
          <a:p>
            <a:pPr algn="just">
              <a:defRPr/>
            </a:pPr>
            <a:r>
              <a:rPr lang="en-US" sz="2400" dirty="0">
                <a:solidFill>
                  <a:srgbClr val="0070C0"/>
                </a:solidFill>
                <a:cs typeface="Times New Roman" panose="02020603050405020304" pitchFamily="18" charset="0"/>
              </a:rPr>
              <a:t>              Display   Empty DLL</a:t>
            </a:r>
          </a:p>
          <a:p>
            <a:pPr algn="just">
              <a:defRPr/>
            </a:pPr>
            <a:r>
              <a:rPr lang="en-US" sz="2400" b="1" dirty="0">
                <a:solidFill>
                  <a:srgbClr val="0070C0"/>
                </a:solidFill>
                <a:cs typeface="Times New Roman" panose="02020603050405020304" pitchFamily="18" charset="0"/>
              </a:rPr>
              <a:t>STEP 2:</a:t>
            </a:r>
            <a:r>
              <a:rPr lang="en-US" sz="2400" dirty="0">
                <a:solidFill>
                  <a:srgbClr val="0070C0"/>
                </a:solidFill>
                <a:cs typeface="Times New Roman" panose="02020603050405020304" pitchFamily="18" charset="0"/>
              </a:rPr>
              <a:t> ELSE SET PTR = HEAD</a:t>
            </a:r>
          </a:p>
          <a:p>
            <a:pPr algn="just">
              <a:defRPr/>
            </a:pPr>
            <a:r>
              <a:rPr lang="en-US" sz="2400" b="1" dirty="0">
                <a:solidFill>
                  <a:srgbClr val="0070C0"/>
                </a:solidFill>
                <a:cs typeface="Times New Roman" panose="02020603050405020304" pitchFamily="18" charset="0"/>
              </a:rPr>
              <a:t>STEP 3:</a:t>
            </a:r>
            <a:r>
              <a:rPr lang="en-US" sz="2400" dirty="0">
                <a:solidFill>
                  <a:srgbClr val="0070C0"/>
                </a:solidFill>
                <a:cs typeface="Times New Roman" panose="02020603050405020304" pitchFamily="18" charset="0"/>
              </a:rPr>
              <a:t> SET HEAD = HEAD → NEXT</a:t>
            </a:r>
          </a:p>
          <a:p>
            <a:pPr algn="just">
              <a:defRPr/>
            </a:pPr>
            <a:r>
              <a:rPr lang="en-US" sz="2400" b="1" dirty="0">
                <a:solidFill>
                  <a:srgbClr val="0070C0"/>
                </a:solidFill>
                <a:cs typeface="Times New Roman" panose="02020603050405020304" pitchFamily="18" charset="0"/>
              </a:rPr>
              <a:t>STEP 4:</a:t>
            </a:r>
            <a:r>
              <a:rPr lang="en-US" sz="2400" dirty="0">
                <a:solidFill>
                  <a:srgbClr val="0070C0"/>
                </a:solidFill>
                <a:cs typeface="Times New Roman" panose="02020603050405020304" pitchFamily="18" charset="0"/>
              </a:rPr>
              <a:t> SET HEAD → PREV = NULL</a:t>
            </a:r>
          </a:p>
          <a:p>
            <a:pPr algn="just">
              <a:defRPr/>
            </a:pPr>
            <a:r>
              <a:rPr lang="en-US" sz="2400" b="1" dirty="0">
                <a:solidFill>
                  <a:srgbClr val="0070C0"/>
                </a:solidFill>
                <a:cs typeface="Times New Roman" panose="02020603050405020304" pitchFamily="18" charset="0"/>
              </a:rPr>
              <a:t>STEP 5:</a:t>
            </a:r>
            <a:r>
              <a:rPr lang="en-US" sz="2400" dirty="0">
                <a:solidFill>
                  <a:srgbClr val="0070C0"/>
                </a:solidFill>
                <a:cs typeface="Times New Roman" panose="02020603050405020304" pitchFamily="18" charset="0"/>
              </a:rPr>
              <a:t> FREE PTR</a:t>
            </a:r>
          </a:p>
          <a:p>
            <a:pPr algn="just">
              <a:defRPr/>
            </a:pPr>
            <a:r>
              <a:rPr lang="en-US" sz="2400" b="1" dirty="0">
                <a:solidFill>
                  <a:srgbClr val="0070C0"/>
                </a:solidFill>
                <a:cs typeface="Times New Roman" panose="02020603050405020304" pitchFamily="18" charset="0"/>
              </a:rPr>
              <a:t>STEP 6:</a:t>
            </a:r>
            <a:r>
              <a:rPr lang="en-US" sz="2400" dirty="0">
                <a:solidFill>
                  <a:srgbClr val="0070C0"/>
                </a:solidFill>
                <a:cs typeface="Times New Roman" panose="02020603050405020304" pitchFamily="18" charset="0"/>
              </a:rPr>
              <a:t> EXIT</a:t>
            </a:r>
          </a:p>
        </p:txBody>
      </p:sp>
    </p:spTree>
    <p:extLst>
      <p:ext uri="{BB962C8B-B14F-4D97-AF65-F5344CB8AC3E}">
        <p14:creationId xmlns:p14="http://schemas.microsoft.com/office/powerpoint/2010/main" val="29328613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6" name="Rounded Rectangle 17">
            <a:extLst>
              <a:ext uri="{FF2B5EF4-FFF2-40B4-BE49-F238E27FC236}">
                <a16:creationId xmlns:a16="http://schemas.microsoft.com/office/drawing/2014/main" id="{E8642AB8-B8FE-7B55-97CD-8EC182E44D01}"/>
              </a:ext>
            </a:extLst>
          </p:cNvPr>
          <p:cNvSpPr/>
          <p:nvPr/>
        </p:nvSpPr>
        <p:spPr>
          <a:xfrm>
            <a:off x="2231572" y="216696"/>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Deletion at End- Algorithm</a:t>
            </a:r>
          </a:p>
        </p:txBody>
      </p:sp>
      <p:pic>
        <p:nvPicPr>
          <p:cNvPr id="3" name="Picture 2">
            <a:extLst>
              <a:ext uri="{FF2B5EF4-FFF2-40B4-BE49-F238E27FC236}">
                <a16:creationId xmlns:a16="http://schemas.microsoft.com/office/drawing/2014/main" id="{F4337A16-60F0-3211-3A38-252C9957C888}"/>
              </a:ext>
            </a:extLst>
          </p:cNvPr>
          <p:cNvPicPr>
            <a:picLocks noChangeAspect="1"/>
          </p:cNvPicPr>
          <p:nvPr/>
        </p:nvPicPr>
        <p:blipFill>
          <a:blip r:embed="rId3"/>
          <a:stretch>
            <a:fillRect/>
          </a:stretch>
        </p:blipFill>
        <p:spPr>
          <a:xfrm>
            <a:off x="119743" y="930638"/>
            <a:ext cx="10787743" cy="2494577"/>
          </a:xfrm>
          <a:prstGeom prst="rect">
            <a:avLst/>
          </a:prstGeom>
        </p:spPr>
      </p:pic>
      <p:pic>
        <p:nvPicPr>
          <p:cNvPr id="5" name="Picture 4">
            <a:extLst>
              <a:ext uri="{FF2B5EF4-FFF2-40B4-BE49-F238E27FC236}">
                <a16:creationId xmlns:a16="http://schemas.microsoft.com/office/drawing/2014/main" id="{1796099A-BFBE-91D6-269A-34950DC22C8C}"/>
              </a:ext>
            </a:extLst>
          </p:cNvPr>
          <p:cNvPicPr>
            <a:picLocks noChangeAspect="1"/>
          </p:cNvPicPr>
          <p:nvPr/>
        </p:nvPicPr>
        <p:blipFill>
          <a:blip r:embed="rId3"/>
          <a:stretch>
            <a:fillRect/>
          </a:stretch>
        </p:blipFill>
        <p:spPr>
          <a:xfrm>
            <a:off x="119742" y="3755777"/>
            <a:ext cx="10787743" cy="2494577"/>
          </a:xfrm>
          <a:prstGeom prst="rect">
            <a:avLst/>
          </a:prstGeom>
        </p:spPr>
      </p:pic>
      <p:cxnSp>
        <p:nvCxnSpPr>
          <p:cNvPr id="7" name="Straight Connector 6">
            <a:extLst>
              <a:ext uri="{FF2B5EF4-FFF2-40B4-BE49-F238E27FC236}">
                <a16:creationId xmlns:a16="http://schemas.microsoft.com/office/drawing/2014/main" id="{C773746A-9C67-79D3-F132-FEDEC7E55A0D}"/>
              </a:ext>
            </a:extLst>
          </p:cNvPr>
          <p:cNvCxnSpPr/>
          <p:nvPr/>
        </p:nvCxnSpPr>
        <p:spPr>
          <a:xfrm>
            <a:off x="8294915" y="4036500"/>
            <a:ext cx="1611086" cy="2013857"/>
          </a:xfrm>
          <a:prstGeom prst="line">
            <a:avLst/>
          </a:prstGeom>
          <a:ln w="44450">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8740314-2A88-0907-60DB-988472A06E25}"/>
              </a:ext>
            </a:extLst>
          </p:cNvPr>
          <p:cNvCxnSpPr/>
          <p:nvPr/>
        </p:nvCxnSpPr>
        <p:spPr>
          <a:xfrm flipV="1">
            <a:off x="7990114" y="3946450"/>
            <a:ext cx="1611086" cy="2193956"/>
          </a:xfrm>
          <a:prstGeom prst="line">
            <a:avLst/>
          </a:prstGeom>
          <a:ln w="44450">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E308BD7-91D3-071A-DFFD-369ABA5D0E9D}"/>
              </a:ext>
            </a:extLst>
          </p:cNvPr>
          <p:cNvCxnSpPr/>
          <p:nvPr/>
        </p:nvCxnSpPr>
        <p:spPr>
          <a:xfrm>
            <a:off x="6259286" y="5138057"/>
            <a:ext cx="674914"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DA117E4-0EF4-14AC-1922-E19FEF5B2EA9}"/>
              </a:ext>
            </a:extLst>
          </p:cNvPr>
          <p:cNvSpPr txBox="1"/>
          <p:nvPr/>
        </p:nvSpPr>
        <p:spPr>
          <a:xfrm>
            <a:off x="6259286" y="4768725"/>
            <a:ext cx="674914" cy="369332"/>
          </a:xfrm>
          <a:prstGeom prst="rect">
            <a:avLst/>
          </a:prstGeom>
          <a:noFill/>
        </p:spPr>
        <p:txBody>
          <a:bodyPr wrap="square" rtlCol="0">
            <a:spAutoFit/>
          </a:bodyPr>
          <a:lstStyle/>
          <a:p>
            <a:r>
              <a:rPr lang="en-IN" dirty="0"/>
              <a:t>NULL</a:t>
            </a:r>
          </a:p>
        </p:txBody>
      </p:sp>
      <p:sp>
        <p:nvSpPr>
          <p:cNvPr id="15" name="Arrow: Up 14">
            <a:extLst>
              <a:ext uri="{FF2B5EF4-FFF2-40B4-BE49-F238E27FC236}">
                <a16:creationId xmlns:a16="http://schemas.microsoft.com/office/drawing/2014/main" id="{6A9AA31B-A508-C874-4E82-3E966D345713}"/>
              </a:ext>
            </a:extLst>
          </p:cNvPr>
          <p:cNvSpPr/>
          <p:nvPr/>
        </p:nvSpPr>
        <p:spPr>
          <a:xfrm>
            <a:off x="7807872" y="5603495"/>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69531DB2-5558-B42F-5E73-11A4907877A4}"/>
              </a:ext>
            </a:extLst>
          </p:cNvPr>
          <p:cNvSpPr txBox="1"/>
          <p:nvPr/>
        </p:nvSpPr>
        <p:spPr>
          <a:xfrm>
            <a:off x="6443001" y="5911249"/>
            <a:ext cx="674914" cy="369329"/>
          </a:xfrm>
          <a:prstGeom prst="rect">
            <a:avLst/>
          </a:prstGeom>
          <a:noFill/>
        </p:spPr>
        <p:txBody>
          <a:bodyPr wrap="square" rtlCol="0">
            <a:spAutoFit/>
          </a:bodyPr>
          <a:lstStyle/>
          <a:p>
            <a:r>
              <a:rPr lang="en-IN" dirty="0"/>
              <a:t>Ptr1</a:t>
            </a:r>
          </a:p>
        </p:txBody>
      </p:sp>
      <p:sp>
        <p:nvSpPr>
          <p:cNvPr id="17" name="TextBox 16">
            <a:extLst>
              <a:ext uri="{FF2B5EF4-FFF2-40B4-BE49-F238E27FC236}">
                <a16:creationId xmlns:a16="http://schemas.microsoft.com/office/drawing/2014/main" id="{4319A315-BB00-B701-3AAA-D7F7602723E0}"/>
              </a:ext>
            </a:extLst>
          </p:cNvPr>
          <p:cNvSpPr txBox="1"/>
          <p:nvPr/>
        </p:nvSpPr>
        <p:spPr>
          <a:xfrm>
            <a:off x="805543" y="3425215"/>
            <a:ext cx="2492828" cy="369332"/>
          </a:xfrm>
          <a:prstGeom prst="rect">
            <a:avLst/>
          </a:prstGeom>
          <a:noFill/>
        </p:spPr>
        <p:txBody>
          <a:bodyPr wrap="square" rtlCol="0">
            <a:spAutoFit/>
          </a:bodyPr>
          <a:lstStyle/>
          <a:p>
            <a:r>
              <a:rPr lang="en-IN" b="1" dirty="0"/>
              <a:t>After Insertion</a:t>
            </a:r>
          </a:p>
        </p:txBody>
      </p:sp>
      <p:sp>
        <p:nvSpPr>
          <p:cNvPr id="18" name="Arrow: Up 17">
            <a:extLst>
              <a:ext uri="{FF2B5EF4-FFF2-40B4-BE49-F238E27FC236}">
                <a16:creationId xmlns:a16="http://schemas.microsoft.com/office/drawing/2014/main" id="{CF73A2E0-4D2E-9AC2-69C1-916BC97596E2}"/>
              </a:ext>
            </a:extLst>
          </p:cNvPr>
          <p:cNvSpPr/>
          <p:nvPr/>
        </p:nvSpPr>
        <p:spPr>
          <a:xfrm>
            <a:off x="6252562" y="5576008"/>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C491E47-BD22-4600-2DC1-0D2E4B7F4DB3}"/>
              </a:ext>
            </a:extLst>
          </p:cNvPr>
          <p:cNvSpPr txBox="1"/>
          <p:nvPr/>
        </p:nvSpPr>
        <p:spPr>
          <a:xfrm>
            <a:off x="8142514" y="6163116"/>
            <a:ext cx="674914" cy="369329"/>
          </a:xfrm>
          <a:prstGeom prst="rect">
            <a:avLst/>
          </a:prstGeom>
          <a:noFill/>
        </p:spPr>
        <p:txBody>
          <a:bodyPr wrap="square" rtlCol="0">
            <a:spAutoFit/>
          </a:bodyPr>
          <a:lstStyle/>
          <a:p>
            <a:r>
              <a:rPr lang="en-IN" dirty="0"/>
              <a:t>Ptr</a:t>
            </a:r>
          </a:p>
        </p:txBody>
      </p:sp>
    </p:spTree>
    <p:extLst>
      <p:ext uri="{BB962C8B-B14F-4D97-AF65-F5344CB8AC3E}">
        <p14:creationId xmlns:p14="http://schemas.microsoft.com/office/powerpoint/2010/main" val="40229239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5" name="Rounded Rectangle 17">
            <a:extLst>
              <a:ext uri="{FF2B5EF4-FFF2-40B4-BE49-F238E27FC236}">
                <a16:creationId xmlns:a16="http://schemas.microsoft.com/office/drawing/2014/main" id="{8122EB71-3722-A807-2721-66A638136BEF}"/>
              </a:ext>
            </a:extLst>
          </p:cNvPr>
          <p:cNvSpPr/>
          <p:nvPr/>
        </p:nvSpPr>
        <p:spPr>
          <a:xfrm>
            <a:off x="2231572" y="216696"/>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Deletion at End- Algorithm</a:t>
            </a:r>
          </a:p>
        </p:txBody>
      </p:sp>
      <p:sp>
        <p:nvSpPr>
          <p:cNvPr id="6" name="Content Placeholder 5">
            <a:extLst>
              <a:ext uri="{FF2B5EF4-FFF2-40B4-BE49-F238E27FC236}">
                <a16:creationId xmlns:a16="http://schemas.microsoft.com/office/drawing/2014/main" id="{8D40CB58-CB44-203B-4155-A09A18A069D3}"/>
              </a:ext>
            </a:extLst>
          </p:cNvPr>
          <p:cNvSpPr>
            <a:spLocks noGrp="1"/>
          </p:cNvSpPr>
          <p:nvPr>
            <p:ph idx="1"/>
          </p:nvPr>
        </p:nvSpPr>
        <p:spPr>
          <a:xfrm>
            <a:off x="708562" y="1249546"/>
            <a:ext cx="10515600" cy="4351338"/>
          </a:xfrm>
        </p:spPr>
        <p:txBody>
          <a:bodyPr/>
          <a:lstStyle/>
          <a:p>
            <a:pPr marL="0" indent="0" algn="just">
              <a:buNone/>
              <a:defRPr/>
            </a:pPr>
            <a:r>
              <a:rPr lang="en-US" sz="2800" b="1" dirty="0">
                <a:latin typeface="Times New Roman" panose="02020603050405020304" pitchFamily="18" charset="0"/>
                <a:cs typeface="Times New Roman" panose="02020603050405020304" pitchFamily="18" charset="0"/>
              </a:rPr>
              <a:t>Step 1:</a:t>
            </a:r>
            <a:r>
              <a:rPr lang="en-US" sz="2800" dirty="0">
                <a:latin typeface="Times New Roman" panose="02020603050405020304" pitchFamily="18" charset="0"/>
                <a:cs typeface="Times New Roman" panose="02020603050405020304" pitchFamily="18" charset="0"/>
              </a:rPr>
              <a:t> IF HEAD = NULL</a:t>
            </a:r>
          </a:p>
          <a:p>
            <a:pPr marL="0" indent="0" algn="just">
              <a:buFont typeface="Arial" panose="020B0604020202020204" pitchFamily="34" charset="0"/>
              <a:buNone/>
              <a:defRPr/>
            </a:pPr>
            <a:r>
              <a:rPr lang="en-US" sz="2800" dirty="0">
                <a:latin typeface="Times New Roman" panose="02020603050405020304" pitchFamily="18" charset="0"/>
                <a:cs typeface="Times New Roman" panose="02020603050405020304" pitchFamily="18" charset="0"/>
              </a:rPr>
              <a:t>	   PRINT  EMPTY DLL</a:t>
            </a:r>
          </a:p>
          <a:p>
            <a:pPr marL="0" indent="0" algn="just">
              <a:buNone/>
              <a:defRPr/>
            </a:pPr>
            <a:r>
              <a:rPr lang="en-US" sz="2800" b="1" dirty="0">
                <a:latin typeface="Times New Roman" panose="02020603050405020304" pitchFamily="18" charset="0"/>
                <a:cs typeface="Times New Roman" panose="02020603050405020304" pitchFamily="18" charset="0"/>
              </a:rPr>
              <a:t>Step 2: ELSE </a:t>
            </a:r>
            <a:r>
              <a:rPr lang="en-US" sz="2800" dirty="0">
                <a:latin typeface="Times New Roman" panose="02020603050405020304" pitchFamily="18" charset="0"/>
                <a:cs typeface="Times New Roman" panose="02020603050405020304" pitchFamily="18" charset="0"/>
              </a:rPr>
              <a:t> SET </a:t>
            </a:r>
            <a:r>
              <a:rPr lang="en-US" sz="2800" b="1" dirty="0" err="1">
                <a:latin typeface="Times New Roman" panose="02020603050405020304" pitchFamily="18" charset="0"/>
                <a:cs typeface="Times New Roman" panose="02020603050405020304" pitchFamily="18" charset="0"/>
              </a:rPr>
              <a:t>Ptr</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HEAD</a:t>
            </a:r>
          </a:p>
          <a:p>
            <a:pPr marL="0" indent="0" algn="just">
              <a:buNone/>
              <a:defRPr/>
            </a:pPr>
            <a:r>
              <a:rPr lang="en-US" sz="2800" b="1" dirty="0">
                <a:latin typeface="Times New Roman" panose="02020603050405020304" pitchFamily="18" charset="0"/>
                <a:cs typeface="Times New Roman" panose="02020603050405020304" pitchFamily="18" charset="0"/>
              </a:rPr>
              <a:t>Step 3:</a:t>
            </a:r>
            <a:r>
              <a:rPr lang="en-US" sz="2800" dirty="0">
                <a:latin typeface="Times New Roman" panose="02020603050405020304" pitchFamily="18" charset="0"/>
                <a:cs typeface="Times New Roman" panose="02020603050405020304" pitchFamily="18" charset="0"/>
              </a:rPr>
              <a:t> REPEAT STEP 4 WHILE </a:t>
            </a:r>
            <a:r>
              <a:rPr lang="en-US" sz="2800" b="1" dirty="0" err="1">
                <a:latin typeface="Times New Roman" panose="02020603050405020304" pitchFamily="18" charset="0"/>
                <a:cs typeface="Times New Roman" panose="02020603050405020304" pitchFamily="18" charset="0"/>
              </a:rPr>
              <a:t>ptr</a:t>
            </a:r>
            <a:r>
              <a:rPr lang="en-US" sz="2800" dirty="0">
                <a:latin typeface="Times New Roman" panose="02020603050405020304" pitchFamily="18" charset="0"/>
                <a:cs typeface="Times New Roman" panose="02020603050405020304" pitchFamily="18" charset="0"/>
              </a:rPr>
              <a:t> != NULL</a:t>
            </a:r>
          </a:p>
          <a:p>
            <a:pPr marL="0" indent="0" algn="just">
              <a:buNone/>
              <a:defRPr/>
            </a:pPr>
            <a:r>
              <a:rPr lang="en-US" sz="2800" b="1" dirty="0">
                <a:latin typeface="Times New Roman" panose="02020603050405020304" pitchFamily="18" charset="0"/>
                <a:cs typeface="Times New Roman" panose="02020603050405020304" pitchFamily="18" charset="0"/>
              </a:rPr>
              <a:t>Step 4:</a:t>
            </a:r>
            <a:r>
              <a:rPr lang="en-US" sz="2800" dirty="0">
                <a:latin typeface="Times New Roman" panose="02020603050405020304" pitchFamily="18" charset="0"/>
                <a:cs typeface="Times New Roman" panose="02020603050405020304" pitchFamily="18" charset="0"/>
              </a:rPr>
              <a:t> </a:t>
            </a:r>
          </a:p>
          <a:p>
            <a:pPr marL="0" indent="0" algn="just">
              <a:buNone/>
              <a:defRPr/>
            </a:pPr>
            <a:r>
              <a:rPr lang="en-US" sz="2800" dirty="0">
                <a:latin typeface="Times New Roman" panose="02020603050405020304" pitchFamily="18" charset="0"/>
                <a:cs typeface="Times New Roman" panose="02020603050405020304" pitchFamily="18" charset="0"/>
              </a:rPr>
              <a:t>               4.1  ptr1=</a:t>
            </a:r>
            <a:r>
              <a:rPr lang="en-US" sz="2800" dirty="0" err="1">
                <a:latin typeface="Times New Roman" panose="02020603050405020304" pitchFamily="18" charset="0"/>
                <a:cs typeface="Times New Roman" panose="02020603050405020304" pitchFamily="18" charset="0"/>
              </a:rPr>
              <a:t>ptr</a:t>
            </a:r>
            <a:endParaRPr lang="en-US" sz="2800" dirty="0">
              <a:latin typeface="Times New Roman" panose="02020603050405020304" pitchFamily="18" charset="0"/>
              <a:cs typeface="Times New Roman" panose="02020603050405020304" pitchFamily="18" charset="0"/>
            </a:endParaRPr>
          </a:p>
          <a:p>
            <a:pPr marL="0" indent="0" algn="just">
              <a:buNone/>
              <a:defRPr/>
            </a:pPr>
            <a:r>
              <a:rPr lang="en-US" sz="2800" dirty="0">
                <a:latin typeface="Times New Roman" panose="02020603050405020304" pitchFamily="18" charset="0"/>
                <a:cs typeface="Times New Roman" panose="02020603050405020304" pitchFamily="18" charset="0"/>
              </a:rPr>
              <a:t>               4.2   </a:t>
            </a:r>
            <a:r>
              <a:rPr lang="en-US" sz="2800" dirty="0" err="1">
                <a:latin typeface="Times New Roman" panose="02020603050405020304" pitchFamily="18" charset="0"/>
                <a:cs typeface="Times New Roman" panose="02020603050405020304" pitchFamily="18" charset="0"/>
              </a:rPr>
              <a:t>ptr</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ptr</a:t>
            </a:r>
            <a:r>
              <a:rPr lang="en-US" sz="2800" dirty="0">
                <a:latin typeface="Times New Roman" panose="02020603050405020304" pitchFamily="18" charset="0"/>
                <a:cs typeface="Times New Roman" panose="02020603050405020304" pitchFamily="18" charset="0"/>
              </a:rPr>
              <a:t>-&gt;NEXT</a:t>
            </a:r>
          </a:p>
          <a:p>
            <a:pPr marL="0" indent="0" algn="just">
              <a:buFont typeface="Arial" panose="020B0604020202020204" pitchFamily="34" charset="0"/>
              <a:buNone/>
              <a:defRPr/>
            </a:pPr>
            <a:r>
              <a:rPr lang="en-US" sz="2800" dirty="0">
                <a:latin typeface="Times New Roman" panose="02020603050405020304" pitchFamily="18" charset="0"/>
                <a:cs typeface="Times New Roman" panose="02020603050405020304" pitchFamily="18" charset="0"/>
              </a:rPr>
              <a:t>	[END OF LOOP]</a:t>
            </a:r>
          </a:p>
          <a:p>
            <a:pPr marL="0" indent="0" algn="just">
              <a:buFont typeface="Arial" panose="020B0604020202020204" pitchFamily="34" charset="0"/>
              <a:buNone/>
              <a:defRPr/>
            </a:pPr>
            <a:r>
              <a:rPr lang="en-US" dirty="0">
                <a:latin typeface="Times New Roman" panose="02020603050405020304" pitchFamily="18" charset="0"/>
                <a:cs typeface="Times New Roman" panose="02020603050405020304" pitchFamily="18" charset="0"/>
              </a:rPr>
              <a:t>Step 5:     SET ptr1-&gt;next = NULL</a:t>
            </a:r>
          </a:p>
          <a:p>
            <a:pPr marL="0" indent="0" algn="just">
              <a:buFont typeface="Arial" panose="020B0604020202020204" pitchFamily="34" charset="0"/>
              <a:buNone/>
              <a:defRPr/>
            </a:pPr>
            <a:r>
              <a:rPr lang="en-US" sz="2800" dirty="0">
                <a:latin typeface="Times New Roman" panose="02020603050405020304" pitchFamily="18" charset="0"/>
                <a:cs typeface="Times New Roman" panose="02020603050405020304" pitchFamily="18" charset="0"/>
              </a:rPr>
              <a:t>                free </a:t>
            </a:r>
            <a:r>
              <a:rPr lang="en-US" sz="2800" dirty="0" err="1">
                <a:latin typeface="Times New Roman" panose="02020603050405020304" pitchFamily="18" charset="0"/>
                <a:cs typeface="Times New Roman" panose="02020603050405020304" pitchFamily="18" charset="0"/>
              </a:rPr>
              <a:t>ptr</a:t>
            </a:r>
            <a:endParaRPr lang="en-US" sz="2800" dirty="0">
              <a:latin typeface="Times New Roman" panose="02020603050405020304" pitchFamily="18" charset="0"/>
              <a:cs typeface="Times New Roman" panose="02020603050405020304" pitchFamily="18" charset="0"/>
            </a:endParaRPr>
          </a:p>
          <a:p>
            <a:pPr marL="0" indent="0" algn="just">
              <a:buNone/>
              <a:defRPr/>
            </a:pPr>
            <a:r>
              <a:rPr lang="en-US" sz="2800" b="1" dirty="0">
                <a:latin typeface="Times New Roman" panose="02020603050405020304" pitchFamily="18" charset="0"/>
                <a:cs typeface="Times New Roman" panose="02020603050405020304" pitchFamily="18" charset="0"/>
              </a:rPr>
              <a:t>Step 6:</a:t>
            </a:r>
            <a:r>
              <a:rPr lang="en-US" sz="2800" dirty="0">
                <a:latin typeface="Times New Roman" panose="02020603050405020304" pitchFamily="18" charset="0"/>
                <a:cs typeface="Times New Roman" panose="02020603050405020304" pitchFamily="18" charset="0"/>
              </a:rPr>
              <a:t> Exit</a:t>
            </a:r>
            <a:endParaRPr lang="en-IN" dirty="0"/>
          </a:p>
        </p:txBody>
      </p:sp>
    </p:spTree>
    <p:extLst>
      <p:ext uri="{BB962C8B-B14F-4D97-AF65-F5344CB8AC3E}">
        <p14:creationId xmlns:p14="http://schemas.microsoft.com/office/powerpoint/2010/main" val="7499308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8" name="Rounded Rectangle 17">
            <a:extLst>
              <a:ext uri="{FF2B5EF4-FFF2-40B4-BE49-F238E27FC236}">
                <a16:creationId xmlns:a16="http://schemas.microsoft.com/office/drawing/2014/main" id="{3A356901-1EAF-CC7F-1949-26A7EE2C762B}"/>
              </a:ext>
            </a:extLst>
          </p:cNvPr>
          <p:cNvSpPr/>
          <p:nvPr/>
        </p:nvSpPr>
        <p:spPr>
          <a:xfrm>
            <a:off x="1905000" y="162267"/>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Deletion at Specified Position</a:t>
            </a:r>
          </a:p>
        </p:txBody>
      </p:sp>
      <p:pic>
        <p:nvPicPr>
          <p:cNvPr id="9" name="Picture 8">
            <a:extLst>
              <a:ext uri="{FF2B5EF4-FFF2-40B4-BE49-F238E27FC236}">
                <a16:creationId xmlns:a16="http://schemas.microsoft.com/office/drawing/2014/main" id="{5DD543B7-6DC1-A8B1-5484-674AEFC3629C}"/>
              </a:ext>
            </a:extLst>
          </p:cNvPr>
          <p:cNvPicPr>
            <a:picLocks noChangeAspect="1"/>
          </p:cNvPicPr>
          <p:nvPr/>
        </p:nvPicPr>
        <p:blipFill>
          <a:blip r:embed="rId3"/>
          <a:stretch>
            <a:fillRect/>
          </a:stretch>
        </p:blipFill>
        <p:spPr>
          <a:xfrm>
            <a:off x="846780" y="988637"/>
            <a:ext cx="9916885" cy="2120037"/>
          </a:xfrm>
          <a:prstGeom prst="rect">
            <a:avLst/>
          </a:prstGeom>
        </p:spPr>
      </p:pic>
      <p:sp>
        <p:nvSpPr>
          <p:cNvPr id="10" name="Arrow: Up 9">
            <a:extLst>
              <a:ext uri="{FF2B5EF4-FFF2-40B4-BE49-F238E27FC236}">
                <a16:creationId xmlns:a16="http://schemas.microsoft.com/office/drawing/2014/main" id="{CAACF863-D9A4-6B84-4984-B84F54354C50}"/>
              </a:ext>
            </a:extLst>
          </p:cNvPr>
          <p:cNvSpPr/>
          <p:nvPr/>
        </p:nvSpPr>
        <p:spPr>
          <a:xfrm>
            <a:off x="5178909" y="5923764"/>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Up 10">
            <a:extLst>
              <a:ext uri="{FF2B5EF4-FFF2-40B4-BE49-F238E27FC236}">
                <a16:creationId xmlns:a16="http://schemas.microsoft.com/office/drawing/2014/main" id="{25E604A2-AFA4-C629-A655-BB30B05457B7}"/>
              </a:ext>
            </a:extLst>
          </p:cNvPr>
          <p:cNvSpPr/>
          <p:nvPr/>
        </p:nvSpPr>
        <p:spPr>
          <a:xfrm>
            <a:off x="3023355" y="5896748"/>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6B6069F-C725-0142-117E-C57FE93DBFC7}"/>
              </a:ext>
            </a:extLst>
          </p:cNvPr>
          <p:cNvSpPr txBox="1"/>
          <p:nvPr/>
        </p:nvSpPr>
        <p:spPr>
          <a:xfrm>
            <a:off x="5459124" y="6086308"/>
            <a:ext cx="762000" cy="400110"/>
          </a:xfrm>
          <a:prstGeom prst="rect">
            <a:avLst/>
          </a:prstGeom>
          <a:noFill/>
        </p:spPr>
        <p:txBody>
          <a:bodyPr wrap="square" rtlCol="0">
            <a:spAutoFit/>
          </a:bodyPr>
          <a:lstStyle/>
          <a:p>
            <a:r>
              <a:rPr lang="en-IN" sz="2000" b="1" dirty="0"/>
              <a:t>ptr</a:t>
            </a:r>
          </a:p>
        </p:txBody>
      </p:sp>
      <p:sp>
        <p:nvSpPr>
          <p:cNvPr id="14" name="TextBox 13">
            <a:extLst>
              <a:ext uri="{FF2B5EF4-FFF2-40B4-BE49-F238E27FC236}">
                <a16:creationId xmlns:a16="http://schemas.microsoft.com/office/drawing/2014/main" id="{C3B5E69F-E9A2-A9F1-C853-2237A0BA1937}"/>
              </a:ext>
            </a:extLst>
          </p:cNvPr>
          <p:cNvSpPr txBox="1"/>
          <p:nvPr/>
        </p:nvSpPr>
        <p:spPr>
          <a:xfrm>
            <a:off x="3254706" y="6139686"/>
            <a:ext cx="762000" cy="400110"/>
          </a:xfrm>
          <a:prstGeom prst="rect">
            <a:avLst/>
          </a:prstGeom>
          <a:noFill/>
        </p:spPr>
        <p:txBody>
          <a:bodyPr wrap="square" rtlCol="0">
            <a:spAutoFit/>
          </a:bodyPr>
          <a:lstStyle/>
          <a:p>
            <a:r>
              <a:rPr lang="en-IN" sz="2000" b="1" dirty="0"/>
              <a:t>ptr1</a:t>
            </a:r>
          </a:p>
        </p:txBody>
      </p:sp>
      <p:pic>
        <p:nvPicPr>
          <p:cNvPr id="26" name="Picture 25">
            <a:extLst>
              <a:ext uri="{FF2B5EF4-FFF2-40B4-BE49-F238E27FC236}">
                <a16:creationId xmlns:a16="http://schemas.microsoft.com/office/drawing/2014/main" id="{C4256E5B-8990-F773-BD4C-FBA1A6690C47}"/>
              </a:ext>
            </a:extLst>
          </p:cNvPr>
          <p:cNvPicPr>
            <a:picLocks noChangeAspect="1"/>
          </p:cNvPicPr>
          <p:nvPr/>
        </p:nvPicPr>
        <p:blipFill>
          <a:blip r:embed="rId3"/>
          <a:stretch>
            <a:fillRect/>
          </a:stretch>
        </p:blipFill>
        <p:spPr>
          <a:xfrm>
            <a:off x="930728" y="3631659"/>
            <a:ext cx="9916885" cy="2120037"/>
          </a:xfrm>
          <a:prstGeom prst="rect">
            <a:avLst/>
          </a:prstGeom>
        </p:spPr>
      </p:pic>
      <p:cxnSp>
        <p:nvCxnSpPr>
          <p:cNvPr id="28" name="Straight Connector 27">
            <a:extLst>
              <a:ext uri="{FF2B5EF4-FFF2-40B4-BE49-F238E27FC236}">
                <a16:creationId xmlns:a16="http://schemas.microsoft.com/office/drawing/2014/main" id="{8DEDE93C-AFA4-7F7B-35E9-9999AC59C769}"/>
              </a:ext>
            </a:extLst>
          </p:cNvPr>
          <p:cNvCxnSpPr/>
          <p:nvPr/>
        </p:nvCxnSpPr>
        <p:spPr>
          <a:xfrm flipV="1">
            <a:off x="3766457" y="3635908"/>
            <a:ext cx="0" cy="82723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8D300AD-56DF-2FE2-C945-C72C713C9BD5}"/>
              </a:ext>
            </a:extLst>
          </p:cNvPr>
          <p:cNvCxnSpPr/>
          <p:nvPr/>
        </p:nvCxnSpPr>
        <p:spPr>
          <a:xfrm>
            <a:off x="3777343" y="3635908"/>
            <a:ext cx="438694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887EDE8-D723-909C-A48F-2CF4D4E72690}"/>
              </a:ext>
            </a:extLst>
          </p:cNvPr>
          <p:cNvCxnSpPr/>
          <p:nvPr/>
        </p:nvCxnSpPr>
        <p:spPr>
          <a:xfrm>
            <a:off x="8131629" y="3635908"/>
            <a:ext cx="0" cy="8272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3D9EA9-6CCE-701E-C2D4-BDC86B9F97A1}"/>
              </a:ext>
            </a:extLst>
          </p:cNvPr>
          <p:cNvCxnSpPr/>
          <p:nvPr/>
        </p:nvCxnSpPr>
        <p:spPr>
          <a:xfrm>
            <a:off x="8262257" y="5170714"/>
            <a:ext cx="0" cy="58523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6288AC-FB5E-641E-876A-2E9AAD19F0E5}"/>
              </a:ext>
            </a:extLst>
          </p:cNvPr>
          <p:cNvCxnSpPr/>
          <p:nvPr/>
        </p:nvCxnSpPr>
        <p:spPr>
          <a:xfrm flipH="1">
            <a:off x="3494314" y="5755945"/>
            <a:ext cx="478971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805C08D-DADD-EB32-BE5C-DB046493C6EB}"/>
              </a:ext>
            </a:extLst>
          </p:cNvPr>
          <p:cNvCxnSpPr/>
          <p:nvPr/>
        </p:nvCxnSpPr>
        <p:spPr>
          <a:xfrm flipV="1">
            <a:off x="3505200" y="5170714"/>
            <a:ext cx="0" cy="5852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F501FBF-1CEA-ED9A-B77F-B31A566DB6F5}"/>
              </a:ext>
            </a:extLst>
          </p:cNvPr>
          <p:cNvSpPr txBox="1"/>
          <p:nvPr/>
        </p:nvSpPr>
        <p:spPr>
          <a:xfrm>
            <a:off x="4658669" y="3297047"/>
            <a:ext cx="2895599" cy="369332"/>
          </a:xfrm>
          <a:prstGeom prst="rect">
            <a:avLst/>
          </a:prstGeom>
          <a:noFill/>
        </p:spPr>
        <p:txBody>
          <a:bodyPr wrap="square" rtlCol="0">
            <a:spAutoFit/>
          </a:bodyPr>
          <a:lstStyle/>
          <a:p>
            <a:r>
              <a:rPr lang="en-IN" dirty="0"/>
              <a:t>Ptr1-&gt;next=ptr-&gt;next</a:t>
            </a:r>
          </a:p>
        </p:txBody>
      </p:sp>
      <p:sp>
        <p:nvSpPr>
          <p:cNvPr id="40" name="TextBox 39">
            <a:extLst>
              <a:ext uri="{FF2B5EF4-FFF2-40B4-BE49-F238E27FC236}">
                <a16:creationId xmlns:a16="http://schemas.microsoft.com/office/drawing/2014/main" id="{5532C8DB-F11F-885C-D72B-8C94FC040538}"/>
              </a:ext>
            </a:extLst>
          </p:cNvPr>
          <p:cNvSpPr txBox="1"/>
          <p:nvPr/>
        </p:nvSpPr>
        <p:spPr>
          <a:xfrm>
            <a:off x="6460732" y="5755482"/>
            <a:ext cx="2699657" cy="369332"/>
          </a:xfrm>
          <a:prstGeom prst="rect">
            <a:avLst/>
          </a:prstGeom>
          <a:noFill/>
        </p:spPr>
        <p:txBody>
          <a:bodyPr wrap="square" rtlCol="0">
            <a:spAutoFit/>
          </a:bodyPr>
          <a:lstStyle/>
          <a:p>
            <a:r>
              <a:rPr lang="en-IN" dirty="0"/>
              <a:t>Ptr-&gt;next-&gt;</a:t>
            </a:r>
            <a:r>
              <a:rPr lang="en-IN" dirty="0" err="1"/>
              <a:t>prev</a:t>
            </a:r>
            <a:r>
              <a:rPr lang="en-IN" dirty="0"/>
              <a:t>=ptr1</a:t>
            </a:r>
          </a:p>
        </p:txBody>
      </p:sp>
      <p:cxnSp>
        <p:nvCxnSpPr>
          <p:cNvPr id="42" name="Straight Connector 41">
            <a:extLst>
              <a:ext uri="{FF2B5EF4-FFF2-40B4-BE49-F238E27FC236}">
                <a16:creationId xmlns:a16="http://schemas.microsoft.com/office/drawing/2014/main" id="{9EFB3DE4-B8C8-CBBD-7B8B-0B936CD7AD72}"/>
              </a:ext>
            </a:extLst>
          </p:cNvPr>
          <p:cNvCxnSpPr/>
          <p:nvPr/>
        </p:nvCxnSpPr>
        <p:spPr>
          <a:xfrm>
            <a:off x="5290457" y="4193613"/>
            <a:ext cx="1349829" cy="1222237"/>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1AF76B2-96FD-05B5-A1B4-A9A31352547B}"/>
              </a:ext>
            </a:extLst>
          </p:cNvPr>
          <p:cNvCxnSpPr/>
          <p:nvPr/>
        </p:nvCxnSpPr>
        <p:spPr>
          <a:xfrm flipV="1">
            <a:off x="5012872" y="4049525"/>
            <a:ext cx="1543080" cy="1397567"/>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0BAA18A-36DB-B5BB-F5BE-304361D1C7A0}"/>
              </a:ext>
            </a:extLst>
          </p:cNvPr>
          <p:cNvCxnSpPr/>
          <p:nvPr/>
        </p:nvCxnSpPr>
        <p:spPr>
          <a:xfrm>
            <a:off x="3254706" y="4804731"/>
            <a:ext cx="675037"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D2A1EAF-C2AE-B1FD-9A2F-5E0D6B7584DA}"/>
              </a:ext>
            </a:extLst>
          </p:cNvPr>
          <p:cNvSpPr txBox="1"/>
          <p:nvPr/>
        </p:nvSpPr>
        <p:spPr>
          <a:xfrm>
            <a:off x="3243760" y="4427163"/>
            <a:ext cx="759369" cy="369332"/>
          </a:xfrm>
          <a:prstGeom prst="rect">
            <a:avLst/>
          </a:prstGeom>
          <a:noFill/>
        </p:spPr>
        <p:txBody>
          <a:bodyPr wrap="square" rtlCol="0">
            <a:spAutoFit/>
          </a:bodyPr>
          <a:lstStyle/>
          <a:p>
            <a:r>
              <a:rPr lang="en-IN" dirty="0"/>
              <a:t>3000</a:t>
            </a:r>
          </a:p>
        </p:txBody>
      </p:sp>
      <p:cxnSp>
        <p:nvCxnSpPr>
          <p:cNvPr id="50" name="Straight Connector 49">
            <a:extLst>
              <a:ext uri="{FF2B5EF4-FFF2-40B4-BE49-F238E27FC236}">
                <a16:creationId xmlns:a16="http://schemas.microsoft.com/office/drawing/2014/main" id="{385C0065-97FD-446B-92B5-CDB17CEEFC2D}"/>
              </a:ext>
            </a:extLst>
          </p:cNvPr>
          <p:cNvCxnSpPr/>
          <p:nvPr/>
        </p:nvCxnSpPr>
        <p:spPr>
          <a:xfrm>
            <a:off x="7870249" y="4811512"/>
            <a:ext cx="675037"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0DB89D96-42FC-32B1-B937-0E90AEC5D12B}"/>
              </a:ext>
            </a:extLst>
          </p:cNvPr>
          <p:cNvSpPr txBox="1"/>
          <p:nvPr/>
        </p:nvSpPr>
        <p:spPr>
          <a:xfrm>
            <a:off x="7848602" y="4440056"/>
            <a:ext cx="759369" cy="369332"/>
          </a:xfrm>
          <a:prstGeom prst="rect">
            <a:avLst/>
          </a:prstGeom>
          <a:noFill/>
        </p:spPr>
        <p:txBody>
          <a:bodyPr wrap="square" rtlCol="0">
            <a:spAutoFit/>
          </a:bodyPr>
          <a:lstStyle/>
          <a:p>
            <a:r>
              <a:rPr lang="en-IN" dirty="0"/>
              <a:t>1000</a:t>
            </a:r>
          </a:p>
        </p:txBody>
      </p:sp>
    </p:spTree>
    <p:extLst>
      <p:ext uri="{BB962C8B-B14F-4D97-AF65-F5344CB8AC3E}">
        <p14:creationId xmlns:p14="http://schemas.microsoft.com/office/powerpoint/2010/main" val="23242732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8" name="Rounded Rectangle 17">
            <a:extLst>
              <a:ext uri="{FF2B5EF4-FFF2-40B4-BE49-F238E27FC236}">
                <a16:creationId xmlns:a16="http://schemas.microsoft.com/office/drawing/2014/main" id="{DB57998B-3B57-ADAE-2630-7800FD8637AD}"/>
              </a:ext>
            </a:extLst>
          </p:cNvPr>
          <p:cNvSpPr/>
          <p:nvPr/>
        </p:nvSpPr>
        <p:spPr>
          <a:xfrm>
            <a:off x="2231572" y="216696"/>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Deletion at Specified Position- Algorithm</a:t>
            </a:r>
          </a:p>
        </p:txBody>
      </p:sp>
      <p:sp>
        <p:nvSpPr>
          <p:cNvPr id="10" name="TextBox 9">
            <a:extLst>
              <a:ext uri="{FF2B5EF4-FFF2-40B4-BE49-F238E27FC236}">
                <a16:creationId xmlns:a16="http://schemas.microsoft.com/office/drawing/2014/main" id="{D4AC8EAA-F7B4-00C0-C86D-419A14A0177B}"/>
              </a:ext>
            </a:extLst>
          </p:cNvPr>
          <p:cNvSpPr txBox="1"/>
          <p:nvPr/>
        </p:nvSpPr>
        <p:spPr>
          <a:xfrm>
            <a:off x="1152523" y="1870226"/>
            <a:ext cx="9635219" cy="4955203"/>
          </a:xfrm>
          <a:prstGeom prst="rect">
            <a:avLst/>
          </a:prstGeom>
          <a:noFill/>
        </p:spPr>
        <p:txBody>
          <a:bodyPr wrap="square">
            <a:spAutoFit/>
          </a:bodyPr>
          <a:lstStyle/>
          <a:p>
            <a:pPr algn="just"/>
            <a:r>
              <a:rPr lang="en-US" altLang="en-US" sz="2200" dirty="0">
                <a:latin typeface="Times New Roman" panose="02020603050405020304" pitchFamily="18" charset="0"/>
                <a:cs typeface="Times New Roman" panose="02020603050405020304" pitchFamily="18" charset="0"/>
              </a:rPr>
              <a:t>Step 1: IF Head = NULL THEN</a:t>
            </a:r>
          </a:p>
          <a:p>
            <a:pPr algn="just"/>
            <a:r>
              <a:rPr lang="en-US" altLang="en-US" sz="2200" dirty="0">
                <a:latin typeface="Times New Roman" panose="02020603050405020304" pitchFamily="18" charset="0"/>
                <a:cs typeface="Times New Roman" panose="02020603050405020304" pitchFamily="18" charset="0"/>
              </a:rPr>
              <a:t>              Display  DLL is empty</a:t>
            </a:r>
          </a:p>
          <a:p>
            <a:pPr algn="just"/>
            <a:r>
              <a:rPr lang="en-US" altLang="en-US" sz="2200" dirty="0">
                <a:latin typeface="Times New Roman" panose="02020603050405020304" pitchFamily="18" charset="0"/>
                <a:cs typeface="Times New Roman" panose="02020603050405020304" pitchFamily="18" charset="0"/>
              </a:rPr>
              <a:t>Step 2: SET </a:t>
            </a:r>
            <a:r>
              <a:rPr lang="en-US" altLang="en-US" sz="2200" dirty="0" err="1">
                <a:latin typeface="Times New Roman" panose="02020603050405020304" pitchFamily="18" charset="0"/>
                <a:cs typeface="Times New Roman" panose="02020603050405020304" pitchFamily="18" charset="0"/>
              </a:rPr>
              <a:t>ptr</a:t>
            </a:r>
            <a:r>
              <a:rPr lang="en-US" altLang="en-US" sz="2200" dirty="0">
                <a:latin typeface="Times New Roman" panose="02020603050405020304" pitchFamily="18" charset="0"/>
                <a:cs typeface="Times New Roman" panose="02020603050405020304" pitchFamily="18" charset="0"/>
              </a:rPr>
              <a:t> = HEAD and </a:t>
            </a:r>
            <a:r>
              <a:rPr lang="en-US" altLang="en-US" sz="2200" dirty="0" err="1">
                <a:latin typeface="Times New Roman" panose="02020603050405020304" pitchFamily="18" charset="0"/>
                <a:cs typeface="Times New Roman" panose="02020603050405020304" pitchFamily="18" charset="0"/>
              </a:rPr>
              <a:t>i</a:t>
            </a:r>
            <a:r>
              <a:rPr lang="en-US" altLang="en-US" sz="2200" dirty="0">
                <a:latin typeface="Times New Roman" panose="02020603050405020304" pitchFamily="18" charset="0"/>
                <a:cs typeface="Times New Roman" panose="02020603050405020304" pitchFamily="18" charset="0"/>
              </a:rPr>
              <a:t>=1</a:t>
            </a:r>
          </a:p>
          <a:p>
            <a:pPr algn="just"/>
            <a:r>
              <a:rPr lang="en-US" altLang="en-US" sz="2200" dirty="0">
                <a:latin typeface="Times New Roman" panose="02020603050405020304" pitchFamily="18" charset="0"/>
                <a:cs typeface="Times New Roman" panose="02020603050405020304" pitchFamily="18" charset="0"/>
              </a:rPr>
              <a:t>Step  3: Read position pos</a:t>
            </a:r>
          </a:p>
          <a:p>
            <a:pPr algn="just"/>
            <a:r>
              <a:rPr lang="en-US" altLang="en-US" sz="2200" dirty="0">
                <a:latin typeface="Times New Roman" panose="02020603050405020304" pitchFamily="18" charset="0"/>
                <a:cs typeface="Times New Roman" panose="02020603050405020304" pitchFamily="18" charset="0"/>
              </a:rPr>
              <a:t>Step 4: Repeat Step 4 while </a:t>
            </a:r>
            <a:r>
              <a:rPr lang="en-US" altLang="en-US" sz="2200" dirty="0" err="1">
                <a:latin typeface="Times New Roman" panose="02020603050405020304" pitchFamily="18" charset="0"/>
                <a:cs typeface="Times New Roman" panose="02020603050405020304" pitchFamily="18" charset="0"/>
              </a:rPr>
              <a:t>i</a:t>
            </a:r>
            <a:r>
              <a:rPr lang="en-US" altLang="en-US" sz="2200" dirty="0">
                <a:latin typeface="Times New Roman" panose="02020603050405020304" pitchFamily="18" charset="0"/>
                <a:cs typeface="Times New Roman" panose="02020603050405020304" pitchFamily="18" charset="0"/>
              </a:rPr>
              <a:t>&lt;pos</a:t>
            </a:r>
          </a:p>
          <a:p>
            <a:pPr algn="just"/>
            <a:r>
              <a:rPr lang="en-US" altLang="en-US" sz="2200" dirty="0">
                <a:latin typeface="Times New Roman" panose="02020603050405020304" pitchFamily="18" charset="0"/>
                <a:cs typeface="Times New Roman" panose="02020603050405020304" pitchFamily="18" charset="0"/>
              </a:rPr>
              <a:t>Step 5:   SET ptr1=</a:t>
            </a:r>
            <a:r>
              <a:rPr lang="en-US" altLang="en-US" sz="2200" dirty="0" err="1">
                <a:latin typeface="Times New Roman" panose="02020603050405020304" pitchFamily="18" charset="0"/>
                <a:cs typeface="Times New Roman" panose="02020603050405020304" pitchFamily="18" charset="0"/>
              </a:rPr>
              <a:t>ptr</a:t>
            </a:r>
            <a:endParaRPr lang="en-US" altLang="en-US" sz="2200" dirty="0">
              <a:latin typeface="Times New Roman" panose="02020603050405020304" pitchFamily="18" charset="0"/>
              <a:cs typeface="Times New Roman" panose="02020603050405020304" pitchFamily="18" charset="0"/>
            </a:endParaRPr>
          </a:p>
          <a:p>
            <a:pPr algn="just"/>
            <a:r>
              <a:rPr lang="en-US" altLang="en-US" sz="2200" dirty="0">
                <a:latin typeface="Times New Roman" panose="02020603050405020304" pitchFamily="18" charset="0"/>
                <a:cs typeface="Times New Roman" panose="02020603050405020304" pitchFamily="18" charset="0"/>
              </a:rPr>
              <a:t>               SET </a:t>
            </a:r>
            <a:r>
              <a:rPr lang="en-US" altLang="en-US" sz="2200" dirty="0" err="1">
                <a:latin typeface="Times New Roman" panose="02020603050405020304" pitchFamily="18" charset="0"/>
                <a:cs typeface="Times New Roman" panose="02020603050405020304" pitchFamily="18" charset="0"/>
              </a:rPr>
              <a:t>ptr</a:t>
            </a:r>
            <a:r>
              <a:rPr lang="en-US" altLang="en-US" sz="2200" dirty="0">
                <a:latin typeface="Times New Roman" panose="02020603050405020304" pitchFamily="18" charset="0"/>
                <a:cs typeface="Times New Roman" panose="02020603050405020304" pitchFamily="18" charset="0"/>
              </a:rPr>
              <a:t> = </a:t>
            </a:r>
            <a:r>
              <a:rPr lang="en-US" altLang="en-US" sz="2200" dirty="0" err="1">
                <a:latin typeface="Times New Roman" panose="02020603050405020304" pitchFamily="18" charset="0"/>
                <a:cs typeface="Times New Roman" panose="02020603050405020304" pitchFamily="18" charset="0"/>
              </a:rPr>
              <a:t>ptr</a:t>
            </a:r>
            <a:r>
              <a:rPr lang="en-US" altLang="en-US" sz="2200" dirty="0">
                <a:latin typeface="Times New Roman" panose="02020603050405020304" pitchFamily="18" charset="0"/>
                <a:cs typeface="Times New Roman" panose="02020603050405020304" pitchFamily="18" charset="0"/>
              </a:rPr>
              <a:t> -&gt; NEXT</a:t>
            </a:r>
          </a:p>
          <a:p>
            <a:pPr algn="just"/>
            <a:r>
              <a:rPr lang="en-US" altLang="en-US" sz="2200" dirty="0">
                <a:latin typeface="Times New Roman" panose="02020603050405020304" pitchFamily="18" charset="0"/>
                <a:cs typeface="Times New Roman" panose="02020603050405020304" pitchFamily="18" charset="0"/>
              </a:rPr>
              <a:t>               I&lt;- I+1</a:t>
            </a:r>
          </a:p>
          <a:p>
            <a:pPr algn="just"/>
            <a:r>
              <a:rPr lang="en-US" altLang="en-US" sz="2200" dirty="0">
                <a:latin typeface="Times New Roman" panose="02020603050405020304" pitchFamily="18" charset="0"/>
                <a:cs typeface="Times New Roman" panose="02020603050405020304" pitchFamily="18" charset="0"/>
              </a:rPr>
              <a:t>   [END OF LOOP]</a:t>
            </a:r>
          </a:p>
          <a:p>
            <a:pPr algn="just"/>
            <a:r>
              <a:rPr lang="en-US" altLang="en-US" sz="2200" dirty="0">
                <a:latin typeface="Times New Roman" panose="02020603050405020304" pitchFamily="18" charset="0"/>
                <a:cs typeface="Times New Roman" panose="02020603050405020304" pitchFamily="18" charset="0"/>
              </a:rPr>
              <a:t>Step 6:  6.1 SET </a:t>
            </a:r>
            <a:r>
              <a:rPr lang="en-IN" sz="2400" dirty="0"/>
              <a:t>Ptr1-&gt;next=ptr-&gt;next</a:t>
            </a:r>
          </a:p>
          <a:p>
            <a:pPr algn="just"/>
            <a:r>
              <a:rPr lang="en-IN" sz="2400" dirty="0"/>
              <a:t>              6.2 SET Ptr-&gt;next-&gt;</a:t>
            </a:r>
            <a:r>
              <a:rPr lang="en-IN" sz="2400" dirty="0" err="1"/>
              <a:t>prev</a:t>
            </a:r>
            <a:r>
              <a:rPr lang="en-IN" sz="2400" dirty="0"/>
              <a:t>=ptr1</a:t>
            </a:r>
          </a:p>
          <a:p>
            <a:pPr algn="just"/>
            <a:r>
              <a:rPr lang="en-IN" sz="2400" dirty="0"/>
              <a:t>              6.3  Free Ptr</a:t>
            </a:r>
          </a:p>
          <a:p>
            <a:pPr algn="just"/>
            <a:r>
              <a:rPr lang="en-IN" sz="2400" dirty="0"/>
              <a:t>Step 7: Exit</a:t>
            </a:r>
          </a:p>
          <a:p>
            <a:pPr algn="just"/>
            <a:endParaRPr lang="en-US" altLang="en-US" sz="2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8850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id="{0B964271-188D-E32E-440A-51335D9253D7}"/>
              </a:ext>
            </a:extLst>
          </p:cNvPr>
          <p:cNvSpPr/>
          <p:nvPr/>
        </p:nvSpPr>
        <p:spPr>
          <a:xfrm>
            <a:off x="2231572" y="216696"/>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Display  a  DLL</a:t>
            </a:r>
          </a:p>
        </p:txBody>
      </p:sp>
      <p:pic>
        <p:nvPicPr>
          <p:cNvPr id="3" name="Picture 2">
            <a:extLst>
              <a:ext uri="{FF2B5EF4-FFF2-40B4-BE49-F238E27FC236}">
                <a16:creationId xmlns:a16="http://schemas.microsoft.com/office/drawing/2014/main" id="{ED9AABF9-9D1C-B30D-6BC4-2F1D674BE04D}"/>
              </a:ext>
            </a:extLst>
          </p:cNvPr>
          <p:cNvPicPr>
            <a:picLocks noChangeAspect="1"/>
          </p:cNvPicPr>
          <p:nvPr/>
        </p:nvPicPr>
        <p:blipFill>
          <a:blip r:embed="rId3"/>
          <a:stretch>
            <a:fillRect/>
          </a:stretch>
        </p:blipFill>
        <p:spPr>
          <a:xfrm>
            <a:off x="995362" y="1141037"/>
            <a:ext cx="9916885" cy="2120037"/>
          </a:xfrm>
          <a:prstGeom prst="rect">
            <a:avLst/>
          </a:prstGeom>
        </p:spPr>
      </p:pic>
      <p:sp>
        <p:nvSpPr>
          <p:cNvPr id="5" name="Arrow: Up 4">
            <a:extLst>
              <a:ext uri="{FF2B5EF4-FFF2-40B4-BE49-F238E27FC236}">
                <a16:creationId xmlns:a16="http://schemas.microsoft.com/office/drawing/2014/main" id="{76FD2D9D-DD0F-C5F2-EA0A-161F79EB021B}"/>
              </a:ext>
            </a:extLst>
          </p:cNvPr>
          <p:cNvSpPr/>
          <p:nvPr/>
        </p:nvSpPr>
        <p:spPr>
          <a:xfrm>
            <a:off x="3099737" y="2910157"/>
            <a:ext cx="223095" cy="7018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7A3947C-E432-14C9-E5FF-30AF67974AB9}"/>
              </a:ext>
            </a:extLst>
          </p:cNvPr>
          <p:cNvSpPr txBox="1"/>
          <p:nvPr/>
        </p:nvSpPr>
        <p:spPr>
          <a:xfrm>
            <a:off x="3396342" y="3059668"/>
            <a:ext cx="859972" cy="369332"/>
          </a:xfrm>
          <a:prstGeom prst="rect">
            <a:avLst/>
          </a:prstGeom>
          <a:noFill/>
        </p:spPr>
        <p:txBody>
          <a:bodyPr wrap="square" rtlCol="0">
            <a:spAutoFit/>
          </a:bodyPr>
          <a:lstStyle/>
          <a:p>
            <a:r>
              <a:rPr lang="en-IN" b="1" dirty="0"/>
              <a:t>ptr</a:t>
            </a:r>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28125 0.01968 L 0.28125 0.01968 C 0.2862 0.01898 0.29128 0.01829 0.29636 0.01806 C 0.3086 0.01736 0.32083 0.01783 0.33294 0.01644 C 0.33568 0.01621 0.33828 0.01366 0.34102 0.01343 C 0.34753 0.01227 0.35404 0.01227 0.36068 0.01181 C 0.36354 0.01088 0.37552 0.00718 0.37943 0.00718 C 0.39037 0.00718 0.40143 0.0081 0.41237 0.00857 C 0.41511 0.00973 0.41771 0.01111 0.42044 0.01181 C 0.42643 0.0132 0.43229 0.01389 0.43828 0.01482 C 0.44193 0.01551 0.44544 0.01644 0.44896 0.01644 C 0.46745 0.0169 0.48594 0.01644 0.50443 0.01644 L 0.50443 0.01644 " pathEditMode="relative" ptsTypes="AAAAAAAAAAAAA">
                                      <p:cBhvr>
                                        <p:cTn id="11" dur="2000" fill="hold"/>
                                        <p:tgtEl>
                                          <p:spTgt spid="5"/>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0" presetClass="path" presetSubtype="0" accel="50000" decel="50000" fill="hold" grpId="0" nodeType="clickEffect">
                                  <p:stCondLst>
                                    <p:cond delay="0"/>
                                  </p:stCondLst>
                                  <p:childTnLst>
                                    <p:animMotion origin="layout" path="M 0.03347 0.03495 L 0.03347 0.03495 C 0.04258 0.0412 0.05156 0.0493 0.06107 0.05393 C 0.07005 0.05833 0.07956 0.05949 0.0888 0.0618 C 0.13737 0.07384 0.11979 0.06805 0.1763 0.07453 C 0.18698 0.07569 0.19766 0.07801 0.20847 0.07939 L 0.2763 0.08564 L 0.28972 0.08727 C 0.29323 0.08819 0.29675 0.09004 0.30039 0.09051 C 0.32474 0.09328 0.33802 0.09166 0.36289 0.09051 C 0.37735 0.08657 0.40521 0.07963 0.42005 0.07453 C 0.42487 0.07291 0.42956 0.07014 0.43438 0.06828 C 0.43972 0.06597 0.44505 0.06435 0.45039 0.0618 C 0.4543 0.05995 0.45808 0.0574 0.46198 0.05555 C 0.46589 0.0537 0.46979 0.05254 0.4737 0.05069 C 0.48594 0.04467 0.47005 0.05092 0.48255 0.04282 C 0.48425 0.04166 0.4862 0.04166 0.48789 0.0412 C 0.4888 0.04027 0.48985 0.03935 0.49063 0.03819 C 0.49167 0.03611 0.49401 0.02963 0.49505 0.02708 C 0.49531 0.02477 0.49544 0.02268 0.49597 0.0206 C 0.49636 0.01898 0.49727 0.01759 0.49779 0.01597 C 0.49961 0.00926 0.49948 0.01041 0.49948 0.00648 L 0.49948 0.00648 " pathEditMode="relative" ptsTypes="AAAAAAAAAAAAAAAAAAAAAAA">
                                      <p:cBhvr>
                                        <p:cTn id="15" dur="2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id="{1AB0C265-973F-01BE-6EE5-81929A4791E9}"/>
              </a:ext>
            </a:extLst>
          </p:cNvPr>
          <p:cNvPicPr>
            <a:picLocks noChangeAspect="1" noChangeArrowheads="1"/>
          </p:cNvPicPr>
          <p:nvPr/>
        </p:nvPicPr>
        <p:blipFill>
          <a:blip r:embed="rId2"/>
          <a:srcRect/>
          <a:stretch>
            <a:fillRect/>
          </a:stretch>
        </p:blipFill>
        <p:spPr bwMode="auto">
          <a:xfrm>
            <a:off x="250372" y="268024"/>
            <a:ext cx="1990725" cy="600076"/>
          </a:xfrm>
          <a:prstGeom prst="rect">
            <a:avLst/>
          </a:prstGeom>
          <a:noFill/>
        </p:spPr>
      </p:pic>
      <p:sp>
        <p:nvSpPr>
          <p:cNvPr id="5" name="Rounded Rectangle 17">
            <a:extLst>
              <a:ext uri="{FF2B5EF4-FFF2-40B4-BE49-F238E27FC236}">
                <a16:creationId xmlns:a16="http://schemas.microsoft.com/office/drawing/2014/main" id="{598B38DA-2755-8A2E-251D-4D058D68E7A9}"/>
              </a:ext>
            </a:extLst>
          </p:cNvPr>
          <p:cNvSpPr/>
          <p:nvPr/>
        </p:nvSpPr>
        <p:spPr>
          <a:xfrm>
            <a:off x="2764972" y="268024"/>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latin typeface="Arial"/>
                <a:cs typeface="Arial"/>
              </a:rPr>
              <a:t>Display  a  DLL- Algorithm</a:t>
            </a:r>
          </a:p>
        </p:txBody>
      </p:sp>
      <p:sp>
        <p:nvSpPr>
          <p:cNvPr id="9" name="TextBox 8">
            <a:extLst>
              <a:ext uri="{FF2B5EF4-FFF2-40B4-BE49-F238E27FC236}">
                <a16:creationId xmlns:a16="http://schemas.microsoft.com/office/drawing/2014/main" id="{C556D1CA-A5F8-FDC8-35D9-AB0FCB981D38}"/>
              </a:ext>
            </a:extLst>
          </p:cNvPr>
          <p:cNvSpPr txBox="1"/>
          <p:nvPr/>
        </p:nvSpPr>
        <p:spPr>
          <a:xfrm>
            <a:off x="3254829" y="1472236"/>
            <a:ext cx="7469580" cy="3416320"/>
          </a:xfrm>
          <a:prstGeom prst="rect">
            <a:avLst/>
          </a:prstGeom>
          <a:noFill/>
        </p:spPr>
        <p:txBody>
          <a:bodyPr wrap="square">
            <a:spAutoFit/>
          </a:bodyPr>
          <a:lstStyle/>
          <a:p>
            <a:pPr algn="just">
              <a:defRPr/>
            </a:pP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IF HEAD = NULL</a:t>
            </a:r>
          </a:p>
          <a:p>
            <a:pPr marL="0" indent="0" algn="jus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	   PRINT  EMPTY DLL</a:t>
            </a:r>
          </a:p>
          <a:p>
            <a:pPr algn="just">
              <a:defRPr/>
            </a:pPr>
            <a:r>
              <a:rPr lang="en-US" sz="2400" b="1" dirty="0">
                <a:latin typeface="Times New Roman" panose="02020603050405020304" pitchFamily="18" charset="0"/>
                <a:cs typeface="Times New Roman" panose="02020603050405020304" pitchFamily="18" charset="0"/>
              </a:rPr>
              <a:t>Step 2: ELSE </a:t>
            </a:r>
            <a:r>
              <a:rPr lang="en-US" sz="2400" dirty="0">
                <a:latin typeface="Times New Roman" panose="02020603050405020304" pitchFamily="18" charset="0"/>
                <a:cs typeface="Times New Roman" panose="02020603050405020304" pitchFamily="18" charset="0"/>
              </a:rPr>
              <a:t> SET </a:t>
            </a:r>
            <a:r>
              <a:rPr lang="en-US" sz="2400" b="1" dirty="0" err="1">
                <a:latin typeface="Times New Roman" panose="02020603050405020304" pitchFamily="18" charset="0"/>
                <a:cs typeface="Times New Roman" panose="02020603050405020304" pitchFamily="18" charset="0"/>
              </a:rPr>
              <a:t>Ptr</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HEAD</a:t>
            </a:r>
          </a:p>
          <a:p>
            <a:pPr algn="just">
              <a:defRPr/>
            </a:pP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REPEAT STEP 4 WHILE </a:t>
            </a:r>
            <a:r>
              <a:rPr lang="en-US" sz="2400" b="1" dirty="0" err="1">
                <a:latin typeface="Times New Roman" panose="02020603050405020304" pitchFamily="18" charset="0"/>
                <a:cs typeface="Times New Roman" panose="02020603050405020304" pitchFamily="18" charset="0"/>
              </a:rPr>
              <a:t>ptr</a:t>
            </a:r>
            <a:r>
              <a:rPr lang="en-US" sz="2400" dirty="0">
                <a:latin typeface="Times New Roman" panose="02020603050405020304" pitchFamily="18" charset="0"/>
                <a:cs typeface="Times New Roman" panose="02020603050405020304" pitchFamily="18" charset="0"/>
              </a:rPr>
              <a:t> != NULL</a:t>
            </a:r>
          </a:p>
          <a:p>
            <a:pPr algn="just">
              <a:defRPr/>
            </a:pP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a:t>
            </a:r>
          </a:p>
          <a:p>
            <a:pPr algn="just">
              <a:defRPr/>
            </a:pPr>
            <a:r>
              <a:rPr lang="en-US" sz="2400" dirty="0">
                <a:latin typeface="Times New Roman" panose="02020603050405020304" pitchFamily="18" charset="0"/>
                <a:cs typeface="Times New Roman" panose="02020603050405020304" pitchFamily="18" charset="0"/>
              </a:rPr>
              <a:t>                4.1  Display </a:t>
            </a:r>
            <a:r>
              <a:rPr lang="en-US" sz="2400" dirty="0" err="1">
                <a:latin typeface="Times New Roman" panose="02020603050405020304" pitchFamily="18" charset="0"/>
                <a:cs typeface="Times New Roman" panose="02020603050405020304" pitchFamily="18" charset="0"/>
              </a:rPr>
              <a:t>ptr</a:t>
            </a:r>
            <a:r>
              <a:rPr lang="en-US" sz="2400" dirty="0">
                <a:latin typeface="Times New Roman" panose="02020603050405020304" pitchFamily="18" charset="0"/>
                <a:cs typeface="Times New Roman" panose="02020603050405020304" pitchFamily="18" charset="0"/>
              </a:rPr>
              <a:t>-&gt;data</a:t>
            </a:r>
          </a:p>
          <a:p>
            <a:pPr algn="just">
              <a:defRPr/>
            </a:pPr>
            <a:r>
              <a:rPr lang="en-US" sz="2400" dirty="0">
                <a:latin typeface="Times New Roman" panose="02020603050405020304" pitchFamily="18" charset="0"/>
                <a:cs typeface="Times New Roman" panose="02020603050405020304" pitchFamily="18" charset="0"/>
              </a:rPr>
              <a:t>                4.2  SET </a:t>
            </a:r>
            <a:r>
              <a:rPr lang="en-US" sz="2400" dirty="0" err="1">
                <a:latin typeface="Times New Roman" panose="02020603050405020304" pitchFamily="18" charset="0"/>
                <a:cs typeface="Times New Roman" panose="02020603050405020304" pitchFamily="18" charset="0"/>
              </a:rPr>
              <a:t>ptr</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ptr</a:t>
            </a:r>
            <a:r>
              <a:rPr lang="en-US" sz="2400" dirty="0">
                <a:latin typeface="Times New Roman" panose="02020603050405020304" pitchFamily="18" charset="0"/>
                <a:cs typeface="Times New Roman" panose="02020603050405020304" pitchFamily="18" charset="0"/>
              </a:rPr>
              <a:t>-&gt;NEXT</a:t>
            </a:r>
          </a:p>
          <a:p>
            <a:pPr marL="0" indent="0" algn="jus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	[END OF LOOP]</a:t>
            </a:r>
          </a:p>
          <a:p>
            <a:pPr algn="just">
              <a:defRPr/>
            </a:pPr>
            <a:r>
              <a:rPr lang="en-US" sz="2400" b="1" dirty="0">
                <a:latin typeface="Times New Roman" panose="02020603050405020304" pitchFamily="18" charset="0"/>
                <a:cs typeface="Times New Roman" panose="02020603050405020304" pitchFamily="18" charset="0"/>
              </a:rPr>
              <a:t>Step 5:</a:t>
            </a:r>
            <a:r>
              <a:rPr lang="en-US" sz="2400" dirty="0">
                <a:latin typeface="Times New Roman" panose="02020603050405020304" pitchFamily="18" charset="0"/>
                <a:cs typeface="Times New Roman" panose="02020603050405020304" pitchFamily="18" charset="0"/>
              </a:rPr>
              <a:t> Exit</a:t>
            </a:r>
          </a:p>
        </p:txBody>
      </p:sp>
    </p:spTree>
    <p:extLst>
      <p:ext uri="{BB962C8B-B14F-4D97-AF65-F5344CB8AC3E}">
        <p14:creationId xmlns:p14="http://schemas.microsoft.com/office/powerpoint/2010/main" val="422167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Doubly Linked List – Merits  and Demerits</a:t>
            </a:r>
          </a:p>
        </p:txBody>
      </p:sp>
      <p:pic>
        <p:nvPicPr>
          <p:cNvPr id="3" name="Picture 2" descr="KL Deemed to be University Logo">
            <a:extLst>
              <a:ext uri="{FF2B5EF4-FFF2-40B4-BE49-F238E27FC236}">
                <a16:creationId xmlns:a16="http://schemas.microsoft.com/office/drawing/2014/main" id="{3EC00787-429B-9DB9-39C0-EFAB656AF225}"/>
              </a:ext>
            </a:extLst>
          </p:cNvPr>
          <p:cNvPicPr>
            <a:picLocks noChangeAspect="1" noChangeArrowheads="1"/>
          </p:cNvPicPr>
          <p:nvPr/>
        </p:nvPicPr>
        <p:blipFill>
          <a:blip r:embed="rId2"/>
          <a:srcRect/>
          <a:stretch>
            <a:fillRect/>
          </a:stretch>
        </p:blipFill>
        <p:spPr bwMode="auto">
          <a:xfrm>
            <a:off x="283029" y="158053"/>
            <a:ext cx="1990725" cy="600076"/>
          </a:xfrm>
          <a:prstGeom prst="rect">
            <a:avLst/>
          </a:prstGeom>
          <a:noFill/>
        </p:spPr>
      </p:pic>
      <p:sp>
        <p:nvSpPr>
          <p:cNvPr id="5" name="TextBox 4">
            <a:extLst>
              <a:ext uri="{FF2B5EF4-FFF2-40B4-BE49-F238E27FC236}">
                <a16:creationId xmlns:a16="http://schemas.microsoft.com/office/drawing/2014/main" id="{6075CDC9-9106-142B-F872-D1A23F081344}"/>
              </a:ext>
            </a:extLst>
          </p:cNvPr>
          <p:cNvSpPr txBox="1"/>
          <p:nvPr/>
        </p:nvSpPr>
        <p:spPr>
          <a:xfrm>
            <a:off x="2013856" y="979714"/>
            <a:ext cx="1758065" cy="461665"/>
          </a:xfrm>
          <a:prstGeom prst="rect">
            <a:avLst/>
          </a:prstGeom>
          <a:noFill/>
        </p:spPr>
        <p:txBody>
          <a:bodyPr wrap="square" rtlCol="0">
            <a:spAutoFit/>
          </a:bodyPr>
          <a:lstStyle/>
          <a:p>
            <a:r>
              <a:rPr lang="en-IN" sz="2400" b="1" dirty="0"/>
              <a:t>Merits</a:t>
            </a:r>
          </a:p>
        </p:txBody>
      </p:sp>
      <p:sp>
        <p:nvSpPr>
          <p:cNvPr id="6" name="TextBox 5">
            <a:extLst>
              <a:ext uri="{FF2B5EF4-FFF2-40B4-BE49-F238E27FC236}">
                <a16:creationId xmlns:a16="http://schemas.microsoft.com/office/drawing/2014/main" id="{AA18944C-79CF-209F-E9A2-752BDD373781}"/>
              </a:ext>
            </a:extLst>
          </p:cNvPr>
          <p:cNvSpPr txBox="1"/>
          <p:nvPr/>
        </p:nvSpPr>
        <p:spPr>
          <a:xfrm>
            <a:off x="1828799" y="4119592"/>
            <a:ext cx="1758065" cy="461665"/>
          </a:xfrm>
          <a:prstGeom prst="rect">
            <a:avLst/>
          </a:prstGeom>
          <a:noFill/>
        </p:spPr>
        <p:txBody>
          <a:bodyPr wrap="square" rtlCol="0">
            <a:spAutoFit/>
          </a:bodyPr>
          <a:lstStyle/>
          <a:p>
            <a:r>
              <a:rPr lang="en-IN" sz="2400" b="1" dirty="0"/>
              <a:t>De Merits</a:t>
            </a:r>
          </a:p>
        </p:txBody>
      </p:sp>
      <p:sp>
        <p:nvSpPr>
          <p:cNvPr id="9" name="TextBox 8">
            <a:extLst>
              <a:ext uri="{FF2B5EF4-FFF2-40B4-BE49-F238E27FC236}">
                <a16:creationId xmlns:a16="http://schemas.microsoft.com/office/drawing/2014/main" id="{11940F95-12D1-E815-A25E-98366B5682F1}"/>
              </a:ext>
            </a:extLst>
          </p:cNvPr>
          <p:cNvSpPr txBox="1"/>
          <p:nvPr/>
        </p:nvSpPr>
        <p:spPr>
          <a:xfrm>
            <a:off x="1567543" y="1504415"/>
            <a:ext cx="10286999"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DLL can be traversed in both forward and backward directions.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delete operation in DLL is more efficient if a pointer to the node to be    deleted is given.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400" dirty="0"/>
              <a:t>In DLL, we can get the previous node using the previous pointer hence deletion operation is easily performed. In contrast in an SLL to get previous pointer , traversal is needed</a:t>
            </a:r>
            <a:r>
              <a:rPr lang="en-US" dirty="0"/>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6D0D72C-6C03-CF7F-077E-486863700622}"/>
              </a:ext>
            </a:extLst>
          </p:cNvPr>
          <p:cNvSpPr txBox="1"/>
          <p:nvPr/>
        </p:nvSpPr>
        <p:spPr>
          <a:xfrm>
            <a:off x="1828799" y="4749330"/>
            <a:ext cx="9274630" cy="461665"/>
          </a:xfrm>
          <a:prstGeom prst="rect">
            <a:avLst/>
          </a:prstGeom>
          <a:noFill/>
        </p:spPr>
        <p:txBody>
          <a:bodyPr wrap="square">
            <a:spAutoFit/>
          </a:bodyPr>
          <a:lstStyle/>
          <a:p>
            <a:r>
              <a:rPr lang="en-US" sz="2400" b="1" dirty="0"/>
              <a:t>Every node of DLL Requires extra space for a previous pointer. </a:t>
            </a:r>
            <a:endParaRPr lang="en-IN" sz="2400" b="1" dirty="0"/>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7F379A5-1715-503B-1C25-2B21ADF10410}"/>
              </a:ext>
            </a:extLst>
          </p:cNvPr>
          <p:cNvSpPr txBox="1"/>
          <p:nvPr/>
        </p:nvSpPr>
        <p:spPr>
          <a:xfrm>
            <a:off x="566057" y="1443841"/>
            <a:ext cx="10863943" cy="4893647"/>
          </a:xfrm>
          <a:prstGeom prst="rect">
            <a:avLst/>
          </a:prstGeom>
          <a:noFill/>
        </p:spPr>
        <p:txBody>
          <a:bodyPr wrap="square">
            <a:sp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size of the Doubly  linked list can be dynamically adjusted based on the number of elements added or removed.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node contains two pointers: one pointing to the previous node and one pointing to the next node.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first node’s previous pointer points to null and the last node’s next pointer points to null.</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linked list can be traversed in both forward and backward directions.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Insertions and deletions can be performed in constant time at both the beginning and the end of the list.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Access and search operations have O(n) time complexity, where n is the number of elements in the list.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requires more memory compared to a singly linked list, as each node has two pointers.</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06867"/>
            <a:ext cx="10661548" cy="79653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US" sz="2400" dirty="0">
              <a:latin typeface="Times New Roman" panose="02020603050405020304" pitchFamily="18" charset="0"/>
              <a:cs typeface="Times New Roman" panose="02020603050405020304" pitchFamily="18" charset="0"/>
            </a:endParaRPr>
          </a:p>
          <a:p>
            <a:pPr marL="342900" lvl="0" indent="-342900">
              <a:buFont typeface="+mj-lt"/>
              <a:buAutoNum type="arabicPeriod"/>
            </a:pP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2000009"/>
            <a:ext cx="6237001" cy="162372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
            </a:pPr>
            <a:r>
              <a:rPr lang="en-IN" dirty="0"/>
              <a:t>In a Doubly linked list , the number of pointers affected for performing an insertion operation will be</a:t>
            </a:r>
          </a:p>
          <a:p>
            <a:pPr marL="342900" indent="-342900">
              <a:buFont typeface="Wingdings" panose="05000000000000000000" pitchFamily="2" charset="2"/>
              <a:buChar char="§"/>
            </a:pPr>
            <a:endParaRPr lang="en-IN" dirty="0"/>
          </a:p>
          <a:p>
            <a:pPr marL="342900" indent="-342900">
              <a:buFont typeface="Wingdings" panose="05000000000000000000" pitchFamily="2" charset="2"/>
              <a:buChar char="§"/>
            </a:pPr>
            <a:endParaRPr lang="en-IN" dirty="0"/>
          </a:p>
          <a:p>
            <a:r>
              <a:rPr lang="en-IN" dirty="0"/>
              <a:t>A) 4</a:t>
            </a:r>
            <a:br>
              <a:rPr lang="en-IN" dirty="0"/>
            </a:br>
            <a:r>
              <a:rPr lang="en-IN" dirty="0"/>
              <a:t>B) </a:t>
            </a:r>
            <a:r>
              <a:rPr lang="en-US" dirty="0">
                <a:latin typeface="Times New Roman" panose="02020603050405020304" pitchFamily="18" charset="0"/>
                <a:cs typeface="Times New Roman" panose="02020603050405020304" pitchFamily="18" charset="0"/>
              </a:rPr>
              <a:t>0</a:t>
            </a:r>
          </a:p>
          <a:p>
            <a:r>
              <a:rPr lang="en-US" dirty="0">
                <a:latin typeface="Times New Roman" panose="02020603050405020304" pitchFamily="18" charset="0"/>
                <a:cs typeface="Times New Roman" panose="02020603050405020304" pitchFamily="18" charset="0"/>
              </a:rPr>
              <a:t>C) 1</a:t>
            </a:r>
          </a:p>
          <a:p>
            <a:r>
              <a:rPr lang="en-US" dirty="0">
                <a:latin typeface="Times New Roman" panose="02020603050405020304" pitchFamily="18" charset="0"/>
                <a:cs typeface="Times New Roman" panose="02020603050405020304" pitchFamily="18" charset="0"/>
              </a:rPr>
              <a:t>D) Depends on the nodes of the doubly linked list</a:t>
            </a:r>
          </a:p>
          <a:p>
            <a:endParaRPr lang="en-IN" dirty="0">
              <a:latin typeface="Times New Roman" panose="02020603050405020304" pitchFamily="18" charset="0"/>
              <a:cs typeface="Times New Roman" panose="02020603050405020304" pitchFamily="18" charset="0"/>
            </a:endParaRPr>
          </a:p>
          <a:p>
            <a:pPr>
              <a:lnSpc>
                <a:spcPct val="150000"/>
              </a:lnSpc>
            </a:pP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661548"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a:t>
            </a:r>
            <a:r>
              <a:rPr lang="en-US" sz="2400" dirty="0"/>
              <a:t>Which of the following is false about a doubly linked list</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26828" y="4727198"/>
            <a:ext cx="824712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Times New Roman" panose="02020603050405020304" pitchFamily="18" charset="0"/>
                <a:cs typeface="Times New Roman" panose="02020603050405020304" pitchFamily="18" charset="0"/>
              </a:rPr>
              <a:t>a)We can traverse bidirectionally</a:t>
            </a:r>
          </a:p>
          <a:p>
            <a:pPr algn="just"/>
            <a:r>
              <a:rPr lang="en-US" dirty="0">
                <a:latin typeface="Times New Roman" panose="02020603050405020304" pitchFamily="18" charset="0"/>
                <a:cs typeface="Times New Roman" panose="02020603050405020304" pitchFamily="18" charset="0"/>
              </a:rPr>
              <a:t>b)Incurs more space when compared to an SLL</a:t>
            </a:r>
          </a:p>
          <a:p>
            <a:pPr algn="just"/>
            <a:r>
              <a:rPr lang="en-US" dirty="0">
                <a:latin typeface="Times New Roman" panose="02020603050405020304" pitchFamily="18" charset="0"/>
                <a:cs typeface="Times New Roman" panose="02020603050405020304" pitchFamily="18" charset="0"/>
              </a:rPr>
              <a:t>c)</a:t>
            </a:r>
            <a:r>
              <a:rPr lang="en-US" dirty="0"/>
              <a:t> The insertion and deletion of a node take a bit longer.</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a:t>
            </a:r>
            <a:r>
              <a:rPr lang="en-US" dirty="0"/>
              <a:t> Implementing a doubly linked list is easier than singly linked list</a:t>
            </a:r>
            <a:endParaRPr lang="en-US"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BD6F5A76-3767-2A58-6565-9C6ABBE0E809}"/>
              </a:ext>
            </a:extLst>
          </p:cNvPr>
          <p:cNvSpPr txBox="1"/>
          <p:nvPr/>
        </p:nvSpPr>
        <p:spPr>
          <a:xfrm>
            <a:off x="1861457" y="979714"/>
            <a:ext cx="2362185" cy="400110"/>
          </a:xfrm>
          <a:prstGeom prst="rect">
            <a:avLst/>
          </a:prstGeom>
          <a:noFill/>
        </p:spPr>
        <p:txBody>
          <a:bodyPr wrap="none" rtlCol="0">
            <a:spAutoFit/>
          </a:bodyPr>
          <a:lstStyle/>
          <a:p>
            <a:r>
              <a:rPr lang="en-IN" sz="2000" b="1" dirty="0"/>
              <a:t>Problem Description</a:t>
            </a:r>
          </a:p>
        </p:txBody>
      </p:sp>
      <p:sp>
        <p:nvSpPr>
          <p:cNvPr id="5" name="TextBox 4">
            <a:extLst>
              <a:ext uri="{FF2B5EF4-FFF2-40B4-BE49-F238E27FC236}">
                <a16:creationId xmlns:a16="http://schemas.microsoft.com/office/drawing/2014/main" id="{CD5C4E67-D4C1-8690-AE57-32B58CCD1915}"/>
              </a:ext>
            </a:extLst>
          </p:cNvPr>
          <p:cNvSpPr txBox="1"/>
          <p:nvPr/>
        </p:nvSpPr>
        <p:spPr>
          <a:xfrm>
            <a:off x="995362" y="2230489"/>
            <a:ext cx="10607456" cy="1631216"/>
          </a:xfrm>
          <a:prstGeom prst="rect">
            <a:avLst/>
          </a:prstGeom>
          <a:noFill/>
        </p:spPr>
        <p:txBody>
          <a:bodyPr wrap="square" rtlCol="0">
            <a:spAutoFit/>
          </a:bodyPr>
          <a:lstStyle/>
          <a:p>
            <a:pPr algn="just"/>
            <a:r>
              <a:rPr lang="en-IN" sz="2000" dirty="0" err="1"/>
              <a:t>Shaurya</a:t>
            </a:r>
            <a:r>
              <a:rPr lang="en-IN" sz="2000" dirty="0"/>
              <a:t> is a very active and brilliant kid . He is just 5 years old but very fast in Arithmetic </a:t>
            </a:r>
          </a:p>
          <a:p>
            <a:pPr algn="just"/>
            <a:r>
              <a:rPr lang="en-IN" sz="2000" dirty="0"/>
              <a:t>Calculations. His mother , loves gardening and has 7 pots of rose plants in the balcony. Daily </a:t>
            </a:r>
            <a:r>
              <a:rPr lang="en-IN" sz="2000" dirty="0" err="1"/>
              <a:t>shaurya</a:t>
            </a:r>
            <a:r>
              <a:rPr lang="en-IN" sz="2000" dirty="0"/>
              <a:t> counts the Number of roses in each pot while watering the shrubs. One day </a:t>
            </a:r>
            <a:r>
              <a:rPr lang="en-IN" sz="2000" dirty="0" err="1"/>
              <a:t>Shaurya’s</a:t>
            </a:r>
            <a:r>
              <a:rPr lang="en-IN" sz="2000" dirty="0"/>
              <a:t> dad asked him the find number of roses that blossomed  for the day.. Help this kid by storing the number of roses of each pot in DLL node and Find the sum of all the nodes  so that he can answer his dad.</a:t>
            </a:r>
          </a:p>
        </p:txBody>
      </p:sp>
      <p:sp>
        <p:nvSpPr>
          <p:cNvPr id="6" name="TextBox 5">
            <a:extLst>
              <a:ext uri="{FF2B5EF4-FFF2-40B4-BE49-F238E27FC236}">
                <a16:creationId xmlns:a16="http://schemas.microsoft.com/office/drawing/2014/main" id="{E98B501C-4B5C-0116-2814-EF818FAF0CFC}"/>
              </a:ext>
            </a:extLst>
          </p:cNvPr>
          <p:cNvSpPr txBox="1"/>
          <p:nvPr/>
        </p:nvSpPr>
        <p:spPr>
          <a:xfrm>
            <a:off x="1892655" y="1544018"/>
            <a:ext cx="2995961" cy="461665"/>
          </a:xfrm>
          <a:prstGeom prst="rect">
            <a:avLst/>
          </a:prstGeom>
          <a:noFill/>
        </p:spPr>
        <p:txBody>
          <a:bodyPr wrap="square" rtlCol="0">
            <a:spAutoFit/>
          </a:bodyPr>
          <a:lstStyle/>
          <a:p>
            <a:r>
              <a:rPr lang="en-IN" sz="2400" b="1" dirty="0" err="1"/>
              <a:t>Shaurya</a:t>
            </a:r>
            <a:r>
              <a:rPr lang="en-IN" sz="2400" b="1" dirty="0"/>
              <a:t> and Roses</a:t>
            </a:r>
          </a:p>
        </p:txBody>
      </p:sp>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5159554"/>
          </a:xfrm>
          <a:prstGeom prst="rect">
            <a:avLst/>
          </a:prstGeom>
          <a:noFill/>
        </p:spPr>
        <p:txBody>
          <a:bodyPr wrap="square" rtlCol="0">
            <a:spAutoFit/>
          </a:bodyPr>
          <a:lstStyle/>
          <a:p>
            <a:pPr>
              <a:lnSpc>
                <a:spcPct val="150000"/>
              </a:lnSpc>
            </a:pPr>
            <a:r>
              <a:rPr lang="en-US" sz="2400" b="1" dirty="0"/>
              <a:t>Reference Books:</a:t>
            </a:r>
          </a:p>
          <a:p>
            <a:pPr>
              <a:lnSpc>
                <a:spcPct val="150000"/>
              </a:lnSpc>
            </a:pPr>
            <a:r>
              <a:rPr lang="en-US" dirty="0">
                <a:latin typeface="Times New Roman" panose="02020603050405020304" pitchFamily="18" charset="0"/>
                <a:cs typeface="Times New Roman" panose="02020603050405020304" pitchFamily="18" charset="0"/>
              </a:rPr>
              <a:t>1. Data Structures and Algorithm Analysis in PYTHON, 2010, Mark Allen Weiss, Second Edition, Pearson Education.</a:t>
            </a:r>
          </a:p>
          <a:p>
            <a:pPr>
              <a:lnSpc>
                <a:spcPct val="150000"/>
              </a:lnSpc>
            </a:pPr>
            <a:r>
              <a:rPr lang="en-US" dirty="0">
                <a:latin typeface="Times New Roman" panose="02020603050405020304" pitchFamily="18" charset="0"/>
                <a:cs typeface="Times New Roman" panose="02020603050405020304" pitchFamily="18" charset="0"/>
              </a:rPr>
              <a:t>2. Data Structures and Algorithms, </a:t>
            </a:r>
            <a:r>
              <a:rPr lang="en-US" dirty="0" err="1">
                <a:latin typeface="Times New Roman" panose="02020603050405020304" pitchFamily="18" charset="0"/>
                <a:cs typeface="Times New Roman" panose="02020603050405020304" pitchFamily="18" charset="0"/>
              </a:rPr>
              <a:t>A.V.Aho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J.E.Hopcroft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J.D.Ullman</a:t>
            </a:r>
            <a:r>
              <a:rPr lang="en-US" dirty="0">
                <a:latin typeface="Times New Roman" panose="02020603050405020304" pitchFamily="18" charset="0"/>
                <a:cs typeface="Times New Roman" panose="02020603050405020304" pitchFamily="18" charset="0"/>
              </a:rPr>
              <a:t>, Pearson Education, First Edition Reprint2003.</a:t>
            </a:r>
          </a:p>
          <a:p>
            <a:pPr>
              <a:lnSpc>
                <a:spcPct val="150000"/>
              </a:lnSpc>
            </a:pPr>
            <a:r>
              <a:rPr lang="en-US" dirty="0">
                <a:latin typeface="Times New Roman" panose="02020603050405020304" pitchFamily="18" charset="0"/>
                <a:cs typeface="Times New Roman" panose="02020603050405020304" pitchFamily="18" charset="0"/>
              </a:rPr>
              <a:t>3. Advanced Guide to Python 3 Programming, John Hunt, 4th Edition, Springer Nature Switzerland AG 2019.</a:t>
            </a:r>
          </a:p>
          <a:p>
            <a:pPr>
              <a:lnSpc>
                <a:spcPct val="150000"/>
              </a:lnSpc>
            </a:pPr>
            <a:r>
              <a:rPr lang="en-US" dirty="0">
                <a:latin typeface="Times New Roman" panose="02020603050405020304" pitchFamily="18" charset="0"/>
                <a:cs typeface="Times New Roman" panose="02020603050405020304" pitchFamily="18" charset="0"/>
              </a:rPr>
              <a:t>4. Python Basics: A Practice Introduction to Python 3, David Amos, Dan Bader, Joanna Jablonski, Fletcher Heisler, 4th edition, Real Python.</a:t>
            </a:r>
          </a:p>
          <a:p>
            <a:pPr>
              <a:lnSpc>
                <a:spcPct val="150000"/>
              </a:lnSpc>
            </a:pPr>
            <a:r>
              <a:rPr lang="en-US" sz="2400" b="1" dirty="0"/>
              <a:t>Web Links: </a:t>
            </a:r>
          </a:p>
          <a:p>
            <a:pPr>
              <a:lnSpc>
                <a:spcPct val="150000"/>
              </a:lnSpc>
            </a:pPr>
            <a:r>
              <a:rPr lang="en-US" sz="2000" dirty="0">
                <a:latin typeface="Times New Roman" panose="02020603050405020304" pitchFamily="18" charset="0"/>
                <a:cs typeface="Times New Roman" panose="02020603050405020304" pitchFamily="18" charset="0"/>
              </a:rPr>
              <a:t>1. https://docs.python.org/3/tutorial/datastructures.html</a:t>
            </a:r>
          </a:p>
          <a:p>
            <a:pPr>
              <a:lnSpc>
                <a:spcPct val="150000"/>
              </a:lnSpc>
            </a:pPr>
            <a:r>
              <a:rPr lang="en-US" sz="2000" dirty="0">
                <a:latin typeface="Times New Roman" panose="02020603050405020304" pitchFamily="18" charset="0"/>
                <a:cs typeface="Times New Roman" panose="02020603050405020304" pitchFamily="18" charset="0"/>
              </a:rPr>
              <a:t>2. https://www.w3schools.com/dsa/dsa_intro.php</a:t>
            </a:r>
          </a:p>
          <a:p>
            <a:pPr>
              <a:lnSpc>
                <a:spcPct val="150000"/>
              </a:lnSpc>
            </a:pPr>
            <a:r>
              <a:rPr lang="en-US" sz="2000" dirty="0">
                <a:latin typeface="Times New Roman" panose="02020603050405020304" pitchFamily="18" charset="0"/>
                <a:cs typeface="Times New Roman" panose="02020603050405020304" pitchFamily="18" charset="0"/>
              </a:rPr>
              <a:t>3. https://www.geeksforgeeks.org/python-data-structures/</a:t>
            </a:r>
          </a:p>
          <a:p>
            <a:pPr>
              <a:lnSpc>
                <a:spcPct val="150000"/>
              </a:lnSpc>
            </a:pPr>
            <a:endParaRPr lang="en-US" sz="2400" b="1"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2245</TotalTime>
  <Words>1665</Words>
  <Application>Microsoft Office PowerPoint</Application>
  <PresentationFormat>Widescreen</PresentationFormat>
  <Paragraphs>297</Paragraphs>
  <Slides>27</Slides>
  <Notes>7</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BioRhyme ExtraBold</vt:lpstr>
      <vt:lpstr>Calibri</vt:lpstr>
      <vt:lpstr>Poppins</vt:lpstr>
      <vt:lpstr>Symbol</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Insertion at a specified position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94</cp:revision>
  <dcterms:created xsi:type="dcterms:W3CDTF">2020-02-08T09:57:44Z</dcterms:created>
  <dcterms:modified xsi:type="dcterms:W3CDTF">2024-12-13T09:22:16Z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