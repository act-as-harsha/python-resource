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sldIdLst>
    <p:sldId id="271" r:id="rId5"/>
    <p:sldId id="300" r:id="rId6"/>
    <p:sldId id="258" r:id="rId7"/>
    <p:sldId id="288" r:id="rId8"/>
    <p:sldId id="305" r:id="rId9"/>
    <p:sldId id="306" r:id="rId10"/>
    <p:sldId id="311" r:id="rId11"/>
    <p:sldId id="307" r:id="rId12"/>
    <p:sldId id="314" r:id="rId13"/>
    <p:sldId id="315" r:id="rId14"/>
    <p:sldId id="317" r:id="rId15"/>
    <p:sldId id="318" r:id="rId16"/>
    <p:sldId id="319" r:id="rId17"/>
    <p:sldId id="320" r:id="rId18"/>
    <p:sldId id="299" r:id="rId19"/>
    <p:sldId id="316" r:id="rId20"/>
    <p:sldId id="285" r:id="rId21"/>
    <p:sldId id="287" r:id="rId22"/>
    <p:sldId id="322" r:id="rId23"/>
    <p:sldId id="321" r:id="rId24"/>
    <p:sldId id="323" r:id="rId25"/>
    <p:sldId id="324" r:id="rId26"/>
    <p:sldId id="301" r:id="rId27"/>
    <p:sldId id="302" r:id="rId28"/>
    <p:sldId id="303" r:id="rId29"/>
    <p:sldId id="30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0"/>
    <p:restoredTop sz="94768"/>
  </p:normalViewPr>
  <p:slideViewPr>
    <p:cSldViewPr snapToGrid="0">
      <p:cViewPr varScale="1">
        <p:scale>
          <a:sx n="61" d="100"/>
          <a:sy n="61" d="100"/>
        </p:scale>
        <p:origin x="-760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=""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=""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=""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tutorial/datastructures.html" TargetMode="External"/><Relationship Id="rId2" Type="http://schemas.openxmlformats.org/officeDocument/2006/relationships/hyperlink" Target="http://greenteapress.com/wp/thinkpyth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geeksforgeeks.org/python-data-structures/" TargetMode="External"/><Relationship Id="rId4" Type="http://schemas.openxmlformats.org/officeDocument/2006/relationships/hyperlink" Target="https://www.w3schools.com/dsa/dsa_intro.php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072337" y="2006144"/>
            <a:ext cx="6797545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>
                <a:solidFill>
                  <a:schemeClr val="accent1"/>
                </a:solidFill>
              </a:rPr>
              <a:t>Data </a:t>
            </a:r>
            <a:r>
              <a:rPr lang="en-US" sz="3200" b="1" dirty="0" smtClean="0">
                <a:solidFill>
                  <a:schemeClr val="accent1"/>
                </a:solidFill>
              </a:rPr>
              <a:t>Structures using Python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CODE: </a:t>
            </a:r>
            <a:r>
              <a:rPr lang="en-US" sz="3200" b="1" dirty="0" smtClean="0">
                <a:solidFill>
                  <a:schemeClr val="accent1"/>
                </a:solidFill>
              </a:rPr>
              <a:t>24SC1204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Priority </a:t>
            </a:r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Queue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=""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</a:t>
            </a:r>
            <a:r>
              <a:rPr lang="en-US" sz="4000" dirty="0">
                <a:solidFill>
                  <a:srgbClr val="FF0000"/>
                </a:solidFill>
              </a:rPr>
              <a:t>BES-I</a:t>
            </a:r>
            <a:endParaRPr lang="en-US" sz="4000" dirty="0">
              <a:solidFill>
                <a:srgbClr val="FF0000"/>
              </a:solidFill>
              <a:cs typeface="Poppins" pitchFamily="2" charset="77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=""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276163" y="5299364"/>
            <a:ext cx="2886145" cy="725960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19 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47115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To provide a comprehensive understanding of implementing a Priority Queue using linked lists.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=""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</a:t>
            </a:r>
            <a:r>
              <a:rPr lang="en-IN" sz="1600" dirty="0"/>
              <a:t>Priority Queue</a:t>
            </a:r>
            <a:r>
              <a:rPr lang="en-IN" sz="1400" dirty="0"/>
              <a:t> 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the operations possible on the </a:t>
            </a:r>
            <a:r>
              <a:rPr lang="en-IN" sz="1600" dirty="0"/>
              <a:t>Priority Queue</a:t>
            </a:r>
            <a:r>
              <a:rPr lang="en-IN" sz="1400" dirty="0"/>
              <a:t> 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each operation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/>
                <a:cs typeface="Arial"/>
              </a:rPr>
              <a:t>List out the advantages and applications of </a:t>
            </a:r>
            <a:r>
              <a:rPr lang="en-IN" sz="1600" dirty="0"/>
              <a:t>Priority Queue</a:t>
            </a:r>
            <a:r>
              <a:rPr lang="en-IN" sz="1400" dirty="0"/>
              <a:t> </a:t>
            </a:r>
            <a:r>
              <a:rPr lang="en-US" sz="1600" dirty="0">
                <a:latin typeface="Arial"/>
                <a:cs typeface="Arial"/>
              </a:rPr>
              <a:t>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=""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=""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=""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=""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</a:t>
            </a:r>
            <a:r>
              <a:rPr lang="en-IN" sz="1600" dirty="0"/>
              <a:t>Priority Queue</a:t>
            </a:r>
            <a:r>
              <a:rPr lang="en-IN" sz="1400" dirty="0"/>
              <a:t>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definition, types and operations of </a:t>
            </a:r>
            <a:r>
              <a:rPr lang="en-IN" sz="1600" dirty="0"/>
              <a:t>Priority Queue</a:t>
            </a:r>
            <a:r>
              <a:rPr lang="en-IN" sz="1400" dirty="0"/>
              <a:t> </a:t>
            </a:r>
            <a:r>
              <a:rPr lang="en-US" sz="1600" dirty="0">
                <a:latin typeface="Arial" panose="020B0604020202020204" pitchFamily="34" charset="0"/>
              </a:rPr>
              <a:t>and its applications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3886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140528" y="197427"/>
            <a:ext cx="8324237" cy="727364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			INTRODUCTION </a:t>
            </a:r>
            <a:r>
              <a:rPr lang="en-US" sz="2400" dirty="0" smtClean="0"/>
              <a:t>TO  PRIORITY QUEUE</a:t>
            </a:r>
            <a:endParaRPr lang="en-US" sz="2400" dirty="0"/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230545" y="966355"/>
            <a:ext cx="1157352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/>
              <a:t>A </a:t>
            </a:r>
            <a:r>
              <a:rPr lang="en-US" sz="2400" b="1" dirty="0" smtClean="0"/>
              <a:t>Priority Queue</a:t>
            </a:r>
            <a:r>
              <a:rPr lang="en-US" sz="2400" dirty="0" smtClean="0"/>
              <a:t> is a special type of queue where each element is associated with a priority. In a </a:t>
            </a:r>
            <a:r>
              <a:rPr lang="en-US" sz="2400" b="1" dirty="0" smtClean="0"/>
              <a:t>normal queue</a:t>
            </a:r>
            <a:r>
              <a:rPr lang="en-US" sz="2400" dirty="0" smtClean="0"/>
              <a:t>, elements are processed in a </a:t>
            </a:r>
            <a:r>
              <a:rPr lang="en-US" sz="2400" b="1" dirty="0" smtClean="0"/>
              <a:t>FIFO (First In First Out)</a:t>
            </a:r>
            <a:r>
              <a:rPr lang="en-US" sz="2400" dirty="0" smtClean="0"/>
              <a:t> manner, the first element added is the first one to be removed.</a:t>
            </a:r>
          </a:p>
          <a:p>
            <a:pPr algn="just"/>
            <a:r>
              <a:rPr lang="en-US" sz="2400" dirty="0" smtClean="0"/>
              <a:t>In contrast, in a </a:t>
            </a:r>
            <a:r>
              <a:rPr lang="en-US" sz="2400" b="1" dirty="0" smtClean="0"/>
              <a:t>priority queue</a:t>
            </a:r>
            <a:r>
              <a:rPr lang="en-US" sz="2400" dirty="0" smtClean="0"/>
              <a:t>, elements are processed based on their </a:t>
            </a:r>
            <a:r>
              <a:rPr lang="en-US" sz="2400" b="1" dirty="0" smtClean="0"/>
              <a:t>priority</a:t>
            </a:r>
            <a:r>
              <a:rPr lang="en-US" sz="2400" dirty="0" smtClean="0"/>
              <a:t> rather than the order in which they were added. The element with the highest priority is always </a:t>
            </a:r>
            <a:r>
              <a:rPr lang="en-US" sz="2400" dirty="0" err="1" smtClean="0"/>
              <a:t>dequeued</a:t>
            </a:r>
            <a:r>
              <a:rPr lang="en-US" sz="2400" dirty="0" smtClean="0"/>
              <a:t> first.</a:t>
            </a:r>
          </a:p>
          <a:p>
            <a:pPr algn="just"/>
            <a:r>
              <a:rPr lang="en-US" sz="2400" dirty="0" smtClean="0"/>
              <a:t>Priority queues are commonly used in many algorithms, such as </a:t>
            </a:r>
            <a:r>
              <a:rPr lang="en-US" sz="2400" dirty="0" err="1" smtClean="0"/>
              <a:t>Dijkstra’s</a:t>
            </a:r>
            <a:r>
              <a:rPr lang="en-US" sz="2400" dirty="0" smtClean="0"/>
              <a:t> shortest path algorithm, Huffman encoding, and other greedy algorithms, where processing based on the priority of elements is crucial.</a:t>
            </a:r>
          </a:p>
          <a:p>
            <a:pPr algn="just"/>
            <a:r>
              <a:rPr lang="en-US" sz="2400" b="1" dirty="0" smtClean="0"/>
              <a:t>Types of Priority Queue</a:t>
            </a:r>
            <a:endParaRPr lang="en-US" sz="2400" dirty="0" smtClean="0"/>
          </a:p>
          <a:p>
            <a:pPr lvl="0" algn="just"/>
            <a:r>
              <a:rPr lang="en-US" sz="2400" b="1" dirty="0" smtClean="0"/>
              <a:t>Max Priority Queue</a:t>
            </a:r>
            <a:r>
              <a:rPr lang="en-US" sz="2400" dirty="0" smtClean="0"/>
              <a:t>: In a max priority queue, elements with the highest priority are </a:t>
            </a:r>
            <a:r>
              <a:rPr lang="en-US" sz="2400" dirty="0" err="1" smtClean="0"/>
              <a:t>dequeued</a:t>
            </a:r>
            <a:r>
              <a:rPr lang="en-US" sz="2400" dirty="0" smtClean="0"/>
              <a:t> first.</a:t>
            </a:r>
          </a:p>
          <a:p>
            <a:pPr lvl="0" algn="just"/>
            <a:r>
              <a:rPr lang="en-US" sz="2400" b="1" dirty="0" smtClean="0"/>
              <a:t>Min Priority Queue</a:t>
            </a:r>
            <a:r>
              <a:rPr lang="en-US" sz="2400" dirty="0" smtClean="0"/>
              <a:t>: In a min priority queue, elements with the lowest priority are </a:t>
            </a:r>
            <a:r>
              <a:rPr lang="en-US" sz="2400" dirty="0" err="1" smtClean="0"/>
              <a:t>dequeued</a:t>
            </a:r>
            <a:r>
              <a:rPr lang="en-US" sz="2400" dirty="0" smtClean="0"/>
              <a:t> first.</a:t>
            </a:r>
          </a:p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406905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1828801" y="300038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Example of Priority Queue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3" name="Picture 10" descr="Data Structures and Algorithms Data Structure Lecture Priority">
            <a:extLst>
              <a:ext uri="{FF2B5EF4-FFF2-40B4-BE49-F238E27FC236}">
                <a16:creationId xmlns="" xmlns:a16="http://schemas.microsoft.com/office/drawing/2014/main" id="{45A5799F-FD10-8545-8FE1-4C28F873CF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7643" t="37050" r="17361" b="16090"/>
          <a:stretch/>
        </p:blipFill>
        <p:spPr bwMode="auto">
          <a:xfrm>
            <a:off x="5600700" y="1386121"/>
            <a:ext cx="5257801" cy="284298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iority Queue in Data Structure: Implementation &amp; Types by Simplilearn">
            <a:extLst>
              <a:ext uri="{FF2B5EF4-FFF2-40B4-BE49-F238E27FC236}">
                <a16:creationId xmlns="" xmlns:a16="http://schemas.microsoft.com/office/drawing/2014/main" id="{1C4FB4B2-4D1D-644E-A9A9-959EA1A600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81772"/>
          <a:stretch/>
        </p:blipFill>
        <p:spPr bwMode="auto">
          <a:xfrm>
            <a:off x="4925749" y="4629150"/>
            <a:ext cx="5993423" cy="82523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99F1D6D-A84F-0B44-B328-91585150A6D6}"/>
              </a:ext>
            </a:extLst>
          </p:cNvPr>
          <p:cNvSpPr txBox="1"/>
          <p:nvPr/>
        </p:nvSpPr>
        <p:spPr>
          <a:xfrm>
            <a:off x="1427506" y="2673905"/>
            <a:ext cx="2577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Real Life Priority Queue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DE6D770-92FD-CD46-AEF9-FA080694C99D}"/>
              </a:ext>
            </a:extLst>
          </p:cNvPr>
          <p:cNvSpPr txBox="1"/>
          <p:nvPr/>
        </p:nvSpPr>
        <p:spPr>
          <a:xfrm>
            <a:off x="1427506" y="4937667"/>
            <a:ext cx="3040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Priority Queue using linked list</a:t>
            </a:r>
          </a:p>
        </p:txBody>
      </p:sp>
    </p:spTree>
    <p:extLst>
      <p:ext uri="{BB962C8B-B14F-4D97-AF65-F5344CB8AC3E}">
        <p14:creationId xmlns="" xmlns:p14="http://schemas.microsoft.com/office/powerpoint/2010/main" val="68035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OPERATIONS ON Priority Queue</a:t>
            </a:r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76746" y="1247728"/>
          <a:ext cx="10286998" cy="4339341"/>
        </p:xfrm>
        <a:graphic>
          <a:graphicData uri="http://schemas.openxmlformats.org/drawingml/2006/table">
            <a:tbl>
              <a:tblPr/>
              <a:tblGrid>
                <a:gridCol w="2282427"/>
                <a:gridCol w="5411390"/>
                <a:gridCol w="2593181"/>
              </a:tblGrid>
              <a:tr h="60756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+mn-lt"/>
                          <a:ea typeface="Times New Roman"/>
                          <a:cs typeface="Times New Roman"/>
                        </a:rPr>
                        <a:t>Operation</a:t>
                      </a:r>
                      <a:endParaRPr lang="en-US" sz="24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+mn-lt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24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+mn-lt"/>
                          <a:ea typeface="Times New Roman"/>
                          <a:cs typeface="Times New Roman"/>
                        </a:rPr>
                        <a:t>Time Complexity</a:t>
                      </a:r>
                      <a:endParaRPr lang="en-US" sz="24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6123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+mn-lt"/>
                          <a:ea typeface="Times New Roman"/>
                          <a:cs typeface="Times New Roman"/>
                        </a:rPr>
                        <a:t>Enqueue</a:t>
                      </a:r>
                      <a:endParaRPr lang="en-US" sz="24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Times New Roman"/>
                          <a:cs typeface="Times New Roman"/>
                        </a:rPr>
                        <a:t>Insert an item into the priority queue with a given priority.</a:t>
                      </a:r>
                      <a:endParaRPr lang="en-US" sz="24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Times New Roman"/>
                          <a:cs typeface="Times New Roman"/>
                        </a:rPr>
                        <a:t>O(log n)</a:t>
                      </a:r>
                      <a:endParaRPr lang="en-US" sz="24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756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+mn-lt"/>
                          <a:ea typeface="Times New Roman"/>
                          <a:cs typeface="Times New Roman"/>
                        </a:rPr>
                        <a:t>Dequeue</a:t>
                      </a:r>
                      <a:endParaRPr lang="en-US" sz="24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Times New Roman"/>
                          <a:cs typeface="Times New Roman"/>
                        </a:rPr>
                        <a:t>Remove and return the item with the highest priority.</a:t>
                      </a:r>
                      <a:endParaRPr lang="en-US" sz="24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+mn-lt"/>
                          <a:ea typeface="Times New Roman"/>
                          <a:cs typeface="Times New Roman"/>
                        </a:rPr>
                        <a:t>O(log n)</a:t>
                      </a:r>
                      <a:endParaRPr lang="en-US" sz="24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6123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+mn-lt"/>
                          <a:ea typeface="Times New Roman"/>
                          <a:cs typeface="Times New Roman"/>
                        </a:rPr>
                        <a:t>Peek</a:t>
                      </a:r>
                      <a:endParaRPr lang="en-US" sz="24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Times New Roman"/>
                          <a:cs typeface="Times New Roman"/>
                        </a:rPr>
                        <a:t>View the item with the highest priority without removing it.</a:t>
                      </a:r>
                      <a:endParaRPr lang="en-US" sz="24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+mn-lt"/>
                          <a:ea typeface="Times New Roman"/>
                          <a:cs typeface="Times New Roman"/>
                        </a:rPr>
                        <a:t>O(1)</a:t>
                      </a:r>
                      <a:endParaRPr lang="en-US" sz="24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756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+mn-lt"/>
                          <a:ea typeface="Times New Roman"/>
                          <a:cs typeface="Times New Roman"/>
                        </a:rPr>
                        <a:t>Is Empty</a:t>
                      </a:r>
                      <a:endParaRPr lang="en-US" sz="24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Times New Roman"/>
                          <a:cs typeface="Times New Roman"/>
                        </a:rPr>
                        <a:t>Check if the priority queue is empty.</a:t>
                      </a:r>
                      <a:endParaRPr lang="en-US" sz="24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Times New Roman"/>
                          <a:cs typeface="Times New Roman"/>
                        </a:rPr>
                        <a:t>O(1)</a:t>
                      </a:r>
                      <a:endParaRPr lang="en-US" sz="24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Summary of Common Operations on Priority Queue in Python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8542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ABA00810-6F60-3E42-8957-4B1A5773F1D8}"/>
              </a:ext>
            </a:extLst>
          </p:cNvPr>
          <p:cNvSpPr/>
          <p:nvPr/>
        </p:nvSpPr>
        <p:spPr>
          <a:xfrm>
            <a:off x="5986463" y="3767554"/>
            <a:ext cx="4657725" cy="229034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2400" dirty="0"/>
              <a:t>Node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Setup the Priority using Singly Linked List</a:t>
            </a:r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356259" y="1320731"/>
            <a:ext cx="1104516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IN" sz="2400" dirty="0"/>
              <a:t> Before we implement those operations, first we need to </a:t>
            </a:r>
            <a:r>
              <a:rPr lang="en-IN" sz="2400" b="1" dirty="0"/>
              <a:t>setup empty list</a:t>
            </a:r>
            <a:r>
              <a:rPr lang="en-IN" sz="2400" dirty="0"/>
              <a:t>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 b="1" dirty="0"/>
              <a:t>Perform the following steps to setup Empty Priority Queue:</a:t>
            </a:r>
            <a:r>
              <a:rPr lang="en-IN" sz="2000" dirty="0"/>
              <a:t>.</a:t>
            </a:r>
          </a:p>
          <a:p>
            <a:r>
              <a:rPr lang="en-IN" sz="2400" dirty="0"/>
              <a:t>   Step 1 - Define a </a:t>
            </a:r>
            <a:r>
              <a:rPr lang="en-IN" sz="2400" b="1" dirty="0"/>
              <a:t>Node</a:t>
            </a:r>
            <a:r>
              <a:rPr lang="en-IN" sz="2400" dirty="0"/>
              <a:t> structure with three members/fields </a:t>
            </a:r>
            <a:r>
              <a:rPr lang="en-IN" sz="2400" b="1" dirty="0"/>
              <a:t>data, priority</a:t>
            </a:r>
            <a:r>
              <a:rPr lang="en-IN" sz="2400" dirty="0"/>
              <a:t> and </a:t>
            </a:r>
            <a:r>
              <a:rPr lang="en-IN" sz="2400" b="1" dirty="0"/>
              <a:t>next</a:t>
            </a:r>
            <a:endParaRPr lang="en-IN" sz="2400" dirty="0"/>
          </a:p>
          <a:p>
            <a:r>
              <a:rPr lang="en-IN" sz="2400" dirty="0"/>
              <a:t>   Step 2 - Define one Node pointer ‘</a:t>
            </a:r>
            <a:r>
              <a:rPr lang="en-IN" sz="2400" b="1" dirty="0"/>
              <a:t>front</a:t>
            </a:r>
            <a:r>
              <a:rPr lang="en-IN" sz="2400" dirty="0"/>
              <a:t>' and set it to </a:t>
            </a:r>
            <a:r>
              <a:rPr lang="en-IN" sz="2400" b="1" dirty="0"/>
              <a:t>NULL</a:t>
            </a:r>
            <a:r>
              <a:rPr lang="en-IN" sz="2400" dirty="0"/>
              <a:t>.</a:t>
            </a:r>
          </a:p>
          <a:p>
            <a:r>
              <a:rPr lang="en-IN" sz="2400" dirty="0"/>
              <a:t>   Step 3 – Then perform the Operations one by one.</a:t>
            </a:r>
          </a:p>
          <a:p>
            <a:pPr>
              <a:buFont typeface="Wingdings" pitchFamily="2" charset="2"/>
              <a:buChar char="v"/>
            </a:pPr>
            <a:endParaRPr lang="en-IN" sz="2400" dirty="0"/>
          </a:p>
          <a:p>
            <a:r>
              <a:rPr lang="en-IN" sz="2400" dirty="0"/>
              <a:t>      The node is defined (represented) as:</a:t>
            </a:r>
          </a:p>
          <a:p>
            <a:r>
              <a:rPr lang="en-IN" sz="2400" dirty="0"/>
              <a:t>    	</a:t>
            </a:r>
            <a:r>
              <a:rPr lang="en-IN" sz="2400" dirty="0" err="1"/>
              <a:t>struct</a:t>
            </a:r>
            <a:r>
              <a:rPr lang="en-IN" sz="2400" dirty="0"/>
              <a:t> Node </a:t>
            </a:r>
          </a:p>
          <a:p>
            <a:r>
              <a:rPr lang="en-IN" sz="2400" dirty="0"/>
              <a:t>    	{</a:t>
            </a:r>
          </a:p>
          <a:p>
            <a:r>
              <a:rPr lang="en-IN" sz="2400" dirty="0"/>
              <a:t>        	    int  data; </a:t>
            </a:r>
          </a:p>
          <a:p>
            <a:r>
              <a:rPr lang="en-IN" sz="2400" dirty="0"/>
              <a:t>	    int  priority;</a:t>
            </a:r>
          </a:p>
          <a:p>
            <a:r>
              <a:rPr lang="en-IN" sz="2400" dirty="0"/>
              <a:t>        	    </a:t>
            </a:r>
            <a:r>
              <a:rPr lang="en-IN" sz="2400" dirty="0" err="1"/>
              <a:t>struct</a:t>
            </a:r>
            <a:r>
              <a:rPr lang="en-IN" sz="2400" dirty="0"/>
              <a:t> Node  * next; </a:t>
            </a:r>
          </a:p>
          <a:p>
            <a:r>
              <a:rPr lang="en-IN" sz="2400" dirty="0"/>
              <a:t>     	}*front=NULL;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E52FC85-4F30-0F46-A59D-4BAD5F977FAF}"/>
              </a:ext>
            </a:extLst>
          </p:cNvPr>
          <p:cNvSpPr/>
          <p:nvPr/>
        </p:nvSpPr>
        <p:spPr>
          <a:xfrm>
            <a:off x="6096000" y="3957638"/>
            <a:ext cx="2219326" cy="1600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Priority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542D178-8E82-6D4D-BF58-3D06E1C47D8D}"/>
              </a:ext>
            </a:extLst>
          </p:cNvPr>
          <p:cNvSpPr/>
          <p:nvPr/>
        </p:nvSpPr>
        <p:spPr>
          <a:xfrm>
            <a:off x="8315326" y="3951357"/>
            <a:ext cx="1328737" cy="16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B979424-6128-FE41-8EB2-76A674C82B7E}"/>
              </a:ext>
            </a:extLst>
          </p:cNvPr>
          <p:cNvSpPr/>
          <p:nvPr/>
        </p:nvSpPr>
        <p:spPr>
          <a:xfrm>
            <a:off x="9644063" y="3957638"/>
            <a:ext cx="890589" cy="1600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</p:spTree>
    <p:extLst>
      <p:ext uri="{BB962C8B-B14F-4D97-AF65-F5344CB8AC3E}">
        <p14:creationId xmlns="" xmlns:p14="http://schemas.microsoft.com/office/powerpoint/2010/main" val="314284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243190" y="253280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i) Enqueue in Priority Queue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BC7A2590-DF2D-BA48-A2C0-20F30EF9A6BC}"/>
              </a:ext>
            </a:extLst>
          </p:cNvPr>
          <p:cNvSpPr txBox="1"/>
          <p:nvPr/>
        </p:nvSpPr>
        <p:spPr>
          <a:xfrm>
            <a:off x="1020539" y="1513525"/>
            <a:ext cx="2582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Original Priority Queue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B5CC088A-2442-3143-9084-7B5C91438065}"/>
              </a:ext>
            </a:extLst>
          </p:cNvPr>
          <p:cNvSpPr txBox="1"/>
          <p:nvPr/>
        </p:nvSpPr>
        <p:spPr>
          <a:xfrm>
            <a:off x="1020539" y="3444296"/>
            <a:ext cx="537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Enqueue of node with data 40 and priority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B4DCDA9-F0CE-E94B-9518-AD544B5FD730}"/>
              </a:ext>
            </a:extLst>
          </p:cNvPr>
          <p:cNvGrpSpPr/>
          <p:nvPr/>
        </p:nvGrpSpPr>
        <p:grpSpPr>
          <a:xfrm>
            <a:off x="3657600" y="1971675"/>
            <a:ext cx="5301687" cy="571500"/>
            <a:chOff x="3657600" y="1971675"/>
            <a:chExt cx="5301687" cy="571500"/>
          </a:xfrm>
        </p:grpSpPr>
        <p:grpSp>
          <p:nvGrpSpPr>
            <p:cNvPr id="54" name="Group 53">
              <a:extLst>
                <a:ext uri="{FF2B5EF4-FFF2-40B4-BE49-F238E27FC236}">
                  <a16:creationId xmlns="" xmlns:a16="http://schemas.microsoft.com/office/drawing/2014/main" id="{961614CE-5194-CF42-8C3D-382D63B5AFC3}"/>
                </a:ext>
              </a:extLst>
            </p:cNvPr>
            <p:cNvGrpSpPr/>
            <p:nvPr/>
          </p:nvGrpSpPr>
          <p:grpSpPr>
            <a:xfrm>
              <a:off x="3657600" y="1971675"/>
              <a:ext cx="1514475" cy="571500"/>
              <a:chOff x="3657600" y="1971675"/>
              <a:chExt cx="1514475" cy="5715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="" xmlns:a16="http://schemas.microsoft.com/office/drawing/2014/main" id="{B3BB7489-0208-B346-98AD-E3DD49F4B5F8}"/>
                  </a:ext>
                </a:extLst>
              </p:cNvPr>
              <p:cNvSpPr/>
              <p:nvPr/>
            </p:nvSpPr>
            <p:spPr>
              <a:xfrm>
                <a:off x="3657600" y="1971675"/>
                <a:ext cx="514350" cy="5715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="" xmlns:a16="http://schemas.microsoft.com/office/drawing/2014/main" id="{4961EB13-F91A-1D4A-BD14-C23BEA8E53AB}"/>
                  </a:ext>
                </a:extLst>
              </p:cNvPr>
              <p:cNvSpPr/>
              <p:nvPr/>
            </p:nvSpPr>
            <p:spPr>
              <a:xfrm>
                <a:off x="4171950" y="1971675"/>
                <a:ext cx="514350" cy="5715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23</a:t>
                </a: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="" xmlns:a16="http://schemas.microsoft.com/office/drawing/2014/main" id="{B76E9629-DE2B-1D46-BA8B-AC3CA5517C00}"/>
                  </a:ext>
                </a:extLst>
              </p:cNvPr>
              <p:cNvCxnSpPr>
                <a:stCxn id="51" idx="3"/>
              </p:cNvCxnSpPr>
              <p:nvPr/>
            </p:nvCxnSpPr>
            <p:spPr>
              <a:xfrm>
                <a:off x="4686300" y="2257425"/>
                <a:ext cx="4857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="" xmlns:a16="http://schemas.microsoft.com/office/drawing/2014/main" id="{BED69A12-BBB0-6E40-A14B-3834A82D83B5}"/>
                </a:ext>
              </a:extLst>
            </p:cNvPr>
            <p:cNvGrpSpPr/>
            <p:nvPr/>
          </p:nvGrpSpPr>
          <p:grpSpPr>
            <a:xfrm>
              <a:off x="5172075" y="1971675"/>
              <a:ext cx="1514475" cy="571500"/>
              <a:chOff x="3657600" y="1971675"/>
              <a:chExt cx="1514475" cy="5715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="" xmlns:a16="http://schemas.microsoft.com/office/drawing/2014/main" id="{7A1E5869-5FD2-2144-A278-2F1E0894A21C}"/>
                  </a:ext>
                </a:extLst>
              </p:cNvPr>
              <p:cNvSpPr/>
              <p:nvPr/>
            </p:nvSpPr>
            <p:spPr>
              <a:xfrm>
                <a:off x="3657600" y="1971675"/>
                <a:ext cx="514350" cy="5715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="" xmlns:a16="http://schemas.microsoft.com/office/drawing/2014/main" id="{AC215148-090E-9940-B132-D613F4D9C557}"/>
                  </a:ext>
                </a:extLst>
              </p:cNvPr>
              <p:cNvSpPr/>
              <p:nvPr/>
            </p:nvSpPr>
            <p:spPr>
              <a:xfrm>
                <a:off x="4171950" y="1971675"/>
                <a:ext cx="514350" cy="5715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  <p:cxnSp>
            <p:nvCxnSpPr>
              <p:cNvPr id="58" name="Straight Arrow Connector 57">
                <a:extLst>
                  <a:ext uri="{FF2B5EF4-FFF2-40B4-BE49-F238E27FC236}">
                    <a16:creationId xmlns="" xmlns:a16="http://schemas.microsoft.com/office/drawing/2014/main" id="{69A07CAE-0E8E-F44E-ACDA-A55DA8D689F5}"/>
                  </a:ext>
                </a:extLst>
              </p:cNvPr>
              <p:cNvCxnSpPr>
                <a:stCxn id="57" idx="3"/>
              </p:cNvCxnSpPr>
              <p:nvPr/>
            </p:nvCxnSpPr>
            <p:spPr>
              <a:xfrm>
                <a:off x="4686300" y="2257425"/>
                <a:ext cx="4857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="" xmlns:a16="http://schemas.microsoft.com/office/drawing/2014/main" id="{E24BC662-0DE9-A046-A01C-43C1EFEA01D7}"/>
                </a:ext>
              </a:extLst>
            </p:cNvPr>
            <p:cNvGrpSpPr/>
            <p:nvPr/>
          </p:nvGrpSpPr>
          <p:grpSpPr>
            <a:xfrm>
              <a:off x="6686550" y="1971675"/>
              <a:ext cx="1514475" cy="571500"/>
              <a:chOff x="3657600" y="1971675"/>
              <a:chExt cx="1514475" cy="57150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="" xmlns:a16="http://schemas.microsoft.com/office/drawing/2014/main" id="{788EF44D-A555-394C-9FE6-F0EB6FF80D44}"/>
                  </a:ext>
                </a:extLst>
              </p:cNvPr>
              <p:cNvSpPr/>
              <p:nvPr/>
            </p:nvSpPr>
            <p:spPr>
              <a:xfrm>
                <a:off x="3657600" y="1971675"/>
                <a:ext cx="514350" cy="5715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="" xmlns:a16="http://schemas.microsoft.com/office/drawing/2014/main" id="{A00D72A3-9FC8-A145-B5BB-3F1D037120C5}"/>
                  </a:ext>
                </a:extLst>
              </p:cNvPr>
              <p:cNvSpPr/>
              <p:nvPr/>
            </p:nvSpPr>
            <p:spPr>
              <a:xfrm>
                <a:off x="4171950" y="1971675"/>
                <a:ext cx="514350" cy="5715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15</a:t>
                </a:r>
              </a:p>
            </p:txBody>
          </p:sp>
          <p:cxnSp>
            <p:nvCxnSpPr>
              <p:cNvPr id="62" name="Straight Arrow Connector 61">
                <a:extLst>
                  <a:ext uri="{FF2B5EF4-FFF2-40B4-BE49-F238E27FC236}">
                    <a16:creationId xmlns="" xmlns:a16="http://schemas.microsoft.com/office/drawing/2014/main" id="{D7BB4298-DE30-BF4A-9388-AB2A1FB4CFBE}"/>
                  </a:ext>
                </a:extLst>
              </p:cNvPr>
              <p:cNvCxnSpPr>
                <a:stCxn id="61" idx="3"/>
              </p:cNvCxnSpPr>
              <p:nvPr/>
            </p:nvCxnSpPr>
            <p:spPr>
              <a:xfrm>
                <a:off x="4686300" y="2257425"/>
                <a:ext cx="4857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" name="TextBox 62">
              <a:extLst>
                <a:ext uri="{FF2B5EF4-FFF2-40B4-BE49-F238E27FC236}">
                  <a16:creationId xmlns="" xmlns:a16="http://schemas.microsoft.com/office/drawing/2014/main" id="{A20A6800-0AE6-584D-AC03-9399CF6334F0}"/>
                </a:ext>
              </a:extLst>
            </p:cNvPr>
            <p:cNvSpPr txBox="1"/>
            <p:nvPr/>
          </p:nvSpPr>
          <p:spPr>
            <a:xfrm>
              <a:off x="8229600" y="2057370"/>
              <a:ext cx="7296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NULL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="" xmlns:a16="http://schemas.microsoft.com/office/drawing/2014/main" id="{5E0A73D6-F85F-6740-A9C7-A7878AE5F564}"/>
              </a:ext>
            </a:extLst>
          </p:cNvPr>
          <p:cNvSpPr txBox="1"/>
          <p:nvPr/>
        </p:nvSpPr>
        <p:spPr>
          <a:xfrm>
            <a:off x="3807106" y="2787011"/>
            <a:ext cx="742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Front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E63D4005-DF98-1146-AD24-3043D4C49478}"/>
              </a:ext>
            </a:extLst>
          </p:cNvPr>
          <p:cNvCxnSpPr>
            <a:cxnSpLocks/>
            <a:stCxn id="64" idx="0"/>
          </p:cNvCxnSpPr>
          <p:nvPr/>
        </p:nvCxnSpPr>
        <p:spPr>
          <a:xfrm flipH="1" flipV="1">
            <a:off x="4171950" y="2543175"/>
            <a:ext cx="6380" cy="2438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="" xmlns:a16="http://schemas.microsoft.com/office/drawing/2014/main" id="{950057B8-F13F-A64B-A8A6-6CC790E09AD7}"/>
              </a:ext>
            </a:extLst>
          </p:cNvPr>
          <p:cNvSpPr/>
          <p:nvPr/>
        </p:nvSpPr>
        <p:spPr>
          <a:xfrm>
            <a:off x="1233487" y="4129029"/>
            <a:ext cx="514350" cy="571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A84C02FE-C166-BF46-8F1B-3EE23BE55294}"/>
              </a:ext>
            </a:extLst>
          </p:cNvPr>
          <p:cNvSpPr/>
          <p:nvPr/>
        </p:nvSpPr>
        <p:spPr>
          <a:xfrm>
            <a:off x="1747837" y="4129029"/>
            <a:ext cx="51435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23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="" xmlns:a16="http://schemas.microsoft.com/office/drawing/2014/main" id="{A53E56F3-58A9-BF4B-9EBE-F6622AED93CC}"/>
              </a:ext>
            </a:extLst>
          </p:cNvPr>
          <p:cNvGrpSpPr/>
          <p:nvPr/>
        </p:nvGrpSpPr>
        <p:grpSpPr>
          <a:xfrm>
            <a:off x="5172075" y="4114771"/>
            <a:ext cx="1514475" cy="571500"/>
            <a:chOff x="3657600" y="1971675"/>
            <a:chExt cx="1514475" cy="571500"/>
          </a:xfrm>
        </p:grpSpPr>
        <p:sp>
          <p:nvSpPr>
            <p:cNvPr id="76" name="Rectangle 75">
              <a:extLst>
                <a:ext uri="{FF2B5EF4-FFF2-40B4-BE49-F238E27FC236}">
                  <a16:creationId xmlns="" xmlns:a16="http://schemas.microsoft.com/office/drawing/2014/main" id="{7CEF1933-6A98-A345-A683-08C25DE0BC72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="" xmlns:a16="http://schemas.microsoft.com/office/drawing/2014/main" id="{62E5EF0B-6A7F-E74E-A6B4-02A16096FCC9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="" xmlns:a16="http://schemas.microsoft.com/office/drawing/2014/main" id="{EB661A42-B394-CC40-A53E-A982863E0E74}"/>
                </a:ext>
              </a:extLst>
            </p:cNvPr>
            <p:cNvCxnSpPr>
              <a:stCxn id="77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="" xmlns:a16="http://schemas.microsoft.com/office/drawing/2014/main" id="{CC2D254D-A54A-3F4B-BEC8-A36B03E91850}"/>
              </a:ext>
            </a:extLst>
          </p:cNvPr>
          <p:cNvGrpSpPr/>
          <p:nvPr/>
        </p:nvGrpSpPr>
        <p:grpSpPr>
          <a:xfrm>
            <a:off x="6686550" y="4114771"/>
            <a:ext cx="1514475" cy="571500"/>
            <a:chOff x="3657600" y="1971675"/>
            <a:chExt cx="1514475" cy="571500"/>
          </a:xfrm>
        </p:grpSpPr>
        <p:sp>
          <p:nvSpPr>
            <p:cNvPr id="80" name="Rectangle 79">
              <a:extLst>
                <a:ext uri="{FF2B5EF4-FFF2-40B4-BE49-F238E27FC236}">
                  <a16:creationId xmlns="" xmlns:a16="http://schemas.microsoft.com/office/drawing/2014/main" id="{77B2EF88-E36A-E148-9B14-EA7FC34D1469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="" xmlns:a16="http://schemas.microsoft.com/office/drawing/2014/main" id="{AB8A83B8-E089-2B40-81B5-D19A87AB6CF9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="" xmlns:a16="http://schemas.microsoft.com/office/drawing/2014/main" id="{9DB9661B-9C6E-2D48-8200-CE63E9D5ABEB}"/>
                </a:ext>
              </a:extLst>
            </p:cNvPr>
            <p:cNvCxnSpPr>
              <a:stCxn id="81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="" xmlns:a16="http://schemas.microsoft.com/office/drawing/2014/main" id="{85238EC6-E9F2-364A-AF0B-A30A2850B8BD}"/>
              </a:ext>
            </a:extLst>
          </p:cNvPr>
          <p:cNvSpPr txBox="1"/>
          <p:nvPr/>
        </p:nvSpPr>
        <p:spPr>
          <a:xfrm>
            <a:off x="8229600" y="4200466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="" xmlns:a16="http://schemas.microsoft.com/office/drawing/2014/main" id="{28E4E529-AF87-8A45-87FE-4AABA57153DC}"/>
              </a:ext>
            </a:extLst>
          </p:cNvPr>
          <p:cNvSpPr txBox="1"/>
          <p:nvPr/>
        </p:nvSpPr>
        <p:spPr>
          <a:xfrm>
            <a:off x="1382993" y="4944365"/>
            <a:ext cx="742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Front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="" xmlns:a16="http://schemas.microsoft.com/office/drawing/2014/main" id="{C3C9E111-25F8-6240-B17F-410B6B52E91A}"/>
              </a:ext>
            </a:extLst>
          </p:cNvPr>
          <p:cNvCxnSpPr>
            <a:cxnSpLocks/>
            <a:stCxn id="84" idx="0"/>
          </p:cNvCxnSpPr>
          <p:nvPr/>
        </p:nvCxnSpPr>
        <p:spPr>
          <a:xfrm flipH="1" flipV="1">
            <a:off x="1747837" y="4700529"/>
            <a:ext cx="6380" cy="2438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="" xmlns:a16="http://schemas.microsoft.com/office/drawing/2014/main" id="{BD684C6F-5868-8E4D-8EDD-15CB7A13C31A}"/>
              </a:ext>
            </a:extLst>
          </p:cNvPr>
          <p:cNvSpPr/>
          <p:nvPr/>
        </p:nvSpPr>
        <p:spPr>
          <a:xfrm>
            <a:off x="3171825" y="5085367"/>
            <a:ext cx="514350" cy="571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="" xmlns:a16="http://schemas.microsoft.com/office/drawing/2014/main" id="{46BF6191-DC40-944B-A1F0-88B3C1E691C3}"/>
              </a:ext>
            </a:extLst>
          </p:cNvPr>
          <p:cNvSpPr/>
          <p:nvPr/>
        </p:nvSpPr>
        <p:spPr>
          <a:xfrm>
            <a:off x="3686175" y="5085367"/>
            <a:ext cx="51435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0B13CEB2-C4F2-B048-B78A-E62BC4876157}"/>
              </a:ext>
            </a:extLst>
          </p:cNvPr>
          <p:cNvSpPr txBox="1"/>
          <p:nvPr/>
        </p:nvSpPr>
        <p:spPr>
          <a:xfrm>
            <a:off x="3075110" y="6015063"/>
            <a:ext cx="122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NewNode</a:t>
            </a:r>
            <a:endParaRPr lang="en-US" sz="2000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="" xmlns:a16="http://schemas.microsoft.com/office/drawing/2014/main" id="{680BE975-C8A5-FD4A-83CC-C1AF0882AADF}"/>
              </a:ext>
            </a:extLst>
          </p:cNvPr>
          <p:cNvCxnSpPr>
            <a:cxnSpLocks/>
            <a:stCxn id="92" idx="0"/>
          </p:cNvCxnSpPr>
          <p:nvPr/>
        </p:nvCxnSpPr>
        <p:spPr>
          <a:xfrm flipV="1">
            <a:off x="3686175" y="5714047"/>
            <a:ext cx="0" cy="301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="" xmlns:a16="http://schemas.microsoft.com/office/drawing/2014/main" id="{E139A0E6-044F-3A4A-B2ED-53DD317BA281}"/>
              </a:ext>
            </a:extLst>
          </p:cNvPr>
          <p:cNvCxnSpPr>
            <a:stCxn id="73" idx="3"/>
            <a:endCxn id="89" idx="1"/>
          </p:cNvCxnSpPr>
          <p:nvPr/>
        </p:nvCxnSpPr>
        <p:spPr>
          <a:xfrm>
            <a:off x="2262187" y="4414779"/>
            <a:ext cx="909638" cy="9563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="" xmlns:a16="http://schemas.microsoft.com/office/drawing/2014/main" id="{F0A0E67B-8CA0-0E4D-8250-96BA0F7D9380}"/>
              </a:ext>
            </a:extLst>
          </p:cNvPr>
          <p:cNvCxnSpPr>
            <a:cxnSpLocks/>
            <a:stCxn id="90" idx="3"/>
            <a:endCxn id="76" idx="1"/>
          </p:cNvCxnSpPr>
          <p:nvPr/>
        </p:nvCxnSpPr>
        <p:spPr>
          <a:xfrm flipV="1">
            <a:off x="4200525" y="4400521"/>
            <a:ext cx="971550" cy="970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02136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606871" y="128590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i) Enqueue in Priority Queue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322118" y="893618"/>
            <a:ext cx="1168977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b="1" dirty="0" smtClean="0"/>
              <a:t>Steps for </a:t>
            </a:r>
            <a:r>
              <a:rPr lang="en-US" sz="2400" b="1" dirty="0" err="1" smtClean="0"/>
              <a:t>Enqueue</a:t>
            </a:r>
            <a:r>
              <a:rPr lang="en-US" sz="2400" b="1" dirty="0" smtClean="0"/>
              <a:t> Operation (sorted array/list approach):</a:t>
            </a:r>
            <a:endParaRPr lang="en-US" sz="2400" dirty="0" smtClean="0"/>
          </a:p>
          <a:p>
            <a:pPr marL="457200" lvl="0" indent="-457200" algn="just">
              <a:buFont typeface="+mj-lt"/>
              <a:buAutoNum type="arabicPeriod"/>
            </a:pPr>
            <a:r>
              <a:rPr lang="en-US" sz="2400" b="1" dirty="0" smtClean="0"/>
              <a:t>Identify Priority</a:t>
            </a:r>
            <a:r>
              <a:rPr lang="en-US" sz="2400" dirty="0" smtClean="0"/>
              <a:t>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 smtClean="0"/>
              <a:t>When an element is added to the queue, you must know the priority value associated with it.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sz="2400" b="1" dirty="0" smtClean="0"/>
              <a:t>Search for the Correct Insertion Point</a:t>
            </a:r>
            <a:r>
              <a:rPr lang="en-US" sz="2400" dirty="0" smtClean="0"/>
              <a:t>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 smtClean="0"/>
              <a:t>Find the position in the queue where this new element should be inserted based on its priority. In the case of a </a:t>
            </a:r>
            <a:r>
              <a:rPr lang="en-US" sz="2400" b="1" dirty="0" smtClean="0"/>
              <a:t>min-priority queue</a:t>
            </a:r>
            <a:r>
              <a:rPr lang="en-US" sz="2400" dirty="0" smtClean="0"/>
              <a:t>, the element should be inserted such that all elements with lower priority (numerically higher value) are placed after it.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 smtClean="0"/>
              <a:t>If the list is sorted in descending order (max-priority queue), the element with the highest priority should go at the front.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sz="2400" b="1" dirty="0" smtClean="0"/>
              <a:t>Insert the Element</a:t>
            </a:r>
            <a:r>
              <a:rPr lang="en-US" sz="2400" dirty="0" smtClean="0"/>
              <a:t>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 smtClean="0"/>
              <a:t>Once the correct position is identified, insert the element at that position.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sz="2400" b="1" dirty="0" smtClean="0"/>
              <a:t>Maintain the Queue's Order</a:t>
            </a:r>
            <a:r>
              <a:rPr lang="en-US" sz="2400" dirty="0" smtClean="0"/>
              <a:t>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 smtClean="0"/>
              <a:t>After insertion, the queue remains sorted by priority, which ensures that future </a:t>
            </a:r>
            <a:r>
              <a:rPr lang="en-US" sz="2400" dirty="0" err="1" smtClean="0"/>
              <a:t>dequeue</a:t>
            </a:r>
            <a:r>
              <a:rPr lang="en-US" sz="2400" dirty="0" smtClean="0"/>
              <a:t> operations can efficiently remove the element with the highest priority.</a:t>
            </a: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214890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243190" y="253280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ii) Dequeue in Priority Queue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BC7A2590-DF2D-BA48-A2C0-20F30EF9A6BC}"/>
              </a:ext>
            </a:extLst>
          </p:cNvPr>
          <p:cNvSpPr txBox="1"/>
          <p:nvPr/>
        </p:nvSpPr>
        <p:spPr>
          <a:xfrm>
            <a:off x="1088383" y="1327729"/>
            <a:ext cx="2582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Original Priority Queue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B5CC088A-2442-3143-9084-7B5C91438065}"/>
              </a:ext>
            </a:extLst>
          </p:cNvPr>
          <p:cNvSpPr txBox="1"/>
          <p:nvPr/>
        </p:nvSpPr>
        <p:spPr>
          <a:xfrm>
            <a:off x="1082132" y="3358511"/>
            <a:ext cx="1717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Dequeue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0DE9C155-A262-E348-8DBD-CFCC5F906A64}"/>
              </a:ext>
            </a:extLst>
          </p:cNvPr>
          <p:cNvGrpSpPr/>
          <p:nvPr/>
        </p:nvGrpSpPr>
        <p:grpSpPr>
          <a:xfrm>
            <a:off x="3657600" y="1971675"/>
            <a:ext cx="1514475" cy="571500"/>
            <a:chOff x="3657600" y="1971675"/>
            <a:chExt cx="1514475" cy="571500"/>
          </a:xfrm>
        </p:grpSpPr>
        <p:sp>
          <p:nvSpPr>
            <p:cNvPr id="45" name="Rectangle 44">
              <a:extLst>
                <a:ext uri="{FF2B5EF4-FFF2-40B4-BE49-F238E27FC236}">
                  <a16:creationId xmlns="" xmlns:a16="http://schemas.microsoft.com/office/drawing/2014/main" id="{915060F9-25AD-934E-A722-E4B09BEF55FD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="" xmlns:a16="http://schemas.microsoft.com/office/drawing/2014/main" id="{2DDA8D31-BAB5-1B43-8324-65AA6B56C768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40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="" xmlns:a16="http://schemas.microsoft.com/office/drawing/2014/main" id="{0A1CC9D5-2DDD-1145-B324-DC5D00200D6B}"/>
                </a:ext>
              </a:extLst>
            </p:cNvPr>
            <p:cNvCxnSpPr>
              <a:stCxn id="46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4BE1854A-66A1-9640-9A7E-E63A05A0DA33}"/>
              </a:ext>
            </a:extLst>
          </p:cNvPr>
          <p:cNvGrpSpPr/>
          <p:nvPr/>
        </p:nvGrpSpPr>
        <p:grpSpPr>
          <a:xfrm>
            <a:off x="5172075" y="1971675"/>
            <a:ext cx="1514475" cy="571500"/>
            <a:chOff x="3657600" y="1971675"/>
            <a:chExt cx="1514475" cy="571500"/>
          </a:xfrm>
        </p:grpSpPr>
        <p:sp>
          <p:nvSpPr>
            <p:cNvPr id="51" name="Rectangle 50">
              <a:extLst>
                <a:ext uri="{FF2B5EF4-FFF2-40B4-BE49-F238E27FC236}">
                  <a16:creationId xmlns="" xmlns:a16="http://schemas.microsoft.com/office/drawing/2014/main" id="{88CFA442-E866-D34F-99E9-CABCAEF4A9DF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="" xmlns:a16="http://schemas.microsoft.com/office/drawing/2014/main" id="{D35D419C-3740-9044-8534-C045F1E0DD7D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="" xmlns:a16="http://schemas.microsoft.com/office/drawing/2014/main" id="{E90A64BC-7FE7-9346-AF2A-2FF9F30059BA}"/>
                </a:ext>
              </a:extLst>
            </p:cNvPr>
            <p:cNvCxnSpPr>
              <a:stCxn id="52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D6672C7F-4F89-074F-93D6-6644EC887A27}"/>
              </a:ext>
            </a:extLst>
          </p:cNvPr>
          <p:cNvGrpSpPr/>
          <p:nvPr/>
        </p:nvGrpSpPr>
        <p:grpSpPr>
          <a:xfrm>
            <a:off x="6686550" y="1971675"/>
            <a:ext cx="1514475" cy="571500"/>
            <a:chOff x="3657600" y="1971675"/>
            <a:chExt cx="1514475" cy="571500"/>
          </a:xfrm>
        </p:grpSpPr>
        <p:sp>
          <p:nvSpPr>
            <p:cNvPr id="55" name="Rectangle 54">
              <a:extLst>
                <a:ext uri="{FF2B5EF4-FFF2-40B4-BE49-F238E27FC236}">
                  <a16:creationId xmlns="" xmlns:a16="http://schemas.microsoft.com/office/drawing/2014/main" id="{61B1D16C-209D-D149-B31B-F9395CAFC4CF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="" xmlns:a16="http://schemas.microsoft.com/office/drawing/2014/main" id="{BC60DEA7-4F76-DE42-92C0-64E59A986FC3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="" xmlns:a16="http://schemas.microsoft.com/office/drawing/2014/main" id="{D5D07A6E-8F00-104F-B07E-95C2DCF1898E}"/>
                </a:ext>
              </a:extLst>
            </p:cNvPr>
            <p:cNvCxnSpPr>
              <a:stCxn id="56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F9E2D70B-F79A-934B-A2A5-CFB9513500C4}"/>
              </a:ext>
            </a:extLst>
          </p:cNvPr>
          <p:cNvSpPr txBox="1"/>
          <p:nvPr/>
        </p:nvSpPr>
        <p:spPr>
          <a:xfrm>
            <a:off x="8229600" y="2057370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B859A2CD-D7A3-3B40-9B54-32BFBD33169C}"/>
              </a:ext>
            </a:extLst>
          </p:cNvPr>
          <p:cNvGrpSpPr/>
          <p:nvPr/>
        </p:nvGrpSpPr>
        <p:grpSpPr>
          <a:xfrm>
            <a:off x="2122587" y="1971675"/>
            <a:ext cx="1514475" cy="571500"/>
            <a:chOff x="3657600" y="1971675"/>
            <a:chExt cx="1514475" cy="571500"/>
          </a:xfrm>
        </p:grpSpPr>
        <p:sp>
          <p:nvSpPr>
            <p:cNvPr id="64" name="Rectangle 63">
              <a:extLst>
                <a:ext uri="{FF2B5EF4-FFF2-40B4-BE49-F238E27FC236}">
                  <a16:creationId xmlns="" xmlns:a16="http://schemas.microsoft.com/office/drawing/2014/main" id="{78A16042-E919-E94C-8396-C06BA4135474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="" xmlns:a16="http://schemas.microsoft.com/office/drawing/2014/main" id="{5B0FCD5A-33AD-5D4C-B1DC-84837008CAE8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23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="" xmlns:a16="http://schemas.microsoft.com/office/drawing/2014/main" id="{3CA9A5F7-D92D-B046-A820-589F2F0481DB}"/>
                </a:ext>
              </a:extLst>
            </p:cNvPr>
            <p:cNvCxnSpPr>
              <a:stCxn id="65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E7F85099-1363-A648-85AD-8A2671A73670}"/>
              </a:ext>
            </a:extLst>
          </p:cNvPr>
          <p:cNvSpPr txBox="1"/>
          <p:nvPr/>
        </p:nvSpPr>
        <p:spPr>
          <a:xfrm>
            <a:off x="2272093" y="2787011"/>
            <a:ext cx="742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Front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050A0409-4A5A-D84C-9974-D65024BC3005}"/>
              </a:ext>
            </a:extLst>
          </p:cNvPr>
          <p:cNvCxnSpPr>
            <a:cxnSpLocks/>
            <a:stCxn id="67" idx="0"/>
          </p:cNvCxnSpPr>
          <p:nvPr/>
        </p:nvCxnSpPr>
        <p:spPr>
          <a:xfrm flipH="1" flipV="1">
            <a:off x="2636937" y="2543175"/>
            <a:ext cx="6380" cy="2438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3E478017-5F6B-FA49-A9EC-705235FDFB91}"/>
              </a:ext>
            </a:extLst>
          </p:cNvPr>
          <p:cNvGrpSpPr/>
          <p:nvPr/>
        </p:nvGrpSpPr>
        <p:grpSpPr>
          <a:xfrm>
            <a:off x="3657600" y="4088152"/>
            <a:ext cx="1514475" cy="571500"/>
            <a:chOff x="3657600" y="1971675"/>
            <a:chExt cx="1514475" cy="571500"/>
          </a:xfrm>
        </p:grpSpPr>
        <p:sp>
          <p:nvSpPr>
            <p:cNvPr id="70" name="Rectangle 69">
              <a:extLst>
                <a:ext uri="{FF2B5EF4-FFF2-40B4-BE49-F238E27FC236}">
                  <a16:creationId xmlns="" xmlns:a16="http://schemas.microsoft.com/office/drawing/2014/main" id="{993D9225-E6A2-5C49-820F-B00EE92307D6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="" xmlns:a16="http://schemas.microsoft.com/office/drawing/2014/main" id="{16439CA9-B7E8-CD4E-94D6-57BE9F32F249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40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="" xmlns:a16="http://schemas.microsoft.com/office/drawing/2014/main" id="{9564DFDC-F96B-AC4A-990C-E1C24BC0E144}"/>
                </a:ext>
              </a:extLst>
            </p:cNvPr>
            <p:cNvCxnSpPr>
              <a:stCxn id="71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="" xmlns:a16="http://schemas.microsoft.com/office/drawing/2014/main" id="{91CC806F-3CDF-6C4D-966F-CEBA9AAA0F92}"/>
              </a:ext>
            </a:extLst>
          </p:cNvPr>
          <p:cNvGrpSpPr/>
          <p:nvPr/>
        </p:nvGrpSpPr>
        <p:grpSpPr>
          <a:xfrm>
            <a:off x="5172075" y="4088152"/>
            <a:ext cx="1514475" cy="571500"/>
            <a:chOff x="3657600" y="1971675"/>
            <a:chExt cx="1514475" cy="571500"/>
          </a:xfrm>
        </p:grpSpPr>
        <p:sp>
          <p:nvSpPr>
            <p:cNvPr id="74" name="Rectangle 73">
              <a:extLst>
                <a:ext uri="{FF2B5EF4-FFF2-40B4-BE49-F238E27FC236}">
                  <a16:creationId xmlns="" xmlns:a16="http://schemas.microsoft.com/office/drawing/2014/main" id="{A41DA822-3465-2D44-9909-5B30AA067E6E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="" xmlns:a16="http://schemas.microsoft.com/office/drawing/2014/main" id="{DD39D85A-135D-B348-95DB-9505EF21AD39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="" xmlns:a16="http://schemas.microsoft.com/office/drawing/2014/main" id="{2CA13F1E-6319-9642-B5DE-4DD5776AE405}"/>
                </a:ext>
              </a:extLst>
            </p:cNvPr>
            <p:cNvCxnSpPr>
              <a:stCxn id="75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="" xmlns:a16="http://schemas.microsoft.com/office/drawing/2014/main" id="{AA3145B8-D062-C94A-AC85-81E994F546B1}"/>
              </a:ext>
            </a:extLst>
          </p:cNvPr>
          <p:cNvGrpSpPr/>
          <p:nvPr/>
        </p:nvGrpSpPr>
        <p:grpSpPr>
          <a:xfrm>
            <a:off x="6686550" y="4088152"/>
            <a:ext cx="1514475" cy="571500"/>
            <a:chOff x="3657600" y="1971675"/>
            <a:chExt cx="1514475" cy="571500"/>
          </a:xfrm>
        </p:grpSpPr>
        <p:sp>
          <p:nvSpPr>
            <p:cNvPr id="78" name="Rectangle 77">
              <a:extLst>
                <a:ext uri="{FF2B5EF4-FFF2-40B4-BE49-F238E27FC236}">
                  <a16:creationId xmlns="" xmlns:a16="http://schemas.microsoft.com/office/drawing/2014/main" id="{CE04A6BB-1350-524B-A14F-716608DB13B4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52C8BEF9-CBE9-A446-A86B-29B5B88DF78D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="" xmlns:a16="http://schemas.microsoft.com/office/drawing/2014/main" id="{1FDC918B-D231-2A4A-B683-BB71242D64BE}"/>
                </a:ext>
              </a:extLst>
            </p:cNvPr>
            <p:cNvCxnSpPr>
              <a:stCxn id="79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="" xmlns:a16="http://schemas.microsoft.com/office/drawing/2014/main" id="{8AF65B12-F33A-2446-855C-7F4E7ADC6E6E}"/>
              </a:ext>
            </a:extLst>
          </p:cNvPr>
          <p:cNvSpPr txBox="1"/>
          <p:nvPr/>
        </p:nvSpPr>
        <p:spPr>
          <a:xfrm>
            <a:off x="8229600" y="4173847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="" xmlns:a16="http://schemas.microsoft.com/office/drawing/2014/main" id="{00C591F9-5E9B-5D4D-962B-269F47E486A4}"/>
              </a:ext>
            </a:extLst>
          </p:cNvPr>
          <p:cNvGrpSpPr/>
          <p:nvPr/>
        </p:nvGrpSpPr>
        <p:grpSpPr>
          <a:xfrm>
            <a:off x="2122587" y="4088152"/>
            <a:ext cx="1514475" cy="571500"/>
            <a:chOff x="3657600" y="1971675"/>
            <a:chExt cx="1514475" cy="571500"/>
          </a:xfrm>
        </p:grpSpPr>
        <p:sp>
          <p:nvSpPr>
            <p:cNvPr id="85" name="Rectangle 84">
              <a:extLst>
                <a:ext uri="{FF2B5EF4-FFF2-40B4-BE49-F238E27FC236}">
                  <a16:creationId xmlns="" xmlns:a16="http://schemas.microsoft.com/office/drawing/2014/main" id="{B27C95B5-DAD8-AC45-90C3-35BA47E89C6C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="" xmlns:a16="http://schemas.microsoft.com/office/drawing/2014/main" id="{3B6CB27C-DC74-4548-BAD3-2F3CA9717CC5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23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="" xmlns:a16="http://schemas.microsoft.com/office/drawing/2014/main" id="{795322CD-2D2A-D24C-BB0C-7DF0330AF83E}"/>
                </a:ext>
              </a:extLst>
            </p:cNvPr>
            <p:cNvCxnSpPr>
              <a:stCxn id="86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="" xmlns:a16="http://schemas.microsoft.com/office/drawing/2014/main" id="{12F4C5BF-E297-CF4F-9E4B-E4682841A6C5}"/>
              </a:ext>
            </a:extLst>
          </p:cNvPr>
          <p:cNvSpPr txBox="1"/>
          <p:nvPr/>
        </p:nvSpPr>
        <p:spPr>
          <a:xfrm>
            <a:off x="2272093" y="4906363"/>
            <a:ext cx="736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="" xmlns:a16="http://schemas.microsoft.com/office/drawing/2014/main" id="{86B1D504-B2AC-9D4D-A958-6420AF5D2340}"/>
              </a:ext>
            </a:extLst>
          </p:cNvPr>
          <p:cNvCxnSpPr>
            <a:cxnSpLocks/>
            <a:stCxn id="88" idx="0"/>
          </p:cNvCxnSpPr>
          <p:nvPr/>
        </p:nvCxnSpPr>
        <p:spPr>
          <a:xfrm flipH="1" flipV="1">
            <a:off x="2636937" y="4662527"/>
            <a:ext cx="3430" cy="2438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="" xmlns:a16="http://schemas.microsoft.com/office/drawing/2014/main" id="{92B8874E-EFDF-EB45-B78C-B90E6C5FC1A1}"/>
              </a:ext>
            </a:extLst>
          </p:cNvPr>
          <p:cNvSpPr txBox="1"/>
          <p:nvPr/>
        </p:nvSpPr>
        <p:spPr>
          <a:xfrm>
            <a:off x="3793646" y="4903488"/>
            <a:ext cx="742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Front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="" xmlns:a16="http://schemas.microsoft.com/office/drawing/2014/main" id="{F74494C2-EE60-D14E-BDE2-06899951FCDE}"/>
              </a:ext>
            </a:extLst>
          </p:cNvPr>
          <p:cNvCxnSpPr>
            <a:cxnSpLocks/>
            <a:stCxn id="90" idx="0"/>
          </p:cNvCxnSpPr>
          <p:nvPr/>
        </p:nvCxnSpPr>
        <p:spPr>
          <a:xfrm flipH="1" flipV="1">
            <a:off x="4158490" y="4659652"/>
            <a:ext cx="6380" cy="2438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Multiply 9">
            <a:extLst>
              <a:ext uri="{FF2B5EF4-FFF2-40B4-BE49-F238E27FC236}">
                <a16:creationId xmlns="" xmlns:a16="http://schemas.microsoft.com/office/drawing/2014/main" id="{3765A0A6-90BE-054F-8632-EC0B18983C4A}"/>
              </a:ext>
            </a:extLst>
          </p:cNvPr>
          <p:cNvSpPr/>
          <p:nvPr/>
        </p:nvSpPr>
        <p:spPr>
          <a:xfrm>
            <a:off x="2043291" y="3721080"/>
            <a:ext cx="1228673" cy="1257300"/>
          </a:xfrm>
          <a:prstGeom prst="mathMultiply">
            <a:avLst>
              <a:gd name="adj1" fmla="val 11892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1502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66255" y="1080217"/>
            <a:ext cx="11741727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Algorithm: Dequeue from a Priority Queue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dequeue</a:t>
            </a:r>
            <a:r>
              <a:rPr lang="en-US" sz="2400" dirty="0" smtClean="0"/>
              <a:t> operation removes the first element, which is the highest-priority item.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Dequeue</a:t>
            </a:r>
            <a:r>
              <a:rPr lang="en-US" sz="2400" dirty="0" smtClean="0"/>
              <a:t> in a Priority Queue Using a Sorted Array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Steps for </a:t>
            </a:r>
            <a:r>
              <a:rPr lang="en-US" sz="2400" dirty="0" err="1" smtClean="0"/>
              <a:t>Dequeue</a:t>
            </a:r>
            <a:r>
              <a:rPr lang="en-US" sz="2400" dirty="0" smtClean="0"/>
              <a:t> Operation (using a Sorted Array/List):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Check if the Queue is Empty:</a:t>
            </a:r>
          </a:p>
          <a:p>
            <a:pPr marL="914400" lvl="1" indent="-457200"/>
            <a:r>
              <a:rPr lang="en-US" sz="2400" dirty="0" smtClean="0"/>
              <a:t>If the queue is empty, return an error (raise an </a:t>
            </a:r>
            <a:r>
              <a:rPr lang="en-US" sz="2400" dirty="0" err="1" smtClean="0"/>
              <a:t>IndexError</a:t>
            </a:r>
            <a:r>
              <a:rPr lang="en-US" sz="2400" dirty="0" smtClean="0"/>
              <a:t>) because there’s nothing to </a:t>
            </a:r>
            <a:r>
              <a:rPr lang="en-US" sz="2400" dirty="0" err="1" smtClean="0"/>
              <a:t>dequeue</a:t>
            </a:r>
            <a:r>
              <a:rPr lang="en-US" sz="2400" dirty="0" smtClean="0"/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Remove the First Element:</a:t>
            </a:r>
          </a:p>
          <a:p>
            <a:pPr marL="914400" lvl="1" indent="-457200"/>
            <a:r>
              <a:rPr lang="en-US" sz="2400" dirty="0" smtClean="0"/>
              <a:t>The first element in the list will have the highest priority (since the list is sorted by priority).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Return the </a:t>
            </a:r>
            <a:r>
              <a:rPr lang="en-US" sz="2400" dirty="0" err="1" smtClean="0"/>
              <a:t>Dequeued</a:t>
            </a:r>
            <a:r>
              <a:rPr lang="en-US" sz="2400" dirty="0" smtClean="0"/>
              <a:t> Element:</a:t>
            </a:r>
          </a:p>
          <a:p>
            <a:pPr marL="914400" lvl="1" indent="-457200"/>
            <a:r>
              <a:rPr lang="en-US" sz="2400" dirty="0" smtClean="0"/>
              <a:t>Return the item that was </a:t>
            </a:r>
            <a:r>
              <a:rPr lang="en-US" sz="2400" dirty="0" err="1" smtClean="0"/>
              <a:t>dequeued</a:t>
            </a:r>
            <a:r>
              <a:rPr lang="en-US" sz="2400" dirty="0" smtClean="0"/>
              <a:t>. This is the first element in the queue after it is removed.</a:t>
            </a:r>
          </a:p>
          <a:p>
            <a:endParaRPr lang="en-IN" sz="2800" dirty="0"/>
          </a:p>
        </p:txBody>
      </p:sp>
      <p:sp>
        <p:nvSpPr>
          <p:cNvPr id="5" name="Rounded Rectangle 17">
            <a:extLst>
              <a:ext uri="{FF2B5EF4-FFF2-40B4-BE49-F238E27FC236}">
                <a16:creationId xmlns="" xmlns:a16="http://schemas.microsoft.com/office/drawing/2014/main" id="{19C8B931-9A47-A742-87D7-56E03C8AEAFD}"/>
              </a:ext>
            </a:extLst>
          </p:cNvPr>
          <p:cNvSpPr/>
          <p:nvPr/>
        </p:nvSpPr>
        <p:spPr>
          <a:xfrm>
            <a:off x="2461399" y="190935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ii) Dequeue in Priority Queue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3031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306135" y="145473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 dirty="0" smtClean="0">
              <a:solidFill>
                <a:schemeClr val="tx1"/>
              </a:solidFill>
              <a:cs typeface="Arial" pitchFamily="34" charset="0"/>
            </a:endParaRPr>
          </a:p>
          <a:p>
            <a:pPr lvl="0" algn="ctr"/>
            <a:r>
              <a:rPr lang="en-US" sz="3200" dirty="0" smtClean="0">
                <a:solidFill>
                  <a:schemeClr val="tx1"/>
                </a:solidFill>
                <a:cs typeface="Arial" pitchFamily="34" charset="0"/>
              </a:rPr>
              <a:t>Priority Queue with </a:t>
            </a:r>
            <a:r>
              <a:rPr lang="en-US" sz="3200" dirty="0" err="1" smtClean="0">
                <a:solidFill>
                  <a:schemeClr val="tx1"/>
                </a:solidFill>
                <a:cs typeface="Arial" pitchFamily="34" charset="0"/>
              </a:rPr>
              <a:t>enqueue</a:t>
            </a:r>
            <a:r>
              <a:rPr lang="en-US" sz="3200" dirty="0" smtClean="0">
                <a:solidFill>
                  <a:schemeClr val="tx1"/>
                </a:solidFill>
                <a:cs typeface="Arial" pitchFamily="34" charset="0"/>
              </a:rPr>
              <a:t> operation</a:t>
            </a:r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endParaRPr lang="en-US" sz="3200" dirty="0"/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35082" y="856358"/>
            <a:ext cx="1190798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import </a:t>
            </a:r>
            <a:r>
              <a:rPr lang="en-IN" sz="2400" dirty="0" err="1" smtClean="0"/>
              <a:t>heapq</a:t>
            </a:r>
            <a:endParaRPr lang="en-IN" sz="2400" dirty="0" smtClean="0"/>
          </a:p>
          <a:p>
            <a:r>
              <a:rPr lang="en-IN" sz="2400" dirty="0" smtClean="0"/>
              <a:t>class </a:t>
            </a:r>
            <a:r>
              <a:rPr lang="en-IN" sz="2400" dirty="0" err="1" smtClean="0"/>
              <a:t>PriorityQueue</a:t>
            </a:r>
            <a:r>
              <a:rPr lang="en-IN" sz="2400" dirty="0" smtClean="0"/>
              <a:t>:</a:t>
            </a:r>
          </a:p>
          <a:p>
            <a:r>
              <a:rPr lang="en-IN" sz="2400" dirty="0" smtClean="0"/>
              <a:t>    def __init__(self):</a:t>
            </a:r>
          </a:p>
          <a:p>
            <a:r>
              <a:rPr lang="en-IN" sz="2400" dirty="0" smtClean="0"/>
              <a:t>        </a:t>
            </a:r>
            <a:r>
              <a:rPr lang="en-IN" sz="2400" dirty="0" err="1" smtClean="0"/>
              <a:t>self._queue</a:t>
            </a:r>
            <a:r>
              <a:rPr lang="en-IN" sz="2400" dirty="0" smtClean="0"/>
              <a:t> = []  # This will store the elements as (priority, item)</a:t>
            </a:r>
          </a:p>
          <a:p>
            <a:r>
              <a:rPr lang="en-IN" sz="2400" dirty="0" smtClean="0"/>
              <a:t>        </a:t>
            </a:r>
            <a:r>
              <a:rPr lang="en-IN" sz="2400" dirty="0" err="1" smtClean="0"/>
              <a:t>self._index</a:t>
            </a:r>
            <a:r>
              <a:rPr lang="en-IN" sz="2400" dirty="0" smtClean="0"/>
              <a:t> = 0</a:t>
            </a:r>
          </a:p>
          <a:p>
            <a:r>
              <a:rPr lang="en-IN" sz="2400" dirty="0" smtClean="0"/>
              <a:t>    def </a:t>
            </a:r>
            <a:r>
              <a:rPr lang="en-IN" sz="2400" dirty="0" err="1" smtClean="0"/>
              <a:t>enqueue</a:t>
            </a:r>
            <a:r>
              <a:rPr lang="en-IN" sz="2400" dirty="0" smtClean="0"/>
              <a:t>(self, item, priority):</a:t>
            </a:r>
          </a:p>
          <a:p>
            <a:r>
              <a:rPr lang="en-IN" sz="2400" dirty="0" smtClean="0"/>
              <a:t># We negate the priority to create a max-heap</a:t>
            </a:r>
          </a:p>
          <a:p>
            <a:r>
              <a:rPr lang="en-IN" sz="2400" dirty="0" smtClean="0"/>
              <a:t>        </a:t>
            </a:r>
            <a:r>
              <a:rPr lang="en-IN" sz="2400" dirty="0" err="1" smtClean="0"/>
              <a:t>heapq.heappush</a:t>
            </a:r>
            <a:r>
              <a:rPr lang="en-IN" sz="2400" dirty="0" smtClean="0"/>
              <a:t>(</a:t>
            </a:r>
            <a:r>
              <a:rPr lang="en-IN" sz="2400" dirty="0" err="1" smtClean="0"/>
              <a:t>self._queue</a:t>
            </a:r>
            <a:r>
              <a:rPr lang="en-IN" sz="2400" dirty="0" smtClean="0"/>
              <a:t>, (-priority, </a:t>
            </a:r>
            <a:r>
              <a:rPr lang="en-IN" sz="2400" dirty="0" err="1" smtClean="0"/>
              <a:t>self._index</a:t>
            </a:r>
            <a:r>
              <a:rPr lang="en-IN" sz="2400" dirty="0" smtClean="0"/>
              <a:t>, item))</a:t>
            </a:r>
          </a:p>
          <a:p>
            <a:r>
              <a:rPr lang="en-IN" sz="2400" dirty="0" smtClean="0"/>
              <a:t>        </a:t>
            </a:r>
            <a:r>
              <a:rPr lang="en-IN" sz="2400" dirty="0" err="1" smtClean="0"/>
              <a:t>self._index</a:t>
            </a:r>
            <a:r>
              <a:rPr lang="en-IN" sz="2400" dirty="0" smtClean="0"/>
              <a:t> += 1  </a:t>
            </a:r>
          </a:p>
          <a:p>
            <a:r>
              <a:rPr lang="en-IN" sz="2400" dirty="0" smtClean="0"/>
              <a:t>    def </a:t>
            </a:r>
            <a:r>
              <a:rPr lang="en-IN" sz="2400" dirty="0" err="1" smtClean="0"/>
              <a:t>dequeue</a:t>
            </a:r>
            <a:r>
              <a:rPr lang="en-IN" sz="2400" dirty="0" smtClean="0"/>
              <a:t>(self):</a:t>
            </a:r>
          </a:p>
          <a:p>
            <a:r>
              <a:rPr lang="en-IN" sz="2400" dirty="0" smtClean="0"/>
              <a:t># Pop the highest priority element (note we negate the priority back)</a:t>
            </a:r>
          </a:p>
          <a:p>
            <a:r>
              <a:rPr lang="en-IN" sz="2400" dirty="0" smtClean="0"/>
              <a:t>        if </a:t>
            </a:r>
            <a:r>
              <a:rPr lang="en-IN" sz="2400" dirty="0" err="1" smtClean="0"/>
              <a:t>self.is_empty</a:t>
            </a:r>
            <a:r>
              <a:rPr lang="en-IN" sz="2400" dirty="0" smtClean="0"/>
              <a:t>():</a:t>
            </a:r>
          </a:p>
          <a:p>
            <a:r>
              <a:rPr lang="en-IN" sz="2400" dirty="0" smtClean="0"/>
              <a:t>            raise </a:t>
            </a:r>
            <a:r>
              <a:rPr lang="en-IN" sz="2400" dirty="0" err="1" smtClean="0"/>
              <a:t>IndexError</a:t>
            </a:r>
            <a:r>
              <a:rPr lang="en-IN" sz="2400" dirty="0" smtClean="0"/>
              <a:t>("</a:t>
            </a:r>
            <a:r>
              <a:rPr lang="en-IN" sz="2400" dirty="0" err="1" smtClean="0"/>
              <a:t>dequeue</a:t>
            </a:r>
            <a:r>
              <a:rPr lang="en-IN" sz="2400" dirty="0" smtClean="0"/>
              <a:t> from an empty priority queue")</a:t>
            </a:r>
          </a:p>
          <a:p>
            <a:r>
              <a:rPr lang="en-IN" sz="2400" dirty="0" smtClean="0"/>
              <a:t>        return </a:t>
            </a:r>
            <a:r>
              <a:rPr lang="en-IN" sz="2400" dirty="0" err="1" smtClean="0"/>
              <a:t>heapq.heappop</a:t>
            </a:r>
            <a:r>
              <a:rPr lang="en-IN" sz="2400" dirty="0" smtClean="0"/>
              <a:t>(</a:t>
            </a:r>
            <a:r>
              <a:rPr lang="en-IN" sz="2400" dirty="0" err="1" smtClean="0"/>
              <a:t>self._queue</a:t>
            </a:r>
            <a:r>
              <a:rPr lang="en-IN" sz="2400" dirty="0" smtClean="0"/>
              <a:t>)[-1]  # Return the item part of the </a:t>
            </a:r>
            <a:r>
              <a:rPr lang="en-IN" sz="2400" dirty="0" err="1" smtClean="0"/>
              <a:t>tuple</a:t>
            </a:r>
            <a:endParaRPr lang="en-IN" sz="2400" dirty="0" smtClean="0"/>
          </a:p>
          <a:p>
            <a:r>
              <a:rPr lang="en-IN" sz="2400" dirty="0" smtClean="0"/>
              <a:t>    def </a:t>
            </a:r>
            <a:r>
              <a:rPr lang="en-IN" sz="2400" dirty="0" err="1" smtClean="0"/>
              <a:t>is_empty</a:t>
            </a:r>
            <a:r>
              <a:rPr lang="en-IN" sz="2400" dirty="0" smtClean="0"/>
              <a:t>(self):</a:t>
            </a:r>
          </a:p>
          <a:p>
            <a:r>
              <a:rPr lang="en-IN" sz="2400" dirty="0" smtClean="0"/>
              <a:t>        return </a:t>
            </a:r>
            <a:r>
              <a:rPr lang="en-IN" sz="2400" dirty="0" err="1" smtClean="0"/>
              <a:t>len</a:t>
            </a:r>
            <a:r>
              <a:rPr lang="en-IN" sz="2400" dirty="0" smtClean="0"/>
              <a:t>(</a:t>
            </a:r>
            <a:r>
              <a:rPr lang="en-IN" sz="2400" dirty="0" err="1" smtClean="0"/>
              <a:t>self._queue</a:t>
            </a:r>
            <a:r>
              <a:rPr lang="en-IN" sz="2400" dirty="0" smtClean="0"/>
              <a:t>) == 0</a:t>
            </a: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13001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306135" y="145473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 dirty="0" smtClean="0">
              <a:solidFill>
                <a:schemeClr val="tx1"/>
              </a:solidFill>
              <a:cs typeface="Arial" pitchFamily="34" charset="0"/>
            </a:endParaRPr>
          </a:p>
          <a:p>
            <a:pPr lvl="0" algn="ctr"/>
            <a:r>
              <a:rPr lang="en-US" sz="3200" dirty="0" smtClean="0">
                <a:solidFill>
                  <a:schemeClr val="tx1"/>
                </a:solidFill>
                <a:cs typeface="Arial" pitchFamily="34" charset="0"/>
              </a:rPr>
              <a:t>Priority Queue with </a:t>
            </a:r>
            <a:r>
              <a:rPr lang="en-US" sz="3200" dirty="0" err="1" smtClean="0">
                <a:solidFill>
                  <a:schemeClr val="tx1"/>
                </a:solidFill>
                <a:cs typeface="Arial" pitchFamily="34" charset="0"/>
              </a:rPr>
              <a:t>enqueue</a:t>
            </a:r>
            <a:r>
              <a:rPr lang="en-US" sz="3200" dirty="0" smtClean="0">
                <a:solidFill>
                  <a:schemeClr val="tx1"/>
                </a:solidFill>
                <a:cs typeface="Arial" pitchFamily="34" charset="0"/>
              </a:rPr>
              <a:t> operation</a:t>
            </a:r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endParaRPr lang="en-US" sz="3200" dirty="0"/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35082" y="856358"/>
            <a:ext cx="1190798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def peek(self):</a:t>
            </a:r>
          </a:p>
          <a:p>
            <a:r>
              <a:rPr lang="en-IN" sz="2400" dirty="0" smtClean="0"/>
              <a:t>        if </a:t>
            </a:r>
            <a:r>
              <a:rPr lang="en-IN" sz="2400" dirty="0" err="1" smtClean="0"/>
              <a:t>self.is_empty</a:t>
            </a:r>
            <a:r>
              <a:rPr lang="en-IN" sz="2400" dirty="0" smtClean="0"/>
              <a:t>():</a:t>
            </a:r>
          </a:p>
          <a:p>
            <a:r>
              <a:rPr lang="en-IN" sz="2400" dirty="0" smtClean="0"/>
              <a:t>            raise </a:t>
            </a:r>
            <a:r>
              <a:rPr lang="en-IN" sz="2400" dirty="0" err="1" smtClean="0"/>
              <a:t>IndexError</a:t>
            </a:r>
            <a:r>
              <a:rPr lang="en-IN" sz="2400" dirty="0" smtClean="0"/>
              <a:t>("peek from an empty priority queue")</a:t>
            </a:r>
          </a:p>
          <a:p>
            <a:r>
              <a:rPr lang="en-IN" sz="2400" dirty="0" smtClean="0"/>
              <a:t>        return </a:t>
            </a:r>
            <a:r>
              <a:rPr lang="en-IN" sz="2400" dirty="0" err="1" smtClean="0"/>
              <a:t>self._queue</a:t>
            </a:r>
            <a:r>
              <a:rPr lang="en-IN" sz="2400" dirty="0" smtClean="0"/>
              <a:t>[0][-1]  # Return the item without removing it from the queue</a:t>
            </a:r>
          </a:p>
          <a:p>
            <a:r>
              <a:rPr lang="en-IN" sz="2400" dirty="0" smtClean="0"/>
              <a:t># Example usage:</a:t>
            </a:r>
          </a:p>
          <a:p>
            <a:r>
              <a:rPr lang="en-IN" sz="2400" dirty="0" err="1" smtClean="0"/>
              <a:t>pq</a:t>
            </a:r>
            <a:r>
              <a:rPr lang="en-IN" sz="2400" dirty="0" smtClean="0"/>
              <a:t> = </a:t>
            </a:r>
            <a:r>
              <a:rPr lang="en-IN" sz="2400" dirty="0" err="1" smtClean="0"/>
              <a:t>PriorityQueue</a:t>
            </a:r>
            <a:r>
              <a:rPr lang="en-IN" sz="2400" dirty="0" smtClean="0"/>
              <a:t>()</a:t>
            </a:r>
          </a:p>
          <a:p>
            <a:r>
              <a:rPr lang="en-IN" sz="2400" dirty="0" err="1" smtClean="0"/>
              <a:t>pq.enqueue</a:t>
            </a:r>
            <a:r>
              <a:rPr lang="en-IN" sz="2400" dirty="0" smtClean="0"/>
              <a:t>("task1", priority=3)</a:t>
            </a:r>
          </a:p>
          <a:p>
            <a:r>
              <a:rPr lang="en-IN" sz="2400" dirty="0" err="1" smtClean="0"/>
              <a:t>pq.enqueue</a:t>
            </a:r>
            <a:r>
              <a:rPr lang="en-IN" sz="2400" dirty="0" smtClean="0"/>
              <a:t>("task2", priority=1)</a:t>
            </a:r>
          </a:p>
          <a:p>
            <a:r>
              <a:rPr lang="en-IN" sz="2400" dirty="0" err="1" smtClean="0"/>
              <a:t>pq.enqueue</a:t>
            </a:r>
            <a:r>
              <a:rPr lang="en-IN" sz="2400" dirty="0" smtClean="0"/>
              <a:t>("task3", priority=2)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pq.dequeue</a:t>
            </a:r>
            <a:r>
              <a:rPr lang="en-IN" sz="2400" dirty="0" smtClean="0"/>
              <a:t>())  # task1 (highest priority)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pq.dequeue</a:t>
            </a:r>
            <a:r>
              <a:rPr lang="en-IN" sz="2400" dirty="0" smtClean="0"/>
              <a:t>())  # task3 (next highest priority)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pq.dequeue</a:t>
            </a:r>
            <a:r>
              <a:rPr lang="en-IN" sz="2400" dirty="0" smtClean="0"/>
              <a:t>())  # task2 (lowest priority)</a:t>
            </a:r>
          </a:p>
          <a:p>
            <a:r>
              <a:rPr lang="en-IN" sz="2400" dirty="0" smtClean="0"/>
              <a:t>OUT PUT :</a:t>
            </a:r>
          </a:p>
          <a:p>
            <a:r>
              <a:rPr lang="en-IN" sz="2400" dirty="0" smtClean="0"/>
              <a:t>task1</a:t>
            </a:r>
          </a:p>
          <a:p>
            <a:r>
              <a:rPr lang="en-IN" sz="2400" dirty="0" smtClean="0"/>
              <a:t>task3</a:t>
            </a:r>
          </a:p>
          <a:p>
            <a:r>
              <a:rPr lang="en-IN" sz="2400" dirty="0" smtClean="0"/>
              <a:t>task2</a:t>
            </a: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13001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306135" y="145473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 dirty="0" smtClean="0">
              <a:solidFill>
                <a:schemeClr val="tx1"/>
              </a:solidFill>
              <a:cs typeface="Arial" pitchFamily="34" charset="0"/>
            </a:endParaRPr>
          </a:p>
          <a:p>
            <a:pPr lvl="0" algn="ctr"/>
            <a:r>
              <a:rPr lang="en-US" sz="3200" dirty="0" smtClean="0">
                <a:solidFill>
                  <a:schemeClr val="tx1"/>
                </a:solidFill>
                <a:cs typeface="Arial" pitchFamily="34" charset="0"/>
              </a:rPr>
              <a:t>Priority Queue with </a:t>
            </a:r>
            <a:r>
              <a:rPr lang="en-US" sz="3200" dirty="0" err="1" smtClean="0">
                <a:solidFill>
                  <a:schemeClr val="tx1"/>
                </a:solidFill>
                <a:cs typeface="Arial" pitchFamily="34" charset="0"/>
              </a:rPr>
              <a:t>dequeue</a:t>
            </a:r>
            <a:r>
              <a:rPr lang="en-US" sz="3200" dirty="0" smtClean="0">
                <a:solidFill>
                  <a:schemeClr val="tx1"/>
                </a:solidFill>
                <a:cs typeface="Arial" pitchFamily="34" charset="0"/>
              </a:rPr>
              <a:t> operation</a:t>
            </a:r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endParaRPr lang="en-US" sz="3200" dirty="0"/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35082" y="856358"/>
            <a:ext cx="1190798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import </a:t>
            </a:r>
            <a:r>
              <a:rPr lang="en-IN" sz="2400" dirty="0" err="1" smtClean="0"/>
              <a:t>heapq</a:t>
            </a:r>
            <a:endParaRPr lang="en-IN" sz="2400" dirty="0" smtClean="0"/>
          </a:p>
          <a:p>
            <a:r>
              <a:rPr lang="en-IN" sz="2400" dirty="0" smtClean="0"/>
              <a:t>class </a:t>
            </a:r>
            <a:r>
              <a:rPr lang="en-IN" sz="2400" dirty="0" err="1" smtClean="0"/>
              <a:t>PriorityQueue</a:t>
            </a:r>
            <a:r>
              <a:rPr lang="en-IN" sz="2400" dirty="0" smtClean="0"/>
              <a:t>:</a:t>
            </a:r>
          </a:p>
          <a:p>
            <a:r>
              <a:rPr lang="en-IN" sz="2400" dirty="0" smtClean="0"/>
              <a:t>    def __init__(self):</a:t>
            </a:r>
          </a:p>
          <a:p>
            <a:r>
              <a:rPr lang="en-IN" sz="2400" dirty="0" smtClean="0"/>
              <a:t>        </a:t>
            </a:r>
            <a:r>
              <a:rPr lang="en-IN" sz="2400" dirty="0" err="1" smtClean="0"/>
              <a:t>self._queue</a:t>
            </a:r>
            <a:r>
              <a:rPr lang="en-IN" sz="2400" dirty="0" smtClean="0"/>
              <a:t> = []  # List to store elements as (priority, index, item)</a:t>
            </a:r>
          </a:p>
          <a:p>
            <a:r>
              <a:rPr lang="en-IN" sz="2400" dirty="0" smtClean="0"/>
              <a:t>        </a:t>
            </a:r>
            <a:r>
              <a:rPr lang="en-IN" sz="2400" dirty="0" err="1" smtClean="0"/>
              <a:t>self._index</a:t>
            </a:r>
            <a:r>
              <a:rPr lang="en-IN" sz="2400" dirty="0" smtClean="0"/>
              <a:t> = 0   # Index to break ties in FIFO order for same priority</a:t>
            </a:r>
          </a:p>
          <a:p>
            <a:endParaRPr lang="en-IN" sz="2400" dirty="0" smtClean="0"/>
          </a:p>
          <a:p>
            <a:r>
              <a:rPr lang="en-IN" sz="2400" dirty="0" smtClean="0"/>
              <a:t>    def </a:t>
            </a:r>
            <a:r>
              <a:rPr lang="en-IN" sz="2400" dirty="0" err="1" smtClean="0"/>
              <a:t>enqueue</a:t>
            </a:r>
            <a:r>
              <a:rPr lang="en-IN" sz="2400" dirty="0" smtClean="0"/>
              <a:t>(self, item, priority):</a:t>
            </a:r>
          </a:p>
          <a:p>
            <a:r>
              <a:rPr lang="en-IN" sz="2400" dirty="0" smtClean="0"/>
              <a:t>        </a:t>
            </a:r>
            <a:r>
              <a:rPr lang="en-IN" sz="2400" dirty="0" err="1" smtClean="0"/>
              <a:t>heapq.heappush</a:t>
            </a:r>
            <a:r>
              <a:rPr lang="en-IN" sz="2400" dirty="0" smtClean="0"/>
              <a:t>(</a:t>
            </a:r>
            <a:r>
              <a:rPr lang="en-IN" sz="2400" dirty="0" err="1" smtClean="0"/>
              <a:t>self._queue</a:t>
            </a:r>
            <a:r>
              <a:rPr lang="en-IN" sz="2400" dirty="0" smtClean="0"/>
              <a:t>, (-priority, </a:t>
            </a:r>
            <a:r>
              <a:rPr lang="en-IN" sz="2400" dirty="0" err="1" smtClean="0"/>
              <a:t>self._index</a:t>
            </a:r>
            <a:r>
              <a:rPr lang="en-IN" sz="2400" dirty="0" smtClean="0"/>
              <a:t>, item))</a:t>
            </a:r>
          </a:p>
          <a:p>
            <a:r>
              <a:rPr lang="en-IN" sz="2400" dirty="0" smtClean="0"/>
              <a:t>        </a:t>
            </a:r>
            <a:r>
              <a:rPr lang="en-IN" sz="2400" dirty="0" err="1" smtClean="0"/>
              <a:t>self._index</a:t>
            </a:r>
            <a:r>
              <a:rPr lang="en-IN" sz="2400" dirty="0" smtClean="0"/>
              <a:t> += 1  # Increment index for tie-breaking</a:t>
            </a:r>
          </a:p>
          <a:p>
            <a:endParaRPr lang="en-IN" sz="2400" dirty="0" smtClean="0"/>
          </a:p>
          <a:p>
            <a:r>
              <a:rPr lang="en-IN" sz="2400" dirty="0" smtClean="0"/>
              <a:t>    def </a:t>
            </a:r>
            <a:r>
              <a:rPr lang="en-IN" sz="2400" dirty="0" err="1" smtClean="0"/>
              <a:t>dequeue</a:t>
            </a:r>
            <a:r>
              <a:rPr lang="en-IN" sz="2400" dirty="0" smtClean="0"/>
              <a:t>(self):</a:t>
            </a:r>
          </a:p>
          <a:p>
            <a:r>
              <a:rPr lang="en-IN" sz="2400" dirty="0" smtClean="0"/>
              <a:t>        if </a:t>
            </a:r>
            <a:r>
              <a:rPr lang="en-IN" sz="2400" dirty="0" err="1" smtClean="0"/>
              <a:t>self.is_empty</a:t>
            </a:r>
            <a:r>
              <a:rPr lang="en-IN" sz="2400" dirty="0" smtClean="0"/>
              <a:t>():</a:t>
            </a:r>
          </a:p>
          <a:p>
            <a:r>
              <a:rPr lang="en-IN" sz="2400" dirty="0" smtClean="0"/>
              <a:t>            raise </a:t>
            </a:r>
            <a:r>
              <a:rPr lang="en-IN" sz="2400" dirty="0" err="1" smtClean="0"/>
              <a:t>IndexError</a:t>
            </a:r>
            <a:r>
              <a:rPr lang="en-IN" sz="2400" dirty="0" smtClean="0"/>
              <a:t>("</a:t>
            </a:r>
            <a:r>
              <a:rPr lang="en-IN" sz="2400" dirty="0" err="1" smtClean="0"/>
              <a:t>dequeue</a:t>
            </a:r>
            <a:r>
              <a:rPr lang="en-IN" sz="2400" dirty="0" smtClean="0"/>
              <a:t> from an empty priority queue")</a:t>
            </a: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13001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306135" y="145473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 dirty="0" smtClean="0">
              <a:solidFill>
                <a:schemeClr val="tx1"/>
              </a:solidFill>
              <a:cs typeface="Arial" pitchFamily="34" charset="0"/>
            </a:endParaRPr>
          </a:p>
          <a:p>
            <a:pPr lvl="0" algn="ctr"/>
            <a:r>
              <a:rPr lang="en-US" sz="3200" dirty="0" smtClean="0">
                <a:solidFill>
                  <a:schemeClr val="tx1"/>
                </a:solidFill>
                <a:cs typeface="Arial" pitchFamily="34" charset="0"/>
              </a:rPr>
              <a:t>Priority Queue with </a:t>
            </a:r>
            <a:r>
              <a:rPr lang="en-US" sz="3200" dirty="0" err="1" smtClean="0">
                <a:solidFill>
                  <a:schemeClr val="tx1"/>
                </a:solidFill>
                <a:cs typeface="Arial" pitchFamily="34" charset="0"/>
              </a:rPr>
              <a:t>dequeue</a:t>
            </a:r>
            <a:r>
              <a:rPr lang="en-US" sz="3200" dirty="0" smtClean="0">
                <a:solidFill>
                  <a:schemeClr val="tx1"/>
                </a:solidFill>
                <a:cs typeface="Arial" pitchFamily="34" charset="0"/>
              </a:rPr>
              <a:t> operation</a:t>
            </a:r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endParaRPr lang="en-US" sz="3200" dirty="0"/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35082" y="856358"/>
            <a:ext cx="1190798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# Remove and return the highest priority element (item)</a:t>
            </a:r>
          </a:p>
          <a:p>
            <a:r>
              <a:rPr lang="en-IN" sz="2400" dirty="0" smtClean="0"/>
              <a:t>        return </a:t>
            </a:r>
            <a:r>
              <a:rPr lang="en-IN" sz="2400" dirty="0" err="1" smtClean="0"/>
              <a:t>heapq.heappop</a:t>
            </a:r>
            <a:r>
              <a:rPr lang="en-IN" sz="2400" dirty="0" smtClean="0"/>
              <a:t>(</a:t>
            </a:r>
            <a:r>
              <a:rPr lang="en-IN" sz="2400" dirty="0" err="1" smtClean="0"/>
              <a:t>self._queue</a:t>
            </a:r>
            <a:r>
              <a:rPr lang="en-IN" sz="2400" dirty="0" smtClean="0"/>
              <a:t>)[-1]  </a:t>
            </a:r>
          </a:p>
          <a:p>
            <a:r>
              <a:rPr lang="en-IN" sz="2400" dirty="0" smtClean="0"/>
              <a:t>    def </a:t>
            </a:r>
            <a:r>
              <a:rPr lang="en-IN" sz="2400" dirty="0" err="1" smtClean="0"/>
              <a:t>is_empty</a:t>
            </a:r>
            <a:r>
              <a:rPr lang="en-IN" sz="2400" dirty="0" smtClean="0"/>
              <a:t>(self):</a:t>
            </a:r>
          </a:p>
          <a:p>
            <a:r>
              <a:rPr lang="en-IN" sz="2400" dirty="0" smtClean="0"/>
              <a:t>        return </a:t>
            </a:r>
            <a:r>
              <a:rPr lang="en-IN" sz="2400" dirty="0" err="1" smtClean="0"/>
              <a:t>len</a:t>
            </a:r>
            <a:r>
              <a:rPr lang="en-IN" sz="2400" dirty="0" smtClean="0"/>
              <a:t>(</a:t>
            </a:r>
            <a:r>
              <a:rPr lang="en-IN" sz="2400" dirty="0" err="1" smtClean="0"/>
              <a:t>self._queue</a:t>
            </a:r>
            <a:r>
              <a:rPr lang="en-IN" sz="2400" dirty="0" smtClean="0"/>
              <a:t>) == 0</a:t>
            </a:r>
          </a:p>
          <a:p>
            <a:r>
              <a:rPr lang="en-IN" sz="2400" dirty="0" smtClean="0"/>
              <a:t>    def peek(self):</a:t>
            </a:r>
          </a:p>
          <a:p>
            <a:r>
              <a:rPr lang="en-IN" sz="2400" dirty="0" smtClean="0"/>
              <a:t>        if </a:t>
            </a:r>
            <a:r>
              <a:rPr lang="en-IN" sz="2400" dirty="0" err="1" smtClean="0"/>
              <a:t>self.is_empty</a:t>
            </a:r>
            <a:r>
              <a:rPr lang="en-IN" sz="2400" dirty="0" smtClean="0"/>
              <a:t>():</a:t>
            </a:r>
          </a:p>
          <a:p>
            <a:r>
              <a:rPr lang="en-IN" sz="2400" dirty="0" smtClean="0"/>
              <a:t>            raise </a:t>
            </a:r>
            <a:r>
              <a:rPr lang="en-IN" sz="2400" dirty="0" err="1" smtClean="0"/>
              <a:t>IndexError</a:t>
            </a:r>
            <a:r>
              <a:rPr lang="en-IN" sz="2400" dirty="0" smtClean="0"/>
              <a:t>("peek from an empty priority queue")</a:t>
            </a:r>
          </a:p>
          <a:p>
            <a:r>
              <a:rPr lang="en-IN" sz="2400" dirty="0" smtClean="0"/>
              <a:t>        return </a:t>
            </a:r>
            <a:r>
              <a:rPr lang="en-IN" sz="2400" dirty="0" err="1" smtClean="0"/>
              <a:t>self._queue</a:t>
            </a:r>
            <a:r>
              <a:rPr lang="en-IN" sz="2400" dirty="0" smtClean="0"/>
              <a:t>[0][-1]  # Return the item without removing it</a:t>
            </a:r>
          </a:p>
          <a:p>
            <a:r>
              <a:rPr lang="en-IN" sz="2400" dirty="0" err="1" smtClean="0"/>
              <a:t>pq</a:t>
            </a:r>
            <a:r>
              <a:rPr lang="en-IN" sz="2400" dirty="0" smtClean="0"/>
              <a:t> = </a:t>
            </a:r>
            <a:r>
              <a:rPr lang="en-IN" sz="2400" dirty="0" err="1" smtClean="0"/>
              <a:t>PriorityQueue</a:t>
            </a:r>
            <a:r>
              <a:rPr lang="en-IN" sz="2400" dirty="0" smtClean="0"/>
              <a:t>()</a:t>
            </a:r>
          </a:p>
          <a:p>
            <a:r>
              <a:rPr lang="en-IN" sz="2400" dirty="0" err="1" smtClean="0"/>
              <a:t>pq.enqueue</a:t>
            </a:r>
            <a:r>
              <a:rPr lang="en-IN" sz="2400" dirty="0" smtClean="0"/>
              <a:t>("task1", priority=3)</a:t>
            </a:r>
          </a:p>
          <a:p>
            <a:r>
              <a:rPr lang="en-IN" sz="2400" dirty="0" err="1" smtClean="0"/>
              <a:t>pq.enqueue</a:t>
            </a:r>
            <a:r>
              <a:rPr lang="en-IN" sz="2400" dirty="0" smtClean="0"/>
              <a:t>("task2", priority=1)</a:t>
            </a:r>
          </a:p>
          <a:p>
            <a:r>
              <a:rPr lang="en-IN" sz="2400" dirty="0" err="1" smtClean="0"/>
              <a:t>pq.enqueue</a:t>
            </a:r>
            <a:r>
              <a:rPr lang="en-IN" sz="2400" dirty="0" smtClean="0"/>
              <a:t>("task3", priority=2)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pq.dequeue</a:t>
            </a:r>
            <a:r>
              <a:rPr lang="en-IN" sz="2400" dirty="0" smtClean="0"/>
              <a:t>())  # task1 (highest priority)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pq.dequeue</a:t>
            </a:r>
            <a:r>
              <a:rPr lang="en-IN" sz="2400" dirty="0" smtClean="0"/>
              <a:t>())  # task3 (next highest priority)</a:t>
            </a:r>
          </a:p>
          <a:p>
            <a:r>
              <a:rPr lang="en-IN" sz="2400" dirty="0" smtClean="0"/>
              <a:t>print(</a:t>
            </a:r>
            <a:r>
              <a:rPr lang="en-IN" sz="2400" dirty="0" err="1" smtClean="0"/>
              <a:t>pq.dequeue</a:t>
            </a:r>
            <a:r>
              <a:rPr lang="en-IN" sz="2400" dirty="0" smtClean="0"/>
              <a:t>())  # task2 (lowest priority)</a:t>
            </a: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13001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0" y="1252025"/>
            <a:ext cx="1219199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Advantages of a Priority 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Efficient Retrieval</a:t>
            </a:r>
            <a:r>
              <a:rPr lang="en-IN" sz="2400" dirty="0"/>
              <a:t>: Priority queues provide efficient retrieval of the highest-priority element, enabling quick access to the most critical or urgent item in the data structure.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Flexibility in Ordering</a:t>
            </a:r>
            <a:r>
              <a:rPr lang="en-IN" sz="2400" dirty="0"/>
              <a:t>: Priority queues allow elements to be dynamically ordered based on priority, accommodating various applications where prioritization is essential.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Support for Real-Time Systems</a:t>
            </a:r>
            <a:r>
              <a:rPr lang="en-IN" sz="2400" dirty="0"/>
              <a:t>: Priority queues are well-suited for real-time systems, ensuring timely processing of high-priority tasks or events, contributing to the responsiveness of the system.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Disadvantages of Priority 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Overhead in Sorting</a:t>
            </a:r>
            <a:r>
              <a:rPr lang="en-IN" sz="2400" dirty="0"/>
              <a:t>: Maintaining the ordered nature of a priority queue can lead to additional overhead in terms of time and space complexity, during insertion and deletion operations.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Limited Random Access:</a:t>
            </a:r>
            <a:r>
              <a:rPr lang="en-IN" sz="2400" dirty="0"/>
              <a:t> Priority queues lack efficient random access to elements, making it challenging to directly access or modify elements based on their position in the structure.</a:t>
            </a:r>
          </a:p>
        </p:txBody>
      </p:sp>
    </p:spTree>
    <p:extLst>
      <p:ext uri="{BB962C8B-B14F-4D97-AF65-F5344CB8AC3E}">
        <p14:creationId xmlns="" xmlns:p14="http://schemas.microsoft.com/office/powerpoint/2010/main" val="13001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0" y="1122218"/>
            <a:ext cx="11804073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3200" b="1" dirty="0"/>
              <a:t>Applications/Uses of Priority 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 smtClean="0"/>
              <a:t>Task </a:t>
            </a:r>
            <a:r>
              <a:rPr lang="en-IN" sz="2400" b="1" dirty="0"/>
              <a:t>Scheduling in Operating Systems</a:t>
            </a:r>
            <a:r>
              <a:rPr lang="en-IN" sz="2400" dirty="0"/>
              <a:t>: Priority queues are used to schedule tasks in operating systems, ensuring that higher-priority tasks are executed first, optimizing system responsiveness.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Dijkstra's Shortest Path Algorithm</a:t>
            </a:r>
            <a:r>
              <a:rPr lang="en-IN" sz="2400" dirty="0"/>
              <a:t>: Priority queues are employed in graph algorithms such as Dijkstra's algorithm to efficiently select and explore the next vertex with the shortest path during traversal.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Job Scheduling in Parallel Processing</a:t>
            </a:r>
            <a:r>
              <a:rPr lang="en-IN" sz="2400" dirty="0"/>
              <a:t>: Priority queues are utilized in parallel processing systems for job scheduling, enabling the execution of tasks based on priority levels, improving overall system efficiency.</a:t>
            </a:r>
          </a:p>
        </p:txBody>
      </p:sp>
    </p:spTree>
    <p:extLst>
      <p:ext uri="{BB962C8B-B14F-4D97-AF65-F5344CB8AC3E}">
        <p14:creationId xmlns="" xmlns:p14="http://schemas.microsoft.com/office/powerpoint/2010/main" val="58419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CACE7C8-45B6-5F40-AC53-0F4434436206}"/>
              </a:ext>
            </a:extLst>
          </p:cNvPr>
          <p:cNvSpPr txBox="1"/>
          <p:nvPr/>
        </p:nvSpPr>
        <p:spPr>
          <a:xfrm>
            <a:off x="1028699" y="1049483"/>
            <a:ext cx="10487025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/>
              <a:t>These are some real life example of priority queue</a:t>
            </a:r>
          </a:p>
          <a:p>
            <a:pPr algn="l"/>
            <a:endParaRPr lang="en-IN" sz="24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/>
              <a:t>Priority Assignment</a:t>
            </a:r>
            <a:r>
              <a:rPr lang="en-IN" sz="2400" dirty="0"/>
              <a:t>: Patients are assigned priorities based on the severity of their medical condition. For example, a patient with a life-threatening condition like a heart attack may have the highest priority.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/>
              <a:t>Patient Processing</a:t>
            </a:r>
            <a:r>
              <a:rPr lang="en-IN" sz="2400" dirty="0"/>
              <a:t> : When a medical professional becomes available, they attend to the patient with the highest priority from the front of the queue.</a:t>
            </a:r>
          </a:p>
        </p:txBody>
      </p:sp>
    </p:spTree>
    <p:extLst>
      <p:ext uri="{BB962C8B-B14F-4D97-AF65-F5344CB8AC3E}">
        <p14:creationId xmlns="" xmlns:p14="http://schemas.microsoft.com/office/powerpoint/2010/main" val="12696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032227" y="157145"/>
            <a:ext cx="7275554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Difference Between Regular Queue &amp; Priority Queue</a:t>
            </a:r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6810" y="945572"/>
          <a:ext cx="11533908" cy="5108092"/>
        </p:xfrm>
        <a:graphic>
          <a:graphicData uri="http://schemas.openxmlformats.org/drawingml/2006/table">
            <a:tbl>
              <a:tblPr/>
              <a:tblGrid>
                <a:gridCol w="3844636"/>
                <a:gridCol w="3844636"/>
                <a:gridCol w="3844636"/>
              </a:tblGrid>
              <a:tr h="6923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Feature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Regular Queue (FIFO)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Priority Queue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923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Order of Processing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First-In, First-Out (FIFO)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Based on priority (highest/lowest)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923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 dirty="0" err="1">
                          <a:latin typeface="Calibri"/>
                          <a:ea typeface="Calibri"/>
                          <a:cs typeface="Times New Roman"/>
                        </a:rPr>
                        <a:t>Enqueue</a:t>
                      </a: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 Operation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Adds to the end of the queue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Adds based on priority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923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Dequeue Operation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Removes from the front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Removes the highest priority item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923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Time Complexity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O(1) for both </a:t>
                      </a:r>
                      <a:r>
                        <a:rPr lang="en-US" sz="2400" dirty="0" err="1">
                          <a:latin typeface="Calibri"/>
                          <a:ea typeface="Calibri"/>
                          <a:cs typeface="Times New Roman"/>
                        </a:rPr>
                        <a:t>enqueue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 and </a:t>
                      </a:r>
                      <a:r>
                        <a:rPr lang="en-US" sz="2400" dirty="0" err="1">
                          <a:latin typeface="Calibri"/>
                          <a:ea typeface="Calibri"/>
                          <a:cs typeface="Times New Roman"/>
                        </a:rPr>
                        <a:t>dequeue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O(log n) for both operations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181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Use Case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Task scheduling, print jobs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CPU scheduling, </a:t>
                      </a:r>
                      <a:r>
                        <a:rPr lang="en-US" sz="2400" dirty="0" err="1">
                          <a:latin typeface="Calibri"/>
                          <a:ea typeface="Calibri"/>
                          <a:cs typeface="Times New Roman"/>
                        </a:rPr>
                        <a:t>Dijkstra's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 algorithm, data compression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152352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Times New Roman" pitchFamily="18" charset="0"/>
                <a:cs typeface="Gautami"/>
              </a:rPr>
              <a:t>Summary of Differences: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5497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032227" y="157145"/>
            <a:ext cx="7275554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Difference Between Linked List &amp; Array</a:t>
            </a:r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152352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Times New Roman" pitchFamily="18" charset="0"/>
                <a:cs typeface="Gautami"/>
              </a:rPr>
              <a:t>Summary of Differences: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326" y="1039090"/>
          <a:ext cx="11346873" cy="5497658"/>
        </p:xfrm>
        <a:graphic>
          <a:graphicData uri="http://schemas.openxmlformats.org/drawingml/2006/table">
            <a:tbl>
              <a:tblPr/>
              <a:tblGrid>
                <a:gridCol w="3782291"/>
                <a:gridCol w="3782291"/>
                <a:gridCol w="3782291"/>
              </a:tblGrid>
              <a:tr h="545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Feature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Times New Roman"/>
                        </a:rPr>
                        <a:t>Linked List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Times New Roman"/>
                        </a:rPr>
                        <a:t>Array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9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Memory Efficiency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More overhead due to pointers (extra memory per node)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More memory-efficient (elements stored contiguously)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9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Times New Roman"/>
                        </a:rPr>
                        <a:t>Insertion Time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O(n) (if sorted), O(1) for unsorted list (but unordered)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O(n) (requires shifting elements)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55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Times New Roman"/>
                        </a:rPr>
                        <a:t>Access Time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O(n) (no random access)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O(1) (random access is possible)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55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Times New Roman"/>
                        </a:rPr>
                        <a:t>Deletion Time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O(n) (need to find and remove the element)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O(n) (requires shifting elements)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9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Times New Roman"/>
                        </a:rPr>
                        <a:t>Resizing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No need to resize; dynamic size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Resizing may be needed if capacity exceeds current size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9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Times New Roman"/>
                        </a:rPr>
                        <a:t>Cache Efficiency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Poor cache locality (non-contiguous memory)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Excellent cache locality (contiguous memory)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9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Times New Roman"/>
                        </a:rPr>
                        <a:t>Use Case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Dynamic, unpredictable size, frequent insertions/removals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If the number of elements is predictable and/or operations are mostly read-focused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85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Times New Roman"/>
                        </a:rPr>
                        <a:t>Memory Fragmentation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Less prone to fragmentation</a:t>
                      </a:r>
                      <a:endParaRPr lang="en-US" sz="1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More prone to fragmentation (if resizing often)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425497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311727" y="1153391"/>
            <a:ext cx="114507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A priority queue is a data structure that organizes elements based on their associated priorities, allowing for efficient retrieval of the highest-priority element.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It follows a specific order, where elements with higher priorities are served before those with lower priorities.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In a priority queue , we perform the following operations...</a:t>
            </a:r>
          </a:p>
          <a:p>
            <a:r>
              <a:rPr lang="en-IN" sz="2400" dirty="0"/>
              <a:t>      i) Enqueue	ii)  Dequeue	iii)  Display	</a:t>
            </a:r>
          </a:p>
          <a:p>
            <a:endParaRPr lang="en-IN" sz="24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The enqueue operation in priority queue is performed on the basis of priority of the data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The dequeue operation is performed the same way we perform in a regular queue that is, removing the element from front end</a:t>
            </a:r>
          </a:p>
        </p:txBody>
      </p:sp>
    </p:spTree>
    <p:extLst>
      <p:ext uri="{BB962C8B-B14F-4D97-AF65-F5344CB8AC3E}">
        <p14:creationId xmlns="" xmlns:p14="http://schemas.microsoft.com/office/powerpoint/2010/main" val="425497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5246"/>
            <a:ext cx="11450781" cy="5631872"/>
          </a:xfrm>
        </p:spPr>
        <p:txBody>
          <a:bodyPr/>
          <a:lstStyle/>
          <a:p>
            <a:r>
              <a:rPr lang="en-US" b="1" dirty="0" smtClean="0"/>
              <a:t>Advantages of Using a Priority Queue:</a:t>
            </a:r>
            <a:endParaRPr lang="en-US" sz="2000" dirty="0" smtClean="0"/>
          </a:p>
          <a:p>
            <a:pPr lvl="0"/>
            <a:r>
              <a:rPr lang="en-US" b="1" dirty="0" smtClean="0"/>
              <a:t>Efficient Element Retrieval</a:t>
            </a:r>
            <a:r>
              <a:rPr lang="en-US" dirty="0" smtClean="0"/>
              <a:t>: The priority queue ensures that elements with the highest priority are always accessible and can be removed quickly.</a:t>
            </a:r>
            <a:endParaRPr lang="en-US" sz="2400" dirty="0" smtClean="0"/>
          </a:p>
          <a:p>
            <a:pPr lvl="0"/>
            <a:r>
              <a:rPr lang="en-US" b="1" dirty="0" smtClean="0"/>
              <a:t>Efficient Insertion and Deletion</a:t>
            </a:r>
            <a:r>
              <a:rPr lang="en-US" dirty="0" smtClean="0"/>
              <a:t>: Using a heap structure, both </a:t>
            </a:r>
            <a:r>
              <a:rPr lang="en-US" sz="1800" dirty="0" err="1" smtClean="0"/>
              <a:t>enqueue</a:t>
            </a:r>
            <a:r>
              <a:rPr lang="en-US" dirty="0" smtClean="0"/>
              <a:t> and </a:t>
            </a:r>
            <a:r>
              <a:rPr lang="en-US" sz="1800" dirty="0" err="1" smtClean="0"/>
              <a:t>dequeue</a:t>
            </a:r>
            <a:r>
              <a:rPr lang="en-US" dirty="0" smtClean="0"/>
              <a:t> operations are efficient with a time complexity of </a:t>
            </a:r>
            <a:r>
              <a:rPr lang="en-US" b="1" dirty="0" smtClean="0"/>
              <a:t>O(log n)</a:t>
            </a:r>
            <a:r>
              <a:rPr lang="en-US" dirty="0" smtClean="0"/>
              <a:t>.</a:t>
            </a:r>
            <a:endParaRPr lang="en-US" sz="2400" dirty="0" smtClean="0"/>
          </a:p>
          <a:p>
            <a:pPr lvl="0"/>
            <a:r>
              <a:rPr lang="en-US" b="1" dirty="0" smtClean="0"/>
              <a:t>Real-World Applications</a:t>
            </a:r>
            <a:r>
              <a:rPr lang="en-US" dirty="0" smtClean="0"/>
              <a:t>:</a:t>
            </a:r>
            <a:endParaRPr lang="en-US" sz="2400" dirty="0" smtClean="0"/>
          </a:p>
          <a:p>
            <a:pPr lvl="1"/>
            <a:r>
              <a:rPr lang="en-US" b="1" dirty="0" smtClean="0"/>
              <a:t>Scheduling Tasks</a:t>
            </a:r>
            <a:r>
              <a:rPr lang="en-US" dirty="0" smtClean="0"/>
              <a:t>: In task scheduling, a priority queue can help schedule tasks based on priority.</a:t>
            </a:r>
            <a:endParaRPr lang="en-US" sz="2000" dirty="0" smtClean="0"/>
          </a:p>
          <a:p>
            <a:pPr lvl="1"/>
            <a:r>
              <a:rPr lang="en-US" b="1" dirty="0" smtClean="0"/>
              <a:t>Graph Algorithms</a:t>
            </a:r>
            <a:r>
              <a:rPr lang="en-US" dirty="0" smtClean="0"/>
              <a:t>: Algorithms like </a:t>
            </a:r>
            <a:r>
              <a:rPr lang="en-US" dirty="0" err="1" smtClean="0"/>
              <a:t>Dijkstra's</a:t>
            </a:r>
            <a:r>
              <a:rPr lang="en-US" dirty="0" smtClean="0"/>
              <a:t> shortest path and Prim's MST algorithm rely heavily on priority queues.</a:t>
            </a:r>
            <a:endParaRPr lang="en-US" sz="2000" dirty="0" smtClean="0"/>
          </a:p>
          <a:p>
            <a:pPr lvl="1"/>
            <a:r>
              <a:rPr lang="en-US" b="1" dirty="0" smtClean="0"/>
              <a:t>Event Simulation</a:t>
            </a:r>
            <a:r>
              <a:rPr lang="en-US" dirty="0" smtClean="0"/>
              <a:t>: Used in simulation systems where events need to be processed based on timestamps or priority.</a:t>
            </a:r>
            <a:endParaRPr lang="en-US" sz="20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4464"/>
            <a:ext cx="10976264" cy="5792499"/>
          </a:xfrm>
        </p:spPr>
        <p:txBody>
          <a:bodyPr/>
          <a:lstStyle/>
          <a:p>
            <a:r>
              <a:rPr lang="en-US" b="1" dirty="0" smtClean="0"/>
              <a:t>Disadvantages:</a:t>
            </a:r>
            <a:endParaRPr lang="en-US" sz="2000" dirty="0" smtClean="0"/>
          </a:p>
          <a:p>
            <a:pPr lvl="0"/>
            <a:r>
              <a:rPr lang="en-US" b="1" dirty="0" smtClean="0"/>
              <a:t>Limited by Heap Structure</a:t>
            </a:r>
            <a:r>
              <a:rPr lang="en-US" dirty="0" smtClean="0"/>
              <a:t>: A heap-based priority queue is efficient, but it doesn't allow direct access to the middle elements, and random access can be slower compared to other data structures like lists or arrays.</a:t>
            </a:r>
            <a:endParaRPr lang="en-US" sz="2400" dirty="0" smtClean="0"/>
          </a:p>
          <a:p>
            <a:pPr lvl="0"/>
            <a:r>
              <a:rPr lang="en-US" b="1" dirty="0" smtClean="0"/>
              <a:t>Memory Overhead</a:t>
            </a:r>
            <a:r>
              <a:rPr lang="en-US" dirty="0" smtClean="0"/>
              <a:t>: The heap structure adds some memory overhead due to its need to maintain the heap property.</a:t>
            </a: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=""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400" dirty="0"/>
              <a:t>Which of the following best describes a Priority Queue??</a:t>
            </a:r>
            <a:br>
              <a:rPr lang="en-IN" sz="2400" dirty="0"/>
            </a:br>
            <a:endParaRPr sz="24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=""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7" y="1888177"/>
            <a:ext cx="9345897" cy="173555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en-IN" dirty="0"/>
              <a:t>A data structure that follows First-In-First-Out (FIFO) order. 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IN" dirty="0"/>
              <a:t>A data structure that stores elements in a Last-In-First-Out (LIFO) manner. 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IN" dirty="0"/>
              <a:t>A data structure that organizes elements based on associated priorities. 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IN" dirty="0"/>
              <a:t>A data structure designed for constant time retrieval of any element.</a:t>
            </a:r>
            <a:br>
              <a:rPr lang="en-IN" dirty="0"/>
            </a:br>
            <a:endParaRPr lang="en-US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=""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400" dirty="0"/>
              <a:t>2. In a Priority Queue, how are elements typically arranged?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=""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779146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R"/>
            </a:pPr>
            <a:r>
              <a:rPr lang="en-IN" dirty="0"/>
              <a:t>In ascending order based on their values. </a:t>
            </a:r>
          </a:p>
          <a:p>
            <a:pPr marL="342900" indent="-342900">
              <a:buAutoNum type="alphaLcParenR"/>
            </a:pPr>
            <a:r>
              <a:rPr lang="en-IN" dirty="0"/>
              <a:t>In descending order based on their values. </a:t>
            </a:r>
          </a:p>
          <a:p>
            <a:pPr marL="342900" indent="-342900">
              <a:buAutoNum type="alphaLcParenR"/>
            </a:pPr>
            <a:r>
              <a:rPr lang="en-IN" dirty="0"/>
              <a:t>Based on their insertion order. </a:t>
            </a:r>
          </a:p>
          <a:p>
            <a:pPr marL="342900" indent="-342900">
              <a:buAutoNum type="alphaLcParenR"/>
            </a:pPr>
            <a:r>
              <a:rPr lang="en-IN" dirty="0"/>
              <a:t>Based on their associated priorities, with the highest priority served first.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19276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419" y="1039030"/>
            <a:ext cx="1158716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1. Describe About Priority Queue?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2. How a Priority Queue differs from a regular queue?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3. Explain the significance of priority queues in real-time systems.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4. Provide an example scenario where the use of a priority queue is critical for system responsiveness.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5. Compare and contrast the advantages and disadvantages of implementing a priority queue using a linked list versus an array</a:t>
            </a:r>
            <a:r>
              <a:rPr lang="en-US" sz="20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en-US" sz="2000" dirty="0" smtClean="0"/>
              <a:t> </a:t>
            </a:r>
            <a:r>
              <a:rPr lang="en-US" sz="2000" dirty="0"/>
              <a:t>Consider factors such as time complexity, memory efficiency, and ease of implementation.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6. In the context of an Emergency Room Triage System, explain how a priority queue is employed to manage patient priorities. 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020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7195" y="1013239"/>
            <a:ext cx="11509382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Textbooks:</a:t>
            </a:r>
            <a:endParaRPr lang="en-US" dirty="0" smtClean="0"/>
          </a:p>
          <a:p>
            <a:pPr lvl="0"/>
            <a:r>
              <a:rPr lang="en-US" dirty="0" smtClean="0"/>
              <a:t>Mark Allen Weiss, Data Structures and Algorithm Analysis in C, 2010, Second Edition, Pearson Education.</a:t>
            </a:r>
          </a:p>
          <a:p>
            <a:pPr lvl="0"/>
            <a:r>
              <a:rPr lang="en-US" dirty="0" smtClean="0"/>
              <a:t>Allen B. Downey, ”Think Python: How to Think Like a Computer Scientist’’, 2nd edition, Updated for Python 3, </a:t>
            </a:r>
            <a:r>
              <a:rPr lang="en-US" dirty="0" err="1" smtClean="0"/>
              <a:t>Shroff</a:t>
            </a:r>
            <a:r>
              <a:rPr lang="en-US" dirty="0" smtClean="0"/>
              <a:t>/O’Reilly Publishers, 2016 (</a:t>
            </a:r>
            <a:r>
              <a:rPr lang="en-US" u="sng" dirty="0" smtClean="0">
                <a:hlinkClick r:id="rId2"/>
              </a:rPr>
              <a:t>http://greenteapress.com/wp/thinkpython/</a:t>
            </a:r>
            <a:r>
              <a:rPr lang="en-US" dirty="0" smtClean="0"/>
              <a:t>)</a:t>
            </a:r>
          </a:p>
          <a:p>
            <a:pPr lvl="0"/>
            <a:r>
              <a:rPr lang="en-US" dirty="0" smtClean="0"/>
              <a:t>Data Structures and algorithms using python, 2011,Rance D, </a:t>
            </a:r>
            <a:r>
              <a:rPr lang="en-US" dirty="0" err="1" smtClean="0"/>
              <a:t>Necaise</a:t>
            </a:r>
            <a:r>
              <a:rPr lang="en-US" dirty="0" smtClean="0"/>
              <a:t>, </a:t>
            </a:r>
            <a:r>
              <a:rPr lang="en-US" dirty="0" err="1" smtClean="0"/>
              <a:t>himilton</a:t>
            </a:r>
            <a:r>
              <a:rPr lang="en-US" dirty="0" smtClean="0"/>
              <a:t> printing</a:t>
            </a:r>
          </a:p>
          <a:p>
            <a:r>
              <a:rPr lang="en-US" b="1" dirty="0" err="1" smtClean="0"/>
              <a:t>ReferenceBooks</a:t>
            </a:r>
            <a:r>
              <a:rPr lang="en-US" b="1" dirty="0" smtClean="0"/>
              <a:t>:</a:t>
            </a:r>
            <a:endParaRPr lang="en-US" dirty="0" smtClean="0"/>
          </a:p>
          <a:p>
            <a:pPr lvl="0"/>
            <a:r>
              <a:rPr lang="en-US" dirty="0" smtClean="0"/>
              <a:t>Data Structures and Algorithm Analysis in PYTHON, 2010, Mark Allen Weiss, Second Edition, Pearson Education.</a:t>
            </a:r>
          </a:p>
          <a:p>
            <a:pPr lvl="0"/>
            <a:r>
              <a:rPr lang="en-US" dirty="0" smtClean="0"/>
              <a:t>Data Structures and Algorithms, </a:t>
            </a:r>
            <a:r>
              <a:rPr lang="en-US" dirty="0" err="1" smtClean="0"/>
              <a:t>A.V.Aho</a:t>
            </a:r>
            <a:r>
              <a:rPr lang="en-US" dirty="0" smtClean="0"/>
              <a:t>, </a:t>
            </a:r>
            <a:r>
              <a:rPr lang="en-US" dirty="0" err="1" smtClean="0"/>
              <a:t>J.E.Hopcroft</a:t>
            </a:r>
            <a:r>
              <a:rPr lang="en-US" dirty="0" smtClean="0"/>
              <a:t>, and </a:t>
            </a:r>
            <a:r>
              <a:rPr lang="en-US" dirty="0" err="1" smtClean="0"/>
              <a:t>J.D.Ullman</a:t>
            </a:r>
            <a:r>
              <a:rPr lang="en-US" dirty="0" smtClean="0"/>
              <a:t>, Pearson Education, First Edition Reprint2003.</a:t>
            </a:r>
          </a:p>
          <a:p>
            <a:pPr lvl="0"/>
            <a:r>
              <a:rPr lang="en-US" dirty="0" smtClean="0"/>
              <a:t>Advanced Guide to Python 3 Programming, John Hunt, 4</a:t>
            </a:r>
            <a:r>
              <a:rPr lang="en-US" baseline="30000" dirty="0" smtClean="0"/>
              <a:t>th</a:t>
            </a:r>
            <a:r>
              <a:rPr lang="en-US" dirty="0" smtClean="0"/>
              <a:t> Edition, Springer Nature Switzerland AG 2019.</a:t>
            </a:r>
          </a:p>
          <a:p>
            <a:pPr lvl="0"/>
            <a:r>
              <a:rPr lang="en-US" dirty="0" smtClean="0"/>
              <a:t>Python Basics: A Practice Introduction to Python 3, David Amos, Dan Bader, Joanna </a:t>
            </a:r>
            <a:r>
              <a:rPr lang="en-US" dirty="0" err="1" smtClean="0"/>
              <a:t>Jablonski</a:t>
            </a:r>
            <a:r>
              <a:rPr lang="en-US" dirty="0" smtClean="0"/>
              <a:t>, Fletcher </a:t>
            </a:r>
            <a:r>
              <a:rPr lang="en-US" dirty="0" err="1" smtClean="0"/>
              <a:t>Heisler</a:t>
            </a:r>
            <a:r>
              <a:rPr lang="en-US" dirty="0" smtClean="0"/>
              <a:t>, 4</a:t>
            </a:r>
            <a:r>
              <a:rPr lang="en-US" baseline="30000" dirty="0" smtClean="0"/>
              <a:t>th</a:t>
            </a:r>
            <a:r>
              <a:rPr lang="en-US" dirty="0" smtClean="0"/>
              <a:t> edition, Real Python.</a:t>
            </a:r>
          </a:p>
          <a:p>
            <a:r>
              <a:rPr lang="en-US" b="1" dirty="0" err="1" smtClean="0"/>
              <a:t>WebLinks</a:t>
            </a:r>
            <a:r>
              <a:rPr lang="en-US" b="1" dirty="0" smtClean="0"/>
              <a:t>:</a:t>
            </a:r>
            <a:endParaRPr lang="en-US" dirty="0" smtClean="0"/>
          </a:p>
          <a:p>
            <a:pPr lvl="0"/>
            <a:r>
              <a:rPr lang="en-US" u="sng" dirty="0" smtClean="0">
                <a:hlinkClick r:id="rId3"/>
              </a:rPr>
              <a:t>https://docs.python.org/3/tutorial/datastructures.html</a:t>
            </a:r>
            <a:endParaRPr lang="en-US" dirty="0" smtClean="0"/>
          </a:p>
          <a:p>
            <a:pPr lvl="0"/>
            <a:r>
              <a:rPr lang="en-US" u="sng" dirty="0" smtClean="0">
                <a:hlinkClick r:id="rId4"/>
              </a:rPr>
              <a:t>https://www.w3schools.com/dsa/dsa_intro.php</a:t>
            </a:r>
            <a:endParaRPr lang="en-US" dirty="0" smtClean="0"/>
          </a:p>
          <a:p>
            <a:pPr lvl="0"/>
            <a:r>
              <a:rPr lang="en-US" u="sng" smtClean="0">
                <a:hlinkClick r:id="rId5"/>
              </a:rPr>
              <a:t>https://www.geeksforgeeks.org/python-data-structures/</a:t>
            </a:r>
            <a:endParaRPr lang="en-US" smtClean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020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3"/>
            <a:ext cx="7920111" cy="35047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2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600" b="1" dirty="0">
                <a:latin typeface="Poppins" pitchFamily="2" charset="77"/>
                <a:cs typeface="Poppins" pitchFamily="2" charset="77"/>
              </a:rPr>
              <a:t>Team – Data </a:t>
            </a:r>
            <a:r>
              <a:rPr lang="en-US" sz="3600" b="1" dirty="0" smtClean="0">
                <a:latin typeface="Poppins" pitchFamily="2" charset="77"/>
                <a:cs typeface="Poppins" pitchFamily="2" charset="77"/>
              </a:rPr>
              <a:t>structures using Python</a:t>
            </a:r>
            <a:endParaRPr lang="en-US" sz="36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9A6ECA-0C1B-4F00-836D-A696F073E5C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43ee83c-3e71-4748-8ebc-8eaadf793425"/>
    <ds:schemaRef ds:uri="0125a647-8023-46ae-ae6e-85cf36d841b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4046</TotalTime>
  <Words>2487</Words>
  <Application>Microsoft Macintosh PowerPoint</Application>
  <PresentationFormat>Custom</PresentationFormat>
  <Paragraphs>336</Paragraphs>
  <Slides>26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1_Office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Administrator</cp:lastModifiedBy>
  <cp:revision>58</cp:revision>
  <dcterms:created xsi:type="dcterms:W3CDTF">2020-02-08T09:57:44Z</dcterms:created>
  <dcterms:modified xsi:type="dcterms:W3CDTF">2024-12-14T06:48:05Z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