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71" r:id="rId5"/>
    <p:sldId id="300" r:id="rId6"/>
    <p:sldId id="258" r:id="rId7"/>
    <p:sldId id="288" r:id="rId8"/>
    <p:sldId id="290" r:id="rId9"/>
    <p:sldId id="305" r:id="rId10"/>
    <p:sldId id="306" r:id="rId11"/>
    <p:sldId id="311" r:id="rId12"/>
    <p:sldId id="312" r:id="rId13"/>
    <p:sldId id="313" r:id="rId14"/>
    <p:sldId id="299" r:id="rId15"/>
    <p:sldId id="287" r:id="rId16"/>
    <p:sldId id="301" r:id="rId17"/>
    <p:sldId id="302" r:id="rId18"/>
    <p:sldId id="303"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0" autoAdjust="0"/>
    <p:restoredTop sz="0" autoAdjust="0"/>
  </p:normalViewPr>
  <p:slideViewPr>
    <p:cSldViewPr snapToGrid="0">
      <p:cViewPr varScale="1">
        <p:scale>
          <a:sx n="82" d="100"/>
          <a:sy n="82" d="100"/>
        </p:scale>
        <p:origin x="119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2</a:t>
            </a:fld>
            <a:endParaRPr lang="en-US"/>
          </a:p>
        </p:txBody>
      </p:sp>
    </p:spTree>
    <p:extLst>
      <p:ext uri="{BB962C8B-B14F-4D97-AF65-F5344CB8AC3E}">
        <p14:creationId xmlns:p14="http://schemas.microsoft.com/office/powerpoint/2010/main" val="2065425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23721" y="1535244"/>
            <a:ext cx="6902548" cy="4031833"/>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dirty="0">
                <a:solidFill>
                  <a:srgbClr val="00B0F0"/>
                </a:solidFill>
                <a:latin typeface="Times New Roman" pitchFamily="18" charset="0"/>
                <a:cs typeface="Times New Roman" pitchFamily="18" charset="0"/>
              </a:rPr>
              <a:t>Queues using Singly Linked Lists</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574744" y="5574231"/>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14</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a:t>
            </a:r>
            <a:r>
              <a:rPr lang="en-US" sz="1600" dirty="0">
                <a:latin typeface="Poppins"/>
                <a:cs typeface="Poppins"/>
              </a:rPr>
              <a:t>concept of Queue Using Singly Linked List</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the </a:t>
            </a:r>
            <a:r>
              <a:rPr lang="en-US" sz="1600" dirty="0">
                <a:latin typeface="Arial" panose="020B0604020202020204" pitchFamily="34" charset="0"/>
              </a:rPr>
              <a:t>Queue Using Singly</a:t>
            </a:r>
            <a:r>
              <a:rPr lang="en-US" sz="1600" b="0" i="0" dirty="0">
                <a:effectLst/>
                <a:latin typeface="Arial" panose="020B0604020202020204" pitchFamily="34" charset="0"/>
              </a:rPr>
              <a:t> </a:t>
            </a:r>
            <a:r>
              <a:rPr lang="en-US" sz="1600" dirty="0">
                <a:latin typeface="Arial" panose="020B0604020202020204" pitchFamily="34" charset="0"/>
              </a:rPr>
              <a:t>L</a:t>
            </a:r>
            <a:r>
              <a:rPr lang="en-US" sz="1600" b="0" i="0" dirty="0">
                <a:effectLst/>
                <a:latin typeface="Arial" panose="020B0604020202020204" pitchFamily="34" charset="0"/>
              </a:rPr>
              <a:t>inked </a:t>
            </a:r>
            <a:r>
              <a:rPr lang="en-US" sz="1600" dirty="0">
                <a:latin typeface="Arial" panose="020B0604020202020204" pitchFamily="34" charset="0"/>
              </a:rPr>
              <a:t>L</a:t>
            </a:r>
            <a:r>
              <a:rPr lang="en-US" sz="1600" b="0" i="0" dirty="0">
                <a:effectLst/>
                <a:latin typeface="Arial" panose="020B0604020202020204" pitchFamily="34" charset="0"/>
              </a:rPr>
              <a:t>ist</a:t>
            </a:r>
          </a:p>
          <a:p>
            <a:pPr marL="342900" indent="-342900">
              <a:buAutoNum type="arabicPeriod"/>
            </a:pPr>
            <a:r>
              <a:rPr lang="en-US" sz="1600" b="0" i="0" dirty="0">
                <a:effectLst/>
                <a:latin typeface="Arial" panose="020B0604020202020204" pitchFamily="34" charset="0"/>
              </a:rPr>
              <a:t>List out the operations possible on the </a:t>
            </a:r>
            <a:r>
              <a:rPr lang="en-US" sz="1600" dirty="0">
                <a:latin typeface="Arial" panose="020B0604020202020204" pitchFamily="34" charset="0"/>
              </a:rPr>
              <a:t>Queue Using Singly Linked List</a:t>
            </a:r>
            <a:r>
              <a:rPr lang="en-US" sz="1600" b="0" i="0" dirty="0">
                <a:effectLst/>
                <a:latin typeface="Arial" panose="020B0604020202020204" pitchFamily="34" charset="0"/>
              </a:rPr>
              <a:t>.</a:t>
            </a:r>
          </a:p>
          <a:p>
            <a:pPr marL="342900" indent="-342900">
              <a:buAutoNum type="arabicPeriod"/>
            </a:pPr>
            <a:r>
              <a:rPr lang="en-US" sz="1600" b="0" i="0" dirty="0">
                <a:effectLst/>
                <a:latin typeface="Arial"/>
                <a:cs typeface="Arial"/>
              </a:rPr>
              <a:t>Describe the each operation </a:t>
            </a:r>
          </a:p>
          <a:p>
            <a:pPr marL="342900" indent="-342900">
              <a:buAutoNum type="arabicPeriod"/>
            </a:pPr>
            <a:r>
              <a:rPr lang="en-US" sz="1600" dirty="0">
                <a:latin typeface="Arial"/>
                <a:cs typeface="Arial"/>
              </a:rPr>
              <a:t>List out the advantages and applications of </a:t>
            </a:r>
            <a:r>
              <a:rPr lang="en-US" sz="1600" dirty="0">
                <a:latin typeface="Arial" panose="020B0604020202020204" pitchFamily="34" charset="0"/>
              </a:rPr>
              <a:t>Queue Using Singly Linked List</a:t>
            </a:r>
            <a:r>
              <a:rPr lang="en-US" sz="1600" dirty="0">
                <a:latin typeface="Arial"/>
                <a:cs typeface="Arial"/>
              </a:rPr>
              <a: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t>
            </a:r>
            <a:r>
              <a:rPr lang="en-US" sz="1600" dirty="0">
                <a:latin typeface="Arial" panose="020B0604020202020204" pitchFamily="34" charset="0"/>
              </a:rPr>
              <a:t>Queue Using Singly Linked List</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insertion and deletion operations of </a:t>
            </a:r>
            <a:r>
              <a:rPr lang="en-US" sz="1600" dirty="0">
                <a:latin typeface="Arial" panose="020B0604020202020204" pitchFamily="34" charset="0"/>
              </a:rPr>
              <a:t>Queue Using Singly Linked List</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Summarize definition and operations of Queue Using Singly Linked List</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9"/>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Arial" panose="020B0604020202020204" pitchFamily="34" charset="0"/>
              </a:rPr>
              <a:t>Queue</a:t>
            </a:r>
          </a:p>
          <a:p>
            <a:pPr algn="ctr"/>
            <a:r>
              <a:rPr lang="en-US" sz="2400" dirty="0"/>
              <a:t>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336055" cy="4524315"/>
          </a:xfrm>
          <a:prstGeom prst="rect">
            <a:avLst/>
          </a:prstGeom>
          <a:noFill/>
        </p:spPr>
        <p:txBody>
          <a:bodyPr wrap="square" rtlCol="0">
            <a:spAutoFit/>
          </a:bodyPr>
          <a:lstStyle/>
          <a:p>
            <a:pPr algn="just">
              <a:buFont typeface="Wingdings" pitchFamily="2" charset="2"/>
              <a:buChar char="Ø"/>
            </a:pPr>
            <a:r>
              <a:rPr lang="en-IN" sz="3200" dirty="0"/>
              <a:t> A queue is an ordered list in which all insertions take place at one end, the rear, while all deletions take place at the other end, the front.</a:t>
            </a:r>
          </a:p>
          <a:p>
            <a:pPr algn="just">
              <a:buFont typeface="Wingdings" pitchFamily="2" charset="2"/>
              <a:buChar char="Ø"/>
            </a:pPr>
            <a:endParaRPr lang="en-IN" sz="3200" dirty="0"/>
          </a:p>
          <a:p>
            <a:pPr algn="just">
              <a:buFont typeface="Wingdings" pitchFamily="2" charset="2"/>
              <a:buChar char="Ø"/>
            </a:pPr>
            <a:r>
              <a:rPr lang="en-IN" sz="3200" dirty="0"/>
              <a:t> The most common occurrence of a queue in computer applications is for the scheduling of jobs.</a:t>
            </a:r>
          </a:p>
          <a:p>
            <a:pPr algn="just">
              <a:buFont typeface="Wingdings" pitchFamily="2" charset="2"/>
              <a:buChar char="Ø"/>
            </a:pPr>
            <a:endParaRPr lang="en-IN" sz="3200" dirty="0"/>
          </a:p>
          <a:p>
            <a:pPr algn="just">
              <a:buFont typeface="Wingdings" pitchFamily="2" charset="2"/>
              <a:buChar char="Ø"/>
            </a:pPr>
            <a:r>
              <a:rPr lang="en-IN" sz="3200" dirty="0"/>
              <a:t> In batch processing the jobs are ''queued-up'' as they are read-in and executed, one after another in the order they were received.</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ounded Rectangle 17">
            <a:extLst>
              <a:ext uri="{FF2B5EF4-FFF2-40B4-BE49-F238E27FC236}">
                <a16:creationId xmlns:a16="http://schemas.microsoft.com/office/drawing/2014/main" id="{D841E42D-8823-619A-557A-7EBC777747D6}"/>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Arial" panose="020B0604020202020204" pitchFamily="34" charset="0"/>
              </a:rPr>
              <a:t>Queue</a:t>
            </a:r>
          </a:p>
          <a:p>
            <a:pPr algn="ctr"/>
            <a:r>
              <a:rPr lang="en-US" sz="2400" dirty="0"/>
              <a:t>INTRODUCTION </a:t>
            </a:r>
            <a:r>
              <a:rPr lang="en-US" sz="2400" dirty="0" err="1"/>
              <a:t>Contd</a:t>
            </a:r>
            <a:r>
              <a:rPr lang="en-US" sz="2400" dirty="0"/>
              <a:t>….</a:t>
            </a:r>
          </a:p>
        </p:txBody>
      </p:sp>
      <p:sp>
        <p:nvSpPr>
          <p:cNvPr id="8" name="TextBox 7">
            <a:extLst>
              <a:ext uri="{FF2B5EF4-FFF2-40B4-BE49-F238E27FC236}">
                <a16:creationId xmlns:a16="http://schemas.microsoft.com/office/drawing/2014/main" id="{2C73F13D-747F-506F-FBA4-20165158F9FE}"/>
              </a:ext>
            </a:extLst>
          </p:cNvPr>
          <p:cNvSpPr txBox="1"/>
          <p:nvPr/>
        </p:nvSpPr>
        <p:spPr>
          <a:xfrm>
            <a:off x="375781" y="1465781"/>
            <a:ext cx="11336055" cy="5509200"/>
          </a:xfrm>
          <a:prstGeom prst="rect">
            <a:avLst/>
          </a:prstGeom>
          <a:noFill/>
        </p:spPr>
        <p:txBody>
          <a:bodyPr wrap="square" rtlCol="0">
            <a:spAutoFit/>
          </a:bodyPr>
          <a:lstStyle/>
          <a:p>
            <a:pPr algn="just">
              <a:buFont typeface="Wingdings" pitchFamily="2" charset="2"/>
              <a:buChar char="Ø"/>
            </a:pPr>
            <a:r>
              <a:rPr lang="en-IN" sz="3200" dirty="0"/>
              <a:t> When we talk of queues we talk about two distinct ends: the front and the rear.</a:t>
            </a:r>
          </a:p>
          <a:p>
            <a:pPr algn="just">
              <a:buFont typeface="Wingdings" pitchFamily="2" charset="2"/>
              <a:buChar char="Ø"/>
            </a:pPr>
            <a:endParaRPr lang="en-IN" sz="3200" dirty="0"/>
          </a:p>
          <a:p>
            <a:pPr algn="just">
              <a:buFont typeface="Wingdings" pitchFamily="2" charset="2"/>
              <a:buChar char="Ø"/>
            </a:pPr>
            <a:r>
              <a:rPr lang="en-IN" sz="3200" dirty="0"/>
              <a:t> Additions to the queue take place at the rear. Deletions are made from the front.</a:t>
            </a:r>
          </a:p>
          <a:p>
            <a:pPr algn="just">
              <a:buFont typeface="Wingdings" pitchFamily="2" charset="2"/>
              <a:buChar char="Ø"/>
            </a:pPr>
            <a:endParaRPr lang="en-IN" sz="3200" dirty="0"/>
          </a:p>
          <a:p>
            <a:pPr algn="just">
              <a:buFont typeface="Wingdings" pitchFamily="2" charset="2"/>
              <a:buChar char="Ø"/>
            </a:pPr>
            <a:r>
              <a:rPr lang="en-IN" sz="3200" dirty="0"/>
              <a:t> So, if a job is submitted for execution, it joins at the rear of the job queue.</a:t>
            </a:r>
          </a:p>
          <a:p>
            <a:pPr algn="just">
              <a:buFont typeface="Wingdings" pitchFamily="2" charset="2"/>
              <a:buChar char="Ø"/>
            </a:pPr>
            <a:endParaRPr lang="en-IN" sz="3200" dirty="0"/>
          </a:p>
          <a:p>
            <a:pPr algn="just">
              <a:buFont typeface="Wingdings" pitchFamily="2" charset="2"/>
              <a:buChar char="Ø"/>
            </a:pPr>
            <a:r>
              <a:rPr lang="en-IN" sz="3200" dirty="0"/>
              <a:t> The job at the front of the queue is the next one to be executed.</a:t>
            </a:r>
          </a:p>
          <a:p>
            <a:pPr algn="just">
              <a:buFont typeface="Wingdings" pitchFamily="2" charset="2"/>
              <a:buChar char="Ø"/>
            </a:pPr>
            <a:endParaRPr lang="en-IN" sz="3200" dirty="0"/>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ounded Rectangle 17">
            <a:extLst>
              <a:ext uri="{FF2B5EF4-FFF2-40B4-BE49-F238E27FC236}">
                <a16:creationId xmlns:a16="http://schemas.microsoft.com/office/drawing/2014/main" id="{E0C43141-950E-4CE2-2E77-1A0774B7ACB8}"/>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Arial" panose="020B0604020202020204" pitchFamily="34" charset="0"/>
              </a:rPr>
              <a:t>Linked Queue</a:t>
            </a:r>
          </a:p>
          <a:p>
            <a:pPr algn="ctr"/>
            <a:r>
              <a:rPr lang="en-US" sz="2400" dirty="0"/>
              <a:t>INTRODUCTION</a:t>
            </a:r>
          </a:p>
        </p:txBody>
      </p:sp>
      <p:sp>
        <p:nvSpPr>
          <p:cNvPr id="3" name="TextBox 2">
            <a:extLst>
              <a:ext uri="{FF2B5EF4-FFF2-40B4-BE49-F238E27FC236}">
                <a16:creationId xmlns:a16="http://schemas.microsoft.com/office/drawing/2014/main" id="{E767E9E6-15E3-BF58-8D7C-0F0CC7A34E86}"/>
              </a:ext>
            </a:extLst>
          </p:cNvPr>
          <p:cNvSpPr txBox="1"/>
          <p:nvPr/>
        </p:nvSpPr>
        <p:spPr>
          <a:xfrm>
            <a:off x="427972" y="1773692"/>
            <a:ext cx="11336055" cy="5509200"/>
          </a:xfrm>
          <a:prstGeom prst="rect">
            <a:avLst/>
          </a:prstGeom>
          <a:noFill/>
        </p:spPr>
        <p:txBody>
          <a:bodyPr wrap="square" rtlCol="0">
            <a:spAutoFit/>
          </a:bodyPr>
          <a:lstStyle/>
          <a:p>
            <a:pPr algn="just">
              <a:buFont typeface="Wingdings" pitchFamily="2" charset="2"/>
              <a:buChar char="Ø"/>
            </a:pPr>
            <a:r>
              <a:rPr lang="en-IN" sz="3200" dirty="0"/>
              <a:t> The array implementation can not be used for the large scale applications where the queues are implemented. One of the alternative of array implementation is linked list implementation of queue.</a:t>
            </a:r>
          </a:p>
          <a:p>
            <a:pPr algn="just">
              <a:buFont typeface="Wingdings" pitchFamily="2" charset="2"/>
              <a:buChar char="Ø"/>
            </a:pPr>
            <a:endParaRPr lang="en-IN" sz="3200" dirty="0"/>
          </a:p>
          <a:p>
            <a:pPr algn="just">
              <a:buFont typeface="Wingdings" pitchFamily="2" charset="2"/>
              <a:buChar char="Ø"/>
            </a:pPr>
            <a:endParaRPr lang="en-IN" sz="3200" dirty="0"/>
          </a:p>
          <a:p>
            <a:pPr algn="just">
              <a:buFont typeface="Wingdings" pitchFamily="2" charset="2"/>
              <a:buChar char="Ø"/>
            </a:pPr>
            <a:r>
              <a:rPr lang="en-IN" sz="3200" dirty="0"/>
              <a:t> In a linked queue, each node of the queue consists of two parts i.e. data part and the link part. Each element of the queue points to its immediate next element in the memory.</a:t>
            </a:r>
          </a:p>
          <a:p>
            <a:pPr algn="just">
              <a:buFont typeface="Wingdings" pitchFamily="2" charset="2"/>
              <a:buChar char="Ø"/>
            </a:pPr>
            <a:endParaRPr lang="en-IN" sz="3200" dirty="0"/>
          </a:p>
          <a:p>
            <a:pPr algn="just">
              <a:buFont typeface="Wingdings" pitchFamily="2" charset="2"/>
              <a:buChar char="Ø"/>
            </a:pPr>
            <a:endParaRPr lang="en-IN" sz="3200" dirty="0"/>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ounded Rectangle 17">
            <a:extLst>
              <a:ext uri="{FF2B5EF4-FFF2-40B4-BE49-F238E27FC236}">
                <a16:creationId xmlns:a16="http://schemas.microsoft.com/office/drawing/2014/main" id="{B9A5718D-1605-F9FC-F62E-20C93E21A430}"/>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Arial" panose="020B0604020202020204" pitchFamily="34" charset="0"/>
              </a:rPr>
              <a:t>Linked Queue</a:t>
            </a:r>
          </a:p>
          <a:p>
            <a:pPr algn="ctr"/>
            <a:r>
              <a:rPr lang="en-US" sz="2400" dirty="0"/>
              <a:t>INTRODUCTION </a:t>
            </a:r>
            <a:r>
              <a:rPr lang="en-US" sz="2400" dirty="0" err="1"/>
              <a:t>Contd</a:t>
            </a:r>
            <a:r>
              <a:rPr lang="en-US" sz="2400" dirty="0"/>
              <a:t>….</a:t>
            </a:r>
          </a:p>
        </p:txBody>
      </p:sp>
      <p:sp>
        <p:nvSpPr>
          <p:cNvPr id="4" name="TextBox 3">
            <a:extLst>
              <a:ext uri="{FF2B5EF4-FFF2-40B4-BE49-F238E27FC236}">
                <a16:creationId xmlns:a16="http://schemas.microsoft.com/office/drawing/2014/main" id="{DE72E264-AADB-A614-B947-34147D3FE20C}"/>
              </a:ext>
            </a:extLst>
          </p:cNvPr>
          <p:cNvSpPr txBox="1"/>
          <p:nvPr/>
        </p:nvSpPr>
        <p:spPr>
          <a:xfrm>
            <a:off x="427972" y="1773692"/>
            <a:ext cx="11336055" cy="4524315"/>
          </a:xfrm>
          <a:prstGeom prst="rect">
            <a:avLst/>
          </a:prstGeom>
          <a:noFill/>
        </p:spPr>
        <p:txBody>
          <a:bodyPr wrap="square" rtlCol="0">
            <a:spAutoFit/>
          </a:bodyPr>
          <a:lstStyle/>
          <a:p>
            <a:pPr algn="just">
              <a:buFont typeface="Wingdings" pitchFamily="2" charset="2"/>
              <a:buChar char="Ø"/>
            </a:pPr>
            <a:r>
              <a:rPr lang="en-IN" sz="3200" dirty="0"/>
              <a:t> In the linked queue, there are two pointers maintained in the memory i.e. front pointer and rear pointer. The front pointer contains the address of the starting element of the queue while the rear pointer contains the address of the last element of the queue.</a:t>
            </a:r>
          </a:p>
          <a:p>
            <a:pPr algn="just">
              <a:buFont typeface="Wingdings" pitchFamily="2" charset="2"/>
              <a:buChar char="Ø"/>
            </a:pPr>
            <a:endParaRPr lang="en-IN" sz="3200" dirty="0"/>
          </a:p>
          <a:p>
            <a:pPr algn="just">
              <a:buFont typeface="Wingdings" pitchFamily="2" charset="2"/>
              <a:buChar char="Ø"/>
            </a:pPr>
            <a:endParaRPr lang="en-IN" sz="3200" dirty="0"/>
          </a:p>
          <a:p>
            <a:pPr algn="just">
              <a:buFont typeface="Wingdings" pitchFamily="2" charset="2"/>
              <a:buChar char="Ø"/>
            </a:pPr>
            <a:r>
              <a:rPr lang="en-IN" sz="3200" dirty="0"/>
              <a:t> Insertion and deletions are performed at rear and front end respectively. If front and rear both are NULL, it indicates that the queue is empty.</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ounded Rectangle 17">
            <a:extLst>
              <a:ext uri="{FF2B5EF4-FFF2-40B4-BE49-F238E27FC236}">
                <a16:creationId xmlns:a16="http://schemas.microsoft.com/office/drawing/2014/main" id="{0530C5E4-22A9-9686-1AE6-BBD25BE1246A}"/>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Arial" panose="020B0604020202020204" pitchFamily="34" charset="0"/>
              </a:rPr>
              <a:t>Linked Queue</a:t>
            </a:r>
          </a:p>
          <a:p>
            <a:pPr algn="ctr"/>
            <a:r>
              <a:rPr lang="en-US" sz="2400" dirty="0"/>
              <a:t>INTRODUCTION </a:t>
            </a:r>
            <a:r>
              <a:rPr lang="en-US" sz="2400" dirty="0" err="1"/>
              <a:t>Contd</a:t>
            </a:r>
            <a:r>
              <a:rPr lang="en-US" sz="2400" dirty="0"/>
              <a:t>….</a:t>
            </a:r>
          </a:p>
        </p:txBody>
      </p:sp>
      <p:sp>
        <p:nvSpPr>
          <p:cNvPr id="4" name="TextBox 3">
            <a:extLst>
              <a:ext uri="{FF2B5EF4-FFF2-40B4-BE49-F238E27FC236}">
                <a16:creationId xmlns:a16="http://schemas.microsoft.com/office/drawing/2014/main" id="{F2BFA9A6-AA4A-EAD7-0589-160F9EF80C0E}"/>
              </a:ext>
            </a:extLst>
          </p:cNvPr>
          <p:cNvSpPr txBox="1"/>
          <p:nvPr/>
        </p:nvSpPr>
        <p:spPr>
          <a:xfrm>
            <a:off x="427972" y="1773692"/>
            <a:ext cx="11336055" cy="3046988"/>
          </a:xfrm>
          <a:prstGeom prst="rect">
            <a:avLst/>
          </a:prstGeom>
          <a:noFill/>
        </p:spPr>
        <p:txBody>
          <a:bodyPr wrap="square" rtlCol="0">
            <a:spAutoFit/>
          </a:bodyPr>
          <a:lstStyle/>
          <a:p>
            <a:pPr algn="just">
              <a:buFont typeface="Wingdings" pitchFamily="2" charset="2"/>
              <a:buChar char="Ø"/>
            </a:pPr>
            <a:r>
              <a:rPr lang="en-IN" sz="3200" dirty="0"/>
              <a:t> The linked representation of queue is shown in the following figure.</a:t>
            </a:r>
          </a:p>
          <a:p>
            <a:pPr algn="just">
              <a:buFont typeface="Wingdings" pitchFamily="2" charset="2"/>
              <a:buChar char="Ø"/>
            </a:pPr>
            <a:endParaRPr lang="en-IN" sz="3200" dirty="0"/>
          </a:p>
          <a:p>
            <a:pPr algn="just"/>
            <a:endParaRPr lang="en-IN" sz="3200" dirty="0"/>
          </a:p>
          <a:p>
            <a:pPr algn="just">
              <a:buFont typeface="Wingdings" pitchFamily="2" charset="2"/>
              <a:buChar char="Ø"/>
            </a:pPr>
            <a:endParaRPr lang="en-IN" sz="3200" dirty="0"/>
          </a:p>
          <a:p>
            <a:pPr algn="just">
              <a:buFont typeface="Wingdings" pitchFamily="2" charset="2"/>
              <a:buChar char="Ø"/>
            </a:pPr>
            <a:endParaRPr lang="en-IN" sz="3200" dirty="0"/>
          </a:p>
        </p:txBody>
      </p:sp>
      <p:pic>
        <p:nvPicPr>
          <p:cNvPr id="5" name="Picture 4">
            <a:extLst>
              <a:ext uri="{FF2B5EF4-FFF2-40B4-BE49-F238E27FC236}">
                <a16:creationId xmlns:a16="http://schemas.microsoft.com/office/drawing/2014/main" id="{3DDC9E63-AAC7-1083-2FDA-EE7699DA0B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9418" y="3123908"/>
            <a:ext cx="8672182" cy="2410162"/>
          </a:xfrm>
          <a:prstGeom prst="rect">
            <a:avLst/>
          </a:prstGeom>
          <a:noFill/>
          <a:ln>
            <a:noFill/>
          </a:ln>
        </p:spPr>
      </p:pic>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ounded Rectangle 17">
            <a:extLst>
              <a:ext uri="{FF2B5EF4-FFF2-40B4-BE49-F238E27FC236}">
                <a16:creationId xmlns:a16="http://schemas.microsoft.com/office/drawing/2014/main" id="{D6D6D816-E023-E7D7-2582-9BE2B2F265CB}"/>
              </a:ext>
            </a:extLst>
          </p:cNvPr>
          <p:cNvSpPr/>
          <p:nvPr/>
        </p:nvSpPr>
        <p:spPr>
          <a:xfrm>
            <a:off x="2251122" y="221524"/>
            <a:ext cx="8324237" cy="75710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latin typeface="Arial" panose="020B0604020202020204" pitchFamily="34" charset="0"/>
              </a:rPr>
              <a:t>Operations on Linked Queue</a:t>
            </a:r>
            <a:endParaRPr lang="en-US" sz="3600" dirty="0">
              <a:latin typeface="Arial" panose="020B0604020202020204" pitchFamily="34" charset="0"/>
            </a:endParaRPr>
          </a:p>
        </p:txBody>
      </p:sp>
      <p:sp>
        <p:nvSpPr>
          <p:cNvPr id="4" name="TextBox 3">
            <a:extLst>
              <a:ext uri="{FF2B5EF4-FFF2-40B4-BE49-F238E27FC236}">
                <a16:creationId xmlns:a16="http://schemas.microsoft.com/office/drawing/2014/main" id="{CB2C8624-DBE7-C26F-FCE5-AB29805F0C15}"/>
              </a:ext>
            </a:extLst>
          </p:cNvPr>
          <p:cNvSpPr txBox="1"/>
          <p:nvPr/>
        </p:nvSpPr>
        <p:spPr>
          <a:xfrm>
            <a:off x="427972" y="1173616"/>
            <a:ext cx="11336055" cy="6001643"/>
          </a:xfrm>
          <a:prstGeom prst="rect">
            <a:avLst/>
          </a:prstGeom>
          <a:noFill/>
        </p:spPr>
        <p:txBody>
          <a:bodyPr wrap="square" rtlCol="0">
            <a:spAutoFit/>
          </a:bodyPr>
          <a:lstStyle/>
          <a:p>
            <a:pPr algn="just">
              <a:buFont typeface="Wingdings" pitchFamily="2" charset="2"/>
              <a:buChar char="Ø"/>
            </a:pPr>
            <a:r>
              <a:rPr lang="en-IN" sz="3200" dirty="0"/>
              <a:t> There are two basic operations which can be implemented on the linked queues. </a:t>
            </a:r>
          </a:p>
          <a:p>
            <a:pPr algn="just"/>
            <a:endParaRPr lang="en-IN" sz="3200" dirty="0"/>
          </a:p>
          <a:p>
            <a:pPr algn="just"/>
            <a:r>
              <a:rPr lang="en-IN" sz="3200" dirty="0"/>
              <a:t>		1. Insertion Operation and </a:t>
            </a:r>
          </a:p>
          <a:p>
            <a:pPr algn="just"/>
            <a:r>
              <a:rPr lang="en-IN" sz="3200" dirty="0"/>
              <a:t>		2. Deletion Operation.</a:t>
            </a:r>
          </a:p>
          <a:p>
            <a:pPr algn="just">
              <a:buFont typeface="Wingdings" pitchFamily="2" charset="2"/>
              <a:buChar char="Ø"/>
            </a:pPr>
            <a:endParaRPr lang="en-IN" sz="3200" dirty="0"/>
          </a:p>
          <a:p>
            <a:pPr algn="just">
              <a:buFont typeface="Wingdings" pitchFamily="2" charset="2"/>
              <a:buChar char="Ø"/>
            </a:pPr>
            <a:r>
              <a:rPr lang="en-IN" sz="3200" dirty="0"/>
              <a:t> The insert operation append the queue by adding an element to the end of the queue.</a:t>
            </a:r>
          </a:p>
          <a:p>
            <a:pPr algn="just">
              <a:buFont typeface="Wingdings" pitchFamily="2" charset="2"/>
              <a:buChar char="Ø"/>
            </a:pPr>
            <a:endParaRPr lang="en-IN" sz="3200" dirty="0"/>
          </a:p>
          <a:p>
            <a:pPr algn="just">
              <a:buFont typeface="Wingdings" pitchFamily="2" charset="2"/>
              <a:buChar char="Ø"/>
            </a:pPr>
            <a:r>
              <a:rPr lang="en-IN" sz="3200" dirty="0"/>
              <a:t> Deletion operation removes the element that is first inserted among all the queue elements.</a:t>
            </a:r>
          </a:p>
          <a:p>
            <a:pPr algn="just"/>
            <a:endParaRPr lang="en-IN" sz="3200" dirty="0"/>
          </a:p>
        </p:txBody>
      </p:sp>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CF7DF2E0-B721-421B-04D2-E0A8924FBC5D}"/>
              </a:ext>
            </a:extLst>
          </p:cNvPr>
          <p:cNvSpPr/>
          <p:nvPr/>
        </p:nvSpPr>
        <p:spPr>
          <a:xfrm>
            <a:off x="2251122" y="221524"/>
            <a:ext cx="8324237" cy="106610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latin typeface="Arial" panose="020B0604020202020204" pitchFamily="34" charset="0"/>
              </a:rPr>
              <a:t>Insertion Operation on Linked Queue   </a:t>
            </a:r>
          </a:p>
          <a:p>
            <a:pPr algn="ctr"/>
            <a:r>
              <a:rPr lang="en-IN" sz="3600" dirty="0">
                <a:latin typeface="Arial" panose="020B0604020202020204" pitchFamily="34" charset="0"/>
              </a:rPr>
              <a:t>                                              </a:t>
            </a:r>
            <a:r>
              <a:rPr lang="en-IN" sz="2400" dirty="0" err="1">
                <a:latin typeface="Arial" panose="020B0604020202020204" pitchFamily="34" charset="0"/>
              </a:rPr>
              <a:t>Contd</a:t>
            </a:r>
            <a:r>
              <a:rPr lang="en-IN" sz="2400" dirty="0">
                <a:latin typeface="Arial" panose="020B0604020202020204" pitchFamily="34" charset="0"/>
              </a:rPr>
              <a:t>….</a:t>
            </a:r>
            <a:endParaRPr lang="en-US" sz="2400" dirty="0">
              <a:latin typeface="Arial" panose="020B0604020202020204" pitchFamily="34" charset="0"/>
            </a:endParaRPr>
          </a:p>
        </p:txBody>
      </p:sp>
      <p:sp>
        <p:nvSpPr>
          <p:cNvPr id="7" name="TextBox 6">
            <a:extLst>
              <a:ext uri="{FF2B5EF4-FFF2-40B4-BE49-F238E27FC236}">
                <a16:creationId xmlns:a16="http://schemas.microsoft.com/office/drawing/2014/main" id="{37F954E7-B633-06B2-6AD1-562E09349CB4}"/>
              </a:ext>
            </a:extLst>
          </p:cNvPr>
          <p:cNvSpPr txBox="1"/>
          <p:nvPr/>
        </p:nvSpPr>
        <p:spPr>
          <a:xfrm>
            <a:off x="138723" y="1287624"/>
            <a:ext cx="8230835" cy="5414303"/>
          </a:xfrm>
          <a:prstGeom prst="rect">
            <a:avLst/>
          </a:prstGeom>
          <a:noFill/>
        </p:spPr>
        <p:txBody>
          <a:bodyPr wrap="square" rtlCol="0">
            <a:spAutoFit/>
          </a:bodyPr>
          <a:lstStyle/>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class Queue:</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def __</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init</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__(self):</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self.front</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None  # Points to the front of the queue</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self.rear</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None   # Points to the rear of the queue</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Enqueue operation (insert at the rear)</a:t>
            </a:r>
          </a:p>
          <a:p>
            <a:pPr marL="228600" algn="just">
              <a:lnSpc>
                <a:spcPts val="1875"/>
              </a:lnSpc>
              <a:spcAft>
                <a:spcPts val="1000"/>
              </a:spcAft>
            </a:pPr>
            <a:r>
              <a:rPr lang="en-IN" dirty="0">
                <a:solidFill>
                  <a:srgbClr val="000000"/>
                </a:solidFill>
                <a:latin typeface="Times New Roman" panose="02020603050405020304" pitchFamily="18" charset="0"/>
                <a:cs typeface="Vrinda" panose="020B0502040204020203" pitchFamily="34" charset="0"/>
              </a:rPr>
              <a:t>  </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def enqueue(self, data):</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new_node</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Node(data)  # Create a new node</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if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self.rear</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is None:</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self.front</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self.rear</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new_node</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If the queue is empty, front and rear point to the new node</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else:</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self.rear.next</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new_node</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Link the new node to the current rear</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self.rear</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new_node</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Update the rear pointer</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print(</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f"Enqueued</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{data} to the queue")</a:t>
            </a:r>
          </a:p>
          <a:p>
            <a:pPr marL="228600" algn="just">
              <a:lnSpc>
                <a:spcPts val="1875"/>
              </a:lnSpc>
              <a:spcAft>
                <a:spcPts val="1000"/>
              </a:spcAft>
            </a:pPr>
            <a:endPar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endParaRPr>
          </a:p>
        </p:txBody>
      </p:sp>
      <p:sp>
        <p:nvSpPr>
          <p:cNvPr id="8" name="TextBox 7">
            <a:extLst>
              <a:ext uri="{FF2B5EF4-FFF2-40B4-BE49-F238E27FC236}">
                <a16:creationId xmlns:a16="http://schemas.microsoft.com/office/drawing/2014/main" id="{3FC6D4E6-E198-B854-B66F-CAAF314D013D}"/>
              </a:ext>
            </a:extLst>
          </p:cNvPr>
          <p:cNvSpPr txBox="1"/>
          <p:nvPr/>
        </p:nvSpPr>
        <p:spPr>
          <a:xfrm>
            <a:off x="8184377" y="1287624"/>
            <a:ext cx="3868900" cy="4865434"/>
          </a:xfrm>
          <a:prstGeom prst="rect">
            <a:avLst/>
          </a:prstGeom>
          <a:noFill/>
        </p:spPr>
        <p:txBody>
          <a:bodyPr wrap="square" rtlCol="0">
            <a:spAutoFit/>
          </a:bodyPr>
          <a:lstStyle/>
          <a:p>
            <a:pPr marL="228600" algn="just">
              <a:spcAft>
                <a:spcPts val="1000"/>
              </a:spcAft>
            </a:pPr>
            <a:r>
              <a:rPr lang="en-IN" dirty="0">
                <a:solidFill>
                  <a:srgbClr val="000000"/>
                </a:solidFill>
                <a:latin typeface="Times New Roman" panose="02020603050405020304" pitchFamily="18" charset="0"/>
                <a:cs typeface="Vrinda" panose="020B0502040204020203" pitchFamily="34" charset="0"/>
              </a:rPr>
              <a:t> </a:t>
            </a:r>
          </a:p>
          <a:p>
            <a:pPr marL="228600" algn="just">
              <a:lnSpc>
                <a:spcPts val="1875"/>
              </a:lnSpc>
              <a:spcAft>
                <a:spcPts val="1000"/>
              </a:spcAft>
            </a:pPr>
            <a:r>
              <a:rPr lang="en-IN" dirty="0">
                <a:solidFill>
                  <a:srgbClr val="000000"/>
                </a:solidFill>
                <a:latin typeface="Times New Roman" panose="02020603050405020304" pitchFamily="18" charset="0"/>
                <a:cs typeface="Vrinda" panose="020B0502040204020203" pitchFamily="34" charset="0"/>
              </a:rPr>
              <a:t> </a:t>
            </a:r>
            <a:endPar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 Display the queue</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def display(self):</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if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self.front</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is None:</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print("Queue is empty")</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return</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current =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self.front</a:t>
            </a:r>
            <a:endPar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while current:</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print(</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current.data</a:t>
            </a: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end=" -&gt; ")</a:t>
            </a: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current = </a:t>
            </a:r>
            <a:r>
              <a:rPr lang="en-US" sz="1800" dirty="0" err="1">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current.next</a:t>
            </a:r>
            <a:endPar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endParaRPr>
          </a:p>
          <a:p>
            <a:pPr marL="228600" algn="just">
              <a:lnSpc>
                <a:spcPts val="1875"/>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print("None") </a:t>
            </a:r>
            <a:r>
              <a:rPr lang="en-IN" sz="1800" dirty="0">
                <a:solidFill>
                  <a:srgbClr val="000000"/>
                </a:solidFill>
                <a:effectLst/>
                <a:latin typeface="Times New Roman" panose="02020603050405020304" pitchFamily="18" charset="0"/>
                <a:ea typeface="Times New Roman" panose="02020603050405020304" pitchFamily="18" charset="0"/>
                <a:cs typeface="Vrinda" panose="020B0502040204020203" pitchFamily="34" charset="0"/>
              </a:rPr>
              <a:t>    </a:t>
            </a:r>
            <a:endParaRPr lang="en-IN" sz="1800" dirty="0">
              <a:effectLst/>
              <a:latin typeface="Calibri" panose="020F0502020204030204" pitchFamily="34" charset="0"/>
              <a:ea typeface="Times New Roman" panose="02020603050405020304" pitchFamily="18" charset="0"/>
              <a:cs typeface="Vrinda" panose="020B0502040204020203" pitchFamily="34" charset="0"/>
            </a:endParaRPr>
          </a:p>
          <a:p>
            <a:pPr marL="228600" algn="just">
              <a:spcAft>
                <a:spcPts val="1000"/>
              </a:spcAft>
            </a:pPr>
            <a:endParaRPr lang="en-IN" dirty="0">
              <a:solidFill>
                <a:srgbClr val="000000"/>
              </a:solidFill>
              <a:latin typeface="Times New Roman" panose="02020603050405020304" pitchFamily="18" charset="0"/>
              <a:cs typeface="Vrinda" panose="020B0502040204020203" pitchFamily="34" charset="0"/>
            </a:endParaRPr>
          </a:p>
        </p:txBody>
      </p:sp>
    </p:spTree>
    <p:extLst>
      <p:ext uri="{BB962C8B-B14F-4D97-AF65-F5344CB8AC3E}">
        <p14:creationId xmlns:p14="http://schemas.microsoft.com/office/powerpoint/2010/main" val="62459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7" name="Rounded Rectangle 17">
            <a:extLst>
              <a:ext uri="{FF2B5EF4-FFF2-40B4-BE49-F238E27FC236}">
                <a16:creationId xmlns:a16="http://schemas.microsoft.com/office/drawing/2014/main" id="{991B4CF0-1C6C-B285-DF01-7F1952E154A1}"/>
              </a:ext>
            </a:extLst>
          </p:cNvPr>
          <p:cNvSpPr/>
          <p:nvPr/>
        </p:nvSpPr>
        <p:spPr>
          <a:xfrm>
            <a:off x="2260453" y="137548"/>
            <a:ext cx="8324237" cy="106610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latin typeface="Arial" panose="020B0604020202020204" pitchFamily="34" charset="0"/>
              </a:rPr>
              <a:t>Deletion Operation on Linked Queue   </a:t>
            </a:r>
          </a:p>
          <a:p>
            <a:pPr algn="ctr"/>
            <a:r>
              <a:rPr lang="en-IN" sz="3600" dirty="0">
                <a:latin typeface="Arial" panose="020B0604020202020204" pitchFamily="34" charset="0"/>
              </a:rPr>
              <a:t>                                              </a:t>
            </a:r>
            <a:r>
              <a:rPr lang="en-IN" sz="2400" dirty="0" err="1">
                <a:latin typeface="Arial" panose="020B0604020202020204" pitchFamily="34" charset="0"/>
              </a:rPr>
              <a:t>Contd</a:t>
            </a:r>
            <a:r>
              <a:rPr lang="en-IN" sz="2400" dirty="0">
                <a:latin typeface="Arial" panose="020B0604020202020204" pitchFamily="34" charset="0"/>
              </a:rPr>
              <a:t>….</a:t>
            </a:r>
            <a:endParaRPr lang="en-US" sz="2400" dirty="0">
              <a:latin typeface="Arial" panose="020B0604020202020204" pitchFamily="34" charset="0"/>
            </a:endParaRPr>
          </a:p>
        </p:txBody>
      </p:sp>
      <p:sp>
        <p:nvSpPr>
          <p:cNvPr id="9" name="TextBox 8">
            <a:extLst>
              <a:ext uri="{FF2B5EF4-FFF2-40B4-BE49-F238E27FC236}">
                <a16:creationId xmlns:a16="http://schemas.microsoft.com/office/drawing/2014/main" id="{F5B2E01E-5958-67F6-97EF-2989C6CBE284}"/>
              </a:ext>
            </a:extLst>
          </p:cNvPr>
          <p:cNvSpPr txBox="1"/>
          <p:nvPr/>
        </p:nvSpPr>
        <p:spPr>
          <a:xfrm>
            <a:off x="519016" y="1211252"/>
            <a:ext cx="11336055" cy="5509200"/>
          </a:xfrm>
          <a:prstGeom prst="rect">
            <a:avLst/>
          </a:prstGeom>
          <a:noFill/>
        </p:spPr>
        <p:txBody>
          <a:bodyPr wrap="square" rtlCol="0">
            <a:spAutoFit/>
          </a:bodyPr>
          <a:lstStyle/>
          <a:p>
            <a:pPr algn="just">
              <a:buFont typeface="Wingdings" pitchFamily="2" charset="2"/>
              <a:buChar char="Ø"/>
            </a:pPr>
            <a:r>
              <a:rPr lang="en-IN" sz="3200" dirty="0"/>
              <a:t> Deletion operation removes the element that is first inserted among all the queue elements.</a:t>
            </a:r>
          </a:p>
          <a:p>
            <a:pPr algn="just">
              <a:buFont typeface="Wingdings" pitchFamily="2" charset="2"/>
              <a:buChar char="Ø"/>
            </a:pPr>
            <a:endParaRPr lang="en-IN" sz="3200" dirty="0"/>
          </a:p>
          <a:p>
            <a:pPr algn="just">
              <a:buFont typeface="Wingdings" pitchFamily="2" charset="2"/>
              <a:buChar char="Ø"/>
            </a:pPr>
            <a:r>
              <a:rPr lang="en-IN" sz="3200" dirty="0"/>
              <a:t> Firstly, we need to check either the list is empty or not. The condition front == NULL becomes true if the list is empty, in this case , we simply write underflow on the console and make exit.</a:t>
            </a:r>
          </a:p>
          <a:p>
            <a:pPr algn="just">
              <a:buFont typeface="Wingdings" pitchFamily="2" charset="2"/>
              <a:buChar char="Ø"/>
            </a:pPr>
            <a:endParaRPr lang="en-IN" sz="3200" dirty="0"/>
          </a:p>
          <a:p>
            <a:pPr algn="just">
              <a:buFont typeface="Wingdings" pitchFamily="2" charset="2"/>
              <a:buChar char="Ø"/>
            </a:pPr>
            <a:r>
              <a:rPr lang="en-IN" sz="3200" dirty="0"/>
              <a:t> Otherwise, we will delete the element that is pointed by the pointer front. For this purpose, copy the node pointed by the front pointer into the pointer </a:t>
            </a:r>
            <a:r>
              <a:rPr lang="en-IN" sz="3200" dirty="0" err="1"/>
              <a:t>ptr</a:t>
            </a:r>
            <a:r>
              <a:rPr lang="en-IN" sz="3200" dirty="0"/>
              <a:t>. Now, shift the front pointer, point to its next node and free the node pointed by the node </a:t>
            </a:r>
            <a:r>
              <a:rPr lang="en-IN" sz="3200" dirty="0" err="1"/>
              <a:t>ptr</a:t>
            </a:r>
            <a:r>
              <a:rPr lang="en-IN" sz="3200" dirty="0"/>
              <a:t>.</a:t>
            </a:r>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ounded Rectangle 17">
            <a:extLst>
              <a:ext uri="{FF2B5EF4-FFF2-40B4-BE49-F238E27FC236}">
                <a16:creationId xmlns:a16="http://schemas.microsoft.com/office/drawing/2014/main" id="{0E481AF2-0366-9D3C-9A4B-E6EDF793CE03}"/>
              </a:ext>
            </a:extLst>
          </p:cNvPr>
          <p:cNvSpPr/>
          <p:nvPr/>
        </p:nvSpPr>
        <p:spPr>
          <a:xfrm>
            <a:off x="2260453" y="137548"/>
            <a:ext cx="8324237" cy="106610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latin typeface="Arial" panose="020B0604020202020204" pitchFamily="34" charset="0"/>
              </a:rPr>
              <a:t>Deletion Operation on Linked Queue   </a:t>
            </a:r>
          </a:p>
          <a:p>
            <a:pPr algn="ctr"/>
            <a:r>
              <a:rPr lang="en-IN" sz="3600" dirty="0">
                <a:latin typeface="Arial" panose="020B0604020202020204" pitchFamily="34" charset="0"/>
              </a:rPr>
              <a:t>                                              </a:t>
            </a:r>
            <a:r>
              <a:rPr lang="en-IN" sz="2400" dirty="0" err="1">
                <a:latin typeface="Arial" panose="020B0604020202020204" pitchFamily="34" charset="0"/>
              </a:rPr>
              <a:t>Contd</a:t>
            </a:r>
            <a:r>
              <a:rPr lang="en-IN" sz="2400" dirty="0">
                <a:latin typeface="Arial" panose="020B0604020202020204" pitchFamily="34" charset="0"/>
              </a:rPr>
              <a:t>….</a:t>
            </a:r>
            <a:endParaRPr lang="en-US" sz="2400" dirty="0">
              <a:latin typeface="Arial" panose="020B0604020202020204" pitchFamily="34" charset="0"/>
            </a:endParaRPr>
          </a:p>
        </p:txBody>
      </p:sp>
      <p:sp>
        <p:nvSpPr>
          <p:cNvPr id="4" name="TextBox 3">
            <a:extLst>
              <a:ext uri="{FF2B5EF4-FFF2-40B4-BE49-F238E27FC236}">
                <a16:creationId xmlns:a16="http://schemas.microsoft.com/office/drawing/2014/main" id="{EAD471B2-11BD-27FC-78D6-8394845C74B7}"/>
              </a:ext>
            </a:extLst>
          </p:cNvPr>
          <p:cNvSpPr txBox="1"/>
          <p:nvPr/>
        </p:nvSpPr>
        <p:spPr>
          <a:xfrm>
            <a:off x="1698171" y="1362269"/>
            <a:ext cx="9330613" cy="3970318"/>
          </a:xfrm>
          <a:prstGeom prst="rect">
            <a:avLst/>
          </a:prstGeom>
          <a:noFill/>
        </p:spPr>
        <p:txBody>
          <a:bodyPr wrap="square" rtlCol="0">
            <a:spAutoFit/>
          </a:bodyPr>
          <a:lstStyle/>
          <a:p>
            <a:endParaRPr lang="en-IN" dirty="0"/>
          </a:p>
          <a:p>
            <a:r>
              <a:rPr lang="en-IN" dirty="0"/>
              <a:t>    # Dequeue operation (delete from the front)</a:t>
            </a:r>
          </a:p>
          <a:p>
            <a:r>
              <a:rPr lang="en-IN" dirty="0"/>
              <a:t>    def dequeue(self):</a:t>
            </a:r>
          </a:p>
          <a:p>
            <a:r>
              <a:rPr lang="en-IN" dirty="0"/>
              <a:t>        if </a:t>
            </a:r>
            <a:r>
              <a:rPr lang="en-IN" dirty="0" err="1"/>
              <a:t>self.front</a:t>
            </a:r>
            <a:r>
              <a:rPr lang="en-IN" dirty="0"/>
              <a:t> is None:</a:t>
            </a:r>
          </a:p>
          <a:p>
            <a:r>
              <a:rPr lang="en-IN" dirty="0"/>
              <a:t>            print("Queue is empty. Cannot dequeue.")</a:t>
            </a:r>
          </a:p>
          <a:p>
            <a:r>
              <a:rPr lang="en-IN" dirty="0"/>
              <a:t>            return None</a:t>
            </a:r>
          </a:p>
          <a:p>
            <a:r>
              <a:rPr lang="en-IN" dirty="0"/>
              <a:t>        </a:t>
            </a:r>
            <a:r>
              <a:rPr lang="en-IN" dirty="0" err="1"/>
              <a:t>removed_data</a:t>
            </a:r>
            <a:r>
              <a:rPr lang="en-IN" dirty="0"/>
              <a:t> = </a:t>
            </a:r>
            <a:r>
              <a:rPr lang="en-IN" dirty="0" err="1"/>
              <a:t>self.front.data</a:t>
            </a:r>
            <a:endParaRPr lang="en-IN" dirty="0"/>
          </a:p>
          <a:p>
            <a:r>
              <a:rPr lang="en-IN" dirty="0"/>
              <a:t>        </a:t>
            </a:r>
            <a:r>
              <a:rPr lang="en-IN" dirty="0" err="1"/>
              <a:t>self.front</a:t>
            </a:r>
            <a:r>
              <a:rPr lang="en-IN" dirty="0"/>
              <a:t> = </a:t>
            </a:r>
            <a:r>
              <a:rPr lang="en-IN" dirty="0" err="1"/>
              <a:t>self.front.next</a:t>
            </a:r>
            <a:r>
              <a:rPr lang="en-IN" dirty="0"/>
              <a:t>  # Move the front pointer to the next node</a:t>
            </a:r>
          </a:p>
          <a:p>
            <a:r>
              <a:rPr lang="en-IN" dirty="0"/>
              <a:t>        if </a:t>
            </a:r>
            <a:r>
              <a:rPr lang="en-IN" dirty="0" err="1"/>
              <a:t>self.front</a:t>
            </a:r>
            <a:r>
              <a:rPr lang="en-IN" dirty="0"/>
              <a:t> is None:  # If the queue becomes empty, update rear to None</a:t>
            </a:r>
          </a:p>
          <a:p>
            <a:r>
              <a:rPr lang="en-IN" dirty="0"/>
              <a:t>            </a:t>
            </a:r>
            <a:r>
              <a:rPr lang="en-IN" dirty="0" err="1"/>
              <a:t>self.rear</a:t>
            </a:r>
            <a:r>
              <a:rPr lang="en-IN" dirty="0"/>
              <a:t> = None</a:t>
            </a:r>
          </a:p>
          <a:p>
            <a:r>
              <a:rPr lang="en-IN" dirty="0"/>
              <a:t>        print(</a:t>
            </a:r>
            <a:r>
              <a:rPr lang="en-IN" dirty="0" err="1"/>
              <a:t>f"Dequeued</a:t>
            </a:r>
            <a:r>
              <a:rPr lang="en-IN" dirty="0"/>
              <a:t> {</a:t>
            </a:r>
            <a:r>
              <a:rPr lang="en-IN" dirty="0" err="1"/>
              <a:t>removed_data</a:t>
            </a:r>
            <a:r>
              <a:rPr lang="en-IN" dirty="0"/>
              <a:t>} from the queue")</a:t>
            </a:r>
          </a:p>
          <a:p>
            <a:r>
              <a:rPr lang="en-IN" dirty="0"/>
              <a:t>        return </a:t>
            </a:r>
            <a:r>
              <a:rPr lang="en-IN" dirty="0" err="1"/>
              <a:t>removed_data</a:t>
            </a:r>
            <a:endParaRPr lang="en-IN" dirty="0"/>
          </a:p>
          <a:p>
            <a:endParaRPr lang="en-IN" dirty="0"/>
          </a:p>
          <a:p>
            <a:r>
              <a:rPr lang="en-IN" dirty="0"/>
              <a:t>    </a:t>
            </a:r>
          </a:p>
        </p:txBody>
      </p:sp>
    </p:spTree>
    <p:extLst>
      <p:ext uri="{BB962C8B-B14F-4D97-AF65-F5344CB8AC3E}">
        <p14:creationId xmlns:p14="http://schemas.microsoft.com/office/powerpoint/2010/main" val="1300146341"/>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5262979"/>
          </a:xfrm>
          <a:prstGeom prst="rect">
            <a:avLst/>
          </a:prstGeom>
          <a:noFill/>
        </p:spPr>
        <p:txBody>
          <a:bodyPr wrap="square" rtlCol="0">
            <a:spAutoFit/>
          </a:bodyPr>
          <a:lstStyle/>
          <a:p>
            <a:pPr marL="285750" indent="-285750">
              <a:buFont typeface="Wingdings" pitchFamily="2" charset="2"/>
              <a:buChar char="Ø"/>
            </a:pPr>
            <a:r>
              <a:rPr lang="en-IN" sz="2400" dirty="0"/>
              <a:t>A queue is an ordered list in which all insertions take place at one end, the rear, while all deletions take place at the other end, the front.</a:t>
            </a:r>
          </a:p>
          <a:p>
            <a:pPr marL="285750" indent="-285750">
              <a:buFont typeface="Wingdings" pitchFamily="2" charset="2"/>
              <a:buChar char="Ø"/>
            </a:pPr>
            <a:endParaRPr lang="en-IN" sz="2400" dirty="0"/>
          </a:p>
          <a:p>
            <a:pPr marL="285750" indent="-285750">
              <a:buFont typeface="Wingdings" pitchFamily="2" charset="2"/>
              <a:buChar char="Ø"/>
            </a:pPr>
            <a:r>
              <a:rPr lang="en-IN" sz="2400" dirty="0"/>
              <a:t>The array implementation can not be used for the large scale applications where the queues are implemented.</a:t>
            </a:r>
          </a:p>
          <a:p>
            <a:pPr marL="285750" indent="-285750">
              <a:buFont typeface="Wingdings" pitchFamily="2" charset="2"/>
              <a:buChar char="Ø"/>
            </a:pPr>
            <a:endParaRPr lang="en-IN" sz="2400" dirty="0"/>
          </a:p>
          <a:p>
            <a:pPr marL="285750" indent="-285750">
              <a:buFont typeface="Wingdings" pitchFamily="2" charset="2"/>
              <a:buChar char="Ø"/>
            </a:pPr>
            <a:r>
              <a:rPr lang="en-IN" sz="2400" dirty="0"/>
              <a:t>One of the alternative of array implementation is linked list implementation of queue.</a:t>
            </a:r>
          </a:p>
          <a:p>
            <a:pPr marL="285750" indent="-285750">
              <a:buFont typeface="Wingdings" pitchFamily="2" charset="2"/>
              <a:buChar char="Ø"/>
            </a:pPr>
            <a:endParaRPr lang="en-IN" sz="2400" dirty="0"/>
          </a:p>
          <a:p>
            <a:pPr marL="285750" indent="-285750">
              <a:buFont typeface="Wingdings" pitchFamily="2" charset="2"/>
              <a:buChar char="Ø"/>
            </a:pPr>
            <a:r>
              <a:rPr lang="en-IN" sz="2400" dirty="0"/>
              <a:t>In a queue using singly linked list, we perform the following operations...</a:t>
            </a:r>
          </a:p>
          <a:p>
            <a:r>
              <a:rPr lang="en-IN" sz="2400" dirty="0"/>
              <a:t>      </a:t>
            </a:r>
            <a:r>
              <a:rPr lang="en-IN" sz="2400" dirty="0" err="1"/>
              <a:t>i</a:t>
            </a:r>
            <a:r>
              <a:rPr lang="en-IN" sz="2400" dirty="0"/>
              <a:t>) Insertion	ii)  Deletion	iii)  Display	iv) Search</a:t>
            </a:r>
          </a:p>
          <a:p>
            <a:endParaRPr lang="en-IN" sz="2400" dirty="0"/>
          </a:p>
          <a:p>
            <a:pPr marL="285750" indent="-285750">
              <a:buFont typeface="Wingdings" pitchFamily="2" charset="2"/>
              <a:buChar char="Ø"/>
            </a:pPr>
            <a:r>
              <a:rPr lang="en-IN" sz="2400" dirty="0"/>
              <a:t>The insert operation append the queue by adding an element to the end of the queue.</a:t>
            </a:r>
          </a:p>
          <a:p>
            <a:endParaRPr lang="en-IN" sz="2400" dirty="0"/>
          </a:p>
          <a:p>
            <a:pPr marL="285750" indent="-285750">
              <a:buFont typeface="Wingdings" pitchFamily="2" charset="2"/>
              <a:buChar char="Ø"/>
            </a:pPr>
            <a:r>
              <a:rPr lang="en-IN" sz="2400" dirty="0"/>
              <a:t>Deletion operation removes the element that is first inserted among all the queue elements.</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400" dirty="0"/>
              <a:t>In linked list implementation of a queue, where does a new element be inserted?</a:t>
            </a:r>
            <a:endParaRPr sz="2400" dirty="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IN" dirty="0"/>
              <a:t>a) </a:t>
            </a:r>
            <a:r>
              <a:rPr lang="en-US" dirty="0"/>
              <a:t>At the head of link list</a:t>
            </a:r>
            <a:br>
              <a:rPr lang="en-IN" dirty="0"/>
            </a:br>
            <a:r>
              <a:rPr lang="en-IN" dirty="0"/>
              <a:t>b) </a:t>
            </a:r>
            <a:r>
              <a:rPr lang="en-US" dirty="0"/>
              <a:t>At the </a:t>
            </a:r>
            <a:r>
              <a:rPr lang="en-US" dirty="0" err="1"/>
              <a:t>centre</a:t>
            </a:r>
            <a:r>
              <a:rPr lang="en-US" dirty="0"/>
              <a:t> position in the link list</a:t>
            </a:r>
            <a:br>
              <a:rPr lang="en-IN" dirty="0"/>
            </a:br>
            <a:r>
              <a:rPr lang="en-IN" dirty="0"/>
              <a:t>c) </a:t>
            </a:r>
            <a:r>
              <a:rPr lang="en-US" dirty="0">
                <a:solidFill>
                  <a:srgbClr val="00B050"/>
                </a:solidFill>
              </a:rPr>
              <a:t>At the tail of the link list </a:t>
            </a:r>
            <a:br>
              <a:rPr lang="en-IN" dirty="0"/>
            </a:br>
            <a:r>
              <a:rPr lang="en-IN" dirty="0"/>
              <a:t>d) </a:t>
            </a:r>
            <a:r>
              <a:rPr lang="en-US" dirty="0"/>
              <a:t>At any position in the linked list</a:t>
            </a:r>
            <a:br>
              <a:rPr lang="en-IN" dirty="0"/>
            </a:b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2. </a:t>
            </a:r>
            <a:r>
              <a:rPr lang="en-US" sz="2400" dirty="0"/>
              <a:t>In linked list implementation of a queue, front and rear pointers are tracked. Which of these pointers will change during an insertion into EMPTY queue?</a:t>
            </a:r>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Only front pointer</a:t>
            </a:r>
            <a:br>
              <a:rPr lang="en-IN" dirty="0"/>
            </a:br>
            <a:r>
              <a:rPr lang="en-IN" dirty="0"/>
              <a:t>b) Only rear pointer</a:t>
            </a:r>
            <a:br>
              <a:rPr lang="en-IN" dirty="0"/>
            </a:br>
            <a:r>
              <a:rPr lang="en-IN" dirty="0"/>
              <a:t>c) </a:t>
            </a:r>
            <a:r>
              <a:rPr lang="en-US" dirty="0">
                <a:solidFill>
                  <a:srgbClr val="00B050"/>
                </a:solidFill>
              </a:rPr>
              <a:t>Both front and rear pointer</a:t>
            </a:r>
            <a:br>
              <a:rPr lang="en-IN" dirty="0">
                <a:solidFill>
                  <a:srgbClr val="00B050"/>
                </a:solidFill>
              </a:rPr>
            </a:br>
            <a:r>
              <a:rPr lang="en-IN" dirty="0"/>
              <a:t>d) </a:t>
            </a:r>
            <a:r>
              <a:rPr lang="en-US" dirty="0"/>
              <a:t>No pointer will be changed</a:t>
            </a:r>
            <a:endParaRPr lang="en-IN"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3338735"/>
          </a:xfrm>
          <a:prstGeom prst="rect">
            <a:avLst/>
          </a:prstGeom>
          <a:noFill/>
        </p:spPr>
        <p:txBody>
          <a:bodyPr wrap="square" rtlCol="0">
            <a:spAutoFit/>
          </a:bodyPr>
          <a:lstStyle/>
          <a:p>
            <a:pPr>
              <a:lnSpc>
                <a:spcPct val="200000"/>
              </a:lnSpc>
            </a:pPr>
            <a:r>
              <a:rPr lang="en-US" b="1" dirty="0"/>
              <a:t>1. Describe About Queue using Singly Linked List?</a:t>
            </a:r>
          </a:p>
          <a:p>
            <a:pPr>
              <a:lnSpc>
                <a:spcPct val="200000"/>
              </a:lnSpc>
            </a:pPr>
            <a:r>
              <a:rPr lang="en-US" b="1" dirty="0"/>
              <a:t>2. List out different operations can perform on Queue using Singly Linked Lists?</a:t>
            </a:r>
          </a:p>
          <a:p>
            <a:pPr marL="342900" indent="-342900">
              <a:lnSpc>
                <a:spcPct val="200000"/>
              </a:lnSpc>
            </a:pPr>
            <a:r>
              <a:rPr lang="en-US" b="1" dirty="0"/>
              <a:t>3. Analyze the time complexity of the Queue using Singly Linked List for the operations such as insertion, deletion, and search.</a:t>
            </a:r>
          </a:p>
          <a:p>
            <a:pPr marL="342900" indent="-342900">
              <a:lnSpc>
                <a:spcPct val="200000"/>
              </a:lnSpc>
            </a:pPr>
            <a:r>
              <a:rPr lang="en-US" b="1" dirty="0"/>
              <a:t>4. Write a C language program that implement the Queue using Singly Linked List.</a:t>
            </a:r>
          </a:p>
          <a:p>
            <a:pPr marL="342900" indent="-342900">
              <a:lnSpc>
                <a:spcPct val="200000"/>
              </a:lnSpc>
            </a:pPr>
            <a:r>
              <a:rPr lang="en-US" b="1" dirty="0"/>
              <a:t>5</a:t>
            </a:r>
            <a:r>
              <a:rPr lang="en-US" b="1"/>
              <a:t>. </a:t>
            </a:r>
            <a:r>
              <a:rPr lang="en-US" b="1" dirty="0"/>
              <a:t>Summarize What is Queue using Singly Linked List and operations possible on it?</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5035353"/>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Reference Books:</a:t>
            </a:r>
          </a:p>
          <a:p>
            <a:pPr>
              <a:lnSpc>
                <a:spcPct val="150000"/>
              </a:lnSpc>
            </a:pPr>
            <a:r>
              <a:rPr lang="en-US" dirty="0">
                <a:latin typeface="Times New Roman" panose="02020603050405020304" pitchFamily="18" charset="0"/>
                <a:cs typeface="Times New Roman" panose="02020603050405020304" pitchFamily="18" charset="0"/>
              </a:rPr>
              <a:t>1. Data Structures and Algorithm Analysis in PYTHON, 2010, Mark Allen Weiss, Second Edition, Pearson Education.</a:t>
            </a:r>
          </a:p>
          <a:p>
            <a:pPr>
              <a:lnSpc>
                <a:spcPct val="150000"/>
              </a:lnSpc>
            </a:pPr>
            <a:r>
              <a:rPr lang="en-US" dirty="0">
                <a:latin typeface="Times New Roman" panose="02020603050405020304" pitchFamily="18" charset="0"/>
                <a:cs typeface="Times New Roman" panose="02020603050405020304" pitchFamily="18" charset="0"/>
              </a:rPr>
              <a:t>2. Data Structures and Algorithms, </a:t>
            </a:r>
            <a:r>
              <a:rPr lang="en-US" dirty="0" err="1">
                <a:latin typeface="Times New Roman" panose="02020603050405020304" pitchFamily="18" charset="0"/>
                <a:cs typeface="Times New Roman" panose="02020603050405020304" pitchFamily="18" charset="0"/>
              </a:rPr>
              <a:t>A.V.Aho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J.E.Hopcroft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J.D.Ullman</a:t>
            </a:r>
            <a:r>
              <a:rPr lang="en-US" dirty="0">
                <a:latin typeface="Times New Roman" panose="02020603050405020304" pitchFamily="18" charset="0"/>
                <a:cs typeface="Times New Roman" panose="02020603050405020304" pitchFamily="18" charset="0"/>
              </a:rPr>
              <a:t>, Pearson Education, First Edition Reprint2003.</a:t>
            </a:r>
          </a:p>
          <a:p>
            <a:pPr>
              <a:lnSpc>
                <a:spcPct val="150000"/>
              </a:lnSpc>
            </a:pPr>
            <a:r>
              <a:rPr lang="en-US" dirty="0">
                <a:latin typeface="Times New Roman" panose="02020603050405020304" pitchFamily="18" charset="0"/>
                <a:cs typeface="Times New Roman" panose="02020603050405020304" pitchFamily="18" charset="0"/>
              </a:rPr>
              <a:t>3. Advanced Guide to Python 3 Programming, John Hunt, 4th Edition, Springer Nature Switzerland AG 2019.</a:t>
            </a:r>
          </a:p>
          <a:p>
            <a:pPr>
              <a:lnSpc>
                <a:spcPct val="150000"/>
              </a:lnSpc>
            </a:pPr>
            <a:r>
              <a:rPr lang="en-US" dirty="0">
                <a:latin typeface="Times New Roman" panose="02020603050405020304" pitchFamily="18" charset="0"/>
                <a:cs typeface="Times New Roman" panose="02020603050405020304" pitchFamily="18" charset="0"/>
              </a:rPr>
              <a:t>4. Python Basics: A Practice Introduction to Python 3, David Amos, Dan Bader, Joanna Jablonski, Fletcher Heisler, 4th edition, Real Python.</a:t>
            </a:r>
          </a:p>
          <a:p>
            <a:pPr>
              <a:lnSpc>
                <a:spcPct val="150000"/>
              </a:lnSpc>
            </a:pPr>
            <a:r>
              <a:rPr lang="en-US" b="1" dirty="0">
                <a:latin typeface="Times New Roman" panose="02020603050405020304" pitchFamily="18" charset="0"/>
                <a:cs typeface="Times New Roman" panose="02020603050405020304" pitchFamily="18" charset="0"/>
              </a:rPr>
              <a:t>Web Links: </a:t>
            </a:r>
          </a:p>
          <a:p>
            <a:pPr>
              <a:lnSpc>
                <a:spcPct val="150000"/>
              </a:lnSpc>
            </a:pPr>
            <a:r>
              <a:rPr lang="en-US" dirty="0">
                <a:latin typeface="Times New Roman" panose="02020603050405020304" pitchFamily="18" charset="0"/>
                <a:cs typeface="Times New Roman" panose="02020603050405020304" pitchFamily="18" charset="0"/>
              </a:rPr>
              <a:t>1. https://docs.python.org/3/tutorial/datastructures.html</a:t>
            </a:r>
          </a:p>
          <a:p>
            <a:pPr>
              <a:lnSpc>
                <a:spcPct val="150000"/>
              </a:lnSpc>
            </a:pPr>
            <a:r>
              <a:rPr lang="en-US" dirty="0">
                <a:latin typeface="Times New Roman" panose="02020603050405020304" pitchFamily="18" charset="0"/>
                <a:cs typeface="Times New Roman" panose="02020603050405020304" pitchFamily="18" charset="0"/>
              </a:rPr>
              <a:t>2. https://www.w3schools.com/dsa/dsa_intro.php</a:t>
            </a:r>
          </a:p>
          <a:p>
            <a:pPr>
              <a:lnSpc>
                <a:spcPct val="150000"/>
              </a:lnSpc>
            </a:pPr>
            <a:r>
              <a:rPr lang="en-US" dirty="0">
                <a:latin typeface="Times New Roman" panose="02020603050405020304" pitchFamily="18" charset="0"/>
                <a:cs typeface="Times New Roman" panose="02020603050405020304" pitchFamily="18" charset="0"/>
              </a:rPr>
              <a:t>3. https://www.geeksforgeeks.org/python-data-structures/</a:t>
            </a:r>
          </a:p>
          <a:p>
            <a:pPr>
              <a:lnSpc>
                <a:spcPct val="150000"/>
              </a:lnSpc>
            </a:pPr>
            <a:endParaRPr lang="en-US"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1917</TotalTime>
  <Words>1502</Words>
  <Application>Microsoft Office PowerPoint</Application>
  <PresentationFormat>Widescreen</PresentationFormat>
  <Paragraphs>159</Paragraphs>
  <Slides>16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BioRhyme ExtraBold</vt:lpstr>
      <vt:lpstr>Calibri</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 Kumuda</cp:lastModifiedBy>
  <cp:revision>62</cp:revision>
  <dcterms:created xsi:type="dcterms:W3CDTF">2020-02-08T09:57:44Z</dcterms:created>
  <dcterms:modified xsi:type="dcterms:W3CDTF">2024-12-13T10:40:42Z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