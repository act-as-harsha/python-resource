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Default Extension="svg" ContentType="image/svg+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2"/>
  </p:notesMasterIdLst>
  <p:sldIdLst>
    <p:sldId id="271" r:id="rId5"/>
    <p:sldId id="300" r:id="rId6"/>
    <p:sldId id="258" r:id="rId7"/>
    <p:sldId id="331" r:id="rId8"/>
    <p:sldId id="332" r:id="rId9"/>
    <p:sldId id="333" r:id="rId10"/>
    <p:sldId id="334" r:id="rId11"/>
    <p:sldId id="335" r:id="rId12"/>
    <p:sldId id="330" r:id="rId13"/>
    <p:sldId id="318" r:id="rId14"/>
    <p:sldId id="288" r:id="rId15"/>
    <p:sldId id="290" r:id="rId16"/>
    <p:sldId id="314" r:id="rId17"/>
    <p:sldId id="306" r:id="rId18"/>
    <p:sldId id="305" r:id="rId19"/>
    <p:sldId id="311" r:id="rId20"/>
    <p:sldId id="317" r:id="rId21"/>
    <p:sldId id="319" r:id="rId22"/>
    <p:sldId id="310" r:id="rId23"/>
    <p:sldId id="309" r:id="rId24"/>
    <p:sldId id="312" r:id="rId25"/>
    <p:sldId id="313" r:id="rId26"/>
    <p:sldId id="322" r:id="rId27"/>
    <p:sldId id="323" r:id="rId28"/>
    <p:sldId id="324" r:id="rId29"/>
    <p:sldId id="328" r:id="rId30"/>
    <p:sldId id="329" r:id="rId31"/>
    <p:sldId id="325" r:id="rId32"/>
    <p:sldId id="326" r:id="rId33"/>
    <p:sldId id="327" r:id="rId34"/>
    <p:sldId id="287" r:id="rId35"/>
    <p:sldId id="321" r:id="rId36"/>
    <p:sldId id="320" r:id="rId37"/>
    <p:sldId id="301" r:id="rId38"/>
    <p:sldId id="302" r:id="rId39"/>
    <p:sldId id="303" r:id="rId40"/>
    <p:sldId id="304"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F2CC"/>
    <a:srgbClr val="FAD2D2"/>
    <a:srgbClr val="FF9900"/>
    <a:srgbClr val="E84845"/>
    <a:srgbClr val="F89E4C"/>
    <a:srgbClr val="A81E24"/>
    <a:srgbClr val="CF2F33"/>
    <a:srgbClr val="BA2532"/>
    <a:srgbClr val="E3293B"/>
    <a:srgbClr val="FFFCF4"/>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850D1-3DE1-5E49-ABFC-00B1F4CAB20B}" v="706" dt="2022-04-26T05:00:35.908"/>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10"/>
    <p:restoredTop sz="94689"/>
  </p:normalViewPr>
  <p:slideViewPr>
    <p:cSldViewPr snapToGrid="0">
      <p:cViewPr>
        <p:scale>
          <a:sx n="80" d="100"/>
          <a:sy n="80" d="100"/>
        </p:scale>
        <p:origin x="-52" y="-5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12/14/2024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xmlns=""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xmlns=""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4</a:t>
            </a:fld>
            <a:endParaRPr lang="en-US"/>
          </a:p>
        </p:txBody>
      </p:sp>
    </p:spTree>
    <p:extLst>
      <p:ext uri="{BB962C8B-B14F-4D97-AF65-F5344CB8AC3E}">
        <p14:creationId xmlns:p14="http://schemas.microsoft.com/office/powerpoint/2010/main" xmlns="" val="3228435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5</a:t>
            </a:fld>
            <a:endParaRPr lang="en-US"/>
          </a:p>
        </p:txBody>
      </p:sp>
    </p:spTree>
    <p:extLst>
      <p:ext uri="{BB962C8B-B14F-4D97-AF65-F5344CB8AC3E}">
        <p14:creationId xmlns:p14="http://schemas.microsoft.com/office/powerpoint/2010/main" xmlns="" val="3228435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6</a:t>
            </a:fld>
            <a:endParaRPr lang="en-US"/>
          </a:p>
        </p:txBody>
      </p:sp>
    </p:spTree>
    <p:extLst>
      <p:ext uri="{BB962C8B-B14F-4D97-AF65-F5344CB8AC3E}">
        <p14:creationId xmlns:p14="http://schemas.microsoft.com/office/powerpoint/2010/main" xmlns="" val="3228435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7</a:t>
            </a:fld>
            <a:endParaRPr lang="en-US"/>
          </a:p>
        </p:txBody>
      </p:sp>
    </p:spTree>
    <p:extLst>
      <p:ext uri="{BB962C8B-B14F-4D97-AF65-F5344CB8AC3E}">
        <p14:creationId xmlns:p14="http://schemas.microsoft.com/office/powerpoint/2010/main" xmlns="" val="32284352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4ADD7-897F-4F47-A317-DE24AB827DD3}" type="slidenum">
              <a:rPr lang="en-US" smtClean="0"/>
              <a:pPr/>
              <a:t>8</a:t>
            </a:fld>
            <a:endParaRPr lang="en-US"/>
          </a:p>
        </p:txBody>
      </p:sp>
    </p:spTree>
    <p:extLst>
      <p:ext uri="{BB962C8B-B14F-4D97-AF65-F5344CB8AC3E}">
        <p14:creationId xmlns:p14="http://schemas.microsoft.com/office/powerpoint/2010/main" xmlns="" val="3228435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9</a:t>
            </a:fld>
            <a:endParaRPr lang="en-US"/>
          </a:p>
        </p:txBody>
      </p:sp>
    </p:spTree>
    <p:extLst>
      <p:ext uri="{BB962C8B-B14F-4D97-AF65-F5344CB8AC3E}">
        <p14:creationId xmlns:p14="http://schemas.microsoft.com/office/powerpoint/2010/main" xmlns="" val="3228435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10</a:t>
            </a:fld>
            <a:endParaRPr lang="en-US"/>
          </a:p>
        </p:txBody>
      </p:sp>
    </p:spTree>
    <p:extLst>
      <p:ext uri="{BB962C8B-B14F-4D97-AF65-F5344CB8AC3E}">
        <p14:creationId xmlns:p14="http://schemas.microsoft.com/office/powerpoint/2010/main" xmlns=""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12/14/2024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xmlns=""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xmlns=""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xmlns=""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xmlns=""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xmlns=""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xmlns=""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xmlns=""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xmlns=""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docs.python.org/3/tutorial/datastructures.html" TargetMode="External"/><Relationship Id="rId2" Type="http://schemas.openxmlformats.org/officeDocument/2006/relationships/hyperlink" Target="http://greenteapress.com/wp/thinkpython/" TargetMode="Externa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hyperlink" Target="https://www.geeksforgeeks.org/python-data-structures/" TargetMode="External"/><Relationship Id="rId4" Type="http://schemas.openxmlformats.org/officeDocument/2006/relationships/hyperlink" Target="https://www.w3schools.com/dsa/dsa_intro.php" TargetMode="Externa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xmlns=""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xmlns=""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612015" cy="3108503"/>
          </a:xfrm>
          <a:prstGeom prst="rect">
            <a:avLst/>
          </a:prstGeom>
          <a:noFill/>
          <a:ln>
            <a:noFill/>
          </a:ln>
        </p:spPr>
        <p:txBody>
          <a:bodyPr spcFirstLastPara="1" wrap="square" lIns="91425" tIns="45700" rIns="91425" bIns="45700" anchor="t" anchorCtr="0">
            <a:spAutoFit/>
          </a:bodyPr>
          <a:lstStyle/>
          <a:p>
            <a:pPr algn="ctr"/>
            <a:r>
              <a:rPr lang="en-US" sz="3200" b="1" cap="all" dirty="0">
                <a:ln/>
                <a:solidFill>
                  <a:srgbClr val="C00000"/>
                </a:solidFill>
                <a:cs typeface="Poppins" panose="00000500000000000000" pitchFamily="2" charset="0"/>
                <a:sym typeface="BioRhyme ExtraBold"/>
              </a:rPr>
              <a:t>COURSE: </a:t>
            </a:r>
            <a:r>
              <a:rPr lang="en-US" sz="3200" b="1" dirty="0">
                <a:solidFill>
                  <a:schemeClr val="accent1"/>
                </a:solidFill>
              </a:rPr>
              <a:t>Data </a:t>
            </a:r>
            <a:r>
              <a:rPr lang="en-US" sz="3200" b="1" dirty="0" smtClean="0">
                <a:solidFill>
                  <a:schemeClr val="accent1"/>
                </a:solidFill>
              </a:rPr>
              <a:t>Structures Using</a:t>
            </a:r>
          </a:p>
          <a:p>
            <a:pPr algn="ctr"/>
            <a:r>
              <a:rPr lang="en-US" sz="3200" b="1" dirty="0" smtClean="0">
                <a:solidFill>
                  <a:schemeClr val="accent1"/>
                </a:solidFill>
              </a:rPr>
              <a:t> Python</a:t>
            </a:r>
            <a:endParaRPr lang="en-IN" sz="3200" b="1" dirty="0">
              <a:solidFill>
                <a:schemeClr val="accent1"/>
              </a:solidFill>
            </a:endParaRPr>
          </a:p>
          <a:p>
            <a:pPr marR="0" lvl="0" indent="0" algn="ctr">
              <a:spcBef>
                <a:spcPts val="0"/>
              </a:spcBef>
              <a:spcAft>
                <a:spcPts val="0"/>
              </a:spcAft>
              <a:buNone/>
            </a:pPr>
            <a:endParaRPr lang="en-US" sz="3200" b="1" cap="all" dirty="0">
              <a:ln/>
              <a:solidFill>
                <a:srgbClr val="C00000"/>
              </a:solidFill>
              <a:cs typeface="Poppins" panose="00000500000000000000" pitchFamily="2" charset="0"/>
              <a:sym typeface="BioRhyme ExtraBold"/>
            </a:endParaRPr>
          </a:p>
          <a:p>
            <a:pPr algn="ctr"/>
            <a:r>
              <a:rPr lang="en-US" sz="3200" b="1" cap="all" dirty="0">
                <a:ln/>
                <a:solidFill>
                  <a:srgbClr val="C00000"/>
                </a:solidFill>
                <a:cs typeface="Poppins" panose="00000500000000000000" pitchFamily="2" charset="0"/>
                <a:sym typeface="BioRhyme ExtraBold"/>
              </a:rPr>
              <a:t>COURSE CODE: </a:t>
            </a:r>
            <a:r>
              <a:rPr lang="en-US" sz="3200" b="1" dirty="0" smtClean="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2400" b="1" dirty="0" smtClean="0">
                <a:solidFill>
                  <a:srgbClr val="00B0F0"/>
                </a:solidFill>
                <a:latin typeface="Times New Roman" pitchFamily="18" charset="0"/>
                <a:cs typeface="Times New Roman" pitchFamily="18" charset="0"/>
              </a:rPr>
              <a:t>Circular Queue using arrays</a:t>
            </a:r>
            <a:endParaRPr lang="en-US" sz="24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xmlns=""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a:t>
            </a:r>
            <a:r>
              <a:rPr lang="en-US" sz="4000" dirty="0">
                <a:solidFill>
                  <a:srgbClr val="FF0000"/>
                </a:solidFill>
              </a:rPr>
              <a:t>BES-I</a:t>
            </a:r>
            <a:endParaRPr lang="en-US" sz="4000" dirty="0">
              <a:solidFill>
                <a:srgbClr val="FF0000"/>
              </a:solidFill>
              <a:cs typeface="Poppins" pitchFamily="2" charset="77"/>
            </a:endParaRPr>
          </a:p>
        </p:txBody>
      </p:sp>
      <p:sp>
        <p:nvSpPr>
          <p:cNvPr id="8" name="Google Shape;502;p17">
            <a:extLst>
              <a:ext uri="{FF2B5EF4-FFF2-40B4-BE49-F238E27FC236}">
                <a16:creationId xmlns:a16="http://schemas.microsoft.com/office/drawing/2014/main" xmlns="" id="{7153E61F-4441-DBE3-3DFF-6E9EF6C48D23}"/>
              </a:ext>
            </a:extLst>
          </p:cNvPr>
          <p:cNvSpPr/>
          <p:nvPr/>
        </p:nvSpPr>
        <p:spPr>
          <a:xfrm>
            <a:off x="7286103" y="5969836"/>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a:t>
            </a:r>
            <a:r>
              <a:rPr lang="en-US" sz="2400" dirty="0" smtClean="0">
                <a:solidFill>
                  <a:schemeClr val="lt1"/>
                </a:solidFill>
                <a:ea typeface="Calibri"/>
                <a:cs typeface="Poppins" panose="00000500000000000000" pitchFamily="2" charset="0"/>
                <a:sym typeface="Calibri"/>
              </a:rPr>
              <a:t>18</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xmlns=""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xmlns=""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xmlns="" id="{D7C61438-200D-827A-D4DD-5B5127AFA187}"/>
              </a:ext>
            </a:extLst>
          </p:cNvPr>
          <p:cNvSpPr txBox="1"/>
          <p:nvPr/>
        </p:nvSpPr>
        <p:spPr>
          <a:xfrm>
            <a:off x="914400" y="684469"/>
            <a:ext cx="10731286" cy="83099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a:t>
            </a:r>
            <a:r>
              <a:rPr lang="en-US" spc="-5" dirty="0">
                <a:latin typeface="Times New Roman" panose="02020603050405020304" pitchFamily="18" charset="0"/>
                <a:ea typeface="Tahoma" panose="020B0604030504040204" pitchFamily="34" charset="0"/>
                <a:cs typeface="Times New Roman" panose="02020603050405020304" pitchFamily="18" charset="0"/>
              </a:rPr>
              <a:t>Circular linked list</a:t>
            </a:r>
            <a:endParaRPr lang="en-US" sz="1600" b="0" i="0" dirty="0">
              <a:effectLst/>
              <a:latin typeface="Poppins"/>
              <a:cs typeface="Poppins"/>
            </a:endParaRP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xmlns=""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xmlns="" id="{2B5EAD4E-C007-9DE7-A40A-12802D3C9611}"/>
              </a:ext>
            </a:extLst>
          </p:cNvPr>
          <p:cNvSpPr txBox="1"/>
          <p:nvPr/>
        </p:nvSpPr>
        <p:spPr>
          <a:xfrm>
            <a:off x="1752600" y="2438605"/>
            <a:ext cx="8791575" cy="181588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a:t>
            </a:r>
          </a:p>
          <a:p>
            <a:pPr marL="342900" indent="-342900">
              <a:buAutoNum type="arabicPeriod"/>
            </a:pPr>
            <a:r>
              <a:rPr lang="en-US" sz="1600" b="0" i="0" dirty="0">
                <a:effectLst/>
                <a:latin typeface="Arial" panose="020B0604020202020204" pitchFamily="34" charset="0"/>
              </a:rPr>
              <a:t>Demonstrate The Circular linked list</a:t>
            </a:r>
          </a:p>
          <a:p>
            <a:pPr marL="342900" indent="-342900">
              <a:buAutoNum type="arabicPeriod"/>
            </a:pPr>
            <a:r>
              <a:rPr lang="en-US" sz="1600" b="0" i="0" dirty="0">
                <a:effectLst/>
                <a:latin typeface="Arial" panose="020B0604020202020204" pitchFamily="34" charset="0"/>
              </a:rPr>
              <a:t>Describe the types of circular linked list.</a:t>
            </a:r>
          </a:p>
          <a:p>
            <a:pPr marL="342900" indent="-342900">
              <a:buAutoNum type="arabicPeriod"/>
            </a:pPr>
            <a:r>
              <a:rPr lang="en-US" sz="1600" b="0" i="0" dirty="0">
                <a:effectLst/>
                <a:latin typeface="Arial" panose="020B0604020202020204" pitchFamily="34" charset="0"/>
              </a:rPr>
              <a:t>List out the operations possible on the circular linked list.</a:t>
            </a:r>
          </a:p>
          <a:p>
            <a:pPr marL="342900" indent="-342900">
              <a:buAutoNum type="arabicPeriod"/>
            </a:pPr>
            <a:r>
              <a:rPr lang="en-US" sz="1600" b="0" i="0" dirty="0">
                <a:effectLst/>
                <a:latin typeface="Arial"/>
                <a:cs typeface="Arial"/>
              </a:rPr>
              <a:t>Describe the each operation </a:t>
            </a:r>
          </a:p>
          <a:p>
            <a:pPr marL="342900" indent="-342900">
              <a:buAutoNum type="arabicPeriod"/>
            </a:pPr>
            <a:r>
              <a:rPr lang="en-US" sz="1600" dirty="0">
                <a:latin typeface="Arial"/>
                <a:cs typeface="Arial"/>
              </a:rPr>
              <a:t>List out the advantages and applications of CLL.</a:t>
            </a:r>
          </a:p>
        </p:txBody>
      </p:sp>
      <p:pic>
        <p:nvPicPr>
          <p:cNvPr id="11" name="Graphic 10" descr="Bullseye outline">
            <a:extLst>
              <a:ext uri="{FF2B5EF4-FFF2-40B4-BE49-F238E27FC236}">
                <a16:creationId xmlns:a16="http://schemas.microsoft.com/office/drawing/2014/main" xmlns="" id="{AB75B03E-9C0C-0AF7-2A76-D8618F8F999A}"/>
              </a:ext>
            </a:extLst>
          </p:cNvPr>
          <p:cNvPicPr>
            <a:picLocks noChangeAspect="1"/>
          </p:cNvPicPr>
          <p:nvPr/>
        </p:nvPicPr>
        <p:blipFill>
          <a:blip r:embed="rId2" cstate="print">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xmlns="" id="{1E9F25CA-EF99-00B6-5FFA-810D1F1806C7}"/>
              </a:ext>
            </a:extLst>
          </p:cNvPr>
          <p:cNvPicPr>
            <a:picLocks noChangeAspect="1"/>
          </p:cNvPicPr>
          <p:nvPr/>
        </p:nvPicPr>
        <p:blipFill>
          <a:blip r:embed="rId4" cstate="print">
            <a:extLst>
              <a:ext uri="{28A0092B-C50C-407E-A947-70E740481C1C}">
                <a14:useLocalDpi xmlns:a14="http://schemas.microsoft.com/office/drawing/2010/main" xmlns="" val="0"/>
              </a:ext>
              <a:ext uri="{96DAC541-7B7A-43D3-8B79-37D633B846F1}">
                <asvg:svgBlip xmlns:asvg="http://schemas.microsoft.com/office/drawing/2016/SVG/main" xmlns=""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xmlns=""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xmlns="" id="{5F765FC3-60CF-297F-C1BD-F5A7B8B943AF}"/>
              </a:ext>
            </a:extLst>
          </p:cNvPr>
          <p:cNvPicPr>
            <a:picLocks noChangeAspect="1"/>
          </p:cNvPicPr>
          <p:nvPr/>
        </p:nvPicPr>
        <p:blipFill>
          <a:blip r:embed="rId6" cstate="print">
            <a:extLst>
              <a:ext uri="{28A0092B-C50C-407E-A947-70E740481C1C}">
                <a14:useLocalDpi xmlns:a14="http://schemas.microsoft.com/office/drawing/2010/main" xmlns="" val="0"/>
              </a:ext>
              <a:ext uri="{96DAC541-7B7A-43D3-8B79-37D633B846F1}">
                <asvg:svgBlip xmlns:asvg="http://schemas.microsoft.com/office/drawing/2016/SVG/main" xmlns=""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xmlns=""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Circular linked list</a:t>
            </a:r>
          </a:p>
          <a:p>
            <a:pPr marL="342900" indent="-342900">
              <a:buAutoNum type="arabicPeriod"/>
            </a:pPr>
            <a:r>
              <a:rPr lang="en-US" sz="1600" b="0" i="0" dirty="0">
                <a:effectLst/>
                <a:latin typeface="Arial" panose="020B0604020202020204" pitchFamily="34" charset="0"/>
              </a:rPr>
              <a:t>Describe two types of circular linked list. And their operations</a:t>
            </a:r>
          </a:p>
          <a:p>
            <a:pPr marL="342900" indent="-342900">
              <a:buAutoNum type="arabicPeriod"/>
            </a:pPr>
            <a:r>
              <a:rPr lang="en-US" sz="1600" dirty="0">
                <a:latin typeface="Arial" panose="020B0604020202020204" pitchFamily="34" charset="0"/>
              </a:rPr>
              <a:t>Summarize definition, types and operations of circular linked list and its applications</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xmlns=""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1579418" y="84673"/>
            <a:ext cx="8324237" cy="76015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INTRODUCTION  TO CIRCULAR QUEUE </a:t>
            </a:r>
            <a:endParaRPr lang="en-US" sz="2400" dirty="0"/>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944217"/>
            <a:ext cx="11561115" cy="6247864"/>
          </a:xfrm>
          <a:prstGeom prst="rect">
            <a:avLst/>
          </a:prstGeom>
          <a:noFill/>
        </p:spPr>
        <p:txBody>
          <a:bodyPr wrap="square" rtlCol="0">
            <a:spAutoFit/>
          </a:bodyPr>
          <a:lstStyle/>
          <a:p>
            <a:r>
              <a:rPr lang="en-IN" sz="2000" dirty="0"/>
              <a:t> </a:t>
            </a:r>
            <a:r>
              <a:rPr lang="en-US" sz="2000" dirty="0" smtClean="0"/>
              <a:t>A </a:t>
            </a:r>
            <a:r>
              <a:rPr lang="en-US" sz="2000" b="1" dirty="0" smtClean="0"/>
              <a:t>Circular Queue</a:t>
            </a:r>
            <a:r>
              <a:rPr lang="en-US" sz="2000" dirty="0" smtClean="0"/>
              <a:t> is a queue where the last element is connected back to the first element, creating a circular structure. This allows for efficient usage of the queue's space, especially when elements are continuously </a:t>
            </a:r>
            <a:r>
              <a:rPr lang="en-US" sz="2000" dirty="0" err="1" smtClean="0"/>
              <a:t>enqueued</a:t>
            </a:r>
            <a:r>
              <a:rPr lang="en-US" sz="2000" dirty="0" smtClean="0"/>
              <a:t> and </a:t>
            </a:r>
            <a:r>
              <a:rPr lang="en-US" sz="2000" dirty="0" err="1" smtClean="0"/>
              <a:t>dequeued</a:t>
            </a:r>
            <a:r>
              <a:rPr lang="en-US" sz="2000" dirty="0" smtClean="0"/>
              <a:t>.</a:t>
            </a:r>
          </a:p>
          <a:p>
            <a:endParaRPr lang="en-US" sz="2000" b="1" dirty="0" smtClean="0"/>
          </a:p>
          <a:p>
            <a:r>
              <a:rPr lang="en-US" sz="2000" b="1" dirty="0" smtClean="0"/>
              <a:t>Circular Queue Operations:</a:t>
            </a:r>
            <a:endParaRPr lang="en-US" sz="2000" dirty="0" smtClean="0"/>
          </a:p>
          <a:p>
            <a:pPr lvl="0"/>
            <a:r>
              <a:rPr lang="en-US" sz="2000" b="1" dirty="0" err="1" smtClean="0"/>
              <a:t>Enqueue</a:t>
            </a:r>
            <a:r>
              <a:rPr lang="en-US" sz="2000" dirty="0" smtClean="0"/>
              <a:t>: Adds an element to the end of the queue.</a:t>
            </a:r>
          </a:p>
          <a:p>
            <a:pPr lvl="0"/>
            <a:r>
              <a:rPr lang="en-US" sz="2000" b="1" dirty="0" err="1" smtClean="0"/>
              <a:t>Dequeue</a:t>
            </a:r>
            <a:r>
              <a:rPr lang="en-US" sz="2000" dirty="0" smtClean="0"/>
              <a:t>: Removes an element from the front of the queue.</a:t>
            </a:r>
          </a:p>
          <a:p>
            <a:pPr lvl="0"/>
            <a:r>
              <a:rPr lang="en-US" sz="2000" b="1" dirty="0" smtClean="0"/>
              <a:t>Peek/Front</a:t>
            </a:r>
            <a:r>
              <a:rPr lang="en-US" sz="2000" dirty="0" smtClean="0"/>
              <a:t>: Retrieves the front element without removing it.</a:t>
            </a:r>
          </a:p>
          <a:p>
            <a:pPr lvl="0"/>
            <a:r>
              <a:rPr lang="en-US" sz="2000" b="1" dirty="0" smtClean="0"/>
              <a:t>Is Full</a:t>
            </a:r>
            <a:r>
              <a:rPr lang="en-US" sz="2000" dirty="0" smtClean="0"/>
              <a:t>: Checks if the queue is full.</a:t>
            </a:r>
          </a:p>
          <a:p>
            <a:pPr lvl="0"/>
            <a:r>
              <a:rPr lang="en-US" sz="2000" b="1" dirty="0" smtClean="0"/>
              <a:t>Is Empty</a:t>
            </a:r>
            <a:r>
              <a:rPr lang="en-US" sz="2000" dirty="0" smtClean="0"/>
              <a:t>: Checks if the queue is empty.</a:t>
            </a:r>
          </a:p>
          <a:p>
            <a:pPr lvl="0"/>
            <a:endParaRPr lang="en-US" sz="2000" dirty="0" smtClean="0"/>
          </a:p>
          <a:p>
            <a:pPr lvl="0"/>
            <a:r>
              <a:rPr lang="en-US" sz="2000" dirty="0" smtClean="0"/>
              <a:t>Applications </a:t>
            </a:r>
          </a:p>
          <a:p>
            <a:r>
              <a:rPr lang="en-US" sz="2000" dirty="0" smtClean="0"/>
              <a:t>1. Memory Management (Buffer Management)</a:t>
            </a:r>
          </a:p>
          <a:p>
            <a:r>
              <a:rPr lang="en-US" sz="2000" dirty="0" smtClean="0"/>
              <a:t>2. CPU Scheduling (Round-Robin Scheduling)</a:t>
            </a:r>
          </a:p>
          <a:p>
            <a:r>
              <a:rPr lang="en-US" sz="2000" dirty="0" smtClean="0"/>
              <a:t>3. CPU Scheduling (Round-Robin Scheduling)</a:t>
            </a:r>
          </a:p>
          <a:p>
            <a:r>
              <a:rPr lang="en-US" sz="2000" dirty="0" smtClean="0"/>
              <a:t>4. Networking and Packet Routing</a:t>
            </a:r>
          </a:p>
          <a:p>
            <a:r>
              <a:rPr lang="en-US" sz="2000" dirty="0" smtClean="0"/>
              <a:t>5. Job Scheduling in Batch Systems</a:t>
            </a:r>
          </a:p>
          <a:p>
            <a:r>
              <a:rPr lang="en-US" sz="2000" dirty="0" smtClean="0"/>
              <a:t>6. Call Center Management</a:t>
            </a:r>
          </a:p>
          <a:p>
            <a:endParaRPr lang="en-US" sz="2000" dirty="0" smtClean="0"/>
          </a:p>
          <a:p>
            <a:endParaRPr lang="en-US" sz="2000" dirty="0" smtClean="0"/>
          </a:p>
        </p:txBody>
      </p:sp>
      <p:sp>
        <p:nvSpPr>
          <p:cNvPr id="24577" name="Rectangle 1"/>
          <p:cNvSpPr>
            <a:spLocks noChangeArrowheads="1"/>
          </p:cNvSpPr>
          <p:nvPr/>
        </p:nvSpPr>
        <p:spPr bwMode="auto">
          <a:xfrm>
            <a:off x="0" y="0"/>
            <a:ext cx="256802"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rgbClr val="374151"/>
                </a:solidFill>
                <a:effectLst/>
                <a:latin typeface="Söhne"/>
                <a:cs typeface="Arial" pitchFamily="34" charset="0"/>
              </a:rPr>
              <a:t>.</a:t>
            </a:r>
            <a:r>
              <a:rPr kumimoji="0" lang="en-US" sz="8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cxnSp>
        <p:nvCxnSpPr>
          <p:cNvPr id="12" name="Straight Arrow Connector 11"/>
          <p:cNvCxnSpPr>
            <a:endCxn id="53" idx="2"/>
          </p:cNvCxnSpPr>
          <p:nvPr/>
        </p:nvCxnSpPr>
        <p:spPr>
          <a:xfrm rot="16200000" flipH="1">
            <a:off x="3961224" y="4996965"/>
            <a:ext cx="2217169" cy="21730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1579418" y="182880"/>
            <a:ext cx="8324237" cy="48503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Circular Queue Algorithm Steps</a:t>
            </a:r>
            <a:endParaRPr lang="en-US" sz="2400" dirty="0" smtClean="0"/>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858741"/>
            <a:ext cx="11561115" cy="5078313"/>
          </a:xfrm>
          <a:prstGeom prst="rect">
            <a:avLst/>
          </a:prstGeom>
          <a:noFill/>
        </p:spPr>
        <p:txBody>
          <a:bodyPr wrap="square" rtlCol="0">
            <a:spAutoFit/>
          </a:bodyPr>
          <a:lstStyle/>
          <a:p>
            <a:r>
              <a:rPr lang="en-US" dirty="0" smtClean="0"/>
              <a:t>We need to follow a few basic steps for each operation: </a:t>
            </a:r>
            <a:r>
              <a:rPr lang="en-US" b="1" dirty="0" err="1" smtClean="0"/>
              <a:t>Enqueue</a:t>
            </a:r>
            <a:r>
              <a:rPr lang="en-US" dirty="0" smtClean="0"/>
              <a:t> (add), </a:t>
            </a:r>
            <a:r>
              <a:rPr lang="en-US" b="1" dirty="0" err="1" smtClean="0"/>
              <a:t>Dequeue</a:t>
            </a:r>
            <a:r>
              <a:rPr lang="en-US" dirty="0" smtClean="0"/>
              <a:t> (remove), </a:t>
            </a:r>
            <a:r>
              <a:rPr lang="en-US" b="1" dirty="0" smtClean="0"/>
              <a:t>Peek</a:t>
            </a:r>
            <a:r>
              <a:rPr lang="en-US" dirty="0" smtClean="0"/>
              <a:t> (view front element), and </a:t>
            </a:r>
            <a:r>
              <a:rPr lang="en-US" b="1" dirty="0" smtClean="0"/>
              <a:t>Is Full / Is Empty</a:t>
            </a:r>
            <a:r>
              <a:rPr lang="en-US" dirty="0" smtClean="0"/>
              <a:t> (check the state of the queue).</a:t>
            </a:r>
            <a:endParaRPr lang="en-US" sz="1600" dirty="0" smtClean="0"/>
          </a:p>
          <a:p>
            <a:r>
              <a:rPr lang="en-US" b="1" dirty="0" smtClean="0"/>
              <a:t>Circular Queue Algorithm Steps:</a:t>
            </a:r>
            <a:endParaRPr lang="en-US" sz="1400" dirty="0" smtClean="0"/>
          </a:p>
          <a:p>
            <a:pPr lvl="0"/>
            <a:r>
              <a:rPr lang="en-US" b="1" dirty="0" smtClean="0"/>
              <a:t>Initialization</a:t>
            </a:r>
            <a:r>
              <a:rPr lang="en-US" dirty="0" smtClean="0"/>
              <a:t>:</a:t>
            </a:r>
            <a:endParaRPr lang="en-US" sz="1600" dirty="0" smtClean="0"/>
          </a:p>
          <a:p>
            <a:pPr lvl="1"/>
            <a:r>
              <a:rPr lang="en-US" dirty="0" smtClean="0"/>
              <a:t>We initialize an array of a fixed size to represent the queue.</a:t>
            </a:r>
            <a:endParaRPr lang="en-US" sz="1600" dirty="0" smtClean="0"/>
          </a:p>
          <a:p>
            <a:pPr lvl="1"/>
            <a:r>
              <a:rPr lang="en-US" dirty="0" smtClean="0"/>
              <a:t>We maintain two pointers: </a:t>
            </a:r>
            <a:r>
              <a:rPr lang="en-US" sz="1200" dirty="0" smtClean="0"/>
              <a:t>front</a:t>
            </a:r>
            <a:r>
              <a:rPr lang="en-US" dirty="0" smtClean="0"/>
              <a:t> (for removing elements) and </a:t>
            </a:r>
            <a:r>
              <a:rPr lang="en-US" sz="1200" dirty="0" smtClean="0"/>
              <a:t>rear</a:t>
            </a:r>
            <a:r>
              <a:rPr lang="en-US" dirty="0" smtClean="0"/>
              <a:t> (for adding elements).</a:t>
            </a:r>
            <a:endParaRPr lang="en-US" sz="1600" dirty="0" smtClean="0"/>
          </a:p>
          <a:p>
            <a:pPr lvl="1"/>
            <a:r>
              <a:rPr lang="en-US" dirty="0" smtClean="0"/>
              <a:t>Both pointers are initialized to </a:t>
            </a:r>
            <a:r>
              <a:rPr lang="en-US" sz="1200" dirty="0" smtClean="0"/>
              <a:t>0</a:t>
            </a:r>
            <a:r>
              <a:rPr lang="en-US" dirty="0" smtClean="0"/>
              <a:t>.</a:t>
            </a:r>
            <a:endParaRPr lang="en-US" sz="1600" dirty="0" smtClean="0"/>
          </a:p>
          <a:p>
            <a:pPr lvl="0"/>
            <a:r>
              <a:rPr lang="en-US" b="1" dirty="0" err="1" smtClean="0"/>
              <a:t>Enqueue</a:t>
            </a:r>
            <a:r>
              <a:rPr lang="en-US" b="1" dirty="0" smtClean="0"/>
              <a:t> Operation</a:t>
            </a:r>
            <a:r>
              <a:rPr lang="en-US" dirty="0" smtClean="0"/>
              <a:t>:</a:t>
            </a:r>
            <a:endParaRPr lang="en-US" sz="1600" dirty="0" smtClean="0"/>
          </a:p>
          <a:p>
            <a:pPr lvl="1"/>
            <a:r>
              <a:rPr lang="en-US" dirty="0" smtClean="0"/>
              <a:t>If the queue is not full, we add the element at the position indicated by </a:t>
            </a:r>
            <a:r>
              <a:rPr lang="en-US" sz="1200" dirty="0" smtClean="0"/>
              <a:t>rear</a:t>
            </a:r>
            <a:r>
              <a:rPr lang="en-US" dirty="0" smtClean="0"/>
              <a:t>.</a:t>
            </a:r>
            <a:endParaRPr lang="en-US" sz="1600" dirty="0" smtClean="0"/>
          </a:p>
          <a:p>
            <a:pPr lvl="1"/>
            <a:r>
              <a:rPr lang="en-US" dirty="0" smtClean="0"/>
              <a:t>After adding the element, we move the </a:t>
            </a:r>
            <a:r>
              <a:rPr lang="en-US" sz="1200" dirty="0" smtClean="0"/>
              <a:t>rear</a:t>
            </a:r>
            <a:r>
              <a:rPr lang="en-US" dirty="0" smtClean="0"/>
              <a:t> pointer to the next position. If the </a:t>
            </a:r>
            <a:r>
              <a:rPr lang="en-US" sz="1200" dirty="0" smtClean="0"/>
              <a:t>rear</a:t>
            </a:r>
            <a:r>
              <a:rPr lang="en-US" dirty="0" smtClean="0"/>
              <a:t> reaches the end of the array, it wraps around to the beginning using modulo operation.</a:t>
            </a:r>
            <a:endParaRPr lang="en-US" sz="1600" dirty="0" smtClean="0"/>
          </a:p>
          <a:p>
            <a:pPr lvl="0"/>
            <a:r>
              <a:rPr lang="en-US" b="1" dirty="0" err="1" smtClean="0"/>
              <a:t>Dequeue</a:t>
            </a:r>
            <a:r>
              <a:rPr lang="en-US" b="1" dirty="0" smtClean="0"/>
              <a:t> Operation</a:t>
            </a:r>
            <a:r>
              <a:rPr lang="en-US" dirty="0" smtClean="0"/>
              <a:t>:</a:t>
            </a:r>
            <a:endParaRPr lang="en-US" sz="1600" dirty="0" smtClean="0"/>
          </a:p>
          <a:p>
            <a:pPr lvl="1"/>
            <a:r>
              <a:rPr lang="en-US" dirty="0" smtClean="0"/>
              <a:t>If the queue is not empty, we remove the element at the position indicated by </a:t>
            </a:r>
            <a:r>
              <a:rPr lang="en-US" sz="1200" dirty="0" smtClean="0"/>
              <a:t>front</a:t>
            </a:r>
            <a:r>
              <a:rPr lang="en-US" dirty="0" smtClean="0"/>
              <a:t>.</a:t>
            </a:r>
            <a:endParaRPr lang="en-US" sz="1600" dirty="0" smtClean="0"/>
          </a:p>
          <a:p>
            <a:pPr lvl="1"/>
            <a:r>
              <a:rPr lang="en-US" dirty="0" smtClean="0"/>
              <a:t>After removing the element, we move the </a:t>
            </a:r>
            <a:r>
              <a:rPr lang="en-US" sz="1200" dirty="0" smtClean="0"/>
              <a:t>front</a:t>
            </a:r>
            <a:r>
              <a:rPr lang="en-US" dirty="0" smtClean="0"/>
              <a:t> pointer to the next position. If it reaches the end of the array, it wraps around to the beginning using modulo.</a:t>
            </a:r>
            <a:endParaRPr lang="en-US" sz="1600" dirty="0" smtClean="0"/>
          </a:p>
          <a:p>
            <a:pPr lvl="0"/>
            <a:r>
              <a:rPr lang="en-US" b="1" dirty="0" smtClean="0"/>
              <a:t>Peek Operation</a:t>
            </a:r>
            <a:r>
              <a:rPr lang="en-US" dirty="0" smtClean="0"/>
              <a:t>:</a:t>
            </a:r>
            <a:endParaRPr lang="en-US" sz="1600" dirty="0" smtClean="0"/>
          </a:p>
          <a:p>
            <a:pPr lvl="1"/>
            <a:r>
              <a:rPr lang="en-US" dirty="0" smtClean="0"/>
              <a:t>The </a:t>
            </a:r>
            <a:r>
              <a:rPr lang="en-US" b="1" dirty="0" smtClean="0"/>
              <a:t>peek</a:t>
            </a:r>
            <a:r>
              <a:rPr lang="en-US" dirty="0" smtClean="0"/>
              <a:t> operation returns the element at the </a:t>
            </a:r>
            <a:r>
              <a:rPr lang="en-US" sz="1200" dirty="0" smtClean="0"/>
              <a:t>front</a:t>
            </a:r>
            <a:r>
              <a:rPr lang="en-US" dirty="0" smtClean="0"/>
              <a:t> without removing it, provided the queue is not empty.</a:t>
            </a:r>
            <a:endParaRPr lang="en-US" sz="1600" dirty="0" smtClean="0"/>
          </a:p>
          <a:p>
            <a:pPr lvl="0"/>
            <a:r>
              <a:rPr lang="en-US" b="1" dirty="0" smtClean="0"/>
              <a:t>Is Full / Is Empty Operations</a:t>
            </a:r>
            <a:r>
              <a:rPr lang="en-US" dirty="0" smtClean="0"/>
              <a:t>:  </a:t>
            </a:r>
            <a:r>
              <a:rPr lang="en-US" b="1" dirty="0" smtClean="0"/>
              <a:t>Is Full</a:t>
            </a:r>
            <a:r>
              <a:rPr lang="en-US" dirty="0" smtClean="0"/>
              <a:t>: The queue is full if </a:t>
            </a:r>
            <a:r>
              <a:rPr lang="en-US" sz="1200" dirty="0" smtClean="0"/>
              <a:t>(rear + 1) % size == front</a:t>
            </a:r>
            <a:r>
              <a:rPr lang="en-US" dirty="0" smtClean="0"/>
              <a:t>. </a:t>
            </a:r>
            <a:r>
              <a:rPr lang="en-US" b="1" dirty="0" smtClean="0"/>
              <a:t>Is Empty</a:t>
            </a:r>
            <a:r>
              <a:rPr lang="en-US" dirty="0" smtClean="0"/>
              <a:t>: The queue is empty if </a:t>
            </a:r>
            <a:r>
              <a:rPr lang="en-US" sz="1200" dirty="0" smtClean="0"/>
              <a:t>front == rear</a:t>
            </a:r>
            <a:r>
              <a:rPr lang="en-US" dirty="0" smtClean="0"/>
              <a:t>.</a:t>
            </a:r>
            <a:endParaRPr lang="en-US" sz="2000" dirty="0" smtClean="0"/>
          </a:p>
        </p:txBody>
      </p:sp>
      <p:sp>
        <p:nvSpPr>
          <p:cNvPr id="24577" name="Rectangle 1"/>
          <p:cNvSpPr>
            <a:spLocks noChangeArrowheads="1"/>
          </p:cNvSpPr>
          <p:nvPr/>
        </p:nvSpPr>
        <p:spPr bwMode="auto">
          <a:xfrm>
            <a:off x="0" y="0"/>
            <a:ext cx="256802"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rgbClr val="374151"/>
                </a:solidFill>
                <a:effectLst/>
                <a:latin typeface="Söhne"/>
                <a:cs typeface="Arial" pitchFamily="34" charset="0"/>
              </a:rPr>
              <a:t>.</a:t>
            </a:r>
            <a:r>
              <a:rPr kumimoji="0" lang="en-US" sz="8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4069052342"/>
      </p:ext>
    </p:extLst>
  </p:cSld>
  <p:clrMapOvr>
    <a:masterClrMapping/>
  </p:clrMapOvr>
  <p:transition spd="slow">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1579418" y="182880"/>
            <a:ext cx="8324237" cy="485030"/>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Circular Queue Coding </a:t>
            </a:r>
            <a:endParaRPr lang="en-US" sz="2400" dirty="0" smtClean="0"/>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858741"/>
            <a:ext cx="11561115" cy="5016758"/>
          </a:xfrm>
          <a:prstGeom prst="rect">
            <a:avLst/>
          </a:prstGeom>
          <a:noFill/>
        </p:spPr>
        <p:txBody>
          <a:bodyPr wrap="square" rtlCol="0">
            <a:spAutoFit/>
          </a:bodyPr>
          <a:lstStyle/>
          <a:p>
            <a:r>
              <a:rPr lang="en-US" sz="2000" dirty="0" smtClean="0"/>
              <a:t>class </a:t>
            </a:r>
            <a:r>
              <a:rPr lang="en-US" sz="2000" dirty="0" err="1" smtClean="0"/>
              <a:t>CircularQueue</a:t>
            </a:r>
            <a:r>
              <a:rPr lang="en-US" sz="2000" dirty="0" smtClean="0"/>
              <a:t>:</a:t>
            </a:r>
          </a:p>
          <a:p>
            <a:r>
              <a:rPr lang="en-US" sz="2000" dirty="0" smtClean="0"/>
              <a:t>    def __init__(self, size):		 	# Initialize the queue with a fixed size</a:t>
            </a:r>
          </a:p>
          <a:p>
            <a:r>
              <a:rPr lang="en-US" sz="2000" dirty="0" smtClean="0"/>
              <a:t>         </a:t>
            </a:r>
            <a:r>
              <a:rPr lang="en-US" sz="2000" dirty="0" err="1" smtClean="0"/>
              <a:t>self.size</a:t>
            </a:r>
            <a:r>
              <a:rPr lang="en-US" sz="2000" dirty="0" smtClean="0"/>
              <a:t> = size</a:t>
            </a:r>
          </a:p>
          <a:p>
            <a:r>
              <a:rPr lang="en-US" sz="2000" dirty="0" smtClean="0"/>
              <a:t>        </a:t>
            </a:r>
            <a:r>
              <a:rPr lang="en-US" sz="2000" dirty="0" err="1" smtClean="0"/>
              <a:t>self.queue</a:t>
            </a:r>
            <a:r>
              <a:rPr lang="en-US" sz="2000" dirty="0" smtClean="0"/>
              <a:t> = [None] * size  		# Array to hold the queue elements</a:t>
            </a:r>
          </a:p>
          <a:p>
            <a:r>
              <a:rPr lang="en-US" sz="2000" dirty="0" smtClean="0"/>
              <a:t>        </a:t>
            </a:r>
            <a:r>
              <a:rPr lang="en-US" sz="2000" dirty="0" err="1" smtClean="0"/>
              <a:t>self.front</a:t>
            </a:r>
            <a:r>
              <a:rPr lang="en-US" sz="2000" dirty="0" smtClean="0"/>
              <a:t> = </a:t>
            </a:r>
            <a:r>
              <a:rPr lang="en-US" sz="2000" dirty="0" err="1" smtClean="0"/>
              <a:t>self.rear</a:t>
            </a:r>
            <a:r>
              <a:rPr lang="en-US" sz="2000" dirty="0" smtClean="0"/>
              <a:t> = 0  # Both front and rear start at position 0</a:t>
            </a:r>
          </a:p>
          <a:p>
            <a:r>
              <a:rPr lang="en-US" sz="2000" dirty="0" smtClean="0"/>
              <a:t>    def </a:t>
            </a:r>
            <a:r>
              <a:rPr lang="en-US" sz="2000" dirty="0" err="1" smtClean="0"/>
              <a:t>is_empty</a:t>
            </a:r>
            <a:r>
              <a:rPr lang="en-US" sz="2000" dirty="0" smtClean="0"/>
              <a:t>(self):			 # Check if the queue is empty</a:t>
            </a:r>
          </a:p>
          <a:p>
            <a:r>
              <a:rPr lang="en-US" sz="2000" dirty="0" smtClean="0"/>
              <a:t>        return </a:t>
            </a:r>
            <a:r>
              <a:rPr lang="en-US" sz="2000" dirty="0" err="1" smtClean="0"/>
              <a:t>self.front</a:t>
            </a:r>
            <a:r>
              <a:rPr lang="en-US" sz="2000" dirty="0" smtClean="0"/>
              <a:t> == </a:t>
            </a:r>
            <a:r>
              <a:rPr lang="en-US" sz="2000" dirty="0" err="1" smtClean="0"/>
              <a:t>self.rear</a:t>
            </a:r>
            <a:endParaRPr lang="en-US" sz="2000" dirty="0" smtClean="0"/>
          </a:p>
          <a:p>
            <a:r>
              <a:rPr lang="en-US" sz="2000" dirty="0" smtClean="0"/>
              <a:t>    def </a:t>
            </a:r>
            <a:r>
              <a:rPr lang="en-US" sz="2000" dirty="0" err="1" smtClean="0"/>
              <a:t>is_full</a:t>
            </a:r>
            <a:r>
              <a:rPr lang="en-US" sz="2000" dirty="0" smtClean="0"/>
              <a:t>(self):				 # Check if the queue is full</a:t>
            </a:r>
          </a:p>
          <a:p>
            <a:r>
              <a:rPr lang="en-US" sz="2000" dirty="0" smtClean="0"/>
              <a:t>        return (</a:t>
            </a:r>
            <a:r>
              <a:rPr lang="en-US" sz="2000" dirty="0" err="1" smtClean="0"/>
              <a:t>self.rear</a:t>
            </a:r>
            <a:r>
              <a:rPr lang="en-US" sz="2000" dirty="0" smtClean="0"/>
              <a:t> + 1) % </a:t>
            </a:r>
            <a:r>
              <a:rPr lang="en-US" sz="2000" dirty="0" err="1" smtClean="0"/>
              <a:t>self.size</a:t>
            </a:r>
            <a:r>
              <a:rPr lang="en-US" sz="2000" dirty="0" smtClean="0"/>
              <a:t> == </a:t>
            </a:r>
            <a:r>
              <a:rPr lang="en-US" sz="2000" dirty="0" err="1" smtClean="0"/>
              <a:t>self.front</a:t>
            </a:r>
            <a:endParaRPr lang="en-US" sz="2000" dirty="0" smtClean="0"/>
          </a:p>
          <a:p>
            <a:r>
              <a:rPr lang="en-US" sz="2000" dirty="0" smtClean="0"/>
              <a:t>    def </a:t>
            </a:r>
            <a:r>
              <a:rPr lang="en-US" sz="2000" dirty="0" err="1" smtClean="0"/>
              <a:t>enqueue</a:t>
            </a:r>
            <a:r>
              <a:rPr lang="en-US" sz="2000" dirty="0" smtClean="0"/>
              <a:t>(self, value):	 	# Add an element to the queue</a:t>
            </a:r>
          </a:p>
          <a:p>
            <a:r>
              <a:rPr lang="en-US" sz="2000" dirty="0" smtClean="0"/>
              <a:t>        if </a:t>
            </a:r>
            <a:r>
              <a:rPr lang="en-US" sz="2000" dirty="0" err="1" smtClean="0"/>
              <a:t>self.is_full</a:t>
            </a:r>
            <a:r>
              <a:rPr lang="en-US" sz="2000" dirty="0" smtClean="0"/>
              <a:t>():</a:t>
            </a:r>
          </a:p>
          <a:p>
            <a:r>
              <a:rPr lang="en-US" sz="2000" dirty="0" smtClean="0"/>
              <a:t>            print("Queue is Full! Cannot </a:t>
            </a:r>
            <a:r>
              <a:rPr lang="en-US" sz="2000" dirty="0" err="1" smtClean="0"/>
              <a:t>enqueue</a:t>
            </a:r>
            <a:r>
              <a:rPr lang="en-US" sz="2000" dirty="0" smtClean="0"/>
              <a:t>.")</a:t>
            </a:r>
          </a:p>
          <a:p>
            <a:r>
              <a:rPr lang="en-US" sz="2000" dirty="0" smtClean="0"/>
              <a:t>        else:</a:t>
            </a:r>
          </a:p>
          <a:p>
            <a:r>
              <a:rPr lang="en-US" sz="2000" dirty="0" smtClean="0"/>
              <a:t>            </a:t>
            </a:r>
            <a:r>
              <a:rPr lang="en-US" sz="2000" dirty="0" err="1" smtClean="0"/>
              <a:t>self.queue</a:t>
            </a:r>
            <a:r>
              <a:rPr lang="en-US" sz="2000" dirty="0" smtClean="0"/>
              <a:t>[</a:t>
            </a:r>
            <a:r>
              <a:rPr lang="en-US" sz="2000" dirty="0" err="1" smtClean="0"/>
              <a:t>self.rear</a:t>
            </a:r>
            <a:r>
              <a:rPr lang="en-US" sz="2000" dirty="0" smtClean="0"/>
              <a:t>] = value 		 # Place element at rear</a:t>
            </a:r>
          </a:p>
          <a:p>
            <a:r>
              <a:rPr lang="en-US" sz="2000" dirty="0" smtClean="0"/>
              <a:t>            </a:t>
            </a:r>
            <a:r>
              <a:rPr lang="en-US" sz="2000" dirty="0" err="1" smtClean="0"/>
              <a:t>self.rear</a:t>
            </a:r>
            <a:r>
              <a:rPr lang="en-US" sz="2000" dirty="0" smtClean="0"/>
              <a:t> = (</a:t>
            </a:r>
            <a:r>
              <a:rPr lang="en-US" sz="2000" dirty="0" err="1" smtClean="0"/>
              <a:t>self.rear</a:t>
            </a:r>
            <a:r>
              <a:rPr lang="en-US" sz="2000" dirty="0" smtClean="0"/>
              <a:t> + 1) % </a:t>
            </a:r>
            <a:r>
              <a:rPr lang="en-US" sz="2000" dirty="0" err="1" smtClean="0"/>
              <a:t>self.size</a:t>
            </a:r>
            <a:r>
              <a:rPr lang="en-US" sz="2000" dirty="0" smtClean="0"/>
              <a:t>  	# Update rear position</a:t>
            </a:r>
          </a:p>
          <a:p>
            <a:r>
              <a:rPr lang="en-US" sz="2000" dirty="0" smtClean="0"/>
              <a:t>            print(</a:t>
            </a:r>
            <a:r>
              <a:rPr lang="en-US" sz="2000" dirty="0" err="1" smtClean="0"/>
              <a:t>f"Enqueued</a:t>
            </a:r>
            <a:r>
              <a:rPr lang="en-US" sz="2000" dirty="0" smtClean="0"/>
              <a:t> {value}")</a:t>
            </a:r>
          </a:p>
        </p:txBody>
      </p:sp>
      <p:sp>
        <p:nvSpPr>
          <p:cNvPr id="24577" name="Rectangle 1"/>
          <p:cNvSpPr>
            <a:spLocks noChangeArrowheads="1"/>
          </p:cNvSpPr>
          <p:nvPr/>
        </p:nvSpPr>
        <p:spPr bwMode="auto">
          <a:xfrm>
            <a:off x="0" y="0"/>
            <a:ext cx="256802"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rgbClr val="374151"/>
                </a:solidFill>
                <a:effectLst/>
                <a:latin typeface="Söhne"/>
                <a:cs typeface="Arial" pitchFamily="34" charset="0"/>
              </a:rPr>
              <a:t>.</a:t>
            </a:r>
            <a:r>
              <a:rPr kumimoji="0" lang="en-US" sz="8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cxnSp>
        <p:nvCxnSpPr>
          <p:cNvPr id="12" name="Straight Arrow Connector 11"/>
          <p:cNvCxnSpPr>
            <a:endCxn id="53" idx="2"/>
          </p:cNvCxnSpPr>
          <p:nvPr/>
        </p:nvCxnSpPr>
        <p:spPr>
          <a:xfrm>
            <a:off x="3983277" y="4974914"/>
            <a:ext cx="2173062" cy="9005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069052342"/>
      </p:ext>
    </p:extLst>
  </p:cSld>
  <p:clrMapOvr>
    <a:masterClrMapping/>
  </p:clrMapOvr>
  <p:transition spd="slow">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264462" y="628152"/>
            <a:ext cx="11561115" cy="5940088"/>
          </a:xfrm>
          <a:prstGeom prst="rect">
            <a:avLst/>
          </a:prstGeom>
          <a:noFill/>
        </p:spPr>
        <p:txBody>
          <a:bodyPr wrap="square" rtlCol="0">
            <a:spAutoFit/>
          </a:bodyPr>
          <a:lstStyle/>
          <a:p>
            <a:r>
              <a:rPr lang="en-US" sz="2000" dirty="0" smtClean="0"/>
              <a:t>def </a:t>
            </a:r>
            <a:r>
              <a:rPr lang="en-US" sz="2000" dirty="0" err="1" smtClean="0"/>
              <a:t>dequeue</a:t>
            </a:r>
            <a:r>
              <a:rPr lang="en-US" sz="2000" dirty="0" smtClean="0"/>
              <a:t>(self):       # Remove an element from the queue</a:t>
            </a:r>
          </a:p>
          <a:p>
            <a:r>
              <a:rPr lang="en-US" sz="2000" dirty="0" smtClean="0"/>
              <a:t>        if </a:t>
            </a:r>
            <a:r>
              <a:rPr lang="en-US" sz="2000" dirty="0" err="1" smtClean="0"/>
              <a:t>self.is_empty</a:t>
            </a:r>
            <a:r>
              <a:rPr lang="en-US" sz="2000" dirty="0" smtClean="0"/>
              <a:t>():</a:t>
            </a:r>
          </a:p>
          <a:p>
            <a:r>
              <a:rPr lang="en-US" sz="2000" dirty="0" smtClean="0"/>
              <a:t>            print("Queue is Empty! Cannot </a:t>
            </a:r>
            <a:r>
              <a:rPr lang="en-US" sz="2000" dirty="0" err="1" smtClean="0"/>
              <a:t>dequeue</a:t>
            </a:r>
            <a:r>
              <a:rPr lang="en-US" sz="2000" dirty="0" smtClean="0"/>
              <a:t>.")</a:t>
            </a:r>
          </a:p>
          <a:p>
            <a:r>
              <a:rPr lang="en-US" sz="2000" dirty="0" smtClean="0"/>
              <a:t>        else:</a:t>
            </a:r>
          </a:p>
          <a:p>
            <a:r>
              <a:rPr lang="en-US" sz="2000" dirty="0" smtClean="0"/>
              <a:t>            </a:t>
            </a:r>
            <a:r>
              <a:rPr lang="en-US" sz="2000" dirty="0" err="1" smtClean="0"/>
              <a:t>dequeued_value</a:t>
            </a:r>
            <a:r>
              <a:rPr lang="en-US" sz="2000" dirty="0" smtClean="0"/>
              <a:t> = </a:t>
            </a:r>
            <a:r>
              <a:rPr lang="en-US" sz="2000" dirty="0" err="1" smtClean="0"/>
              <a:t>self.queue</a:t>
            </a:r>
            <a:r>
              <a:rPr lang="en-US" sz="2000" dirty="0" smtClean="0"/>
              <a:t>[</a:t>
            </a:r>
            <a:r>
              <a:rPr lang="en-US" sz="2000" dirty="0" err="1" smtClean="0"/>
              <a:t>self.front</a:t>
            </a:r>
            <a:r>
              <a:rPr lang="en-US" sz="2000" dirty="0" smtClean="0"/>
              <a:t>]  # Get front element</a:t>
            </a:r>
          </a:p>
          <a:p>
            <a:r>
              <a:rPr lang="en-US" sz="2000" dirty="0" smtClean="0"/>
              <a:t>            </a:t>
            </a:r>
            <a:r>
              <a:rPr lang="en-US" sz="2000" dirty="0" err="1" smtClean="0"/>
              <a:t>self.front</a:t>
            </a:r>
            <a:r>
              <a:rPr lang="en-US" sz="2000" dirty="0" smtClean="0"/>
              <a:t> = (</a:t>
            </a:r>
            <a:r>
              <a:rPr lang="en-US" sz="2000" dirty="0" err="1" smtClean="0"/>
              <a:t>self.front</a:t>
            </a:r>
            <a:r>
              <a:rPr lang="en-US" sz="2000" dirty="0" smtClean="0"/>
              <a:t> + 1) % </a:t>
            </a:r>
            <a:r>
              <a:rPr lang="en-US" sz="2000" dirty="0" err="1" smtClean="0"/>
              <a:t>self.size</a:t>
            </a:r>
            <a:r>
              <a:rPr lang="en-US" sz="2000" dirty="0" smtClean="0"/>
              <a:t>  # Update front position</a:t>
            </a:r>
          </a:p>
          <a:p>
            <a:r>
              <a:rPr lang="en-US" sz="2000" dirty="0" smtClean="0"/>
              <a:t>            print(</a:t>
            </a:r>
            <a:r>
              <a:rPr lang="en-US" sz="2000" dirty="0" err="1" smtClean="0"/>
              <a:t>f"Dequeued</a:t>
            </a:r>
            <a:r>
              <a:rPr lang="en-US" sz="2000" dirty="0" smtClean="0"/>
              <a:t> {</a:t>
            </a:r>
            <a:r>
              <a:rPr lang="en-US" sz="2000" dirty="0" err="1" smtClean="0"/>
              <a:t>dequeued_value</a:t>
            </a:r>
            <a:r>
              <a:rPr lang="en-US" sz="2000" dirty="0" smtClean="0"/>
              <a:t>}")</a:t>
            </a:r>
          </a:p>
          <a:p>
            <a:r>
              <a:rPr lang="en-US" sz="2000" dirty="0" smtClean="0"/>
              <a:t>            return </a:t>
            </a:r>
            <a:r>
              <a:rPr lang="en-US" sz="2000" dirty="0" err="1" smtClean="0"/>
              <a:t>dequeued_value</a:t>
            </a:r>
            <a:endParaRPr lang="en-US" sz="2000" dirty="0" smtClean="0"/>
          </a:p>
          <a:p>
            <a:r>
              <a:rPr lang="en-US" sz="2000" dirty="0" smtClean="0"/>
              <a:t>    def peek(self):                 # Get the front element of the queue</a:t>
            </a:r>
          </a:p>
          <a:p>
            <a:r>
              <a:rPr lang="en-US" sz="2000" dirty="0" smtClean="0"/>
              <a:t>        if </a:t>
            </a:r>
            <a:r>
              <a:rPr lang="en-US" sz="2000" dirty="0" err="1" smtClean="0"/>
              <a:t>self.is_empty</a:t>
            </a:r>
            <a:r>
              <a:rPr lang="en-US" sz="2000" dirty="0" smtClean="0"/>
              <a:t>():</a:t>
            </a:r>
          </a:p>
          <a:p>
            <a:r>
              <a:rPr lang="en-US" sz="2000" dirty="0" smtClean="0"/>
              <a:t>            print("Queue is Empty! No front element.")</a:t>
            </a:r>
          </a:p>
          <a:p>
            <a:r>
              <a:rPr lang="en-US" sz="2000" dirty="0" smtClean="0"/>
              <a:t>        else:</a:t>
            </a:r>
          </a:p>
          <a:p>
            <a:r>
              <a:rPr lang="en-US" sz="2000" dirty="0" smtClean="0"/>
              <a:t>            return </a:t>
            </a:r>
            <a:r>
              <a:rPr lang="en-US" sz="2000" dirty="0" err="1" smtClean="0"/>
              <a:t>self.queue</a:t>
            </a:r>
            <a:r>
              <a:rPr lang="en-US" sz="2000" dirty="0" smtClean="0"/>
              <a:t>[</a:t>
            </a:r>
            <a:r>
              <a:rPr lang="en-US" sz="2000" dirty="0" err="1" smtClean="0"/>
              <a:t>self.front</a:t>
            </a:r>
            <a:r>
              <a:rPr lang="en-US" sz="2000" dirty="0" smtClean="0"/>
              <a:t>]</a:t>
            </a:r>
          </a:p>
          <a:p>
            <a:r>
              <a:rPr lang="en-US" sz="2000" dirty="0" smtClean="0"/>
              <a:t>    def display(self):               # Display the elements of the queue</a:t>
            </a:r>
          </a:p>
          <a:p>
            <a:r>
              <a:rPr lang="en-US" sz="2000" dirty="0" smtClean="0"/>
              <a:t>        if </a:t>
            </a:r>
            <a:r>
              <a:rPr lang="en-US" sz="2000" dirty="0" err="1" smtClean="0"/>
              <a:t>self.is_empty</a:t>
            </a:r>
            <a:r>
              <a:rPr lang="en-US" sz="2000" dirty="0" smtClean="0"/>
              <a:t>():</a:t>
            </a:r>
          </a:p>
          <a:p>
            <a:r>
              <a:rPr lang="en-US" sz="2000" dirty="0" smtClean="0"/>
              <a:t>            print("Queue is Empty.")</a:t>
            </a:r>
          </a:p>
          <a:p>
            <a:endParaRPr lang="en-US" sz="2000" dirty="0" smtClean="0"/>
          </a:p>
          <a:p>
            <a:endParaRPr lang="en-US" sz="2000" dirty="0" smtClean="0"/>
          </a:p>
          <a:p>
            <a:endParaRPr lang="en-US" sz="2000" dirty="0" smtClean="0"/>
          </a:p>
        </p:txBody>
      </p:sp>
      <p:sp>
        <p:nvSpPr>
          <p:cNvPr id="24577" name="Rectangle 1"/>
          <p:cNvSpPr>
            <a:spLocks noChangeArrowheads="1"/>
          </p:cNvSpPr>
          <p:nvPr/>
        </p:nvSpPr>
        <p:spPr bwMode="auto">
          <a:xfrm>
            <a:off x="0" y="0"/>
            <a:ext cx="256802"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rgbClr val="374151"/>
                </a:solidFill>
                <a:effectLst/>
                <a:latin typeface="Söhne"/>
                <a:cs typeface="Arial" pitchFamily="34" charset="0"/>
              </a:rPr>
              <a:t>.</a:t>
            </a:r>
            <a:r>
              <a:rPr kumimoji="0" lang="en-US" sz="8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4069052342"/>
      </p:ext>
    </p:extLst>
  </p:cSld>
  <p:clrMapOvr>
    <a:masterClrMapping/>
  </p:clrMapOvr>
  <p:transition spd="slow">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264462" y="628152"/>
            <a:ext cx="11561115" cy="5324535"/>
          </a:xfrm>
          <a:prstGeom prst="rect">
            <a:avLst/>
          </a:prstGeom>
          <a:noFill/>
        </p:spPr>
        <p:txBody>
          <a:bodyPr wrap="square" rtlCol="0">
            <a:spAutoFit/>
          </a:bodyPr>
          <a:lstStyle/>
          <a:p>
            <a:r>
              <a:rPr lang="en-US" sz="2000" dirty="0" smtClean="0"/>
              <a:t> else:</a:t>
            </a:r>
          </a:p>
          <a:p>
            <a:r>
              <a:rPr lang="en-US" sz="2000" dirty="0" smtClean="0"/>
              <a:t>            </a:t>
            </a:r>
            <a:r>
              <a:rPr lang="en-US" sz="2000" dirty="0" err="1" smtClean="0"/>
              <a:t>i</a:t>
            </a:r>
            <a:r>
              <a:rPr lang="en-US" sz="2000" dirty="0" smtClean="0"/>
              <a:t> = </a:t>
            </a:r>
            <a:r>
              <a:rPr lang="en-US" sz="2000" dirty="0" err="1" smtClean="0"/>
              <a:t>self.front</a:t>
            </a:r>
            <a:endParaRPr lang="en-US" sz="2000" dirty="0" smtClean="0"/>
          </a:p>
          <a:p>
            <a:r>
              <a:rPr lang="en-US" sz="2000" dirty="0" smtClean="0"/>
              <a:t>            while </a:t>
            </a:r>
            <a:r>
              <a:rPr lang="en-US" sz="2000" dirty="0" err="1" smtClean="0"/>
              <a:t>i</a:t>
            </a:r>
            <a:r>
              <a:rPr lang="en-US" sz="2000" dirty="0" smtClean="0"/>
              <a:t> != </a:t>
            </a:r>
            <a:r>
              <a:rPr lang="en-US" sz="2000" dirty="0" err="1" smtClean="0"/>
              <a:t>self.rear</a:t>
            </a:r>
            <a:r>
              <a:rPr lang="en-US" sz="2000" dirty="0" smtClean="0"/>
              <a:t>:</a:t>
            </a:r>
          </a:p>
          <a:p>
            <a:r>
              <a:rPr lang="en-US" sz="2000" dirty="0" smtClean="0"/>
              <a:t>                print(</a:t>
            </a:r>
            <a:r>
              <a:rPr lang="en-US" sz="2000" dirty="0" err="1" smtClean="0"/>
              <a:t>self.queue</a:t>
            </a:r>
            <a:r>
              <a:rPr lang="en-US" sz="2000" dirty="0" smtClean="0"/>
              <a:t>[</a:t>
            </a:r>
            <a:r>
              <a:rPr lang="en-US" sz="2000" dirty="0" err="1" smtClean="0"/>
              <a:t>i</a:t>
            </a:r>
            <a:r>
              <a:rPr lang="en-US" sz="2000" dirty="0" smtClean="0"/>
              <a:t>], end=" ")</a:t>
            </a:r>
          </a:p>
          <a:p>
            <a:r>
              <a:rPr lang="en-US" sz="2000" dirty="0" smtClean="0"/>
              <a:t>                </a:t>
            </a:r>
            <a:r>
              <a:rPr lang="en-US" sz="2000" dirty="0" err="1" smtClean="0"/>
              <a:t>i</a:t>
            </a:r>
            <a:r>
              <a:rPr lang="en-US" sz="2000" dirty="0" smtClean="0"/>
              <a:t> = (</a:t>
            </a:r>
            <a:r>
              <a:rPr lang="en-US" sz="2000" dirty="0" err="1" smtClean="0"/>
              <a:t>i</a:t>
            </a:r>
            <a:r>
              <a:rPr lang="en-US" sz="2000" dirty="0" smtClean="0"/>
              <a:t> + 1) % </a:t>
            </a:r>
            <a:r>
              <a:rPr lang="en-US" sz="2000" dirty="0" err="1" smtClean="0"/>
              <a:t>self.size</a:t>
            </a:r>
            <a:endParaRPr lang="en-US" sz="2000" dirty="0" smtClean="0"/>
          </a:p>
          <a:p>
            <a:r>
              <a:rPr lang="en-US" sz="2000" dirty="0" smtClean="0"/>
              <a:t>            print()</a:t>
            </a:r>
          </a:p>
          <a:p>
            <a:r>
              <a:rPr lang="en-US" sz="2000" dirty="0" err="1" smtClean="0"/>
              <a:t>cq</a:t>
            </a:r>
            <a:r>
              <a:rPr lang="en-US" sz="2000" dirty="0" smtClean="0"/>
              <a:t> = </a:t>
            </a:r>
            <a:r>
              <a:rPr lang="en-US" sz="2000" dirty="0" err="1" smtClean="0"/>
              <a:t>CircularQueue</a:t>
            </a:r>
            <a:r>
              <a:rPr lang="en-US" sz="2000" dirty="0" smtClean="0"/>
              <a:t>(5)# </a:t>
            </a:r>
            <a:r>
              <a:rPr lang="en-US" sz="2000" dirty="0" err="1" smtClean="0"/>
              <a:t>Enqueueing</a:t>
            </a:r>
            <a:r>
              <a:rPr lang="en-US" sz="2000" dirty="0" smtClean="0"/>
              <a:t> elements</a:t>
            </a:r>
          </a:p>
          <a:p>
            <a:r>
              <a:rPr lang="en-US" sz="2000" dirty="0" err="1" smtClean="0"/>
              <a:t>cq.enqueue</a:t>
            </a:r>
            <a:r>
              <a:rPr lang="en-US" sz="2000" dirty="0" smtClean="0"/>
              <a:t>(10)</a:t>
            </a:r>
          </a:p>
          <a:p>
            <a:r>
              <a:rPr lang="en-US" sz="2000" dirty="0" err="1" smtClean="0"/>
              <a:t>cq.enqueue</a:t>
            </a:r>
            <a:r>
              <a:rPr lang="en-US" sz="2000" dirty="0" smtClean="0"/>
              <a:t>(20)</a:t>
            </a:r>
          </a:p>
          <a:p>
            <a:r>
              <a:rPr lang="en-US" sz="2000" dirty="0" err="1" smtClean="0"/>
              <a:t>cq.enqueue</a:t>
            </a:r>
            <a:r>
              <a:rPr lang="en-US" sz="2000" dirty="0" smtClean="0"/>
              <a:t>(30)</a:t>
            </a:r>
          </a:p>
          <a:p>
            <a:r>
              <a:rPr lang="en-US" sz="2000" dirty="0" err="1" smtClean="0"/>
              <a:t>cq.enqueue</a:t>
            </a:r>
            <a:r>
              <a:rPr lang="en-US" sz="2000" dirty="0" smtClean="0"/>
              <a:t>(40)</a:t>
            </a:r>
          </a:p>
          <a:p>
            <a:r>
              <a:rPr lang="en-US" sz="2000" dirty="0" err="1" smtClean="0"/>
              <a:t>cq.enqueue</a:t>
            </a:r>
            <a:r>
              <a:rPr lang="en-US" sz="2000" dirty="0" smtClean="0"/>
              <a:t>(50)</a:t>
            </a:r>
          </a:p>
          <a:p>
            <a:r>
              <a:rPr lang="en-US" sz="2000" dirty="0" err="1" smtClean="0"/>
              <a:t>cq.display</a:t>
            </a:r>
            <a:r>
              <a:rPr lang="en-US" sz="2000" dirty="0" smtClean="0"/>
              <a:t>()  # Expected: 10 20 30 40 50</a:t>
            </a:r>
          </a:p>
          <a:p>
            <a:endParaRPr lang="en-US" sz="2000" dirty="0" smtClean="0"/>
          </a:p>
          <a:p>
            <a:endParaRPr lang="en-US" sz="2000" dirty="0" smtClean="0"/>
          </a:p>
          <a:p>
            <a:endParaRPr lang="en-US" sz="2000" dirty="0" smtClean="0"/>
          </a:p>
          <a:p>
            <a:endParaRPr lang="en-US" sz="2000" dirty="0" smtClean="0"/>
          </a:p>
        </p:txBody>
      </p:sp>
      <p:sp>
        <p:nvSpPr>
          <p:cNvPr id="24577" name="Rectangle 1"/>
          <p:cNvSpPr>
            <a:spLocks noChangeArrowheads="1"/>
          </p:cNvSpPr>
          <p:nvPr/>
        </p:nvSpPr>
        <p:spPr bwMode="auto">
          <a:xfrm>
            <a:off x="0" y="0"/>
            <a:ext cx="256802"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rgbClr val="374151"/>
                </a:solidFill>
                <a:effectLst/>
                <a:latin typeface="Söhne"/>
                <a:cs typeface="Arial" pitchFamily="34" charset="0"/>
              </a:rPr>
              <a:t>.</a:t>
            </a:r>
            <a:r>
              <a:rPr kumimoji="0" lang="en-US" sz="8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4069052342"/>
      </p:ext>
    </p:extLst>
  </p:cSld>
  <p:clrMapOvr>
    <a:masterClrMapping/>
  </p:clrMapOvr>
  <p:transition spd="slow">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264462" y="628152"/>
            <a:ext cx="11561115" cy="6247864"/>
          </a:xfrm>
          <a:prstGeom prst="rect">
            <a:avLst/>
          </a:prstGeom>
          <a:noFill/>
        </p:spPr>
        <p:txBody>
          <a:bodyPr wrap="square" rtlCol="0">
            <a:spAutoFit/>
          </a:bodyPr>
          <a:lstStyle/>
          <a:p>
            <a:r>
              <a:rPr lang="en-US" sz="2000" dirty="0" err="1" smtClean="0"/>
              <a:t>cq.enqueue</a:t>
            </a:r>
            <a:r>
              <a:rPr lang="en-US" sz="2000" dirty="0" smtClean="0"/>
              <a:t>(60)  # Expected: Queue is Full! Cannot </a:t>
            </a:r>
            <a:r>
              <a:rPr lang="en-US" sz="2000" dirty="0" err="1" smtClean="0"/>
              <a:t>enqueue</a:t>
            </a:r>
            <a:r>
              <a:rPr lang="en-US" sz="2000" dirty="0" smtClean="0"/>
              <a:t>.</a:t>
            </a:r>
          </a:p>
          <a:p>
            <a:r>
              <a:rPr lang="en-US" sz="2000" dirty="0" smtClean="0"/>
              <a:t># </a:t>
            </a:r>
            <a:r>
              <a:rPr lang="en-US" sz="2000" dirty="0" err="1" smtClean="0"/>
              <a:t>Dequeuing</a:t>
            </a:r>
            <a:r>
              <a:rPr lang="en-US" sz="2000" dirty="0" smtClean="0"/>
              <a:t> elements</a:t>
            </a:r>
          </a:p>
          <a:p>
            <a:r>
              <a:rPr lang="en-US" sz="2000" dirty="0" err="1" smtClean="0"/>
              <a:t>cq.dequeue</a:t>
            </a:r>
            <a:r>
              <a:rPr lang="en-US" sz="2000" dirty="0" smtClean="0"/>
              <a:t>()  # Expected: </a:t>
            </a:r>
            <a:r>
              <a:rPr lang="en-US" sz="2000" dirty="0" err="1" smtClean="0"/>
              <a:t>Dequeued</a:t>
            </a:r>
            <a:r>
              <a:rPr lang="en-US" sz="2000" dirty="0" smtClean="0"/>
              <a:t> 10</a:t>
            </a:r>
          </a:p>
          <a:p>
            <a:r>
              <a:rPr lang="en-US" sz="2000" dirty="0" err="1" smtClean="0"/>
              <a:t>cq.dequeue</a:t>
            </a:r>
            <a:r>
              <a:rPr lang="en-US" sz="2000" dirty="0" smtClean="0"/>
              <a:t>()  # Expected: </a:t>
            </a:r>
            <a:r>
              <a:rPr lang="en-US" sz="2000" dirty="0" err="1" smtClean="0"/>
              <a:t>Dequeued</a:t>
            </a:r>
            <a:r>
              <a:rPr lang="en-US" sz="2000" dirty="0" smtClean="0"/>
              <a:t> 20</a:t>
            </a:r>
          </a:p>
          <a:p>
            <a:r>
              <a:rPr lang="en-US" sz="2000" dirty="0" err="1" smtClean="0"/>
              <a:t>cq.display</a:t>
            </a:r>
            <a:r>
              <a:rPr lang="en-US" sz="2000" dirty="0" smtClean="0"/>
              <a:t>()  # Expected: 30 40 50</a:t>
            </a:r>
          </a:p>
          <a:p>
            <a:r>
              <a:rPr lang="en-US" sz="2000" dirty="0" smtClean="0"/>
              <a:t># </a:t>
            </a:r>
            <a:r>
              <a:rPr lang="en-US" sz="2000" dirty="0" err="1" smtClean="0"/>
              <a:t>Enqueue</a:t>
            </a:r>
            <a:r>
              <a:rPr lang="en-US" sz="2000" dirty="0" smtClean="0"/>
              <a:t> after </a:t>
            </a:r>
            <a:r>
              <a:rPr lang="en-US" sz="2000" dirty="0" err="1" smtClean="0"/>
              <a:t>dequeuing</a:t>
            </a:r>
            <a:endParaRPr lang="en-US" sz="2000" dirty="0" smtClean="0"/>
          </a:p>
          <a:p>
            <a:r>
              <a:rPr lang="en-US" sz="2000" dirty="0" err="1" smtClean="0"/>
              <a:t>cq.enqueue</a:t>
            </a:r>
            <a:r>
              <a:rPr lang="en-US" sz="2000" dirty="0" smtClean="0"/>
              <a:t>(60)  # Expected: </a:t>
            </a:r>
            <a:r>
              <a:rPr lang="en-US" sz="2000" dirty="0" err="1" smtClean="0"/>
              <a:t>Enqueued</a:t>
            </a:r>
            <a:r>
              <a:rPr lang="en-US" sz="2000" dirty="0" smtClean="0"/>
              <a:t> 60</a:t>
            </a:r>
          </a:p>
          <a:p>
            <a:r>
              <a:rPr lang="en-US" sz="2000" dirty="0" err="1" smtClean="0"/>
              <a:t>cq.display</a:t>
            </a:r>
            <a:r>
              <a:rPr lang="en-US" sz="2000" dirty="0" smtClean="0"/>
              <a:t>()  # Expected: 30 40 50 60</a:t>
            </a:r>
          </a:p>
          <a:p>
            <a:r>
              <a:rPr lang="en-US" sz="2000" dirty="0" smtClean="0"/>
              <a:t># Peek the front element</a:t>
            </a:r>
          </a:p>
          <a:p>
            <a:r>
              <a:rPr lang="en-US" sz="2000" dirty="0" smtClean="0"/>
              <a:t>print("Front element is:", </a:t>
            </a:r>
            <a:r>
              <a:rPr lang="en-US" sz="2000" dirty="0" err="1" smtClean="0"/>
              <a:t>cq.peek</a:t>
            </a:r>
            <a:r>
              <a:rPr lang="en-US" sz="2000" dirty="0" smtClean="0"/>
              <a:t>())  # Expected: 30</a:t>
            </a:r>
          </a:p>
          <a:p>
            <a:r>
              <a:rPr lang="en-US" sz="2000" dirty="0" smtClean="0"/>
              <a:t># </a:t>
            </a:r>
            <a:r>
              <a:rPr lang="en-US" sz="2000" dirty="0" err="1" smtClean="0"/>
              <a:t>Dequeuing</a:t>
            </a:r>
            <a:r>
              <a:rPr lang="en-US" sz="2000" dirty="0" smtClean="0"/>
              <a:t> all elements</a:t>
            </a:r>
          </a:p>
          <a:p>
            <a:r>
              <a:rPr lang="en-US" sz="2000" dirty="0" err="1" smtClean="0"/>
              <a:t>cq.dequeue</a:t>
            </a:r>
            <a:r>
              <a:rPr lang="en-US" sz="2000" dirty="0" smtClean="0"/>
              <a:t>()  # Expected: </a:t>
            </a:r>
            <a:r>
              <a:rPr lang="en-US" sz="2000" dirty="0" err="1" smtClean="0"/>
              <a:t>Dequeued</a:t>
            </a:r>
            <a:r>
              <a:rPr lang="en-US" sz="2000" dirty="0" smtClean="0"/>
              <a:t> 30</a:t>
            </a:r>
          </a:p>
          <a:p>
            <a:r>
              <a:rPr lang="en-US" sz="2000" dirty="0" err="1" smtClean="0"/>
              <a:t>cq.dequeue</a:t>
            </a:r>
            <a:r>
              <a:rPr lang="en-US" sz="2000" dirty="0" smtClean="0"/>
              <a:t>()  # Expected: </a:t>
            </a:r>
            <a:r>
              <a:rPr lang="en-US" sz="2000" dirty="0" err="1" smtClean="0"/>
              <a:t>Dequeued</a:t>
            </a:r>
            <a:r>
              <a:rPr lang="en-US" sz="2000" dirty="0" smtClean="0"/>
              <a:t> 40</a:t>
            </a:r>
          </a:p>
          <a:p>
            <a:r>
              <a:rPr lang="en-US" sz="2000" dirty="0" err="1" smtClean="0"/>
              <a:t>cq.dequeue</a:t>
            </a:r>
            <a:r>
              <a:rPr lang="en-US" sz="2000" dirty="0" smtClean="0"/>
              <a:t>()  # Expected: </a:t>
            </a:r>
            <a:r>
              <a:rPr lang="en-US" sz="2000" dirty="0" err="1" smtClean="0"/>
              <a:t>Dequeued</a:t>
            </a:r>
            <a:r>
              <a:rPr lang="en-US" sz="2000" dirty="0" smtClean="0"/>
              <a:t> 50</a:t>
            </a:r>
          </a:p>
          <a:p>
            <a:r>
              <a:rPr lang="en-US" sz="2000" dirty="0" err="1" smtClean="0"/>
              <a:t>cq.dequeue</a:t>
            </a:r>
            <a:r>
              <a:rPr lang="en-US" sz="2000" dirty="0" smtClean="0"/>
              <a:t>()  # Expected: </a:t>
            </a:r>
            <a:r>
              <a:rPr lang="en-US" sz="2000" dirty="0" err="1" smtClean="0"/>
              <a:t>Dequeued</a:t>
            </a:r>
            <a:r>
              <a:rPr lang="en-US" sz="2000" dirty="0" smtClean="0"/>
              <a:t> 60</a:t>
            </a:r>
          </a:p>
          <a:p>
            <a:r>
              <a:rPr lang="en-US" sz="2000" dirty="0" smtClean="0"/>
              <a:t># Display after all </a:t>
            </a:r>
            <a:r>
              <a:rPr lang="en-US" sz="2000" dirty="0" err="1" smtClean="0"/>
              <a:t>dequeues</a:t>
            </a:r>
            <a:endParaRPr lang="en-US" sz="2000" dirty="0" smtClean="0"/>
          </a:p>
          <a:p>
            <a:r>
              <a:rPr lang="en-US" sz="2000" dirty="0" err="1" smtClean="0"/>
              <a:t>cq.display</a:t>
            </a:r>
            <a:r>
              <a:rPr lang="en-US" sz="2000" dirty="0" smtClean="0"/>
              <a:t>()  # Expected: Queue is Empty.</a:t>
            </a:r>
          </a:p>
          <a:p>
            <a:endParaRPr lang="en-US" sz="2000" dirty="0" smtClean="0"/>
          </a:p>
          <a:p>
            <a:endParaRPr lang="en-US" sz="2000" dirty="0" smtClean="0"/>
          </a:p>
          <a:p>
            <a:endParaRPr lang="en-US" sz="2000" dirty="0" smtClean="0"/>
          </a:p>
        </p:txBody>
      </p:sp>
      <p:sp>
        <p:nvSpPr>
          <p:cNvPr id="24577" name="Rectangle 1"/>
          <p:cNvSpPr>
            <a:spLocks noChangeArrowheads="1"/>
          </p:cNvSpPr>
          <p:nvPr/>
        </p:nvSpPr>
        <p:spPr bwMode="auto">
          <a:xfrm>
            <a:off x="0" y="0"/>
            <a:ext cx="256802"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rgbClr val="374151"/>
                </a:solidFill>
                <a:effectLst/>
                <a:latin typeface="Söhne"/>
                <a:cs typeface="Arial" pitchFamily="34" charset="0"/>
              </a:rPr>
              <a:t>.</a:t>
            </a:r>
            <a:r>
              <a:rPr kumimoji="0" lang="en-US" sz="8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4069052342"/>
      </p:ext>
    </p:extLst>
  </p:cSld>
  <p:clrMapOvr>
    <a:masterClrMapping/>
  </p:clrMapOvr>
  <p:transition spd="slow">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1579418" y="84673"/>
            <a:ext cx="8324237" cy="11978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Circular Linked list</a:t>
            </a:r>
          </a:p>
          <a:p>
            <a:r>
              <a:rPr lang="en-US" sz="2400" dirty="0"/>
              <a:t>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465781"/>
            <a:ext cx="11336055" cy="3046988"/>
          </a:xfrm>
          <a:prstGeom prst="rect">
            <a:avLst/>
          </a:prstGeom>
          <a:noFill/>
        </p:spPr>
        <p:txBody>
          <a:bodyPr wrap="square" rtlCol="0">
            <a:spAutoFit/>
          </a:bodyPr>
          <a:lstStyle/>
          <a:p>
            <a:pPr algn="just">
              <a:buFont typeface="Wingdings" pitchFamily="2" charset="2"/>
              <a:buChar char="Ø"/>
            </a:pPr>
            <a:r>
              <a:rPr lang="en-IN" sz="3200" dirty="0"/>
              <a:t> </a:t>
            </a:r>
            <a:r>
              <a:rPr lang="en-IN" sz="3200" dirty="0" smtClean="0"/>
              <a:t>A </a:t>
            </a:r>
            <a:r>
              <a:rPr lang="en-IN" sz="3200" b="1" dirty="0" smtClean="0"/>
              <a:t>circular linked list</a:t>
            </a:r>
            <a:r>
              <a:rPr lang="en-IN" sz="3200" dirty="0" smtClean="0"/>
              <a:t> </a:t>
            </a:r>
            <a:r>
              <a:rPr lang="en-US" sz="3200" dirty="0" smtClean="0"/>
              <a:t>is a series of nodes .</a:t>
            </a:r>
          </a:p>
          <a:p>
            <a:pPr algn="just">
              <a:buFont typeface="Wingdings" pitchFamily="2" charset="2"/>
              <a:buChar char="Ø"/>
            </a:pPr>
            <a:r>
              <a:rPr lang="en-US" sz="3200" dirty="0" smtClean="0"/>
              <a:t>Each element is connected to its successor element</a:t>
            </a:r>
          </a:p>
          <a:p>
            <a:pPr algn="just">
              <a:buFont typeface="Wingdings" pitchFamily="2" charset="2"/>
              <a:buChar char="Ø"/>
            </a:pPr>
            <a:r>
              <a:rPr lang="en-US" sz="3200" dirty="0" smtClean="0"/>
              <a:t>the last element loops back to the first element</a:t>
            </a:r>
          </a:p>
          <a:p>
            <a:pPr algn="just">
              <a:buFont typeface="Wingdings" pitchFamily="2" charset="2"/>
              <a:buChar char="Ø"/>
            </a:pPr>
            <a:r>
              <a:rPr lang="en-US" sz="3200" dirty="0" smtClean="0"/>
              <a:t> creates a continuous circle of connections.</a:t>
            </a:r>
            <a:endParaRPr lang="en-IN" sz="3200" dirty="0" smtClean="0"/>
          </a:p>
          <a:p>
            <a:pPr algn="just">
              <a:buNone/>
            </a:pPr>
            <a:endParaRPr lang="en-IN" sz="3200" dirty="0" smtClean="0">
              <a:latin typeface="Times New Roman" pitchFamily="18" charset="0"/>
              <a:cs typeface="Times New Roman" pitchFamily="18" charset="0"/>
            </a:endParaRPr>
          </a:p>
          <a:p>
            <a:pPr algn="just"/>
            <a:endParaRPr lang="en-US" sz="3200" dirty="0">
              <a:latin typeface="Times New Roman" pitchFamily="18" charset="0"/>
              <a:cs typeface="Times New Roman" pitchFamily="18" charset="0"/>
            </a:endParaRPr>
          </a:p>
        </p:txBody>
      </p:sp>
      <p:sp>
        <p:nvSpPr>
          <p:cNvPr id="5" name="Rectangle 4"/>
          <p:cNvSpPr/>
          <p:nvPr/>
        </p:nvSpPr>
        <p:spPr>
          <a:xfrm>
            <a:off x="1703539" y="4509370"/>
            <a:ext cx="1102291" cy="9018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24577" name="Rectangle 1"/>
          <p:cNvSpPr>
            <a:spLocks noChangeArrowheads="1"/>
          </p:cNvSpPr>
          <p:nvPr/>
        </p:nvSpPr>
        <p:spPr bwMode="auto">
          <a:xfrm>
            <a:off x="0" y="0"/>
            <a:ext cx="256802"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rgbClr val="374151"/>
                </a:solidFill>
                <a:effectLst/>
                <a:latin typeface="Söhne"/>
                <a:cs typeface="Arial" pitchFamily="34" charset="0"/>
              </a:rPr>
              <a:t>.</a:t>
            </a:r>
            <a:r>
              <a:rPr kumimoji="0" lang="en-US" sz="800" b="0" i="0" u="none" strike="noStrike" cap="none" normalizeH="0" baseline="0" dirty="0">
                <a:ln>
                  <a:noFill/>
                </a:ln>
                <a:solidFill>
                  <a:schemeClr val="tx1"/>
                </a:solidFill>
                <a:effectLst/>
                <a:latin typeface="Arial" pitchFamily="34" charset="0"/>
                <a:cs typeface="Arial" pitchFamily="34"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8" name="Rectangle 7"/>
          <p:cNvSpPr/>
          <p:nvPr/>
        </p:nvSpPr>
        <p:spPr>
          <a:xfrm>
            <a:off x="6087649" y="4473879"/>
            <a:ext cx="1066799" cy="9018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9" name="Rectangle 8"/>
          <p:cNvSpPr/>
          <p:nvPr/>
        </p:nvSpPr>
        <p:spPr>
          <a:xfrm>
            <a:off x="7156537" y="4475968"/>
            <a:ext cx="1048012" cy="90187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10096</a:t>
            </a:r>
          </a:p>
        </p:txBody>
      </p:sp>
      <p:sp>
        <p:nvSpPr>
          <p:cNvPr id="10" name="Rectangle 9"/>
          <p:cNvSpPr/>
          <p:nvPr/>
        </p:nvSpPr>
        <p:spPr>
          <a:xfrm>
            <a:off x="2782866" y="4523984"/>
            <a:ext cx="1200412" cy="90187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1001100</a:t>
            </a:r>
          </a:p>
        </p:txBody>
      </p:sp>
      <p:cxnSp>
        <p:nvCxnSpPr>
          <p:cNvPr id="12" name="Straight Arrow Connector 11"/>
          <p:cNvCxnSpPr>
            <a:stCxn id="10" idx="3"/>
            <a:endCxn id="53" idx="2"/>
          </p:cNvCxnSpPr>
          <p:nvPr/>
        </p:nvCxnSpPr>
        <p:spPr>
          <a:xfrm flipV="1">
            <a:off x="3983278" y="4512769"/>
            <a:ext cx="2060531" cy="46215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9" idx="3"/>
          </p:cNvCxnSpPr>
          <p:nvPr/>
        </p:nvCxnSpPr>
        <p:spPr>
          <a:xfrm>
            <a:off x="8204549" y="4926905"/>
            <a:ext cx="1189972" cy="1498947"/>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10800000">
            <a:off x="601249" y="6388274"/>
            <a:ext cx="8855902" cy="266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flipH="1" flipV="1">
            <a:off x="-131524" y="5668030"/>
            <a:ext cx="1465547" cy="250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5" idx="1"/>
          </p:cNvCxnSpPr>
          <p:nvPr/>
        </p:nvCxnSpPr>
        <p:spPr>
          <a:xfrm>
            <a:off x="601249" y="4947781"/>
            <a:ext cx="1102290" cy="1252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517731" y="5599134"/>
            <a:ext cx="926926" cy="369332"/>
          </a:xfrm>
          <a:prstGeom prst="rect">
            <a:avLst/>
          </a:prstGeom>
          <a:noFill/>
        </p:spPr>
        <p:txBody>
          <a:bodyPr wrap="square" rtlCol="0">
            <a:spAutoFit/>
          </a:bodyPr>
          <a:lstStyle/>
          <a:p>
            <a:r>
              <a:rPr lang="en-US" dirty="0"/>
              <a:t>10096</a:t>
            </a:r>
          </a:p>
        </p:txBody>
      </p:sp>
      <p:sp>
        <p:nvSpPr>
          <p:cNvPr id="36" name="TextBox 35"/>
          <p:cNvSpPr txBox="1"/>
          <p:nvPr/>
        </p:nvSpPr>
        <p:spPr>
          <a:xfrm>
            <a:off x="6688899" y="5586608"/>
            <a:ext cx="1215023" cy="369332"/>
          </a:xfrm>
          <a:prstGeom prst="rect">
            <a:avLst/>
          </a:prstGeom>
          <a:noFill/>
        </p:spPr>
        <p:txBody>
          <a:bodyPr wrap="square" rtlCol="0">
            <a:spAutoFit/>
          </a:bodyPr>
          <a:lstStyle/>
          <a:p>
            <a:r>
              <a:rPr lang="en-US" dirty="0"/>
              <a:t>1001100</a:t>
            </a:r>
          </a:p>
        </p:txBody>
      </p:sp>
    </p:spTree>
    <p:extLst>
      <p:ext uri="{BB962C8B-B14F-4D97-AF65-F5344CB8AC3E}">
        <p14:creationId xmlns:p14="http://schemas.microsoft.com/office/powerpoint/2010/main" xmlns="" val="4069052342"/>
      </p:ext>
    </p:extLst>
  </p:cSld>
  <p:clrMapOvr>
    <a:masterClrMapping/>
  </p:clrMapOvr>
  <p:transition spd="slow">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xmlns="" id="{9EB8A4A0-26E8-41C7-BE65-3B55B361B40D}"/>
              </a:ext>
            </a:extLst>
          </p:cNvPr>
          <p:cNvSpPr/>
          <p:nvPr/>
        </p:nvSpPr>
        <p:spPr>
          <a:xfrm>
            <a:off x="1579418" y="175364"/>
            <a:ext cx="8324237" cy="70215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p>
          <a:p>
            <a:pPr algn="ctr"/>
            <a:r>
              <a:rPr lang="en-US" sz="3600" b="1" dirty="0"/>
              <a:t>Circular Linked list</a:t>
            </a:r>
          </a:p>
          <a:p>
            <a:r>
              <a:rPr lang="en-US" sz="2400" dirty="0"/>
              <a:t>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375781" y="1117601"/>
            <a:ext cx="11596086" cy="5509200"/>
          </a:xfrm>
          <a:prstGeom prst="rect">
            <a:avLst/>
          </a:prstGeom>
          <a:noFill/>
        </p:spPr>
        <p:txBody>
          <a:bodyPr wrap="square" rtlCol="0">
            <a:spAutoFit/>
          </a:bodyPr>
          <a:lstStyle/>
          <a:p>
            <a:pPr algn="just">
              <a:buClr>
                <a:srgbClr val="C00000"/>
              </a:buClr>
            </a:pPr>
            <a:r>
              <a:rPr lang="en-IN" sz="3200" dirty="0"/>
              <a:t> </a:t>
            </a:r>
            <a:r>
              <a:rPr lang="en-IN" sz="3200" b="1" u="sng" dirty="0">
                <a:cs typeface="Times New Roman" pitchFamily="18" charset="0"/>
              </a:rPr>
              <a:t>Advantages of a Circular linked list</a:t>
            </a:r>
          </a:p>
          <a:p>
            <a:pPr marL="342900" indent="-342900" algn="just">
              <a:buClr>
                <a:srgbClr val="C00000"/>
              </a:buClr>
              <a:buFont typeface="Arial" pitchFamily="34" charset="0"/>
              <a:buChar char="•"/>
            </a:pPr>
            <a:r>
              <a:rPr lang="en-IN" sz="3200" dirty="0">
                <a:cs typeface="Times New Roman" pitchFamily="18" charset="0"/>
              </a:rPr>
              <a:t>Entire list can be traversed from any node.</a:t>
            </a:r>
          </a:p>
          <a:p>
            <a:pPr marL="342900" indent="-342900" algn="just">
              <a:buClr>
                <a:srgbClr val="C00000"/>
              </a:buClr>
              <a:buFont typeface="Arial" pitchFamily="34" charset="0"/>
              <a:buChar char="•"/>
            </a:pPr>
            <a:r>
              <a:rPr lang="en-IN" sz="3200" dirty="0">
                <a:cs typeface="Times New Roman" pitchFamily="18" charset="0"/>
              </a:rPr>
              <a:t>Circular lists are the required data structure when we want a list to be accessed in a circle or loop.</a:t>
            </a:r>
          </a:p>
          <a:p>
            <a:pPr marL="342900" indent="-342900" algn="just">
              <a:buClr>
                <a:srgbClr val="C00000"/>
              </a:buClr>
              <a:buFont typeface="Arial" pitchFamily="34" charset="0"/>
              <a:buChar char="•"/>
            </a:pPr>
            <a:r>
              <a:rPr lang="en-IN" sz="3200" dirty="0">
                <a:cs typeface="Times New Roman" pitchFamily="18" charset="0"/>
              </a:rPr>
              <a:t>Despite of being singly circular linked list we can easily traverse to its previous node, which is not possible in singly linked list.</a:t>
            </a:r>
          </a:p>
          <a:p>
            <a:pPr algn="just">
              <a:buClr>
                <a:srgbClr val="C00000"/>
              </a:buClr>
            </a:pPr>
            <a:r>
              <a:rPr lang="en-IN" sz="3200" b="1" u="sng" dirty="0">
                <a:cs typeface="Times New Roman" pitchFamily="18" charset="0"/>
              </a:rPr>
              <a:t>Disadvantages of Circular linked list</a:t>
            </a:r>
          </a:p>
          <a:p>
            <a:pPr marL="342900" indent="-342900" algn="just">
              <a:buClr>
                <a:srgbClr val="C00000"/>
              </a:buClr>
              <a:buFont typeface="Arial" pitchFamily="34" charset="0"/>
              <a:buChar char="•"/>
            </a:pPr>
            <a:r>
              <a:rPr lang="en-IN" sz="3200" dirty="0">
                <a:cs typeface="Times New Roman" pitchFamily="18" charset="0"/>
              </a:rPr>
              <a:t>Circular list are complex as compared to singly linked lists.</a:t>
            </a:r>
          </a:p>
          <a:p>
            <a:pPr marL="342900" indent="-342900" algn="just">
              <a:buClr>
                <a:srgbClr val="C00000"/>
              </a:buClr>
              <a:buFont typeface="Arial" pitchFamily="34" charset="0"/>
              <a:buChar char="•"/>
            </a:pPr>
            <a:r>
              <a:rPr lang="en-IN" sz="3200" dirty="0">
                <a:cs typeface="Times New Roman" pitchFamily="18" charset="0"/>
              </a:rPr>
              <a:t>Reversing of circular list is a complex as compared to singly or doubly lists.</a:t>
            </a:r>
          </a:p>
          <a:p>
            <a:pPr marL="342900" indent="-342900" algn="just">
              <a:buClr>
                <a:srgbClr val="C00000"/>
              </a:buClr>
              <a:buFont typeface="Arial" pitchFamily="34" charset="0"/>
              <a:buChar char="•"/>
            </a:pPr>
            <a:r>
              <a:rPr lang="en-IN" sz="3200" dirty="0">
                <a:cs typeface="Times New Roman" pitchFamily="18" charset="0"/>
              </a:rPr>
              <a:t>If not traversed carefully, then we could end up in an infinite loop.</a:t>
            </a:r>
          </a:p>
        </p:txBody>
      </p:sp>
    </p:spTree>
    <p:extLst>
      <p:ext uri="{BB962C8B-B14F-4D97-AF65-F5344CB8AC3E}">
        <p14:creationId xmlns:p14="http://schemas.microsoft.com/office/powerpoint/2010/main" xmlns="" val="4069052342"/>
      </p:ext>
    </p:extLst>
  </p:cSld>
  <p:clrMapOvr>
    <a:masterClrMapping/>
  </p:clrMapOvr>
  <p:transition spd="slow">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39DC903D-9003-4F3D-87E9-EE7D5BEB5D03}"/>
              </a:ext>
            </a:extLst>
          </p:cNvPr>
          <p:cNvSpPr/>
          <p:nvPr/>
        </p:nvSpPr>
        <p:spPr>
          <a:xfrm>
            <a:off x="1828800" y="300038"/>
            <a:ext cx="10183659" cy="66410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3600" b="1" dirty="0">
                <a:solidFill>
                  <a:schemeClr val="bg1"/>
                </a:solidFill>
                <a:cs typeface="Times New Roman" pitchFamily="18" charset="0"/>
              </a:rPr>
              <a:t>Example of Circular Linked list with 3 nodes</a:t>
            </a:r>
            <a:endParaRPr lang="en-US" sz="3600" dirty="0">
              <a:solidFill>
                <a:schemeClr val="bg1"/>
              </a:solidFill>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995362" y="4353824"/>
            <a:ext cx="6096000" cy="2062103"/>
          </a:xfrm>
          <a:prstGeom prst="rect">
            <a:avLst/>
          </a:prstGeom>
        </p:spPr>
        <p:txBody>
          <a:bodyPr>
            <a:spAutoFit/>
          </a:bodyPr>
          <a:lstStyle/>
          <a:p>
            <a:endParaRPr lang="en-IN" sz="3200" b="1" dirty="0">
              <a:solidFill>
                <a:srgbClr val="0070C0"/>
              </a:solidFill>
              <a:latin typeface="Times New Roman" pitchFamily="18" charset="0"/>
              <a:cs typeface="Times New Roman" pitchFamily="18" charset="0"/>
            </a:endParaRPr>
          </a:p>
          <a:p>
            <a:pPr marL="971550" lvl="1" indent="-514350">
              <a:buAutoNum type="arabicPeriod"/>
            </a:pPr>
            <a:r>
              <a:rPr lang="en-IN" sz="3200" b="1" dirty="0">
                <a:cs typeface="Times New Roman" pitchFamily="18" charset="0"/>
              </a:rPr>
              <a:t>Circular Singly Linked list</a:t>
            </a:r>
          </a:p>
          <a:p>
            <a:pPr marL="971550" lvl="1" indent="-514350">
              <a:buAutoNum type="arabicPeriod"/>
            </a:pPr>
            <a:r>
              <a:rPr lang="en-IN" sz="3200" b="1" dirty="0">
                <a:cs typeface="Times New Roman" pitchFamily="18" charset="0"/>
              </a:rPr>
              <a:t>Circular Doubly Linked list</a:t>
            </a:r>
            <a:br>
              <a:rPr lang="en-IN" sz="3200" b="1" dirty="0">
                <a:cs typeface="Times New Roman" pitchFamily="18" charset="0"/>
              </a:rPr>
            </a:br>
            <a:endParaRPr lang="en-IN" sz="3200" b="1" dirty="0">
              <a:cs typeface="Times New Roman" pitchFamily="18" charset="0"/>
            </a:endParaRPr>
          </a:p>
        </p:txBody>
      </p:sp>
      <p:sp>
        <p:nvSpPr>
          <p:cNvPr id="7" name="Rounded Rectangle 17">
            <a:extLst>
              <a:ext uri="{FF2B5EF4-FFF2-40B4-BE49-F238E27FC236}">
                <a16:creationId xmlns:a16="http://schemas.microsoft.com/office/drawing/2014/main" xmlns="" id="{39DC903D-9003-4F3D-87E9-EE7D5BEB5D03}"/>
              </a:ext>
            </a:extLst>
          </p:cNvPr>
          <p:cNvSpPr/>
          <p:nvPr/>
        </p:nvSpPr>
        <p:spPr>
          <a:xfrm>
            <a:off x="1411158" y="4353826"/>
            <a:ext cx="4045923"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US" sz="2800" b="1" dirty="0"/>
              <a:t>Types -</a:t>
            </a:r>
            <a:endParaRPr lang="en-US" sz="2400" b="1"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9" name="Content Placeholder 8" descr="C1.png"/>
          <p:cNvPicPr>
            <a:picLocks noGrp="1" noChangeAspect="1"/>
          </p:cNvPicPr>
          <p:nvPr>
            <p:ph idx="1"/>
          </p:nvPr>
        </p:nvPicPr>
        <p:blipFill>
          <a:blip r:embed="rId3"/>
          <a:stretch>
            <a:fillRect/>
          </a:stretch>
        </p:blipFill>
        <p:spPr>
          <a:xfrm>
            <a:off x="601249" y="999066"/>
            <a:ext cx="10647124" cy="3217334"/>
          </a:xfrm>
        </p:spPr>
      </p:pic>
    </p:spTree>
    <p:extLst>
      <p:ext uri="{BB962C8B-B14F-4D97-AF65-F5344CB8AC3E}">
        <p14:creationId xmlns:p14="http://schemas.microsoft.com/office/powerpoint/2010/main" xmlns="" val="680355262"/>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7"/>
                                        </p:tgtEl>
                                      </p:cBhvr>
                                    </p:animEffect>
                                    <p:animScale>
                                      <p:cBhvr>
                                        <p:cTn id="12"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76863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Types of CLL                    </a:t>
            </a:r>
            <a:r>
              <a:rPr lang="en-US" sz="3600" b="1" dirty="0" err="1"/>
              <a:t>Cont</a:t>
            </a:r>
            <a:r>
              <a:rPr lang="en-US" sz="3600" b="1" dirty="0"/>
              <a: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25259" y="1252025"/>
            <a:ext cx="11866715" cy="5324535"/>
          </a:xfrm>
          <a:prstGeom prst="rect">
            <a:avLst/>
          </a:prstGeom>
          <a:noFill/>
        </p:spPr>
        <p:txBody>
          <a:bodyPr wrap="square" rtlCol="0">
            <a:spAutoFit/>
          </a:bodyPr>
          <a:lstStyle/>
          <a:p>
            <a:r>
              <a:rPr lang="en-IN" sz="2400" b="1" dirty="0">
                <a:cs typeface="Times New Roman" pitchFamily="18" charset="0"/>
              </a:rPr>
              <a:t>1. </a:t>
            </a:r>
            <a:r>
              <a:rPr lang="en-IN" sz="3200" b="1" dirty="0">
                <a:cs typeface="Times New Roman" pitchFamily="18" charset="0"/>
              </a:rPr>
              <a:t>Circular Singly Linked List</a:t>
            </a:r>
            <a:endParaRPr lang="en-IN" sz="3200" dirty="0">
              <a:cs typeface="Times New Roman" pitchFamily="18" charset="0"/>
            </a:endParaRPr>
          </a:p>
          <a:p>
            <a:pPr marL="457200" indent="-457200">
              <a:buFont typeface="Arial" pitchFamily="34" charset="0"/>
              <a:buChar char="•"/>
            </a:pPr>
            <a:r>
              <a:rPr lang="en-IN" sz="3200" dirty="0">
                <a:cs typeface="Times New Roman" pitchFamily="18" charset="0"/>
              </a:rPr>
              <a:t>Here, the address of the last node consists of the address of the first node.</a:t>
            </a:r>
          </a:p>
          <a:p>
            <a:endParaRPr lang="en-IN" sz="2800" dirty="0"/>
          </a:p>
          <a:p>
            <a:endParaRPr lang="en-IN" sz="2800" b="1" dirty="0"/>
          </a:p>
          <a:p>
            <a:endParaRPr lang="en-IN" sz="2800" b="1" dirty="0"/>
          </a:p>
          <a:p>
            <a:pPr algn="ctr"/>
            <a:endParaRPr lang="en-IN" sz="2800" b="1" dirty="0"/>
          </a:p>
          <a:p>
            <a:r>
              <a:rPr lang="en-IN" sz="2400" b="1" dirty="0"/>
              <a:t>			</a:t>
            </a:r>
          </a:p>
          <a:p>
            <a:pPr marL="457200" indent="-457200">
              <a:buFont typeface="Arial" pitchFamily="34" charset="0"/>
              <a:buChar char="•"/>
            </a:pPr>
            <a:endParaRPr lang="en-IN" sz="2400" dirty="0"/>
          </a:p>
          <a:p>
            <a:endParaRPr lang="en-IN" sz="2800" dirty="0"/>
          </a:p>
          <a:p>
            <a:endParaRPr lang="en-IN" sz="2800" dirty="0"/>
          </a:p>
          <a:p>
            <a:r>
              <a:rPr lang="en-IN" sz="2800" b="1" dirty="0"/>
              <a:t>			</a:t>
            </a:r>
            <a:endParaRPr lang="en-IN" sz="2000" dirty="0"/>
          </a:p>
        </p:txBody>
      </p:sp>
      <p:pic>
        <p:nvPicPr>
          <p:cNvPr id="15" name="Picture 14" descr="Circular-Linked-List-in-C.jpg"/>
          <p:cNvPicPr>
            <a:picLocks noChangeAspect="1"/>
          </p:cNvPicPr>
          <p:nvPr/>
        </p:nvPicPr>
        <p:blipFill>
          <a:blip r:embed="rId3"/>
          <a:stretch>
            <a:fillRect/>
          </a:stretch>
        </p:blipFill>
        <p:spPr>
          <a:xfrm>
            <a:off x="588722" y="2793935"/>
            <a:ext cx="11160691" cy="3625023"/>
          </a:xfrm>
          <a:prstGeom prst="rect">
            <a:avLst/>
          </a:prstGeom>
        </p:spPr>
      </p:pic>
    </p:spTree>
    <p:extLst>
      <p:ext uri="{BB962C8B-B14F-4D97-AF65-F5344CB8AC3E}">
        <p14:creationId xmlns:p14="http://schemas.microsoft.com/office/powerpoint/2010/main" xmlns="" val="338542430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3121964" y="70605"/>
            <a:ext cx="6201295" cy="7060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Types of CLL                    </a:t>
            </a:r>
            <a:r>
              <a:rPr lang="en-US" sz="3600" b="1" dirty="0" err="1"/>
              <a:t>Cont</a:t>
            </a:r>
            <a:r>
              <a:rPr lang="en-US" sz="3600" b="1" dirty="0"/>
              <a: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25259" y="1252025"/>
            <a:ext cx="11866715" cy="3231654"/>
          </a:xfrm>
          <a:prstGeom prst="rect">
            <a:avLst/>
          </a:prstGeom>
          <a:noFill/>
        </p:spPr>
        <p:txBody>
          <a:bodyPr wrap="square" rtlCol="0">
            <a:spAutoFit/>
          </a:bodyPr>
          <a:lstStyle/>
          <a:p>
            <a:r>
              <a:rPr lang="en-IN" sz="2400" b="1" dirty="0"/>
              <a:t>2. </a:t>
            </a:r>
            <a:r>
              <a:rPr lang="en-IN" sz="3200" b="1" dirty="0"/>
              <a:t>Circular Doubly Linked List</a:t>
            </a:r>
            <a:endParaRPr lang="en-IN" sz="3200" dirty="0"/>
          </a:p>
          <a:p>
            <a:pPr marL="457200" indent="-457200">
              <a:buFont typeface="Arial" pitchFamily="34" charset="0"/>
              <a:buChar char="•"/>
            </a:pPr>
            <a:r>
              <a:rPr lang="en-IN" sz="3200" dirty="0"/>
              <a:t>Here, in addition to the last node storing the address of the first node, the first node will also store the address of the last node.</a:t>
            </a:r>
          </a:p>
          <a:p>
            <a:pPr marL="457200" indent="-457200">
              <a:buFont typeface="Arial" pitchFamily="34" charset="0"/>
              <a:buChar char="•"/>
            </a:pPr>
            <a:endParaRPr lang="en-IN" sz="2400" dirty="0"/>
          </a:p>
          <a:p>
            <a:endParaRPr lang="en-IN" sz="2800" dirty="0"/>
          </a:p>
          <a:p>
            <a:endParaRPr lang="en-IN" sz="2800" dirty="0"/>
          </a:p>
          <a:p>
            <a:r>
              <a:rPr lang="en-IN" sz="2800" b="1" dirty="0"/>
              <a:t>			</a:t>
            </a:r>
            <a:endParaRPr lang="en-IN" sz="2000" dirty="0"/>
          </a:p>
        </p:txBody>
      </p:sp>
      <p:pic>
        <p:nvPicPr>
          <p:cNvPr id="8" name="Picture 7" descr="C_4.png"/>
          <p:cNvPicPr>
            <a:picLocks noChangeAspect="1"/>
          </p:cNvPicPr>
          <p:nvPr/>
        </p:nvPicPr>
        <p:blipFill>
          <a:blip r:embed="rId3"/>
          <a:stretch>
            <a:fillRect/>
          </a:stretch>
        </p:blipFill>
        <p:spPr>
          <a:xfrm>
            <a:off x="601249" y="3345147"/>
            <a:ext cx="10622071" cy="2229161"/>
          </a:xfrm>
          <a:prstGeom prst="rect">
            <a:avLst/>
          </a:prstGeom>
        </p:spPr>
      </p:pic>
    </p:spTree>
    <p:extLst>
      <p:ext uri="{BB962C8B-B14F-4D97-AF65-F5344CB8AC3E}">
        <p14:creationId xmlns:p14="http://schemas.microsoft.com/office/powerpoint/2010/main" xmlns="" val="338542430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979460" y="245393"/>
            <a:ext cx="8100218" cy="89447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t>Setup the Circular Linked List</a:t>
            </a:r>
            <a:endParaRPr lang="en-US" sz="36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1" y="1320731"/>
            <a:ext cx="12192000" cy="5201424"/>
          </a:xfrm>
          <a:prstGeom prst="rect">
            <a:avLst/>
          </a:prstGeom>
        </p:spPr>
        <p:txBody>
          <a:bodyPr wrap="square">
            <a:spAutoFit/>
          </a:bodyPr>
          <a:lstStyle/>
          <a:p>
            <a:pPr>
              <a:buFont typeface="Wingdings" pitchFamily="2" charset="2"/>
              <a:buChar char="v"/>
            </a:pPr>
            <a:r>
              <a:rPr lang="en-IN" sz="2400" dirty="0">
                <a:latin typeface="Times New Roman" pitchFamily="18" charset="0"/>
                <a:cs typeface="Times New Roman" pitchFamily="18" charset="0"/>
              </a:rPr>
              <a:t> </a:t>
            </a:r>
            <a:r>
              <a:rPr lang="en-IN" sz="3200" dirty="0">
                <a:cs typeface="Times New Roman" pitchFamily="18" charset="0"/>
              </a:rPr>
              <a:t>Before we implement those operations, first we need to </a:t>
            </a:r>
            <a:r>
              <a:rPr lang="en-IN" sz="3200" b="1" dirty="0">
                <a:cs typeface="Times New Roman" pitchFamily="18" charset="0"/>
              </a:rPr>
              <a:t>setup empty list</a:t>
            </a:r>
            <a:r>
              <a:rPr lang="en-IN" sz="3200" dirty="0">
                <a:cs typeface="Times New Roman" pitchFamily="18" charset="0"/>
              </a:rPr>
              <a:t>.</a:t>
            </a:r>
          </a:p>
          <a:p>
            <a:r>
              <a:rPr lang="en-IN" sz="3200" dirty="0">
                <a:cs typeface="Times New Roman" pitchFamily="18" charset="0"/>
              </a:rPr>
              <a:t> </a:t>
            </a:r>
          </a:p>
          <a:p>
            <a:pPr marL="342900" indent="-342900">
              <a:buFont typeface="Wingdings" pitchFamily="2" charset="2"/>
              <a:buChar char="Ø"/>
            </a:pPr>
            <a:r>
              <a:rPr lang="en-IN" sz="3200" b="1" dirty="0">
                <a:cs typeface="Times New Roman" pitchFamily="18" charset="0"/>
              </a:rPr>
              <a:t>Perform the following steps to setup Empty CLL:</a:t>
            </a:r>
            <a:r>
              <a:rPr lang="en-IN" sz="3200" dirty="0">
                <a:cs typeface="Times New Roman" pitchFamily="18" charset="0"/>
              </a:rPr>
              <a:t>.</a:t>
            </a:r>
          </a:p>
          <a:p>
            <a:r>
              <a:rPr lang="en-IN" sz="3200" dirty="0">
                <a:cs typeface="Times New Roman" pitchFamily="18" charset="0"/>
              </a:rPr>
              <a:t>   </a:t>
            </a:r>
          </a:p>
          <a:p>
            <a:r>
              <a:rPr lang="en-IN" sz="3200" dirty="0">
                <a:cs typeface="Times New Roman" pitchFamily="18" charset="0"/>
              </a:rPr>
              <a:t>   Step 1 - Define a </a:t>
            </a:r>
            <a:r>
              <a:rPr lang="en-IN" sz="3200" b="1" dirty="0">
                <a:cs typeface="Times New Roman" pitchFamily="18" charset="0"/>
              </a:rPr>
              <a:t>Node</a:t>
            </a:r>
            <a:r>
              <a:rPr lang="en-IN" sz="3200" dirty="0">
                <a:cs typeface="Times New Roman" pitchFamily="18" charset="0"/>
              </a:rPr>
              <a:t> structure with two members/fields </a:t>
            </a:r>
            <a:r>
              <a:rPr lang="en-IN" sz="3200" b="1" dirty="0">
                <a:cs typeface="Times New Roman" pitchFamily="18" charset="0"/>
              </a:rPr>
              <a:t>data</a:t>
            </a:r>
            <a:r>
              <a:rPr lang="en-IN" sz="3200" dirty="0">
                <a:cs typeface="Times New Roman" pitchFamily="18" charset="0"/>
              </a:rPr>
              <a:t> and     </a:t>
            </a:r>
            <a:r>
              <a:rPr lang="en-IN" sz="3200" b="1" dirty="0">
                <a:cs typeface="Times New Roman" pitchFamily="18" charset="0"/>
              </a:rPr>
              <a:t>next</a:t>
            </a:r>
            <a:endParaRPr lang="en-IN" sz="3200" dirty="0">
              <a:cs typeface="Times New Roman" pitchFamily="18" charset="0"/>
            </a:endParaRPr>
          </a:p>
          <a:p>
            <a:r>
              <a:rPr lang="en-IN" sz="3200" dirty="0">
                <a:cs typeface="Times New Roman" pitchFamily="18" charset="0"/>
              </a:rPr>
              <a:t>   Step 2 - Define a Node pointer '</a:t>
            </a:r>
            <a:r>
              <a:rPr lang="en-IN" sz="3200" b="1" dirty="0">
                <a:cs typeface="Times New Roman" pitchFamily="18" charset="0"/>
              </a:rPr>
              <a:t>head</a:t>
            </a:r>
            <a:r>
              <a:rPr lang="en-IN" sz="3200" dirty="0">
                <a:cs typeface="Times New Roman" pitchFamily="18" charset="0"/>
              </a:rPr>
              <a:t>' and set it to </a:t>
            </a:r>
            <a:r>
              <a:rPr lang="en-IN" sz="3200" b="1" dirty="0">
                <a:cs typeface="Times New Roman" pitchFamily="18" charset="0"/>
              </a:rPr>
              <a:t>NULL</a:t>
            </a:r>
            <a:r>
              <a:rPr lang="en-IN" sz="3200" dirty="0">
                <a:cs typeface="Times New Roman" pitchFamily="18" charset="0"/>
              </a:rPr>
              <a:t>.</a:t>
            </a:r>
          </a:p>
          <a:p>
            <a:r>
              <a:rPr lang="en-IN" sz="3200" dirty="0">
                <a:cs typeface="Times New Roman" pitchFamily="18" charset="0"/>
              </a:rPr>
              <a:t>   Step 3 – Then perform the Operations one by one.</a:t>
            </a:r>
          </a:p>
          <a:p>
            <a:endParaRPr lang="en-IN" sz="2400" b="1" dirty="0">
              <a:latin typeface="Times New Roman" pitchFamily="18" charset="0"/>
              <a:cs typeface="Times New Roman" pitchFamily="18" charset="0"/>
            </a:endParaRPr>
          </a:p>
          <a:p>
            <a:endParaRPr lang="en-IN" sz="2000" dirty="0"/>
          </a:p>
        </p:txBody>
      </p:sp>
    </p:spTree>
    <p:extLst>
      <p:ext uri="{BB962C8B-B14F-4D97-AF65-F5344CB8AC3E}">
        <p14:creationId xmlns:p14="http://schemas.microsoft.com/office/powerpoint/2010/main" xmlns="" val="3142842744"/>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1507067" y="345602"/>
            <a:ext cx="1068493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t>OPERATIONS ON CIRCULAR LINKED LIST </a:t>
            </a:r>
            <a:r>
              <a:rPr lang="en-US" sz="3600" dirty="0"/>
              <a:t>(Cont..)</a:t>
            </a:r>
            <a:endParaRPr lang="en-US" sz="2400" dirty="0"/>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Rectangle 1"/>
          <p:cNvSpPr/>
          <p:nvPr/>
        </p:nvSpPr>
        <p:spPr>
          <a:xfrm>
            <a:off x="373193" y="1117531"/>
            <a:ext cx="11542815" cy="1631216"/>
          </a:xfrm>
          <a:prstGeom prst="rect">
            <a:avLst/>
          </a:prstGeom>
        </p:spPr>
        <p:txBody>
          <a:bodyPr wrap="square">
            <a:spAutoFit/>
          </a:bodyPr>
          <a:lstStyle/>
          <a:p>
            <a:pPr lvl="1"/>
            <a:endParaRPr lang="en-IN" sz="2400" dirty="0"/>
          </a:p>
          <a:p>
            <a:pPr lvl="1"/>
            <a:endParaRPr lang="en-IN" sz="2400" dirty="0"/>
          </a:p>
          <a:p>
            <a:endParaRPr lang="en-IN" sz="2800" b="1" dirty="0"/>
          </a:p>
          <a:p>
            <a:pPr lvl="1"/>
            <a:endParaRPr lang="en-IN" sz="2400" dirty="0"/>
          </a:p>
        </p:txBody>
      </p:sp>
      <p:sp>
        <p:nvSpPr>
          <p:cNvPr id="7" name="Content Placeholder 6"/>
          <p:cNvSpPr>
            <a:spLocks noGrp="1"/>
          </p:cNvSpPr>
          <p:nvPr>
            <p:ph idx="1"/>
          </p:nvPr>
        </p:nvSpPr>
        <p:spPr>
          <a:xfrm>
            <a:off x="965200" y="1148292"/>
            <a:ext cx="10515600" cy="4351338"/>
          </a:xfrm>
        </p:spPr>
        <p:txBody>
          <a:bodyPr/>
          <a:lstStyle/>
          <a:p>
            <a:pPr marL="342900" indent="-342900">
              <a:lnSpc>
                <a:spcPct val="100000"/>
              </a:lnSpc>
              <a:buClr>
                <a:srgbClr val="FF0000"/>
              </a:buClr>
            </a:pPr>
            <a:r>
              <a:rPr lang="en-IN" sz="3200" dirty="0">
                <a:cs typeface="Times New Roman" pitchFamily="18" charset="0"/>
              </a:rPr>
              <a:t>Creation of list</a:t>
            </a:r>
          </a:p>
          <a:p>
            <a:pPr marL="342900" indent="-342900">
              <a:lnSpc>
                <a:spcPct val="100000"/>
              </a:lnSpc>
              <a:buClr>
                <a:srgbClr val="FF0000"/>
              </a:buClr>
            </a:pPr>
            <a:r>
              <a:rPr lang="en-IN" sz="3200" dirty="0">
                <a:cs typeface="Times New Roman" pitchFamily="18" charset="0"/>
              </a:rPr>
              <a:t>Insertion of node</a:t>
            </a:r>
          </a:p>
          <a:p>
            <a:pPr marL="1257300" lvl="2" indent="-342900">
              <a:lnSpc>
                <a:spcPct val="100000"/>
              </a:lnSpc>
              <a:buClr>
                <a:srgbClr val="FF0000"/>
              </a:buClr>
            </a:pPr>
            <a:r>
              <a:rPr lang="en-IN" sz="3200" dirty="0">
                <a:cs typeface="Times New Roman" pitchFamily="18" charset="0"/>
              </a:rPr>
              <a:t>At the beginning of list</a:t>
            </a:r>
          </a:p>
          <a:p>
            <a:pPr marL="1257300" lvl="2" indent="-342900">
              <a:lnSpc>
                <a:spcPct val="100000"/>
              </a:lnSpc>
              <a:buClr>
                <a:srgbClr val="FF0000"/>
              </a:buClr>
            </a:pPr>
            <a:r>
              <a:rPr lang="en-IN" sz="3200" dirty="0">
                <a:cs typeface="Times New Roman" pitchFamily="18" charset="0"/>
              </a:rPr>
              <a:t>At any position in the list</a:t>
            </a:r>
          </a:p>
          <a:p>
            <a:pPr marL="1257300" lvl="2" indent="-342900">
              <a:lnSpc>
                <a:spcPct val="100000"/>
              </a:lnSpc>
              <a:buClr>
                <a:srgbClr val="FF0000"/>
              </a:buClr>
            </a:pPr>
            <a:r>
              <a:rPr lang="en-IN" sz="3200" dirty="0">
                <a:cs typeface="Times New Roman" pitchFamily="18" charset="0"/>
              </a:rPr>
              <a:t>At the end of list</a:t>
            </a:r>
          </a:p>
          <a:p>
            <a:pPr marL="342900" indent="-342900">
              <a:lnSpc>
                <a:spcPct val="100000"/>
              </a:lnSpc>
              <a:buClr>
                <a:srgbClr val="FF0000"/>
              </a:buClr>
            </a:pPr>
            <a:r>
              <a:rPr lang="en-IN" sz="3200" dirty="0">
                <a:cs typeface="Times New Roman" pitchFamily="18" charset="0"/>
              </a:rPr>
              <a:t>Deletion of node</a:t>
            </a:r>
          </a:p>
          <a:p>
            <a:pPr marL="1257300" lvl="2" indent="-342900">
              <a:lnSpc>
                <a:spcPct val="100000"/>
              </a:lnSpc>
              <a:buClr>
                <a:srgbClr val="FF0000"/>
              </a:buClr>
            </a:pPr>
            <a:r>
              <a:rPr lang="en-IN" sz="3200" dirty="0">
                <a:cs typeface="Times New Roman" pitchFamily="18" charset="0"/>
              </a:rPr>
              <a:t>Deletion of first node</a:t>
            </a:r>
          </a:p>
          <a:p>
            <a:pPr marL="1257300" lvl="2" indent="-342900">
              <a:lnSpc>
                <a:spcPct val="100000"/>
              </a:lnSpc>
              <a:buClr>
                <a:srgbClr val="FF0000"/>
              </a:buClr>
            </a:pPr>
            <a:r>
              <a:rPr lang="en-IN" sz="3200" dirty="0">
                <a:cs typeface="Times New Roman" pitchFamily="18" charset="0"/>
              </a:rPr>
              <a:t>Deletion of node from middle of the list</a:t>
            </a:r>
          </a:p>
          <a:p>
            <a:pPr marL="1257300" lvl="2" indent="-342900">
              <a:lnSpc>
                <a:spcPct val="100000"/>
              </a:lnSpc>
              <a:buClr>
                <a:srgbClr val="FF0000"/>
              </a:buClr>
            </a:pPr>
            <a:r>
              <a:rPr lang="en-IN" sz="3200" dirty="0">
                <a:cs typeface="Times New Roman" pitchFamily="18" charset="0"/>
              </a:rPr>
              <a:t>Deletion of last node</a:t>
            </a:r>
          </a:p>
          <a:p>
            <a:endParaRPr lang="en-US" dirty="0"/>
          </a:p>
        </p:txBody>
      </p:sp>
    </p:spTree>
    <p:extLst>
      <p:ext uri="{BB962C8B-B14F-4D97-AF65-F5344CB8AC3E}">
        <p14:creationId xmlns:p14="http://schemas.microsoft.com/office/powerpoint/2010/main" xmlns="" val="338542430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1427967" y="215251"/>
            <a:ext cx="10764033" cy="77199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bg1"/>
              </a:solidFill>
              <a:cs typeface="Times New Roman" pitchFamily="18" charset="0"/>
            </a:endParaRPr>
          </a:p>
          <a:p>
            <a:pPr algn="ctr"/>
            <a:endParaRPr lang="en-US" sz="3200" b="1" dirty="0">
              <a:solidFill>
                <a:schemeClr val="bg1"/>
              </a:solidFill>
              <a:cs typeface="Times New Roman" pitchFamily="18" charset="0"/>
            </a:endParaRPr>
          </a:p>
          <a:p>
            <a:pPr algn="ctr"/>
            <a:r>
              <a:rPr lang="en-US" sz="3600" b="1" dirty="0">
                <a:solidFill>
                  <a:schemeClr val="bg1"/>
                </a:solidFill>
                <a:cs typeface="Times New Roman" pitchFamily="18" charset="0"/>
              </a:rPr>
              <a:t>Algorithm for Creating &amp; </a:t>
            </a:r>
            <a:r>
              <a:rPr lang="en-US" sz="3600" b="1" dirty="0"/>
              <a:t>displaying a circular linked list</a:t>
            </a:r>
          </a:p>
          <a:p>
            <a:pPr algn="ctr"/>
            <a:r>
              <a:rPr lang="en-US" sz="3600" b="1" dirty="0">
                <a:solidFill>
                  <a:schemeClr val="bg1"/>
                </a:solidFill>
                <a:cs typeface="Times New Roman" pitchFamily="18" charset="0"/>
              </a:rPr>
              <a:t> </a:t>
            </a:r>
            <a:r>
              <a:rPr lang="en-US" sz="3600" b="1" dirty="0">
                <a:solidFill>
                  <a:srgbClr val="7030A0"/>
                </a:solidFill>
                <a:cs typeface="Times New Roman" pitchFamily="18" charset="0"/>
              </a:rPr>
              <a:t/>
            </a:r>
            <a:br>
              <a:rPr lang="en-US" sz="3600" b="1" dirty="0">
                <a:solidFill>
                  <a:srgbClr val="7030A0"/>
                </a:solidFill>
                <a:cs typeface="Times New Roman" pitchFamily="18" charset="0"/>
              </a:rPr>
            </a:br>
            <a:endParaRPr lang="en-US" sz="3600" b="1" dirty="0">
              <a:solidFill>
                <a:schemeClr val="bg1"/>
              </a:solidFill>
              <a:cs typeface="Times New Roman" pitchFamily="18" charset="0"/>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Content Placeholder 8"/>
          <p:cNvSpPr>
            <a:spLocks noGrp="1"/>
          </p:cNvSpPr>
          <p:nvPr>
            <p:ph idx="1"/>
          </p:nvPr>
        </p:nvSpPr>
        <p:spPr>
          <a:xfrm>
            <a:off x="838200" y="1126067"/>
            <a:ext cx="10515600" cy="5050896"/>
          </a:xfrm>
        </p:spPr>
        <p:txBody>
          <a:bodyPr/>
          <a:lstStyle/>
          <a:p>
            <a:r>
              <a:rPr lang="en-US" dirty="0"/>
              <a:t>Define a Node class which represents a node in the list. It has two properties data and next which will point to the next node.</a:t>
            </a:r>
          </a:p>
          <a:p>
            <a:r>
              <a:rPr lang="en-US" dirty="0"/>
              <a:t>Define another class for creating the circular linked list and it has two nodes: head and tail. It has two methods: add() and display() .</a:t>
            </a:r>
          </a:p>
          <a:p>
            <a:r>
              <a:rPr lang="en-US" b="1" dirty="0"/>
              <a:t>add()</a:t>
            </a:r>
            <a:r>
              <a:rPr lang="en-US" dirty="0"/>
              <a:t> will add the node to the list:</a:t>
            </a:r>
          </a:p>
          <a:p>
            <a:pPr lvl="1"/>
            <a:r>
              <a:rPr lang="en-US" dirty="0"/>
              <a:t>It first checks whether the head is null, then it will insert the node as the head.</a:t>
            </a:r>
          </a:p>
          <a:p>
            <a:pPr lvl="1"/>
            <a:r>
              <a:rPr lang="en-US" dirty="0"/>
              <a:t>Both head and tail will point to the newly added node.</a:t>
            </a:r>
          </a:p>
          <a:p>
            <a:pPr lvl="1"/>
            <a:r>
              <a:rPr lang="en-US" dirty="0"/>
              <a:t>If the head is not null, the new node will be the new tail, and the new tail will point to the head as it is a circular linked list.</a:t>
            </a:r>
          </a:p>
          <a:p>
            <a:r>
              <a:rPr lang="en-US" b="1" dirty="0"/>
              <a:t>display()</a:t>
            </a:r>
            <a:r>
              <a:rPr lang="en-US" dirty="0"/>
              <a:t> will show all the nodes present in the list.</a:t>
            </a:r>
          </a:p>
          <a:p>
            <a:pPr lvl="1"/>
            <a:r>
              <a:rPr lang="en-US" dirty="0"/>
              <a:t>Define a new node 'current' that will point to the head.</a:t>
            </a:r>
          </a:p>
          <a:p>
            <a:pPr lvl="1"/>
            <a:r>
              <a:rPr lang="en-US" dirty="0"/>
              <a:t>Print </a:t>
            </a:r>
            <a:r>
              <a:rPr lang="en-US" dirty="0" err="1"/>
              <a:t>current.data</a:t>
            </a:r>
            <a:r>
              <a:rPr lang="en-US" dirty="0"/>
              <a:t> till current will points to head</a:t>
            </a:r>
          </a:p>
          <a:p>
            <a:pPr lvl="1"/>
            <a:r>
              <a:rPr lang="en-US" dirty="0"/>
              <a:t>Current will point to the next node in the list in each iteration.</a:t>
            </a:r>
          </a:p>
          <a:p>
            <a:pPr lvl="1"/>
            <a:endParaRPr lang="en-US" dirty="0"/>
          </a:p>
          <a:p>
            <a:pPr>
              <a:buNone/>
            </a:pPr>
            <a:endParaRPr lang="en-US" sz="1100" dirty="0"/>
          </a:p>
        </p:txBody>
      </p:sp>
    </p:spTree>
    <p:extLst>
      <p:ext uri="{BB962C8B-B14F-4D97-AF65-F5344CB8AC3E}">
        <p14:creationId xmlns:p14="http://schemas.microsoft.com/office/powerpoint/2010/main" xmlns="" val="102136563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243190" y="253280"/>
            <a:ext cx="8804766"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 Insertion At Beginning of the CLL</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8" name="Content Placeholder 7" descr="CircularSinglyLinkedlist4.png"/>
          <p:cNvPicPr>
            <a:picLocks noGrp="1" noChangeAspect="1"/>
          </p:cNvPicPr>
          <p:nvPr>
            <p:ph idx="1"/>
          </p:nvPr>
        </p:nvPicPr>
        <p:blipFill>
          <a:blip r:embed="rId3"/>
          <a:stretch>
            <a:fillRect/>
          </a:stretch>
        </p:blipFill>
        <p:spPr>
          <a:xfrm>
            <a:off x="613774" y="1139868"/>
            <a:ext cx="7991607" cy="2455102"/>
          </a:xfrm>
        </p:spPr>
      </p:pic>
      <p:pic>
        <p:nvPicPr>
          <p:cNvPr id="9" name="Picture 8" descr="CircularSinglLinkedList5-660x168.png"/>
          <p:cNvPicPr>
            <a:picLocks noChangeAspect="1"/>
          </p:cNvPicPr>
          <p:nvPr/>
        </p:nvPicPr>
        <p:blipFill>
          <a:blip r:embed="rId4"/>
          <a:stretch>
            <a:fillRect/>
          </a:stretch>
        </p:blipFill>
        <p:spPr>
          <a:xfrm>
            <a:off x="3356975" y="3657600"/>
            <a:ext cx="8668011" cy="3006246"/>
          </a:xfrm>
          <a:prstGeom prst="rect">
            <a:avLst/>
          </a:prstGeom>
        </p:spPr>
      </p:pic>
    </p:spTree>
    <p:extLst>
      <p:ext uri="{BB962C8B-B14F-4D97-AF65-F5344CB8AC3E}">
        <p14:creationId xmlns:p14="http://schemas.microsoft.com/office/powerpoint/2010/main" xmlns="" val="102136563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218137" y="0"/>
            <a:ext cx="9268229"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 Insertion At Beginning of the CLL</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7" name="Content Placeholder 6"/>
          <p:cNvSpPr>
            <a:spLocks noGrp="1"/>
          </p:cNvSpPr>
          <p:nvPr>
            <p:ph idx="1"/>
          </p:nvPr>
        </p:nvSpPr>
        <p:spPr>
          <a:xfrm>
            <a:off x="0" y="826718"/>
            <a:ext cx="11999933" cy="5350245"/>
          </a:xfrm>
        </p:spPr>
        <p:txBody>
          <a:bodyPr/>
          <a:lstStyle/>
          <a:p>
            <a:r>
              <a:rPr lang="en-US" sz="3200" b="1" dirty="0"/>
              <a:t>Step 1:</a:t>
            </a:r>
            <a:r>
              <a:rPr lang="en-US" sz="3200" dirty="0"/>
              <a:t> IF PTR = NULL {Write OVERFLOW (Go to Step 11) [END OF IF]</a:t>
            </a:r>
          </a:p>
          <a:p>
            <a:r>
              <a:rPr lang="en-US" sz="3200" b="1" dirty="0"/>
              <a:t>Step 2:</a:t>
            </a:r>
            <a:r>
              <a:rPr lang="en-US" sz="3200" dirty="0"/>
              <a:t> SET NEW_NODE = PTR</a:t>
            </a:r>
          </a:p>
          <a:p>
            <a:r>
              <a:rPr lang="en-US" sz="3200" b="1" dirty="0"/>
              <a:t>Step 3:</a:t>
            </a:r>
            <a:r>
              <a:rPr lang="en-US" sz="3200" dirty="0"/>
              <a:t> SET PTR = PTR -&gt; NEXT</a:t>
            </a:r>
          </a:p>
          <a:p>
            <a:r>
              <a:rPr lang="en-US" sz="3200" b="1" dirty="0"/>
              <a:t>Step 4:</a:t>
            </a:r>
            <a:r>
              <a:rPr lang="en-US" sz="3200" dirty="0"/>
              <a:t> SET NEW_NODE -&gt; DATA = VAL</a:t>
            </a:r>
          </a:p>
          <a:p>
            <a:r>
              <a:rPr lang="en-US" sz="3200" b="1" dirty="0"/>
              <a:t>Step 5:</a:t>
            </a:r>
            <a:r>
              <a:rPr lang="en-US" sz="3200" dirty="0"/>
              <a:t> SET TEMP = HEAD</a:t>
            </a:r>
          </a:p>
          <a:p>
            <a:r>
              <a:rPr lang="en-US" sz="3200" b="1" dirty="0"/>
              <a:t>Step 6:</a:t>
            </a:r>
            <a:r>
              <a:rPr lang="en-US" sz="3200" dirty="0"/>
              <a:t> Repeat Step 8 while TEMP -&gt; NEXT != HEAD</a:t>
            </a:r>
          </a:p>
          <a:p>
            <a:r>
              <a:rPr lang="en-US" sz="3200" b="1" dirty="0"/>
              <a:t>Step 7:</a:t>
            </a:r>
            <a:r>
              <a:rPr lang="en-US" sz="3200" dirty="0"/>
              <a:t> SET TEMP = TEMP -&gt; NEXT[END OF LOOP]</a:t>
            </a:r>
          </a:p>
          <a:p>
            <a:r>
              <a:rPr lang="en-US" sz="3200" b="1" dirty="0"/>
              <a:t>Step 8:</a:t>
            </a:r>
            <a:r>
              <a:rPr lang="en-US" sz="3200" dirty="0"/>
              <a:t> SET NEW_NODE -&gt; NEXT = HEAD</a:t>
            </a:r>
          </a:p>
          <a:p>
            <a:r>
              <a:rPr lang="en-US" sz="3200" b="1" dirty="0"/>
              <a:t>Step 9:</a:t>
            </a:r>
            <a:r>
              <a:rPr lang="en-US" sz="3200" dirty="0"/>
              <a:t> SET TEMP → NEXT = NEW_NODE</a:t>
            </a:r>
          </a:p>
          <a:p>
            <a:r>
              <a:rPr lang="en-US" sz="3200" b="1" dirty="0"/>
              <a:t>Step 10:</a:t>
            </a:r>
            <a:r>
              <a:rPr lang="en-US" sz="3200" dirty="0"/>
              <a:t> SET HEAD = NEW_NODE</a:t>
            </a:r>
          </a:p>
          <a:p>
            <a:r>
              <a:rPr lang="en-US" sz="3200" b="1" dirty="0"/>
              <a:t>Step 11:</a:t>
            </a:r>
            <a:r>
              <a:rPr lang="en-US" sz="3200" dirty="0"/>
              <a:t> EXIT</a:t>
            </a:r>
          </a:p>
          <a:p>
            <a:endParaRPr lang="en-US" dirty="0"/>
          </a:p>
        </p:txBody>
      </p:sp>
    </p:spTree>
    <p:extLst>
      <p:ext uri="{BB962C8B-B14F-4D97-AF65-F5344CB8AC3E}">
        <p14:creationId xmlns:p14="http://schemas.microsoft.com/office/powerpoint/2010/main" xmlns="" val="102136563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1503123" y="253280"/>
            <a:ext cx="10688877"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ii) Insertion At End of the CLL (Deletion of Last node)</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9" name="Content Placeholder 8" descr="CircularSinglyLinkedlist6.png"/>
          <p:cNvPicPr>
            <a:picLocks noGrp="1" noChangeAspect="1"/>
          </p:cNvPicPr>
          <p:nvPr>
            <p:ph idx="1"/>
          </p:nvPr>
        </p:nvPicPr>
        <p:blipFill>
          <a:blip r:embed="rId3"/>
          <a:stretch>
            <a:fillRect/>
          </a:stretch>
        </p:blipFill>
        <p:spPr>
          <a:xfrm>
            <a:off x="710025" y="1363912"/>
            <a:ext cx="7244001" cy="2393895"/>
          </a:xfrm>
        </p:spPr>
      </p:pic>
      <p:pic>
        <p:nvPicPr>
          <p:cNvPr id="10" name="Picture 9" descr="CircularSinglyLinkedlist7-660x234.png"/>
          <p:cNvPicPr>
            <a:picLocks noChangeAspect="1"/>
          </p:cNvPicPr>
          <p:nvPr/>
        </p:nvPicPr>
        <p:blipFill>
          <a:blip r:embed="rId4"/>
          <a:stretch>
            <a:fillRect/>
          </a:stretch>
        </p:blipFill>
        <p:spPr>
          <a:xfrm>
            <a:off x="4396636" y="3945699"/>
            <a:ext cx="7795364" cy="2661780"/>
          </a:xfrm>
          <a:prstGeom prst="rect">
            <a:avLst/>
          </a:prstGeom>
        </p:spPr>
      </p:pic>
    </p:spTree>
    <p:extLst>
      <p:ext uri="{BB962C8B-B14F-4D97-AF65-F5344CB8AC3E}">
        <p14:creationId xmlns:p14="http://schemas.microsoft.com/office/powerpoint/2010/main" xmlns="" val="1460568374"/>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243190" y="253280"/>
            <a:ext cx="9694114"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ii) Insertion At End of the CLL (Last node)</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Content Placeholder 1"/>
          <p:cNvSpPr>
            <a:spLocks noGrp="1"/>
          </p:cNvSpPr>
          <p:nvPr>
            <p:ph idx="1"/>
          </p:nvPr>
        </p:nvSpPr>
        <p:spPr>
          <a:xfrm>
            <a:off x="162839" y="1175656"/>
            <a:ext cx="11748112" cy="5498275"/>
          </a:xfrm>
        </p:spPr>
        <p:txBody>
          <a:bodyPr/>
          <a:lstStyle/>
          <a:p>
            <a:r>
              <a:rPr lang="en-US" sz="3200" b="1" dirty="0"/>
              <a:t>Step 1:</a:t>
            </a:r>
            <a:r>
              <a:rPr lang="en-US" sz="3200" dirty="0"/>
              <a:t> IF PTR = NULL  Write OVERFLOW(Go to Step 1)[END OF IF]</a:t>
            </a:r>
          </a:p>
          <a:p>
            <a:r>
              <a:rPr lang="en-US" sz="3200" b="1" dirty="0"/>
              <a:t>Step 2:</a:t>
            </a:r>
            <a:r>
              <a:rPr lang="en-US" sz="3200" dirty="0"/>
              <a:t> SET NEW_NODE = PTR</a:t>
            </a:r>
          </a:p>
          <a:p>
            <a:r>
              <a:rPr lang="en-US" sz="3200" b="1" dirty="0"/>
              <a:t>Step 3:</a:t>
            </a:r>
            <a:r>
              <a:rPr lang="en-US" sz="3200" dirty="0"/>
              <a:t> SET PTR = PTR -&gt; NEXT</a:t>
            </a:r>
          </a:p>
          <a:p>
            <a:r>
              <a:rPr lang="en-US" sz="3200" b="1" dirty="0"/>
              <a:t>Step 4:</a:t>
            </a:r>
            <a:r>
              <a:rPr lang="en-US" sz="3200" dirty="0"/>
              <a:t> SET NEW_NODE -&gt; DATA = VAL</a:t>
            </a:r>
          </a:p>
          <a:p>
            <a:r>
              <a:rPr lang="en-US" sz="3200" b="1" dirty="0"/>
              <a:t>Step 5:</a:t>
            </a:r>
            <a:r>
              <a:rPr lang="en-US" sz="3200" dirty="0"/>
              <a:t> SET NEW_NODE -&gt; NEXT = HEAD</a:t>
            </a:r>
          </a:p>
          <a:p>
            <a:r>
              <a:rPr lang="en-US" sz="3200" b="1" dirty="0"/>
              <a:t>Step 6:</a:t>
            </a:r>
            <a:r>
              <a:rPr lang="en-US" sz="3200" dirty="0"/>
              <a:t> SET TEMP = HEAD</a:t>
            </a:r>
          </a:p>
          <a:p>
            <a:r>
              <a:rPr lang="en-US" sz="3200" b="1" dirty="0"/>
              <a:t>Step 7:</a:t>
            </a:r>
            <a:r>
              <a:rPr lang="en-US" sz="3200" dirty="0"/>
              <a:t> Repeat Step 8 while TEMP -&gt; NEXT != HEAD</a:t>
            </a:r>
          </a:p>
          <a:p>
            <a:r>
              <a:rPr lang="en-US" sz="3200" b="1" dirty="0"/>
              <a:t>Step 8:</a:t>
            </a:r>
            <a:r>
              <a:rPr lang="en-US" sz="3200" dirty="0"/>
              <a:t> SET TEMP = TEMP -&gt; NEXT [END OF LOOP]</a:t>
            </a:r>
          </a:p>
          <a:p>
            <a:r>
              <a:rPr lang="en-US" sz="3200" b="1" dirty="0"/>
              <a:t>Step 9:</a:t>
            </a:r>
            <a:r>
              <a:rPr lang="en-US" sz="3200" dirty="0"/>
              <a:t> SET TEMP -&gt; NEXT = NEW_NODE</a:t>
            </a:r>
          </a:p>
          <a:p>
            <a:r>
              <a:rPr lang="en-US" sz="3200" b="1" dirty="0"/>
              <a:t>Step 10:</a:t>
            </a:r>
            <a:r>
              <a:rPr lang="en-US" sz="3200" dirty="0"/>
              <a:t> EXIT</a:t>
            </a:r>
          </a:p>
          <a:p>
            <a:pPr>
              <a:buNone/>
            </a:pPr>
            <a:r>
              <a:rPr lang="en-US" sz="3200" dirty="0"/>
              <a:t/>
            </a:r>
            <a:br>
              <a:rPr lang="en-US" sz="3200" dirty="0"/>
            </a:br>
            <a:endParaRPr lang="en-IN" sz="3200" b="1" dirty="0"/>
          </a:p>
        </p:txBody>
      </p:sp>
    </p:spTree>
    <p:extLst>
      <p:ext uri="{BB962C8B-B14F-4D97-AF65-F5344CB8AC3E}">
        <p14:creationId xmlns:p14="http://schemas.microsoft.com/office/powerpoint/2010/main" xmlns="" val="3892933827"/>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iii) Inserting a New node at middle of the CLL</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8" name="Content Placeholder 7" descr="circularll1-660x203.png"/>
          <p:cNvPicPr>
            <a:picLocks noGrp="1" noChangeAspect="1"/>
          </p:cNvPicPr>
          <p:nvPr>
            <p:ph idx="1"/>
          </p:nvPr>
        </p:nvPicPr>
        <p:blipFill>
          <a:blip r:embed="rId3"/>
          <a:stretch>
            <a:fillRect/>
          </a:stretch>
        </p:blipFill>
        <p:spPr>
          <a:xfrm>
            <a:off x="405529" y="1227551"/>
            <a:ext cx="8450371" cy="2467627"/>
          </a:xfrm>
        </p:spPr>
      </p:pic>
      <p:pic>
        <p:nvPicPr>
          <p:cNvPr id="9" name="Picture 8" descr="CircularSinglyLinkedList9-660x212.png"/>
          <p:cNvPicPr>
            <a:picLocks noChangeAspect="1"/>
          </p:cNvPicPr>
          <p:nvPr/>
        </p:nvPicPr>
        <p:blipFill>
          <a:blip r:embed="rId4"/>
          <a:stretch>
            <a:fillRect/>
          </a:stretch>
        </p:blipFill>
        <p:spPr>
          <a:xfrm>
            <a:off x="2041742" y="3858015"/>
            <a:ext cx="9732724" cy="2780779"/>
          </a:xfrm>
          <a:prstGeom prst="rect">
            <a:avLst/>
          </a:prstGeom>
        </p:spPr>
      </p:pic>
    </p:spTree>
    <p:extLst>
      <p:ext uri="{BB962C8B-B14F-4D97-AF65-F5344CB8AC3E}">
        <p14:creationId xmlns:p14="http://schemas.microsoft.com/office/powerpoint/2010/main" xmlns="" val="6245963"/>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rPr>
              <a:t>iii) Inserting a New node at middle of the CLL</a:t>
            </a:r>
            <a:endParaRPr lang="en-US" sz="3600" dirty="0">
              <a:solidFill>
                <a:schemeClr val="bg1"/>
              </a:solidFill>
            </a:endParaRP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741118"/>
            <a:ext cx="11649692" cy="4980316"/>
          </a:xfrm>
        </p:spPr>
        <p:txBody>
          <a:bodyPr/>
          <a:lstStyle/>
          <a:p>
            <a:pPr fontAlgn="base">
              <a:buNone/>
            </a:pPr>
            <a:r>
              <a:rPr lang="en-US" sz="3200" b="1" dirty="0"/>
              <a:t>To insert a node in between the two nodes, follow these steps: </a:t>
            </a:r>
          </a:p>
          <a:p>
            <a:pPr fontAlgn="base">
              <a:buNone/>
            </a:pPr>
            <a:endParaRPr lang="en-US" sz="3200" b="1" dirty="0"/>
          </a:p>
          <a:p>
            <a:pPr fontAlgn="base"/>
            <a:r>
              <a:rPr lang="en-US" sz="3200" b="1" dirty="0"/>
              <a:t>Create a node, say T. </a:t>
            </a:r>
          </a:p>
          <a:p>
            <a:pPr fontAlgn="base"/>
            <a:r>
              <a:rPr lang="en-US" sz="3200" b="1" dirty="0"/>
              <a:t>Search for the node after which T needs to be inserted, say that node is P. </a:t>
            </a:r>
          </a:p>
          <a:p>
            <a:pPr fontAlgn="base"/>
            <a:r>
              <a:rPr lang="en-US" sz="3200" b="1" dirty="0"/>
              <a:t>Make T -&gt; next = P -&gt; next; </a:t>
            </a:r>
          </a:p>
          <a:p>
            <a:pPr fontAlgn="base"/>
            <a:r>
              <a:rPr lang="en-US" sz="3200" b="1" dirty="0"/>
              <a:t>P -&gt; next = T.</a:t>
            </a:r>
          </a:p>
          <a:p>
            <a:endParaRPr lang="en-IN" sz="2400" b="1" dirty="0"/>
          </a:p>
        </p:txBody>
      </p:sp>
    </p:spTree>
    <p:extLst>
      <p:ext uri="{BB962C8B-B14F-4D97-AF65-F5344CB8AC3E}">
        <p14:creationId xmlns:p14="http://schemas.microsoft.com/office/powerpoint/2010/main" xmlns="" val="55976746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err="1"/>
              <a:t>i</a:t>
            </a:r>
            <a:r>
              <a:rPr lang="en-US" sz="3600" b="1" dirty="0"/>
              <a:t>)Deletion in circular singly linked list at beginning</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spcBef>
                <a:spcPts val="0"/>
              </a:spcBef>
              <a:buNone/>
            </a:pPr>
            <a:r>
              <a:rPr lang="en-US" sz="3200" dirty="0"/>
              <a:t>There are three scenarios-</a:t>
            </a:r>
          </a:p>
          <a:p>
            <a:pPr>
              <a:spcBef>
                <a:spcPts val="0"/>
              </a:spcBef>
              <a:buFont typeface="Wingdings" pitchFamily="2" charset="2"/>
              <a:buChar char="§"/>
            </a:pPr>
            <a:r>
              <a:rPr lang="en-US" sz="3200" b="1" dirty="0"/>
              <a:t>Scenario 1: (The list is Empty)</a:t>
            </a:r>
          </a:p>
          <a:p>
            <a:pPr algn="just">
              <a:spcBef>
                <a:spcPts val="0"/>
              </a:spcBef>
              <a:buNone/>
            </a:pPr>
            <a:r>
              <a:rPr lang="en-US" sz="3200" dirty="0"/>
              <a:t>  If the list is empty then the condition </a:t>
            </a:r>
            <a:r>
              <a:rPr lang="en-US" sz="3200" b="1" dirty="0"/>
              <a:t>head == NULL</a:t>
            </a:r>
            <a:r>
              <a:rPr lang="en-US" sz="3200" dirty="0"/>
              <a:t> will become true, in this case, we just need to print </a:t>
            </a:r>
            <a:r>
              <a:rPr lang="en-US" sz="3200" b="1" dirty="0"/>
              <a:t>underflow</a:t>
            </a:r>
            <a:r>
              <a:rPr lang="en-US" sz="3200" dirty="0"/>
              <a:t> on the screen and make exit.</a:t>
            </a:r>
          </a:p>
          <a:p>
            <a:pPr>
              <a:spcBef>
                <a:spcPts val="0"/>
              </a:spcBef>
              <a:buFont typeface="Wingdings" pitchFamily="2" charset="2"/>
              <a:buChar char="§"/>
            </a:pPr>
            <a:r>
              <a:rPr lang="en-US" sz="3200" b="1" dirty="0"/>
              <a:t>Scenario 2: (The list contains single node)</a:t>
            </a:r>
          </a:p>
          <a:p>
            <a:pPr algn="just">
              <a:spcBef>
                <a:spcPts val="0"/>
              </a:spcBef>
              <a:buNone/>
            </a:pPr>
            <a:r>
              <a:rPr lang="en-US" sz="3200" dirty="0"/>
              <a:t>  If the list contains single node then, the condition </a:t>
            </a:r>
            <a:r>
              <a:rPr lang="en-US" sz="3200" b="1" dirty="0"/>
              <a:t>head → next == head</a:t>
            </a:r>
            <a:r>
              <a:rPr lang="en-US" sz="3200" dirty="0"/>
              <a:t> will become true. In this case, we need to delete the entire list and make the head pointer free.</a:t>
            </a:r>
          </a:p>
          <a:p>
            <a:pPr>
              <a:spcBef>
                <a:spcPts val="0"/>
              </a:spcBef>
              <a:buFont typeface="Wingdings" pitchFamily="2" charset="2"/>
              <a:buChar char="§"/>
            </a:pPr>
            <a:r>
              <a:rPr lang="en-US" sz="3200" b="1" dirty="0"/>
              <a:t>Scenario 3: (The list contains more than one node)</a:t>
            </a:r>
          </a:p>
          <a:p>
            <a:pPr algn="just">
              <a:spcBef>
                <a:spcPts val="0"/>
              </a:spcBef>
              <a:buNone/>
            </a:pPr>
            <a:r>
              <a:rPr lang="en-US" sz="3200" dirty="0"/>
              <a:t>  If the list contains more than one node then, in that case, we need to traverse the list</a:t>
            </a:r>
          </a:p>
          <a:p>
            <a:pPr>
              <a:buNone/>
            </a:pPr>
            <a:endParaRPr lang="en-US" sz="3200" dirty="0"/>
          </a:p>
          <a:p>
            <a:pPr>
              <a:buNone/>
            </a:pPr>
            <a:endParaRPr lang="en-US" sz="3200" dirty="0"/>
          </a:p>
          <a:p>
            <a:endParaRPr lang="en-IN" sz="2400" b="1" dirty="0"/>
          </a:p>
        </p:txBody>
      </p:sp>
    </p:spTree>
    <p:extLst>
      <p:ext uri="{BB962C8B-B14F-4D97-AF65-F5344CB8AC3E}">
        <p14:creationId xmlns:p14="http://schemas.microsoft.com/office/powerpoint/2010/main" xmlns="" val="55976746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err="1"/>
              <a:t>i</a:t>
            </a:r>
            <a:r>
              <a:rPr lang="en-US" sz="3600" b="1" dirty="0"/>
              <a:t>)Deletion in circular singly linked list at beginning</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r>
              <a:rPr lang="en-US" sz="3200" b="1" dirty="0"/>
              <a:t>Step 1:</a:t>
            </a:r>
            <a:r>
              <a:rPr lang="en-US" sz="3200" dirty="0"/>
              <a:t> IF HEAD = NULL</a:t>
            </a:r>
          </a:p>
          <a:p>
            <a:r>
              <a:rPr lang="en-US" sz="3200" dirty="0"/>
              <a:t>Write UNDERFLOW (Go to Step 8) [END OF IF]</a:t>
            </a:r>
          </a:p>
          <a:p>
            <a:r>
              <a:rPr lang="en-US" sz="3200" b="1" dirty="0"/>
              <a:t>Step 2:</a:t>
            </a:r>
            <a:r>
              <a:rPr lang="en-US" sz="3200" dirty="0"/>
              <a:t> SET PTR = HEAD</a:t>
            </a:r>
          </a:p>
          <a:p>
            <a:r>
              <a:rPr lang="en-US" sz="3200" b="1" dirty="0"/>
              <a:t>Step 3:</a:t>
            </a:r>
            <a:r>
              <a:rPr lang="en-US" sz="3200" dirty="0"/>
              <a:t> Repeat Step 4 while PTR → NEXT != HEAD</a:t>
            </a:r>
          </a:p>
          <a:p>
            <a:r>
              <a:rPr lang="en-US" sz="3200" b="1" dirty="0"/>
              <a:t>Step 4:</a:t>
            </a:r>
            <a:r>
              <a:rPr lang="en-US" sz="3200" dirty="0"/>
              <a:t> SET PTR = PTR → next  [END OF LOOP]</a:t>
            </a:r>
          </a:p>
          <a:p>
            <a:r>
              <a:rPr lang="en-US" sz="3200" b="1" dirty="0"/>
              <a:t>Step 5:</a:t>
            </a:r>
            <a:r>
              <a:rPr lang="en-US" sz="3200" dirty="0"/>
              <a:t> SET PTR → NEXT = HEAD → NEXT</a:t>
            </a:r>
          </a:p>
          <a:p>
            <a:r>
              <a:rPr lang="en-US" sz="3200" b="1" dirty="0"/>
              <a:t>Step 6:</a:t>
            </a:r>
            <a:r>
              <a:rPr lang="en-US" sz="3200" dirty="0"/>
              <a:t> FREE HEAD</a:t>
            </a:r>
          </a:p>
          <a:p>
            <a:r>
              <a:rPr lang="en-US" sz="3200" b="1" dirty="0"/>
              <a:t>Step 7:</a:t>
            </a:r>
            <a:r>
              <a:rPr lang="en-US" sz="3200" dirty="0"/>
              <a:t> SET HEAD = PTR → NEXT</a:t>
            </a:r>
          </a:p>
          <a:p>
            <a:r>
              <a:rPr lang="en-US" sz="3200" b="1" dirty="0"/>
              <a:t>Step 8:</a:t>
            </a:r>
            <a:r>
              <a:rPr lang="en-US" sz="3200" dirty="0"/>
              <a:t> EXIT</a:t>
            </a:r>
          </a:p>
          <a:p>
            <a:pPr>
              <a:buNone/>
            </a:pPr>
            <a:endParaRPr lang="en-US" sz="3200" dirty="0"/>
          </a:p>
          <a:p>
            <a:pPr>
              <a:buNone/>
            </a:pPr>
            <a:endParaRPr lang="en-US" sz="3200" dirty="0"/>
          </a:p>
          <a:p>
            <a:endParaRPr lang="en-IN" sz="2400" b="1" dirty="0"/>
          </a:p>
        </p:txBody>
      </p:sp>
    </p:spTree>
    <p:extLst>
      <p:ext uri="{BB962C8B-B14F-4D97-AF65-F5344CB8AC3E}">
        <p14:creationId xmlns:p14="http://schemas.microsoft.com/office/powerpoint/2010/main" xmlns="" val="55976746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err="1"/>
              <a:t>i</a:t>
            </a:r>
            <a:r>
              <a:rPr lang="en-US" sz="3600" b="1" dirty="0"/>
              <a:t>)Deletion in circular singly linked list at beginning</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buNone/>
            </a:pPr>
            <a:endParaRPr lang="en-US" sz="3200" dirty="0"/>
          </a:p>
          <a:p>
            <a:pPr>
              <a:buNone/>
            </a:pPr>
            <a:endParaRPr lang="en-US" sz="3200" dirty="0"/>
          </a:p>
          <a:p>
            <a:endParaRPr lang="en-IN" sz="2400" b="1" dirty="0"/>
          </a:p>
        </p:txBody>
      </p:sp>
      <p:pic>
        <p:nvPicPr>
          <p:cNvPr id="25" name="Picture 24" descr="deletion-in-circular-singly-linked-list-at-beginning.png"/>
          <p:cNvPicPr>
            <a:picLocks noChangeAspect="1"/>
          </p:cNvPicPr>
          <p:nvPr/>
        </p:nvPicPr>
        <p:blipFill>
          <a:blip r:embed="rId3"/>
          <a:stretch>
            <a:fillRect/>
          </a:stretch>
        </p:blipFill>
        <p:spPr>
          <a:xfrm>
            <a:off x="864296" y="1465545"/>
            <a:ext cx="10784909" cy="4960307"/>
          </a:xfrm>
          <a:prstGeom prst="rect">
            <a:avLst/>
          </a:prstGeom>
        </p:spPr>
      </p:pic>
    </p:spTree>
    <p:extLst>
      <p:ext uri="{BB962C8B-B14F-4D97-AF65-F5344CB8AC3E}">
        <p14:creationId xmlns:p14="http://schemas.microsoft.com/office/powerpoint/2010/main" xmlns="" val="55976746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1540701" y="253280"/>
            <a:ext cx="1045923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ii)Deletion in circular singly linked list from Middle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buNone/>
            </a:pPr>
            <a:endParaRPr lang="en-US" sz="3200" dirty="0"/>
          </a:p>
          <a:p>
            <a:pPr>
              <a:buNone/>
            </a:pPr>
            <a:endParaRPr lang="en-US" sz="3200" dirty="0"/>
          </a:p>
          <a:p>
            <a:endParaRPr lang="en-IN" sz="2400" b="1" dirty="0"/>
          </a:p>
        </p:txBody>
      </p:sp>
      <p:sp>
        <p:nvSpPr>
          <p:cNvPr id="3073" name="Rectangle 1"/>
          <p:cNvSpPr>
            <a:spLocks noChangeArrowheads="1"/>
          </p:cNvSpPr>
          <p:nvPr/>
        </p:nvSpPr>
        <p:spPr bwMode="auto">
          <a:xfrm>
            <a:off x="0" y="1064713"/>
            <a:ext cx="12192000"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1" eaLnBrk="0" fontAlgn="base" hangingPunct="0">
              <a:spcBef>
                <a:spcPct val="0"/>
              </a:spcBef>
              <a:spcAft>
                <a:spcPct val="0"/>
              </a:spcAft>
              <a:buFontTx/>
              <a:buChar char="•"/>
              <a:tabLst>
                <a:tab pos="457200" algn="l"/>
              </a:tabLst>
            </a:pPr>
            <a:r>
              <a:rPr kumimoji="0" lang="en-US" sz="2400" b="1" i="0" u="none" strike="noStrike" cap="none" normalizeH="0" baseline="0" dirty="0">
                <a:ln>
                  <a:noFill/>
                </a:ln>
                <a:solidFill>
                  <a:schemeClr val="tx1"/>
                </a:solidFill>
                <a:effectLst/>
                <a:ea typeface="Times New Roman" pitchFamily="18" charset="0"/>
                <a:cs typeface="Times New Roman" pitchFamily="18" charset="0"/>
              </a:rPr>
              <a:t>Case 1</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List is empty</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Then simply just return from the function.</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1" i="0" u="none" strike="noStrike" cap="none" normalizeH="0" baseline="0" dirty="0">
                <a:ln>
                  <a:noFill/>
                </a:ln>
                <a:solidFill>
                  <a:schemeClr val="tx1"/>
                </a:solidFill>
                <a:effectLst/>
                <a:ea typeface="Times New Roman" pitchFamily="18" charset="0"/>
                <a:cs typeface="Times New Roman" pitchFamily="18" charset="0"/>
              </a:rPr>
              <a:t>Case 2</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List has only one node</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It means head == tail then assigned head and tail equal to null.</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1" i="0" u="none" strike="noStrike" cap="none" normalizeH="0" baseline="0" dirty="0">
                <a:ln>
                  <a:noFill/>
                </a:ln>
                <a:solidFill>
                  <a:schemeClr val="tx1"/>
                </a:solidFill>
                <a:effectLst/>
                <a:ea typeface="Times New Roman" pitchFamily="18" charset="0"/>
                <a:cs typeface="Times New Roman" pitchFamily="18" charset="0"/>
              </a:rPr>
              <a:t>Case 3</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List has only two nodes</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It means the middle node of the list at 1 position. In this case, we have to modify the head and tail also. Head becomes tail and </a:t>
            </a:r>
            <a:r>
              <a:rPr kumimoji="0" lang="en-US" sz="2400" b="0" i="0" u="none" strike="noStrike" cap="none" normalizeH="0" baseline="0" dirty="0" err="1">
                <a:ln>
                  <a:noFill/>
                </a:ln>
                <a:solidFill>
                  <a:schemeClr val="tx1"/>
                </a:solidFill>
                <a:effectLst/>
                <a:ea typeface="Times New Roman" pitchFamily="18" charset="0"/>
                <a:cs typeface="Times New Roman" pitchFamily="18" charset="0"/>
              </a:rPr>
              <a:t>tail.next</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becomes also tail.</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1" i="0" u="none" strike="noStrike" cap="none" normalizeH="0" baseline="0" dirty="0">
                <a:ln>
                  <a:noFill/>
                </a:ln>
                <a:solidFill>
                  <a:schemeClr val="tx1"/>
                </a:solidFill>
                <a:effectLst/>
                <a:ea typeface="Times New Roman" pitchFamily="18" charset="0"/>
                <a:cs typeface="Times New Roman" pitchFamily="18" charset="0"/>
              </a:rPr>
              <a:t>Case 4</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List has more than two nodes</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It means the position of the middle node is greater than 1. In this case, we define the two-node </a:t>
            </a:r>
            <a:r>
              <a:rPr kumimoji="0" lang="en-US" sz="2400" b="1" i="0" u="none" strike="noStrike" cap="none" normalizeH="0" baseline="0" dirty="0">
                <a:ln>
                  <a:noFill/>
                </a:ln>
                <a:solidFill>
                  <a:schemeClr val="tx1"/>
                </a:solidFill>
                <a:effectLst/>
                <a:ea typeface="Times New Roman" pitchFamily="18" charset="0"/>
                <a:cs typeface="Times New Roman" pitchFamily="18" charset="0"/>
              </a:rPr>
              <a:t>temp</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and </a:t>
            </a:r>
            <a:r>
              <a:rPr kumimoji="0" lang="en-US" sz="2400" b="1" i="0" u="none" strike="noStrike" cap="none" normalizeH="0" baseline="0" dirty="0">
                <a:ln>
                  <a:noFill/>
                </a:ln>
                <a:solidFill>
                  <a:schemeClr val="tx1"/>
                </a:solidFill>
                <a:effectLst/>
                <a:ea typeface="Times New Roman" pitchFamily="18" charset="0"/>
                <a:cs typeface="Times New Roman" pitchFamily="18" charset="0"/>
              </a:rPr>
              <a:t>prev</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Assign head to the temp.</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Then traverse the list using temp up to the middle node. In each iteration assign </a:t>
            </a:r>
            <a:r>
              <a:rPr kumimoji="0" lang="en-US" sz="2400" b="1" i="0" u="none" strike="noStrike" cap="none" normalizeH="0" baseline="0" dirty="0" err="1">
                <a:ln>
                  <a:noFill/>
                </a:ln>
                <a:solidFill>
                  <a:schemeClr val="tx1"/>
                </a:solidFill>
                <a:effectLst/>
                <a:ea typeface="Times New Roman" pitchFamily="18" charset="0"/>
                <a:cs typeface="Times New Roman" pitchFamily="18" charset="0"/>
              </a:rPr>
              <a:t>prev</a:t>
            </a:r>
            <a:r>
              <a:rPr kumimoji="0" lang="en-US" sz="2400" b="1" i="0" u="none" strike="noStrike" cap="none" normalizeH="0" baseline="0" dirty="0">
                <a:ln>
                  <a:noFill/>
                </a:ln>
                <a:solidFill>
                  <a:schemeClr val="tx1"/>
                </a:solidFill>
                <a:effectLst/>
                <a:ea typeface="Times New Roman" pitchFamily="18" charset="0"/>
                <a:cs typeface="Times New Roman" pitchFamily="18" charset="0"/>
              </a:rPr>
              <a:t> = temp</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and </a:t>
            </a:r>
            <a:r>
              <a:rPr kumimoji="0" lang="en-US" sz="2400" b="1" i="0" u="none" strike="noStrike" cap="none" normalizeH="0" baseline="0" dirty="0">
                <a:ln>
                  <a:noFill/>
                </a:ln>
                <a:solidFill>
                  <a:schemeClr val="tx1"/>
                </a:solidFill>
                <a:effectLst/>
                <a:ea typeface="Times New Roman" pitchFamily="18" charset="0"/>
                <a:cs typeface="Times New Roman" pitchFamily="18" charset="0"/>
              </a:rPr>
              <a:t>temp = </a:t>
            </a:r>
            <a:r>
              <a:rPr kumimoji="0" lang="en-US" sz="2400" b="1" i="0" u="none" strike="noStrike" cap="none" normalizeH="0" baseline="0" dirty="0" err="1">
                <a:ln>
                  <a:noFill/>
                </a:ln>
                <a:solidFill>
                  <a:schemeClr val="tx1"/>
                </a:solidFill>
                <a:effectLst/>
                <a:ea typeface="Times New Roman" pitchFamily="18" charset="0"/>
                <a:cs typeface="Times New Roman" pitchFamily="18" charset="0"/>
              </a:rPr>
              <a:t>temp.next</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Now temp is pointing to middle node and </a:t>
            </a:r>
            <a:r>
              <a:rPr kumimoji="0" lang="en-US" sz="2400" b="0" i="0" u="none" strike="noStrike" cap="none" normalizeH="0" baseline="0" dirty="0" err="1">
                <a:ln>
                  <a:noFill/>
                </a:ln>
                <a:solidFill>
                  <a:schemeClr val="tx1"/>
                </a:solidFill>
                <a:effectLst/>
                <a:ea typeface="Times New Roman" pitchFamily="18" charset="0"/>
                <a:cs typeface="Times New Roman" pitchFamily="18" charset="0"/>
              </a:rPr>
              <a:t>prev</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pointing to previous node of the middle node.</a:t>
            </a:r>
            <a:endParaRPr kumimoji="0" lang="en-US" sz="2400" b="0" i="0" u="none" strike="noStrike" cap="none" normalizeH="0" baseline="0" dirty="0">
              <a:ln>
                <a:noFill/>
              </a:ln>
              <a:solidFill>
                <a:schemeClr val="tx1"/>
              </a:solidFill>
              <a:effectLst/>
              <a:cs typeface="Arial" pitchFamily="34" charset="0"/>
            </a:endParaRPr>
          </a:p>
          <a:p>
            <a:pPr lvl="1" eaLnBrk="0" fontAlgn="base" hangingPunct="0">
              <a:spcBef>
                <a:spcPct val="0"/>
              </a:spcBef>
              <a:spcAft>
                <a:spcPct val="0"/>
              </a:spcAft>
              <a:buFontTx/>
              <a:buChar char="•"/>
              <a:tabLst>
                <a:tab pos="457200" algn="l"/>
              </a:tabLst>
            </a:pPr>
            <a:r>
              <a:rPr kumimoji="0" lang="en-US" sz="2400" b="0" i="0" u="none" strike="noStrike" cap="none" normalizeH="0" baseline="0" dirty="0">
                <a:ln>
                  <a:noFill/>
                </a:ln>
                <a:solidFill>
                  <a:schemeClr val="tx1"/>
                </a:solidFill>
                <a:effectLst/>
                <a:ea typeface="Times New Roman" pitchFamily="18" charset="0"/>
                <a:cs typeface="Times New Roman" pitchFamily="18" charset="0"/>
              </a:rPr>
              <a:t>Then simply set </a:t>
            </a:r>
            <a:r>
              <a:rPr kumimoji="0" lang="en-US" sz="2400" b="0" i="0" u="none" strike="noStrike" cap="none" normalizeH="0" baseline="0" dirty="0" err="1">
                <a:ln>
                  <a:noFill/>
                </a:ln>
                <a:solidFill>
                  <a:schemeClr val="tx1"/>
                </a:solidFill>
                <a:effectLst/>
                <a:ea typeface="Times New Roman" pitchFamily="18" charset="0"/>
                <a:cs typeface="Times New Roman" pitchFamily="18" charset="0"/>
              </a:rPr>
              <a:t>prev.next</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a:t>
            </a:r>
            <a:r>
              <a:rPr kumimoji="0" lang="en-US" sz="2400" b="0" i="0" u="none" strike="noStrike" cap="none" normalizeH="0" baseline="0" dirty="0" err="1">
                <a:ln>
                  <a:noFill/>
                </a:ln>
                <a:solidFill>
                  <a:schemeClr val="tx1"/>
                </a:solidFill>
                <a:effectLst/>
                <a:ea typeface="Times New Roman" pitchFamily="18" charset="0"/>
                <a:cs typeface="Times New Roman" pitchFamily="18" charset="0"/>
              </a:rPr>
              <a:t>temp.next</a:t>
            </a:r>
            <a:r>
              <a:rPr kumimoji="0" lang="en-US" sz="2400" b="0" i="0" u="none" strike="noStrike" cap="none" normalizeH="0" baseline="0" dirty="0">
                <a:ln>
                  <a:noFill/>
                </a:ln>
                <a:solidFill>
                  <a:schemeClr val="tx1"/>
                </a:solidFill>
                <a:effectLst/>
                <a:ea typeface="Times New Roman" pitchFamily="18" charset="0"/>
                <a:cs typeface="Times New Roman" pitchFamily="18" charset="0"/>
              </a:rPr>
              <a:t> and temp=null,</a:t>
            </a:r>
            <a:endParaRPr kumimoji="0" lang="en-US" sz="2400" b="0" i="0" u="none" strike="noStrike" cap="none" normalizeH="0" baseline="0" dirty="0">
              <a:ln>
                <a:noFill/>
              </a:ln>
              <a:solidFill>
                <a:schemeClr val="tx1"/>
              </a:solidFill>
              <a:effectLst/>
              <a:cs typeface="Arial" pitchFamily="34" charset="0"/>
            </a:endParaRPr>
          </a:p>
        </p:txBody>
      </p:sp>
    </p:spTree>
    <p:extLst>
      <p:ext uri="{BB962C8B-B14F-4D97-AF65-F5344CB8AC3E}">
        <p14:creationId xmlns:p14="http://schemas.microsoft.com/office/powerpoint/2010/main" xmlns="" val="55976746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1540701" y="253280"/>
            <a:ext cx="10459233"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ii)Deletion in circular singly linked list from Middle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buNone/>
            </a:pPr>
            <a:endParaRPr lang="en-US" sz="3200" dirty="0"/>
          </a:p>
          <a:p>
            <a:pPr>
              <a:buNone/>
            </a:pPr>
            <a:endParaRPr lang="en-US" sz="3200" dirty="0"/>
          </a:p>
          <a:p>
            <a:endParaRPr lang="en-IN" sz="2400" b="1" dirty="0"/>
          </a:p>
        </p:txBody>
      </p:sp>
      <p:pic>
        <p:nvPicPr>
          <p:cNvPr id="7" name="Picture 6" descr="circularlinkedlist-660x206.png"/>
          <p:cNvPicPr/>
          <p:nvPr/>
        </p:nvPicPr>
        <p:blipFill>
          <a:blip r:embed="rId3"/>
          <a:stretch>
            <a:fillRect/>
          </a:stretch>
        </p:blipFill>
        <p:spPr>
          <a:xfrm>
            <a:off x="345003" y="1200470"/>
            <a:ext cx="10928422" cy="2394500"/>
          </a:xfrm>
          <a:prstGeom prst="rect">
            <a:avLst/>
          </a:prstGeom>
        </p:spPr>
      </p:pic>
      <p:pic>
        <p:nvPicPr>
          <p:cNvPr id="8" name="Picture 7" descr="deletemiddlenode-660x259.png"/>
          <p:cNvPicPr/>
          <p:nvPr/>
        </p:nvPicPr>
        <p:blipFill>
          <a:blip r:embed="rId4"/>
          <a:stretch>
            <a:fillRect/>
          </a:stretch>
        </p:blipFill>
        <p:spPr>
          <a:xfrm>
            <a:off x="313150" y="3920648"/>
            <a:ext cx="10885117" cy="2430048"/>
          </a:xfrm>
          <a:prstGeom prst="rect">
            <a:avLst/>
          </a:prstGeom>
        </p:spPr>
      </p:pic>
    </p:spTree>
    <p:extLst>
      <p:ext uri="{BB962C8B-B14F-4D97-AF65-F5344CB8AC3E}">
        <p14:creationId xmlns:p14="http://schemas.microsoft.com/office/powerpoint/2010/main" xmlns="" val="55976746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t>ii)Deletion in Circular singly linked list at the end</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spcBef>
                <a:spcPts val="0"/>
              </a:spcBef>
              <a:buNone/>
            </a:pPr>
            <a:r>
              <a:rPr lang="en-US" sz="3200" dirty="0"/>
              <a:t>There are three scenarios</a:t>
            </a:r>
          </a:p>
          <a:p>
            <a:pPr>
              <a:spcBef>
                <a:spcPts val="0"/>
              </a:spcBef>
              <a:buFont typeface="Wingdings" pitchFamily="2" charset="2"/>
              <a:buChar char="§"/>
            </a:pPr>
            <a:r>
              <a:rPr lang="en-US" sz="3200" b="1" dirty="0"/>
              <a:t>Scenario 1: (The list is Empty)</a:t>
            </a:r>
          </a:p>
          <a:p>
            <a:pPr algn="just">
              <a:spcBef>
                <a:spcPts val="0"/>
              </a:spcBef>
              <a:buNone/>
            </a:pPr>
            <a:r>
              <a:rPr lang="en-US" sz="3200" dirty="0"/>
              <a:t>  If the list is empty then the condition </a:t>
            </a:r>
            <a:r>
              <a:rPr lang="en-US" sz="3200" b="1" dirty="0"/>
              <a:t>head == NULL</a:t>
            </a:r>
            <a:r>
              <a:rPr lang="en-US" sz="3200" dirty="0"/>
              <a:t> will become true, in this case, we just need to print </a:t>
            </a:r>
            <a:r>
              <a:rPr lang="en-US" sz="3200" b="1" dirty="0"/>
              <a:t>underflow</a:t>
            </a:r>
            <a:r>
              <a:rPr lang="en-US" sz="3200" dirty="0"/>
              <a:t> on the screen and make exit.</a:t>
            </a:r>
          </a:p>
          <a:p>
            <a:pPr>
              <a:spcBef>
                <a:spcPts val="0"/>
              </a:spcBef>
              <a:buFont typeface="Wingdings" pitchFamily="2" charset="2"/>
              <a:buChar char="§"/>
            </a:pPr>
            <a:r>
              <a:rPr lang="en-US" sz="3200" b="1" dirty="0"/>
              <a:t>Scenario 2: (The list contains single node)</a:t>
            </a:r>
          </a:p>
          <a:p>
            <a:pPr algn="just">
              <a:spcBef>
                <a:spcPts val="0"/>
              </a:spcBef>
              <a:buNone/>
            </a:pPr>
            <a:r>
              <a:rPr lang="en-US" sz="3200" dirty="0"/>
              <a:t>  If the list contains single node then, the condition </a:t>
            </a:r>
            <a:r>
              <a:rPr lang="en-US" sz="3200" b="1" dirty="0"/>
              <a:t>head → next == head</a:t>
            </a:r>
            <a:r>
              <a:rPr lang="en-US" sz="3200" dirty="0"/>
              <a:t> will become true. In this case, we need to delete the entire list and make the head pointer free.</a:t>
            </a:r>
          </a:p>
          <a:p>
            <a:pPr>
              <a:spcBef>
                <a:spcPts val="0"/>
              </a:spcBef>
              <a:buFont typeface="Wingdings" pitchFamily="2" charset="2"/>
              <a:buChar char="§"/>
            </a:pPr>
            <a:r>
              <a:rPr lang="en-US" sz="3200" b="1" dirty="0"/>
              <a:t>Scenario 3: (The list contains more than one node)</a:t>
            </a:r>
          </a:p>
          <a:p>
            <a:pPr algn="just">
              <a:spcBef>
                <a:spcPts val="0"/>
              </a:spcBef>
              <a:buNone/>
            </a:pPr>
            <a:r>
              <a:rPr lang="en-US" sz="3200" dirty="0"/>
              <a:t>   If the list contains more than one element, then in order to delete the last element, we need to reach the last node.</a:t>
            </a:r>
          </a:p>
          <a:p>
            <a:pPr>
              <a:buNone/>
            </a:pPr>
            <a:endParaRPr lang="en-US" sz="3200" dirty="0"/>
          </a:p>
          <a:p>
            <a:endParaRPr lang="en-IN" sz="2400" b="1" dirty="0"/>
          </a:p>
        </p:txBody>
      </p:sp>
    </p:spTree>
    <p:extLst>
      <p:ext uri="{BB962C8B-B14F-4D97-AF65-F5344CB8AC3E}">
        <p14:creationId xmlns:p14="http://schemas.microsoft.com/office/powerpoint/2010/main" xmlns="" val="55976746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ii)Deletion in circular singly linked list at end</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r>
              <a:rPr lang="en-US" sz="3200" b="1" dirty="0"/>
              <a:t>Step 1:</a:t>
            </a:r>
            <a:r>
              <a:rPr lang="en-US" sz="3200" dirty="0"/>
              <a:t> IF HEAD = NULL</a:t>
            </a:r>
          </a:p>
          <a:p>
            <a:pPr>
              <a:buNone/>
            </a:pPr>
            <a:r>
              <a:rPr lang="en-US" sz="3200" dirty="0"/>
              <a:t>          Write UNDERFLOW   (Go to Step 8) [END OF IF]</a:t>
            </a:r>
          </a:p>
          <a:p>
            <a:r>
              <a:rPr lang="en-US" sz="3200" b="1" dirty="0"/>
              <a:t>Step 2:</a:t>
            </a:r>
            <a:r>
              <a:rPr lang="en-US" sz="3200" dirty="0"/>
              <a:t> SET PTR = HEAD</a:t>
            </a:r>
          </a:p>
          <a:p>
            <a:r>
              <a:rPr lang="en-US" sz="3200" b="1" dirty="0"/>
              <a:t>Step 3:</a:t>
            </a:r>
            <a:r>
              <a:rPr lang="en-US" sz="3200" dirty="0"/>
              <a:t> Repeat Steps 4 and 5 while PTR -&gt; NEXT != HEAD</a:t>
            </a:r>
          </a:p>
          <a:p>
            <a:r>
              <a:rPr lang="en-US" sz="3200" b="1" dirty="0"/>
              <a:t>Step 4:</a:t>
            </a:r>
            <a:r>
              <a:rPr lang="en-US" sz="3200" dirty="0"/>
              <a:t> SET PREPTR = PTR</a:t>
            </a:r>
          </a:p>
          <a:p>
            <a:r>
              <a:rPr lang="en-US" sz="3200" b="1" dirty="0"/>
              <a:t>Step 5:</a:t>
            </a:r>
            <a:r>
              <a:rPr lang="en-US" sz="3200" dirty="0"/>
              <a:t> SET PTR = PTR -&gt; NEXT  [END OF LOOP]</a:t>
            </a:r>
          </a:p>
          <a:p>
            <a:r>
              <a:rPr lang="en-US" sz="3200" b="1" dirty="0"/>
              <a:t>Step 6:</a:t>
            </a:r>
            <a:r>
              <a:rPr lang="en-US" sz="3200" dirty="0"/>
              <a:t> SET PREPTR -&gt; NEXT = HEAD</a:t>
            </a:r>
          </a:p>
          <a:p>
            <a:r>
              <a:rPr lang="en-US" sz="3200" b="1" dirty="0"/>
              <a:t>Step 7:</a:t>
            </a:r>
            <a:r>
              <a:rPr lang="en-US" sz="3200" dirty="0"/>
              <a:t> FREE PTR</a:t>
            </a:r>
          </a:p>
          <a:p>
            <a:r>
              <a:rPr lang="en-US" sz="3200" b="1" dirty="0"/>
              <a:t>Step 8:</a:t>
            </a:r>
            <a:r>
              <a:rPr lang="en-US" sz="3200" dirty="0"/>
              <a:t> EXIT</a:t>
            </a:r>
          </a:p>
          <a:p>
            <a:pPr>
              <a:buNone/>
            </a:pPr>
            <a:endParaRPr lang="en-US" sz="3200" dirty="0"/>
          </a:p>
          <a:p>
            <a:pPr>
              <a:buNone/>
            </a:pPr>
            <a:endParaRPr lang="en-US" sz="3200" dirty="0"/>
          </a:p>
          <a:p>
            <a:endParaRPr lang="en-IN" sz="2400" b="1" dirty="0"/>
          </a:p>
        </p:txBody>
      </p:sp>
    </p:spTree>
    <p:extLst>
      <p:ext uri="{BB962C8B-B14F-4D97-AF65-F5344CB8AC3E}">
        <p14:creationId xmlns:p14="http://schemas.microsoft.com/office/powerpoint/2010/main" xmlns="" val="55976746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xmlns="" id="{0F2E30D4-6F86-49D1-9276-85CE0E9B3E3E}"/>
              </a:ext>
            </a:extLst>
          </p:cNvPr>
          <p:cNvSpPr/>
          <p:nvPr/>
        </p:nvSpPr>
        <p:spPr>
          <a:xfrm>
            <a:off x="2243189" y="253280"/>
            <a:ext cx="9756745" cy="70936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ii)Deletion in circular singly linked list at end</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2"/>
          <p:cNvSpPr/>
          <p:nvPr/>
        </p:nvSpPr>
        <p:spPr>
          <a:xfrm>
            <a:off x="320634" y="4100124"/>
            <a:ext cx="11732821" cy="461665"/>
          </a:xfrm>
          <a:prstGeom prst="rect">
            <a:avLst/>
          </a:prstGeom>
        </p:spPr>
        <p:txBody>
          <a:bodyPr wrap="square">
            <a:spAutoFit/>
          </a:bodyPr>
          <a:lstStyle/>
          <a:p>
            <a:pPr marL="342900" indent="-342900">
              <a:buFont typeface="Wingdings" pitchFamily="2" charset="2"/>
              <a:buChar char="Ø"/>
            </a:pPr>
            <a:endParaRPr lang="en-IN" sz="2400" dirty="0"/>
          </a:p>
        </p:txBody>
      </p:sp>
      <p:sp>
        <p:nvSpPr>
          <p:cNvPr id="2" name="Content Placeholder 1"/>
          <p:cNvSpPr>
            <a:spLocks noGrp="1"/>
          </p:cNvSpPr>
          <p:nvPr>
            <p:ph idx="1"/>
          </p:nvPr>
        </p:nvSpPr>
        <p:spPr>
          <a:xfrm>
            <a:off x="320635" y="1215025"/>
            <a:ext cx="11649692" cy="5506409"/>
          </a:xfrm>
        </p:spPr>
        <p:txBody>
          <a:bodyPr/>
          <a:lstStyle/>
          <a:p>
            <a:pPr>
              <a:buNone/>
            </a:pPr>
            <a:endParaRPr lang="en-US" sz="3200" dirty="0"/>
          </a:p>
          <a:p>
            <a:pPr>
              <a:buNone/>
            </a:pPr>
            <a:endParaRPr lang="en-US" sz="3200" dirty="0"/>
          </a:p>
          <a:p>
            <a:endParaRPr lang="en-IN" sz="2400" b="1" dirty="0"/>
          </a:p>
        </p:txBody>
      </p:sp>
      <p:pic>
        <p:nvPicPr>
          <p:cNvPr id="7" name="Picture 6" descr="deletion-in-circular-singly-linked-list-at-end.png"/>
          <p:cNvPicPr>
            <a:picLocks noChangeAspect="1"/>
          </p:cNvPicPr>
          <p:nvPr/>
        </p:nvPicPr>
        <p:blipFill>
          <a:blip r:embed="rId3"/>
          <a:stretch>
            <a:fillRect/>
          </a:stretch>
        </p:blipFill>
        <p:spPr>
          <a:xfrm>
            <a:off x="212942" y="1390389"/>
            <a:ext cx="11786992" cy="5223353"/>
          </a:xfrm>
          <a:prstGeom prst="rect">
            <a:avLst/>
          </a:prstGeom>
        </p:spPr>
      </p:pic>
    </p:spTree>
    <p:extLst>
      <p:ext uri="{BB962C8B-B14F-4D97-AF65-F5344CB8AC3E}">
        <p14:creationId xmlns:p14="http://schemas.microsoft.com/office/powerpoint/2010/main" xmlns="" val="559767460"/>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79241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6001643"/>
          </a:xfrm>
          <a:prstGeom prst="rect">
            <a:avLst/>
          </a:prstGeom>
          <a:noFill/>
        </p:spPr>
        <p:txBody>
          <a:bodyPr wrap="square" rtlCol="0">
            <a:spAutoFit/>
          </a:bodyPr>
          <a:lstStyle/>
          <a:p>
            <a:pPr marL="285750" indent="-285750">
              <a:buFont typeface="Wingdings" pitchFamily="2" charset="2"/>
              <a:buChar char="Ø"/>
            </a:pPr>
            <a:r>
              <a:rPr lang="en-IN" sz="2400" dirty="0"/>
              <a:t>A circular linked list is a sequence of elements in which every element has a link to its next element in the sequence and the last element has a link to the first element.</a:t>
            </a:r>
          </a:p>
          <a:p>
            <a:pPr marL="285750" indent="-285750">
              <a:buFont typeface="Wingdings" pitchFamily="2" charset="2"/>
              <a:buChar char="Ø"/>
            </a:pPr>
            <a:r>
              <a:rPr lang="en-IN" sz="2400" dirty="0"/>
              <a:t>That means circular linked list is similar to the single linked list except that the last node points to the first node in the list</a:t>
            </a:r>
          </a:p>
          <a:p>
            <a:pPr marL="285750" indent="-285750">
              <a:buFont typeface="Wingdings" pitchFamily="2" charset="2"/>
              <a:buChar char="Ø"/>
            </a:pPr>
            <a:r>
              <a:rPr lang="en-IN" sz="2400" dirty="0"/>
              <a:t>In a circular linked list, we perform the following operations...</a:t>
            </a:r>
          </a:p>
          <a:p>
            <a:r>
              <a:rPr lang="en-IN" sz="2400" dirty="0"/>
              <a:t>      i) Insertion	ii)  Deletion	iii)  Display	iv) Search</a:t>
            </a:r>
          </a:p>
          <a:p>
            <a:endParaRPr lang="en-IN" sz="2400" dirty="0"/>
          </a:p>
          <a:p>
            <a:pPr marL="285750" indent="-285750">
              <a:buFont typeface="Wingdings" pitchFamily="2" charset="2"/>
              <a:buChar char="Ø"/>
            </a:pPr>
            <a:r>
              <a:rPr lang="en-IN" sz="2400" dirty="0"/>
              <a:t>The insertion operation can be performed in three ways. They are as follows...</a:t>
            </a:r>
          </a:p>
          <a:p>
            <a:r>
              <a:rPr lang="en-IN" sz="2400" dirty="0"/>
              <a:t>      i)   Inserting At Beginning of the list</a:t>
            </a:r>
          </a:p>
          <a:p>
            <a:r>
              <a:rPr lang="en-IN" sz="2400" dirty="0"/>
              <a:t>      ii)  Inserting At End of the list</a:t>
            </a:r>
          </a:p>
          <a:p>
            <a:r>
              <a:rPr lang="en-IN" sz="2400" dirty="0"/>
              <a:t>      iii) Inserting At Specific location in the list</a:t>
            </a:r>
          </a:p>
          <a:p>
            <a:endParaRPr lang="en-IN" sz="2400" dirty="0"/>
          </a:p>
          <a:p>
            <a:pPr marL="285750" indent="-285750">
              <a:buFont typeface="Wingdings" pitchFamily="2" charset="2"/>
              <a:buChar char="Ø"/>
            </a:pPr>
            <a:r>
              <a:rPr lang="en-IN" sz="2400" dirty="0"/>
              <a:t>The deletion operation can be performed in three ways those are as follows...</a:t>
            </a:r>
          </a:p>
          <a:p>
            <a:r>
              <a:rPr lang="en-IN" sz="2400" dirty="0"/>
              <a:t>      i)   Deleting from Beginning of the list</a:t>
            </a:r>
          </a:p>
          <a:p>
            <a:r>
              <a:rPr lang="en-IN" sz="2400" dirty="0"/>
              <a:t>      ii)  Deleting from End of the list</a:t>
            </a:r>
          </a:p>
          <a:p>
            <a:r>
              <a:rPr lang="en-IN" sz="2400" dirty="0"/>
              <a:t>      iii) Deleting a Specific Node</a:t>
            </a:r>
          </a:p>
        </p:txBody>
      </p:sp>
    </p:spTree>
    <p:extLst>
      <p:ext uri="{BB962C8B-B14F-4D97-AF65-F5344CB8AC3E}">
        <p14:creationId xmlns:p14="http://schemas.microsoft.com/office/powerpoint/2010/main" xmlns="" val="4254978408"/>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530991" y="84408"/>
            <a:ext cx="6414867" cy="72978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SUMMARY    (Cont..)</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5632311"/>
          </a:xfrm>
          <a:prstGeom prst="rect">
            <a:avLst/>
          </a:prstGeom>
          <a:noFill/>
        </p:spPr>
        <p:txBody>
          <a:bodyPr wrap="square" rtlCol="0">
            <a:spAutoFit/>
          </a:bodyPr>
          <a:lstStyle/>
          <a:p>
            <a:pPr algn="just"/>
            <a:r>
              <a:rPr lang="en-US" sz="2400" dirty="0"/>
              <a:t>Circular linked lists are a type of linked list where the last node points back to the first node, forming a loop. This circular structure allows continuous traversal from any node in the list. Key aspects include:</a:t>
            </a:r>
          </a:p>
          <a:p>
            <a:pPr algn="just"/>
            <a:r>
              <a:rPr lang="en-US" sz="2400" b="1" dirty="0"/>
              <a:t>Structure:</a:t>
            </a:r>
            <a:r>
              <a:rPr lang="en-US" sz="2400" dirty="0"/>
              <a:t> Nodes are linked in a sequence, and the last node connects back to the first node, creating a circular loop.</a:t>
            </a:r>
          </a:p>
          <a:p>
            <a:pPr algn="just"/>
            <a:r>
              <a:rPr lang="en-US" sz="2400" b="1" dirty="0"/>
              <a:t>Traversal:</a:t>
            </a:r>
            <a:r>
              <a:rPr lang="en-US" sz="2400" dirty="0"/>
              <a:t> Special attention is needed during traversal to prevent infinite loops within the circular structure. Proper exit conditions or marking visited nodes are essential.</a:t>
            </a:r>
          </a:p>
          <a:p>
            <a:pPr algn="just"/>
            <a:r>
              <a:rPr lang="en-US" sz="2400" b="1" dirty="0"/>
              <a:t>Operations:</a:t>
            </a:r>
            <a:r>
              <a:rPr lang="en-US" sz="2400" dirty="0"/>
              <a:t> Insertion, deletion, and traversal operations require careful handling of pointers to maintain the circular structure.</a:t>
            </a:r>
          </a:p>
          <a:p>
            <a:pPr algn="just"/>
            <a:r>
              <a:rPr lang="en-US" sz="2400" b="1" dirty="0"/>
              <a:t>Memory Management:</a:t>
            </a:r>
            <a:r>
              <a:rPr lang="en-US" sz="2400" dirty="0"/>
              <a:t> They offer benefits in memory allocation due to their continuous loop structure.</a:t>
            </a:r>
          </a:p>
          <a:p>
            <a:pPr algn="just"/>
            <a:r>
              <a:rPr lang="en-US" sz="2400" b="1" dirty="0"/>
              <a:t>Applications:</a:t>
            </a:r>
            <a:r>
              <a:rPr lang="en-US" sz="2400" dirty="0"/>
              <a:t> Used in scenarios requiring continuous looping behavior, like round-robin scheduling or circular buffers in memory management.</a:t>
            </a:r>
          </a:p>
          <a:p>
            <a:pPr algn="just"/>
            <a:r>
              <a:rPr lang="en-US" sz="2400" b="1" dirty="0"/>
              <a:t>Cycle Detection:</a:t>
            </a:r>
            <a:r>
              <a:rPr lang="en-US" sz="2400" dirty="0"/>
              <a:t> Techniques like Floyd's cycle detection algorithm are employed to detect cycles within the list.</a:t>
            </a:r>
          </a:p>
        </p:txBody>
      </p:sp>
    </p:spTree>
    <p:extLst>
      <p:ext uri="{BB962C8B-B14F-4D97-AF65-F5344CB8AC3E}">
        <p14:creationId xmlns:p14="http://schemas.microsoft.com/office/powerpoint/2010/main" xmlns="" val="4254978408"/>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1FA19A5-9588-483E-843E-C76873B71790}"/>
              </a:ext>
            </a:extLst>
          </p:cNvPr>
          <p:cNvSpPr/>
          <p:nvPr/>
        </p:nvSpPr>
        <p:spPr>
          <a:xfrm>
            <a:off x="3455835" y="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6001643"/>
          </a:xfrm>
          <a:prstGeom prst="rect">
            <a:avLst/>
          </a:prstGeom>
          <a:noFill/>
        </p:spPr>
        <p:txBody>
          <a:bodyPr wrap="square" rtlCol="0">
            <a:spAutoFit/>
          </a:bodyPr>
          <a:lstStyle/>
          <a:p>
            <a:pPr marL="285750" indent="-285750">
              <a:buFont typeface="Wingdings" pitchFamily="2" charset="2"/>
              <a:buChar char="Ø"/>
            </a:pPr>
            <a:r>
              <a:rPr lang="en-IN" sz="3200" dirty="0"/>
              <a:t>In a circular linked list, we perform the following operations...</a:t>
            </a:r>
          </a:p>
          <a:p>
            <a:r>
              <a:rPr lang="en-IN" sz="3200" dirty="0"/>
              <a:t>      i) Insertion	ii)  Deletion	iii)  Display	iv) Search</a:t>
            </a:r>
          </a:p>
          <a:p>
            <a:pPr marL="285750" indent="-285750">
              <a:buFont typeface="Wingdings" pitchFamily="2" charset="2"/>
              <a:buChar char="Ø"/>
            </a:pPr>
            <a:r>
              <a:rPr lang="en-IN" sz="3200" dirty="0"/>
              <a:t>The insertion operation can be performed in three ways. They are as follows...</a:t>
            </a:r>
          </a:p>
          <a:p>
            <a:r>
              <a:rPr lang="en-IN" sz="3200" dirty="0"/>
              <a:t>      i)   Inserting At Beginning of the list</a:t>
            </a:r>
          </a:p>
          <a:p>
            <a:r>
              <a:rPr lang="en-IN" sz="3200" dirty="0"/>
              <a:t>      ii)  Inserting At End of the list</a:t>
            </a:r>
          </a:p>
          <a:p>
            <a:r>
              <a:rPr lang="en-IN" sz="3200" dirty="0"/>
              <a:t>      iii) Inserting At Specific location in the list</a:t>
            </a:r>
          </a:p>
          <a:p>
            <a:pPr marL="285750" indent="-285750">
              <a:buFont typeface="Wingdings" pitchFamily="2" charset="2"/>
              <a:buChar char="Ø"/>
            </a:pPr>
            <a:r>
              <a:rPr lang="en-IN" sz="3200" dirty="0"/>
              <a:t>The deletion operation can be performed in three ways those are as follows...</a:t>
            </a:r>
          </a:p>
          <a:p>
            <a:r>
              <a:rPr lang="en-IN" sz="3200" dirty="0"/>
              <a:t>      i)   Deleting from Beginning of the list</a:t>
            </a:r>
          </a:p>
          <a:p>
            <a:r>
              <a:rPr lang="en-IN" sz="3200" dirty="0"/>
              <a:t>      ii)  Deleting from End of the list</a:t>
            </a:r>
          </a:p>
          <a:p>
            <a:r>
              <a:rPr lang="en-IN" sz="3200" dirty="0"/>
              <a:t>      iii) Deleting a Specific Node</a:t>
            </a:r>
          </a:p>
        </p:txBody>
      </p:sp>
    </p:spTree>
    <p:extLst>
      <p:ext uri="{BB962C8B-B14F-4D97-AF65-F5344CB8AC3E}">
        <p14:creationId xmlns:p14="http://schemas.microsoft.com/office/powerpoint/2010/main" xmlns="" val="4254978408"/>
      </p:ext>
    </p:extLst>
  </p:cSld>
  <p:clrMapOvr>
    <a:masterClrMapping/>
  </p:clrMapOvr>
  <mc:AlternateContent xmlns:mc="http://schemas.openxmlformats.org/markup-compatibility/2006">
    <mc:Choice xmlns:p14="http://schemas.microsoft.com/office/powerpoint/2010/main" xmlns=""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ED7FD29D-BBDE-078E-D487-E57247CDB50D}"/>
              </a:ext>
            </a:extLst>
          </p:cNvPr>
          <p:cNvSpPr/>
          <p:nvPr/>
        </p:nvSpPr>
        <p:spPr>
          <a:xfrm>
            <a:off x="1565753" y="94783"/>
            <a:ext cx="9870510" cy="65677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SELF-ASSESSMENT QUESTIONS</a:t>
            </a:r>
          </a:p>
        </p:txBody>
      </p:sp>
      <p:sp>
        <p:nvSpPr>
          <p:cNvPr id="7" name="Google Shape;502;p17">
            <a:extLst>
              <a:ext uri="{FF2B5EF4-FFF2-40B4-BE49-F238E27FC236}">
                <a16:creationId xmlns:a16="http://schemas.microsoft.com/office/drawing/2014/main" xmlns="" id="{AE3D0AA7-0A5F-7BD6-7BC7-1D38F326B8B4}"/>
              </a:ext>
            </a:extLst>
          </p:cNvPr>
          <p:cNvSpPr/>
          <p:nvPr/>
        </p:nvSpPr>
        <p:spPr>
          <a:xfrm>
            <a:off x="1009895" y="1093156"/>
            <a:ext cx="10172210" cy="710244"/>
          </a:xfrm>
          <a:prstGeom prst="roundRect">
            <a:avLst>
              <a:gd name="adj" fmla="val 35613"/>
            </a:avLst>
          </a:prstGeom>
          <a:solidFill>
            <a:schemeClr val="accent4">
              <a:lumMod val="40000"/>
              <a:lumOff val="60000"/>
            </a:schemeClr>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2400" dirty="0"/>
              <a:t>In a circular linked list with </a:t>
            </a:r>
            <a:r>
              <a:rPr lang="en-US" sz="2400" i="1" dirty="0"/>
              <a:t>n</a:t>
            </a:r>
            <a:r>
              <a:rPr lang="en-US" sz="2400" dirty="0"/>
              <a:t> nodes, how many pointers need to be updated when deleting the last node?</a:t>
            </a:r>
            <a:endParaRPr sz="24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xmlns="" id="{5D8B791C-9B35-CF16-C192-D202E0DB9A60}"/>
              </a:ext>
            </a:extLst>
          </p:cNvPr>
          <p:cNvSpPr/>
          <p:nvPr/>
        </p:nvSpPr>
        <p:spPr>
          <a:xfrm>
            <a:off x="964198" y="1888177"/>
            <a:ext cx="6430876" cy="1735556"/>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R"/>
            </a:pPr>
            <a:r>
              <a:rPr lang="en-US" dirty="0"/>
              <a:t>One</a:t>
            </a:r>
          </a:p>
          <a:p>
            <a:pPr marL="342900" indent="-342900">
              <a:lnSpc>
                <a:spcPct val="150000"/>
              </a:lnSpc>
              <a:buAutoNum type="alphaLcParenR"/>
            </a:pPr>
            <a:r>
              <a:rPr lang="en-US" dirty="0"/>
              <a:t>Two </a:t>
            </a:r>
          </a:p>
          <a:p>
            <a:pPr marL="342900" indent="-342900">
              <a:lnSpc>
                <a:spcPct val="150000"/>
              </a:lnSpc>
              <a:buAutoNum type="alphaLcParenR"/>
            </a:pPr>
            <a:r>
              <a:rPr lang="en-US" dirty="0"/>
              <a:t> None  </a:t>
            </a:r>
          </a:p>
          <a:p>
            <a:pPr marL="342900" indent="-342900">
              <a:lnSpc>
                <a:spcPct val="150000"/>
              </a:lnSpc>
              <a:buAutoNum type="alphaLcParenR"/>
            </a:pPr>
            <a:r>
              <a:rPr lang="en-US" dirty="0"/>
              <a:t>n</a:t>
            </a:r>
            <a:r>
              <a:rPr lang="en-IN" dirty="0"/>
              <a:t/>
            </a:r>
            <a:br>
              <a:rPr lang="en-IN" dirty="0"/>
            </a:br>
            <a:endParaRPr lang="en-US" dirty="0"/>
          </a:p>
        </p:txBody>
      </p:sp>
      <p:sp>
        <p:nvSpPr>
          <p:cNvPr id="13" name="Google Shape;502;p17">
            <a:extLst>
              <a:ext uri="{FF2B5EF4-FFF2-40B4-BE49-F238E27FC236}">
                <a16:creationId xmlns:a16="http://schemas.microsoft.com/office/drawing/2014/main" xmlns="" id="{BB41B87C-BE5F-4BF2-531D-57DC21D1A451}"/>
              </a:ext>
            </a:extLst>
          </p:cNvPr>
          <p:cNvSpPr/>
          <p:nvPr/>
        </p:nvSpPr>
        <p:spPr>
          <a:xfrm>
            <a:off x="1009895" y="3820343"/>
            <a:ext cx="10172210" cy="710244"/>
          </a:xfrm>
          <a:prstGeom prst="roundRect">
            <a:avLst>
              <a:gd name="adj" fmla="val 35613"/>
            </a:avLst>
          </a:prstGeom>
          <a:solidFill>
            <a:schemeClr val="accent4">
              <a:lumMod val="40000"/>
              <a:lumOff val="60000"/>
            </a:schemeClr>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IN" sz="2400" dirty="0"/>
              <a:t>2. Which of the following is false about a circular linked list?</a:t>
            </a:r>
            <a:br>
              <a:rPr lang="en-IN" sz="2400" dirty="0"/>
            </a:br>
            <a:endParaRPr lang="en-IN" sz="2400" dirty="0"/>
          </a:p>
        </p:txBody>
      </p:sp>
      <p:sp>
        <p:nvSpPr>
          <p:cNvPr id="14" name="Rounded Rectangle 17">
            <a:extLst>
              <a:ext uri="{FF2B5EF4-FFF2-40B4-BE49-F238E27FC236}">
                <a16:creationId xmlns:a16="http://schemas.microsoft.com/office/drawing/2014/main" xmlns="" id="{7E00138C-2256-5D01-E821-A57ADA3BBCB0}"/>
              </a:ext>
            </a:extLst>
          </p:cNvPr>
          <p:cNvSpPr/>
          <p:nvPr/>
        </p:nvSpPr>
        <p:spPr>
          <a:xfrm>
            <a:off x="1009895" y="4727197"/>
            <a:ext cx="779146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a) Every node has a successor</a:t>
            </a:r>
            <a:br>
              <a:rPr lang="en-IN" dirty="0"/>
            </a:br>
            <a:r>
              <a:rPr lang="en-IN" dirty="0"/>
              <a:t>b) Time complexity of inserting a new node at the head of the list is O(1)</a:t>
            </a:r>
            <a:br>
              <a:rPr lang="en-IN" dirty="0"/>
            </a:br>
            <a:r>
              <a:rPr lang="en-IN" dirty="0"/>
              <a:t>c) Time complexity for deleting the last node is O(n)</a:t>
            </a:r>
            <a:br>
              <a:rPr lang="en-IN" dirty="0"/>
            </a:br>
            <a:r>
              <a:rPr lang="en-IN" dirty="0"/>
              <a:t>d) We can traverse the whole circular linked list by starting from any point</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xmlns=""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3390636" y="94783"/>
            <a:ext cx="5410728" cy="59414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TERMINAL QUESTIONS</a:t>
            </a:r>
          </a:p>
        </p:txBody>
      </p:sp>
      <p:sp>
        <p:nvSpPr>
          <p:cNvPr id="9" name="TextBox 8"/>
          <p:cNvSpPr txBox="1"/>
          <p:nvPr/>
        </p:nvSpPr>
        <p:spPr>
          <a:xfrm>
            <a:off x="887805" y="1064711"/>
            <a:ext cx="10698769" cy="5693866"/>
          </a:xfrm>
          <a:prstGeom prst="rect">
            <a:avLst/>
          </a:prstGeom>
          <a:noFill/>
        </p:spPr>
        <p:txBody>
          <a:bodyPr wrap="square" rtlCol="0">
            <a:spAutoFit/>
          </a:bodyPr>
          <a:lstStyle/>
          <a:p>
            <a:pPr marL="514350" indent="-514350" algn="just">
              <a:buAutoNum type="arabicPeriod"/>
            </a:pPr>
            <a:r>
              <a:rPr lang="en-US" sz="2800" b="1" dirty="0"/>
              <a:t>Explore the scenarios where circular linked lists are preferred over other data structures, such as arrays or doubly linked lists. Highlight the specific applications or problems where the circular nature of the list provides a significant advantage.</a:t>
            </a:r>
          </a:p>
          <a:p>
            <a:pPr algn="just"/>
            <a:r>
              <a:rPr lang="en-US" sz="2800" b="1" dirty="0"/>
              <a:t>2. List out different types of Circular linked lists?</a:t>
            </a:r>
          </a:p>
          <a:p>
            <a:pPr algn="just"/>
            <a:r>
              <a:rPr lang="en-US" sz="2800" b="1" dirty="0"/>
              <a:t>3. List out different operations can perform on Circular linked lists?</a:t>
            </a:r>
          </a:p>
          <a:p>
            <a:pPr algn="just"/>
            <a:r>
              <a:rPr lang="en-US" sz="2800" b="1" dirty="0"/>
              <a:t>4. Analyze the time complexity of the CLL for the operations such as                insertion, deletion, and search</a:t>
            </a:r>
          </a:p>
          <a:p>
            <a:pPr algn="just"/>
            <a:r>
              <a:rPr lang="en-US" sz="2800" b="1" dirty="0"/>
              <a:t>5.Describe the potential drawbacks or challenges of implementing circular linked lists compared  to singly linked lists. Highlight scenarios where circularity might lead to complexities or inefficiencies in data manipulation</a:t>
            </a:r>
          </a:p>
          <a:p>
            <a:pPr algn="just"/>
            <a:endParaRPr lang="en-US" sz="2800"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xmlns=""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xmlns="" id="{045E056E-10BD-0B9E-4ACE-A3F54C31FD9F}"/>
              </a:ext>
            </a:extLst>
          </p:cNvPr>
          <p:cNvSpPr/>
          <p:nvPr/>
        </p:nvSpPr>
        <p:spPr>
          <a:xfrm>
            <a:off x="1400519" y="0"/>
            <a:ext cx="10622070" cy="59634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REFERENCES FOR FURTHER LEARNING OF THE SESSION</a:t>
            </a:r>
            <a:endParaRPr lang="en-US" sz="36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4619854"/>
          </a:xfrm>
          <a:prstGeom prst="rect">
            <a:avLst/>
          </a:prstGeom>
          <a:noFill/>
        </p:spPr>
        <p:txBody>
          <a:bodyPr wrap="square" rtlCol="0">
            <a:spAutoFit/>
          </a:bodyPr>
          <a:lstStyle/>
          <a:p>
            <a:r>
              <a:rPr lang="en-US" b="1" dirty="0" smtClean="0"/>
              <a:t>Textbooks:</a:t>
            </a:r>
            <a:endParaRPr lang="en-US" dirty="0" smtClean="0"/>
          </a:p>
          <a:p>
            <a:pPr lvl="0"/>
            <a:r>
              <a:rPr lang="en-US" dirty="0" smtClean="0"/>
              <a:t>Mark Allen Weiss, Data Structures and Algorithm Analysis in C, 2010, Second Edition, Pearson Education.</a:t>
            </a:r>
          </a:p>
          <a:p>
            <a:pPr lvl="0"/>
            <a:r>
              <a:rPr lang="en-US" dirty="0" smtClean="0"/>
              <a:t>Allen B. Downey, ”Think Python: How to Think Like a Computer Scientist’’, 2nd edition, Updated for Python 3, </a:t>
            </a:r>
            <a:r>
              <a:rPr lang="en-US" dirty="0" err="1" smtClean="0"/>
              <a:t>Shroff</a:t>
            </a:r>
            <a:r>
              <a:rPr lang="en-US" dirty="0" smtClean="0"/>
              <a:t>/O’Reilly Publishers, 2016 (</a:t>
            </a:r>
            <a:r>
              <a:rPr lang="en-US" u="sng" dirty="0" smtClean="0">
                <a:hlinkClick r:id="rId2"/>
              </a:rPr>
              <a:t>http://greenteapress.com/wp/thinkpython/</a:t>
            </a:r>
            <a:r>
              <a:rPr lang="en-US" dirty="0" smtClean="0"/>
              <a:t>)</a:t>
            </a:r>
          </a:p>
          <a:p>
            <a:pPr lvl="0"/>
            <a:r>
              <a:rPr lang="en-US" dirty="0" smtClean="0"/>
              <a:t>Data Structures and algorithms using python, 2011,Rance D, </a:t>
            </a:r>
            <a:r>
              <a:rPr lang="en-US" dirty="0" err="1" smtClean="0"/>
              <a:t>Necaise</a:t>
            </a:r>
            <a:r>
              <a:rPr lang="en-US" dirty="0" smtClean="0"/>
              <a:t>, </a:t>
            </a:r>
            <a:r>
              <a:rPr lang="en-US" dirty="0" err="1" smtClean="0"/>
              <a:t>himilton</a:t>
            </a:r>
            <a:r>
              <a:rPr lang="en-US" dirty="0" smtClean="0"/>
              <a:t> printing</a:t>
            </a:r>
          </a:p>
          <a:p>
            <a:r>
              <a:rPr lang="en-US" b="1" dirty="0" err="1" smtClean="0"/>
              <a:t>ReferenceBooks</a:t>
            </a:r>
            <a:r>
              <a:rPr lang="en-US" b="1" dirty="0" smtClean="0"/>
              <a:t>:</a:t>
            </a:r>
            <a:endParaRPr lang="en-US" dirty="0" smtClean="0"/>
          </a:p>
          <a:p>
            <a:pPr lvl="0"/>
            <a:r>
              <a:rPr lang="en-US" dirty="0" smtClean="0"/>
              <a:t>Data Structures and Algorithm Analysis in PYTHON, 2010, Mark Allen Weiss, Second Edition, Pearson Education.</a:t>
            </a:r>
          </a:p>
          <a:p>
            <a:pPr lvl="0"/>
            <a:r>
              <a:rPr lang="en-US" dirty="0" smtClean="0"/>
              <a:t>Data Structures and Algorithms, </a:t>
            </a:r>
            <a:r>
              <a:rPr lang="en-US" dirty="0" err="1" smtClean="0"/>
              <a:t>A.V.Aho</a:t>
            </a:r>
            <a:r>
              <a:rPr lang="en-US" dirty="0" smtClean="0"/>
              <a:t>, </a:t>
            </a:r>
            <a:r>
              <a:rPr lang="en-US" dirty="0" err="1" smtClean="0"/>
              <a:t>J.E.Hopcroft</a:t>
            </a:r>
            <a:r>
              <a:rPr lang="en-US" dirty="0" smtClean="0"/>
              <a:t>, and </a:t>
            </a:r>
            <a:r>
              <a:rPr lang="en-US" dirty="0" err="1" smtClean="0"/>
              <a:t>J.D.Ullman</a:t>
            </a:r>
            <a:r>
              <a:rPr lang="en-US" dirty="0" smtClean="0"/>
              <a:t>, Pearson Education, First Edition Reprint2003.</a:t>
            </a:r>
          </a:p>
          <a:p>
            <a:pPr lvl="0"/>
            <a:r>
              <a:rPr lang="en-US" dirty="0" smtClean="0"/>
              <a:t>Advanced Guide to Python 3 Programming, John Hunt, 4</a:t>
            </a:r>
            <a:r>
              <a:rPr lang="en-US" baseline="30000" dirty="0" smtClean="0"/>
              <a:t>th</a:t>
            </a:r>
            <a:r>
              <a:rPr lang="en-US" dirty="0" smtClean="0"/>
              <a:t> Edition, Springer Nature Switzerland AG 2019.</a:t>
            </a:r>
          </a:p>
          <a:p>
            <a:pPr lvl="0"/>
            <a:r>
              <a:rPr lang="en-US" dirty="0" smtClean="0"/>
              <a:t>Python Basics: A Practice Introduction to Python 3, David Amos, Dan Bader, Joanna </a:t>
            </a:r>
            <a:r>
              <a:rPr lang="en-US" dirty="0" err="1" smtClean="0"/>
              <a:t>Jablonski</a:t>
            </a:r>
            <a:r>
              <a:rPr lang="en-US" dirty="0" smtClean="0"/>
              <a:t>, Fletcher </a:t>
            </a:r>
            <a:r>
              <a:rPr lang="en-US" dirty="0" err="1" smtClean="0"/>
              <a:t>Heisler</a:t>
            </a:r>
            <a:r>
              <a:rPr lang="en-US" dirty="0" smtClean="0"/>
              <a:t>, 4</a:t>
            </a:r>
            <a:r>
              <a:rPr lang="en-US" baseline="30000" dirty="0" smtClean="0"/>
              <a:t>th</a:t>
            </a:r>
            <a:r>
              <a:rPr lang="en-US" dirty="0" smtClean="0"/>
              <a:t> edition, Real Python.</a:t>
            </a:r>
          </a:p>
          <a:p>
            <a:r>
              <a:rPr lang="en-US" b="1" dirty="0" err="1" smtClean="0"/>
              <a:t>WebLinks</a:t>
            </a:r>
            <a:r>
              <a:rPr lang="en-US" b="1" dirty="0" smtClean="0"/>
              <a:t>:</a:t>
            </a:r>
            <a:endParaRPr lang="en-US" dirty="0" smtClean="0"/>
          </a:p>
          <a:p>
            <a:pPr lvl="0"/>
            <a:r>
              <a:rPr lang="en-US" u="sng" dirty="0" smtClean="0">
                <a:hlinkClick r:id="rId3"/>
              </a:rPr>
              <a:t>https://docs.python.org/3/tutorial/datastructures.html</a:t>
            </a:r>
            <a:endParaRPr lang="en-US" dirty="0" smtClean="0"/>
          </a:p>
          <a:p>
            <a:pPr lvl="0"/>
            <a:r>
              <a:rPr lang="en-US" u="sng" dirty="0" smtClean="0">
                <a:hlinkClick r:id="rId4"/>
              </a:rPr>
              <a:t>https://www.w3schools.com/dsa/dsa_intro.php</a:t>
            </a:r>
            <a:endParaRPr lang="en-US" dirty="0" smtClean="0"/>
          </a:p>
          <a:p>
            <a:pPr lvl="0"/>
            <a:r>
              <a:rPr lang="en-US" u="sng" dirty="0" smtClean="0">
                <a:hlinkClick r:id="rId5"/>
              </a:rPr>
              <a:t>https://www.geeksforgeeks.org/python-data-structures/</a:t>
            </a:r>
            <a:endParaRPr lang="en-US" dirty="0" smtClean="0"/>
          </a:p>
          <a:p>
            <a:pPr>
              <a:lnSpc>
                <a:spcPct val="150000"/>
              </a:lnSpc>
            </a:pPr>
            <a:endParaRPr lang="en-US" dirty="0"/>
          </a:p>
        </p:txBody>
      </p:sp>
      <p:pic>
        <p:nvPicPr>
          <p:cNvPr id="5" name="Picture 2" descr="KL Deemed to be University Logo"/>
          <p:cNvPicPr>
            <a:picLocks noChangeAspect="1" noChangeArrowheads="1"/>
          </p:cNvPicPr>
          <p:nvPr/>
        </p:nvPicPr>
        <p:blipFill>
          <a:blip r:embed="rId6"/>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xmlns=""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xmlns=""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32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3600" b="1" dirty="0">
                <a:latin typeface="Poppins" pitchFamily="2" charset="77"/>
                <a:cs typeface="Poppins" pitchFamily="2" charset="77"/>
              </a:rPr>
              <a:t>Team – Data </a:t>
            </a:r>
            <a:r>
              <a:rPr lang="en-US" sz="3600" b="1" dirty="0" smtClean="0">
                <a:latin typeface="Poppins" pitchFamily="2" charset="77"/>
                <a:cs typeface="Poppins" pitchFamily="2" charset="77"/>
              </a:rPr>
              <a:t>Structures using Python</a:t>
            </a:r>
            <a:endParaRPr lang="en-US" sz="36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BD0A98-E68B-4DAA-8964-2F739D6D4075}">
  <ds:schemaRef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schemas.microsoft.com/office/2006/metadata/properties"/>
    <ds:schemaRef ds:uri="http://purl.org/dc/elements/1.1/"/>
    <ds:schemaRef ds:uri="0125a647-8023-46ae-ae6e-85cf36d841bd"/>
    <ds:schemaRef ds:uri="http://purl.org/dc/terms/"/>
    <ds:schemaRef ds:uri="d43ee83c-3e71-4748-8ebc-8eaadf793425"/>
    <ds:schemaRef ds:uri="http://www.w3.org/XML/1998/namespace"/>
  </ds:schemaRefs>
</ds:datastoreItem>
</file>

<file path=customXml/itemProps2.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DA00F5F-5366-4B1C-9406-30DECA796A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2521</TotalTime>
  <Words>2331</Words>
  <Application>Microsoft Office PowerPoint</Application>
  <PresentationFormat>Custom</PresentationFormat>
  <Paragraphs>382</Paragraphs>
  <Slides>37</Slides>
  <Notes>9</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1_Office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Administrator</cp:lastModifiedBy>
  <cp:revision>84</cp:revision>
  <dcterms:created xsi:type="dcterms:W3CDTF">2020-02-08T09:57:44Z</dcterms:created>
  <dcterms:modified xsi:type="dcterms:W3CDTF">2024-12-14T06:50:11Z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