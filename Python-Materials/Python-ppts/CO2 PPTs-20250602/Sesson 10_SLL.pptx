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1"/>
  </p:notesMasterIdLst>
  <p:sldIdLst>
    <p:sldId id="271" r:id="rId5"/>
    <p:sldId id="300" r:id="rId6"/>
    <p:sldId id="258" r:id="rId7"/>
    <p:sldId id="288" r:id="rId8"/>
    <p:sldId id="305" r:id="rId9"/>
    <p:sldId id="306" r:id="rId10"/>
    <p:sldId id="322" r:id="rId11"/>
    <p:sldId id="330" r:id="rId12"/>
    <p:sldId id="324" r:id="rId13"/>
    <p:sldId id="325" r:id="rId14"/>
    <p:sldId id="326" r:id="rId15"/>
    <p:sldId id="327" r:id="rId16"/>
    <p:sldId id="328" r:id="rId17"/>
    <p:sldId id="329" r:id="rId18"/>
    <p:sldId id="323" r:id="rId19"/>
    <p:sldId id="30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E84845"/>
    <a:srgbClr val="FAD2D2"/>
    <a:srgbClr val="F89E4C"/>
    <a:srgbClr val="A81E24"/>
    <a:srgbClr val="FFF2CC"/>
    <a:srgbClr val="CF2F33"/>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89"/>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12/13/2024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val="3228435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4E4ADD7-897F-4F47-A317-DE24AB827DD3}" type="slidenum">
              <a:rPr lang="en-US" smtClean="0"/>
              <a:pPr/>
              <a:t>12</a:t>
            </a:fld>
            <a:endParaRPr lang="en-US"/>
          </a:p>
        </p:txBody>
      </p:sp>
    </p:spTree>
    <p:extLst>
      <p:ext uri="{BB962C8B-B14F-4D97-AF65-F5344CB8AC3E}">
        <p14:creationId xmlns:p14="http://schemas.microsoft.com/office/powerpoint/2010/main" val="27918202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1" y="10886"/>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669726" cy="3416279"/>
          </a:xfrm>
          <a:prstGeom prst="rect">
            <a:avLst/>
          </a:prstGeom>
          <a:noFill/>
          <a:ln>
            <a:noFill/>
          </a:ln>
        </p:spPr>
        <p:txBody>
          <a:bodyPr spcFirstLastPara="1" wrap="square" lIns="91425" tIns="45700" rIns="91425" bIns="45700" anchor="t" anchorCtr="0">
            <a:spAutoFit/>
          </a:bodyPr>
          <a:lstStyle/>
          <a:p>
            <a:pPr algn="ctr"/>
            <a:r>
              <a:rPr lang="en-US" sz="3200" b="1" cap="all" dirty="0">
                <a:ln/>
                <a:solidFill>
                  <a:srgbClr val="C00000"/>
                </a:solidFill>
                <a:latin typeface="Times New Roman" panose="02020603050405020304" pitchFamily="18" charset="0"/>
                <a:cs typeface="Times New Roman" panose="02020603050405020304" pitchFamily="18" charset="0"/>
                <a:sym typeface="BioRhyme ExtraBold"/>
              </a:rPr>
              <a:t>COURSE: </a:t>
            </a:r>
            <a:r>
              <a:rPr lang="en-US" sz="3200" b="1" dirty="0">
                <a:solidFill>
                  <a:schemeClr val="accent1"/>
                </a:solidFill>
                <a:latin typeface="Times New Roman" panose="02020603050405020304" pitchFamily="18" charset="0"/>
                <a:cs typeface="Times New Roman" panose="02020603050405020304" pitchFamily="18" charset="0"/>
              </a:rPr>
              <a:t>Data Structures</a:t>
            </a:r>
            <a:endParaRPr lang="en-IN" sz="3200" b="1" dirty="0">
              <a:solidFill>
                <a:schemeClr val="accent1"/>
              </a:solidFill>
              <a:latin typeface="Times New Roman" panose="02020603050405020304" pitchFamily="18" charset="0"/>
              <a:cs typeface="Times New Roman" panose="02020603050405020304" pitchFamily="18" charset="0"/>
            </a:endParaRPr>
          </a:p>
          <a:p>
            <a:pPr marR="0" lvl="0" indent="0" algn="ctr">
              <a:spcBef>
                <a:spcPts val="0"/>
              </a:spcBef>
              <a:spcAft>
                <a:spcPts val="0"/>
              </a:spcAft>
              <a:buNone/>
            </a:pPr>
            <a:endParaRPr lang="en-US" sz="3200" b="1" cap="all" dirty="0">
              <a:ln/>
              <a:solidFill>
                <a:srgbClr val="C00000"/>
              </a:solidFill>
              <a:latin typeface="Times New Roman" panose="02020603050405020304" pitchFamily="18" charset="0"/>
              <a:cs typeface="Times New Roman" panose="02020603050405020304" pitchFamily="18" charset="0"/>
              <a:sym typeface="BioRhyme ExtraBold"/>
            </a:endParaRPr>
          </a:p>
          <a:p>
            <a:pPr algn="ctr"/>
            <a:r>
              <a:rPr lang="en-US" sz="3200" b="1" cap="all" dirty="0">
                <a:ln/>
                <a:solidFill>
                  <a:srgbClr val="C00000"/>
                </a:solidFill>
                <a:latin typeface="Times New Roman" panose="02020603050405020304" pitchFamily="18" charset="0"/>
                <a:cs typeface="Times New Roman" panose="02020603050405020304" pitchFamily="18" charset="0"/>
                <a:sym typeface="BioRhyme ExtraBold"/>
              </a:rPr>
              <a:t>COURSE CODE: </a:t>
            </a:r>
            <a:r>
              <a:rPr lang="en-US" sz="3200" b="1" dirty="0">
                <a:solidFill>
                  <a:schemeClr val="accent1"/>
                </a:solidFill>
                <a:latin typeface="Times New Roman" panose="02020603050405020304" pitchFamily="18" charset="0"/>
                <a:cs typeface="Times New Roman" panose="02020603050405020304" pitchFamily="18" charset="0"/>
              </a:rPr>
              <a:t>24SC1204</a:t>
            </a:r>
            <a:endParaRPr lang="en-IN" sz="3200" b="1" dirty="0">
              <a:solidFill>
                <a:schemeClr val="accent1"/>
              </a:solidFill>
              <a:latin typeface="Times New Roman" panose="02020603050405020304" pitchFamily="18" charset="0"/>
              <a:cs typeface="Times New Roman" panose="02020603050405020304" pitchFamily="18" charset="0"/>
            </a:endParaRPr>
          </a:p>
          <a:p>
            <a:pPr marR="0" lvl="0" indent="0" algn="ctr">
              <a:spcBef>
                <a:spcPts val="0"/>
              </a:spcBef>
              <a:spcAft>
                <a:spcPts val="0"/>
              </a:spcAft>
              <a:buNone/>
            </a:pPr>
            <a:endParaRPr lang="en-US" sz="2000" b="1" dirty="0">
              <a:solidFill>
                <a:schemeClr val="bg1">
                  <a:lumMod val="50000"/>
                </a:schemeClr>
              </a:solidFill>
              <a:latin typeface="Times New Roman" panose="02020603050405020304" pitchFamily="18" charset="0"/>
              <a:ea typeface="BioRhyme ExtraBold"/>
              <a:cs typeface="Times New Roman" panose="02020603050405020304" pitchFamily="18" charset="0"/>
              <a:sym typeface="BioRhyme ExtraBold"/>
            </a:endParaRPr>
          </a:p>
          <a:p>
            <a:pPr marR="0" lvl="0" indent="0" algn="ctr">
              <a:spcBef>
                <a:spcPts val="0"/>
              </a:spcBef>
              <a:spcAft>
                <a:spcPts val="0"/>
              </a:spcAft>
              <a:buNone/>
            </a:pPr>
            <a:r>
              <a:rPr lang="en-US" sz="2000" b="1" dirty="0">
                <a:solidFill>
                  <a:schemeClr val="bg1">
                    <a:lumMod val="50000"/>
                  </a:schemeClr>
                </a:solidFill>
                <a:latin typeface="Times New Roman" panose="02020603050405020304" pitchFamily="18" charset="0"/>
                <a:ea typeface="BioRhyme ExtraBold"/>
                <a:cs typeface="Times New Roman" panose="02020603050405020304" pitchFamily="18" charset="0"/>
                <a:sym typeface="BioRhyme ExtraBold"/>
              </a:rPr>
              <a:t>Topic: </a:t>
            </a:r>
          </a:p>
          <a:p>
            <a:pPr marR="0" lvl="0" indent="0" algn="ctr">
              <a:spcBef>
                <a:spcPts val="0"/>
              </a:spcBef>
              <a:spcAft>
                <a:spcPts val="0"/>
              </a:spcAft>
              <a:buNone/>
            </a:pPr>
            <a:r>
              <a:rPr lang="en-US" sz="4000" b="1" cap="all" dirty="0">
                <a:ln/>
                <a:solidFill>
                  <a:srgbClr val="C00000"/>
                </a:solidFill>
                <a:effectLst/>
                <a:latin typeface="Times New Roman" panose="02020603050405020304" pitchFamily="18" charset="0"/>
                <a:cs typeface="Times New Roman" panose="02020603050405020304" pitchFamily="18" charset="0"/>
              </a:rPr>
              <a:t>Name of the topic: </a:t>
            </a:r>
          </a:p>
          <a:p>
            <a:pPr marR="0" lvl="0" indent="0" algn="ctr">
              <a:spcBef>
                <a:spcPts val="0"/>
              </a:spcBef>
              <a:spcAft>
                <a:spcPts val="0"/>
              </a:spcAft>
              <a:buNone/>
            </a:pPr>
            <a:r>
              <a:rPr lang="en-US" sz="4000" b="1" dirty="0">
                <a:solidFill>
                  <a:srgbClr val="00B0F0"/>
                </a:solidFill>
                <a:latin typeface="Times New Roman" panose="02020603050405020304" pitchFamily="18" charset="0"/>
                <a:cs typeface="Times New Roman" pitchFamily="18" charset="0"/>
              </a:rPr>
              <a:t>Singly Linked List</a:t>
            </a:r>
            <a:endParaRPr lang="en-US" sz="4000" b="1" dirty="0">
              <a:solidFill>
                <a:srgbClr val="C00000"/>
              </a:solidFill>
              <a:effectLst/>
              <a:latin typeface="Times New Roman" panose="02020603050405020304" pitchFamily="18" charset="0"/>
              <a:cs typeface="Times New Roman" panose="02020603050405020304" pitchFamily="18" charset="0"/>
            </a:endParaRPr>
          </a:p>
        </p:txBody>
      </p:sp>
      <p:sp>
        <p:nvSpPr>
          <p:cNvPr id="19" name="Rectangle: Rounded Corners 18">
            <a:extLst>
              <a:ext uri="{FF2B5EF4-FFF2-40B4-BE49-F238E27FC236}">
                <a16:creationId xmlns:a16="http://schemas.microsoft.com/office/drawing/2014/main" id="{B9F0C376-F4D3-1950-3474-EFF28411BDC6}"/>
              </a:ext>
            </a:extLst>
          </p:cNvPr>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latin typeface="Times New Roman" panose="02020603050405020304" pitchFamily="18" charset="0"/>
                <a:cs typeface="Times New Roman" panose="02020603050405020304" pitchFamily="18" charset="0"/>
              </a:rPr>
              <a:t>Department of </a:t>
            </a:r>
            <a:r>
              <a:rPr lang="en-US" sz="4000" dirty="0">
                <a:solidFill>
                  <a:srgbClr val="FF0000"/>
                </a:solidFill>
                <a:latin typeface="Times New Roman" panose="02020603050405020304" pitchFamily="18" charset="0"/>
                <a:cs typeface="Times New Roman" panose="02020603050405020304" pitchFamily="18" charset="0"/>
              </a:rPr>
              <a:t>BES-I</a:t>
            </a:r>
          </a:p>
        </p:txBody>
      </p:sp>
      <p:sp>
        <p:nvSpPr>
          <p:cNvPr id="8" name="Google Shape;502;p17">
            <a:extLst>
              <a:ext uri="{FF2B5EF4-FFF2-40B4-BE49-F238E27FC236}">
                <a16:creationId xmlns:a16="http://schemas.microsoft.com/office/drawing/2014/main" id="{7153E61F-4441-DBE3-3DFF-6E9EF6C48D23}"/>
              </a:ext>
            </a:extLst>
          </p:cNvPr>
          <p:cNvSpPr/>
          <p:nvPr/>
        </p:nvSpPr>
        <p:spPr>
          <a:xfrm>
            <a:off x="7276164" y="5572270"/>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latin typeface="Times New Roman" panose="02020603050405020304" pitchFamily="18" charset="0"/>
                <a:ea typeface="Calibri"/>
                <a:cs typeface="Times New Roman" panose="02020603050405020304" pitchFamily="18" charset="0"/>
                <a:sym typeface="Calibri"/>
              </a:rPr>
              <a:t>Session – 10</a:t>
            </a:r>
            <a:endParaRPr sz="2400" dirty="0">
              <a:solidFill>
                <a:schemeClr val="lt1"/>
              </a:solidFill>
              <a:latin typeface="Times New Roman" panose="02020603050405020304" pitchFamily="18" charset="0"/>
              <a:ea typeface="Calibri"/>
              <a:cs typeface="Times New Roman" panose="02020603050405020304" pitchFamily="18"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3434105" y="212247"/>
            <a:ext cx="5428562" cy="339800"/>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1752600" y="615845"/>
            <a:ext cx="8791575" cy="980781"/>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2000" b="0" i="0" dirty="0">
                <a:effectLst/>
                <a:latin typeface="Times New Roman" panose="02020603050405020304" pitchFamily="18" charset="0"/>
                <a:cs typeface="Times New Roman" panose="02020603050405020304" pitchFamily="18" charset="0"/>
              </a:rPr>
              <a:t>To familiarize students with the basic concept of </a:t>
            </a:r>
            <a:r>
              <a:rPr lang="en-US" sz="2400" spc="-5" dirty="0">
                <a:latin typeface="Times New Roman" panose="02020603050405020304" pitchFamily="18" charset="0"/>
                <a:ea typeface="Tahoma" panose="020B0604030504040204" pitchFamily="34" charset="0"/>
                <a:cs typeface="Times New Roman" panose="02020603050405020304" pitchFamily="18" charset="0"/>
              </a:rPr>
              <a:t>Singly linked list</a:t>
            </a:r>
            <a:endParaRPr lang="en-US" sz="2000" b="0" i="0" dirty="0">
              <a:effectLst/>
              <a:latin typeface="Times New Roman" panose="02020603050405020304" pitchFamily="18" charset="0"/>
              <a:cs typeface="Times New Roman" panose="02020603050405020304" pitchFamily="18" charset="0"/>
            </a:endParaRPr>
          </a:p>
          <a:p>
            <a:pPr>
              <a:lnSpc>
                <a:spcPct val="150000"/>
              </a:lnSpc>
            </a:pPr>
            <a:endParaRPr lang="en-US" sz="1600" b="0" i="0" dirty="0">
              <a:effectLst/>
              <a:latin typeface="Poppins"/>
              <a:cs typeface="Poppins"/>
            </a:endParaRPr>
          </a:p>
        </p:txBody>
      </p:sp>
      <p:sp>
        <p:nvSpPr>
          <p:cNvPr id="7" name="Rounded Rectangle 17">
            <a:extLst>
              <a:ext uri="{FF2B5EF4-FFF2-40B4-BE49-F238E27FC236}">
                <a16:creationId xmlns:a16="http://schemas.microsoft.com/office/drawing/2014/main" id="{7F3AABB0-F8BA-C900-B6BF-45F4B58E9490}"/>
              </a:ext>
            </a:extLst>
          </p:cNvPr>
          <p:cNvSpPr/>
          <p:nvPr/>
        </p:nvSpPr>
        <p:spPr>
          <a:xfrm>
            <a:off x="3486304" y="1646496"/>
            <a:ext cx="5219392" cy="37130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104286"/>
            <a:ext cx="8791575" cy="224676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2000" dirty="0">
                <a:latin typeface="Times New Roman" panose="02020603050405020304" pitchFamily="18" charset="0"/>
                <a:cs typeface="Times New Roman" panose="02020603050405020304" pitchFamily="18" charset="0"/>
              </a:rPr>
              <a:t>This</a:t>
            </a:r>
            <a:r>
              <a:rPr lang="en-US" sz="2000" b="0" i="0" dirty="0">
                <a:effectLst/>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Session</a:t>
            </a:r>
            <a:r>
              <a:rPr lang="en-US" sz="2000" b="0" i="0" dirty="0">
                <a:effectLst/>
                <a:latin typeface="Times New Roman" panose="02020603050405020304" pitchFamily="18" charset="0"/>
                <a:cs typeface="Times New Roman" panose="02020603050405020304" pitchFamily="18" charset="0"/>
              </a:rPr>
              <a:t> is designed to: </a:t>
            </a:r>
          </a:p>
          <a:p>
            <a:pPr marL="342900" indent="-342900">
              <a:buAutoNum type="arabicPeriod"/>
            </a:pPr>
            <a:r>
              <a:rPr lang="en-US" sz="2000" b="0" i="0" dirty="0">
                <a:effectLst/>
                <a:latin typeface="Times New Roman" panose="02020603050405020304" pitchFamily="18" charset="0"/>
                <a:cs typeface="Times New Roman" panose="02020603050405020304" pitchFamily="18" charset="0"/>
              </a:rPr>
              <a:t>Demonstrate The </a:t>
            </a:r>
            <a:r>
              <a:rPr lang="en-US" sz="2000" spc="-5" dirty="0">
                <a:latin typeface="Times New Roman" panose="02020603050405020304" pitchFamily="18" charset="0"/>
                <a:ea typeface="Tahoma" panose="020B0604030504040204" pitchFamily="34" charset="0"/>
                <a:cs typeface="Times New Roman" panose="02020603050405020304" pitchFamily="18" charset="0"/>
              </a:rPr>
              <a:t>Singly</a:t>
            </a:r>
            <a:r>
              <a:rPr lang="en-US" sz="2000" b="0" i="0" dirty="0">
                <a:effectLst/>
                <a:latin typeface="Times New Roman" panose="02020603050405020304" pitchFamily="18" charset="0"/>
                <a:cs typeface="Times New Roman" panose="02020603050405020304" pitchFamily="18" charset="0"/>
              </a:rPr>
              <a:t> linked list</a:t>
            </a:r>
          </a:p>
          <a:p>
            <a:pPr marL="342900" indent="-342900">
              <a:buAutoNum type="arabicPeriod"/>
            </a:pPr>
            <a:r>
              <a:rPr lang="en-US" sz="2000" b="0" i="0" dirty="0">
                <a:effectLst/>
                <a:latin typeface="Times New Roman" panose="02020603050405020304" pitchFamily="18" charset="0"/>
                <a:cs typeface="Times New Roman" panose="02020603050405020304" pitchFamily="18" charset="0"/>
              </a:rPr>
              <a:t>Describe the types of </a:t>
            </a:r>
            <a:r>
              <a:rPr lang="en-US" sz="2000" spc="-5" dirty="0">
                <a:latin typeface="Times New Roman" panose="02020603050405020304" pitchFamily="18" charset="0"/>
                <a:ea typeface="Tahoma" panose="020B0604030504040204" pitchFamily="34" charset="0"/>
                <a:cs typeface="Times New Roman" panose="02020603050405020304" pitchFamily="18" charset="0"/>
              </a:rPr>
              <a:t>Singly</a:t>
            </a:r>
            <a:r>
              <a:rPr lang="en-US" sz="2000" b="0" i="0" dirty="0">
                <a:effectLst/>
                <a:latin typeface="Times New Roman" panose="02020603050405020304" pitchFamily="18" charset="0"/>
                <a:cs typeface="Times New Roman" panose="02020603050405020304" pitchFamily="18" charset="0"/>
              </a:rPr>
              <a:t> linked list.</a:t>
            </a:r>
          </a:p>
          <a:p>
            <a:pPr marL="342900" indent="-342900">
              <a:buAutoNum type="arabicPeriod"/>
            </a:pPr>
            <a:r>
              <a:rPr lang="en-US" sz="2000" b="0" i="0" dirty="0">
                <a:effectLst/>
                <a:latin typeface="Times New Roman" panose="02020603050405020304" pitchFamily="18" charset="0"/>
                <a:cs typeface="Times New Roman" panose="02020603050405020304" pitchFamily="18" charset="0"/>
              </a:rPr>
              <a:t>List out the operations possible on the </a:t>
            </a:r>
            <a:r>
              <a:rPr lang="en-US" sz="2000" spc="-5" dirty="0">
                <a:latin typeface="Times New Roman" panose="02020603050405020304" pitchFamily="18" charset="0"/>
                <a:ea typeface="Tahoma" panose="020B0604030504040204" pitchFamily="34" charset="0"/>
                <a:cs typeface="Times New Roman" panose="02020603050405020304" pitchFamily="18" charset="0"/>
              </a:rPr>
              <a:t>Singly</a:t>
            </a:r>
            <a:r>
              <a:rPr lang="en-US" sz="2000" b="0" i="0" dirty="0">
                <a:effectLst/>
                <a:latin typeface="Times New Roman" panose="02020603050405020304" pitchFamily="18" charset="0"/>
                <a:cs typeface="Times New Roman" panose="02020603050405020304" pitchFamily="18" charset="0"/>
              </a:rPr>
              <a:t> linked list.</a:t>
            </a:r>
          </a:p>
          <a:p>
            <a:pPr marL="342900" indent="-342900">
              <a:buAutoNum type="arabicPeriod"/>
            </a:pPr>
            <a:r>
              <a:rPr lang="en-US" sz="2000" b="0" i="0" dirty="0">
                <a:effectLst/>
                <a:latin typeface="Times New Roman" panose="02020603050405020304" pitchFamily="18" charset="0"/>
                <a:cs typeface="Times New Roman" panose="02020603050405020304" pitchFamily="18" charset="0"/>
              </a:rPr>
              <a:t>Describe each operation </a:t>
            </a:r>
          </a:p>
          <a:p>
            <a:pPr marL="342900" indent="-342900">
              <a:buAutoNum type="arabicPeriod"/>
            </a:pPr>
            <a:r>
              <a:rPr lang="en-US" sz="2000" dirty="0">
                <a:latin typeface="Times New Roman" panose="02020603050405020304" pitchFamily="18" charset="0"/>
                <a:cs typeface="Times New Roman" panose="02020603050405020304" pitchFamily="18" charset="0"/>
              </a:rPr>
              <a:t>List out the advantages and applications of SLL.</a:t>
            </a: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3645234" y="4334726"/>
            <a:ext cx="4901532" cy="43104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52600" y="4772230"/>
            <a:ext cx="8791575" cy="1938992"/>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2000" b="0" i="0" dirty="0">
                <a:effectLst/>
                <a:latin typeface="Times New Roman" panose="02020603050405020304" pitchFamily="18" charset="0"/>
                <a:cs typeface="Times New Roman" panose="02020603050405020304" pitchFamily="18" charset="0"/>
              </a:rPr>
              <a:t>At the end of this </a:t>
            </a:r>
            <a:r>
              <a:rPr lang="en-US" sz="2000" dirty="0">
                <a:latin typeface="Times New Roman" panose="02020603050405020304" pitchFamily="18" charset="0"/>
                <a:cs typeface="Times New Roman" panose="02020603050405020304" pitchFamily="18" charset="0"/>
              </a:rPr>
              <a:t>session</a:t>
            </a:r>
            <a:r>
              <a:rPr lang="en-US" sz="2000" b="0" i="0" dirty="0">
                <a:effectLst/>
                <a:latin typeface="Times New Roman" panose="02020603050405020304" pitchFamily="18" charset="0"/>
                <a:cs typeface="Times New Roman" panose="02020603050405020304" pitchFamily="18" charset="0"/>
              </a:rPr>
              <a:t>, you should be able to:</a:t>
            </a:r>
          </a:p>
          <a:p>
            <a:pPr marL="342900" indent="-342900">
              <a:buAutoNum type="arabicPeriod"/>
            </a:pPr>
            <a:r>
              <a:rPr lang="en-US" sz="2000" b="0" i="0" dirty="0">
                <a:effectLst/>
                <a:latin typeface="Times New Roman" panose="02020603050405020304" pitchFamily="18" charset="0"/>
                <a:cs typeface="Times New Roman" panose="02020603050405020304" pitchFamily="18" charset="0"/>
              </a:rPr>
              <a:t>Define </a:t>
            </a:r>
            <a:r>
              <a:rPr lang="en-US" sz="2000" spc="-5" dirty="0">
                <a:latin typeface="Times New Roman" panose="02020603050405020304" pitchFamily="18" charset="0"/>
                <a:ea typeface="Tahoma" panose="020B0604030504040204" pitchFamily="34" charset="0"/>
                <a:cs typeface="Times New Roman" panose="02020603050405020304" pitchFamily="18" charset="0"/>
              </a:rPr>
              <a:t>Singly</a:t>
            </a:r>
            <a:r>
              <a:rPr lang="en-US" sz="2000" b="0" i="0" dirty="0">
                <a:effectLst/>
                <a:latin typeface="Times New Roman" panose="02020603050405020304" pitchFamily="18" charset="0"/>
                <a:cs typeface="Times New Roman" panose="02020603050405020304" pitchFamily="18" charset="0"/>
              </a:rPr>
              <a:t> linked list</a:t>
            </a:r>
          </a:p>
          <a:p>
            <a:pPr marL="342900" indent="-342900">
              <a:buAutoNum type="arabicPeriod"/>
            </a:pPr>
            <a:r>
              <a:rPr lang="en-US" sz="2000" b="0" i="0" dirty="0">
                <a:effectLst/>
                <a:latin typeface="Times New Roman" panose="02020603050405020304" pitchFamily="18" charset="0"/>
                <a:cs typeface="Times New Roman" panose="02020603050405020304" pitchFamily="18" charset="0"/>
              </a:rPr>
              <a:t>Describe two types of </a:t>
            </a:r>
            <a:r>
              <a:rPr lang="en-US" sz="2000" spc="-5" dirty="0">
                <a:latin typeface="Times New Roman" panose="02020603050405020304" pitchFamily="18" charset="0"/>
                <a:ea typeface="Tahoma" panose="020B0604030504040204" pitchFamily="34" charset="0"/>
                <a:cs typeface="Times New Roman" panose="02020603050405020304" pitchFamily="18" charset="0"/>
              </a:rPr>
              <a:t>Singly</a:t>
            </a:r>
            <a:r>
              <a:rPr lang="en-US" sz="2000" b="0" i="0" dirty="0">
                <a:effectLst/>
                <a:latin typeface="Times New Roman" panose="02020603050405020304" pitchFamily="18" charset="0"/>
                <a:cs typeface="Times New Roman" panose="02020603050405020304" pitchFamily="18" charset="0"/>
              </a:rPr>
              <a:t> linked list. And their operations</a:t>
            </a:r>
          </a:p>
          <a:p>
            <a:pPr marL="342900" indent="-342900">
              <a:buAutoNum type="arabicPeriod"/>
            </a:pPr>
            <a:r>
              <a:rPr lang="en-US" sz="2000" dirty="0">
                <a:latin typeface="Times New Roman" panose="02020603050405020304" pitchFamily="18" charset="0"/>
                <a:cs typeface="Times New Roman" panose="02020603050405020304" pitchFamily="18" charset="0"/>
              </a:rPr>
              <a:t>Summarize definition, types and operations of singly linked list and its applications</a:t>
            </a: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1933881" y="172551"/>
            <a:ext cx="8324237" cy="119786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400" spc="-5" dirty="0">
                <a:latin typeface="Times New Roman" panose="02020603050405020304" pitchFamily="18" charset="0"/>
                <a:ea typeface="Tahoma" panose="020B0604030504040204" pitchFamily="34" charset="0"/>
                <a:cs typeface="Times New Roman" panose="02020603050405020304" pitchFamily="18" charset="0"/>
              </a:rPr>
              <a:t>Singly</a:t>
            </a:r>
            <a:r>
              <a:rPr lang="en-US" sz="3400" dirty="0">
                <a:latin typeface="Times New Roman" panose="02020603050405020304" pitchFamily="18" charset="0"/>
                <a:cs typeface="Times New Roman" panose="02020603050405020304" pitchFamily="18" charset="0"/>
              </a:rPr>
              <a:t> Linked List</a:t>
            </a:r>
          </a:p>
          <a:p>
            <a:r>
              <a:rPr lang="en-US" sz="3400" dirty="0">
                <a:latin typeface="Times New Roman" panose="02020603050405020304" pitchFamily="18" charset="0"/>
                <a:cs typeface="Times New Roman" panose="02020603050405020304" pitchFamily="18" charset="0"/>
              </a:rPr>
              <a:t>		     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1579418" y="1465781"/>
            <a:ext cx="10132418" cy="4832092"/>
          </a:xfrm>
          <a:prstGeom prst="rect">
            <a:avLst/>
          </a:prstGeom>
          <a:noFill/>
        </p:spPr>
        <p:txBody>
          <a:bodyPr wrap="square" rtlCol="0">
            <a:spAutoFit/>
          </a:bodyPr>
          <a:lstStyle/>
          <a:p>
            <a:pPr algn="just">
              <a:buFont typeface="Wingdings" pitchFamily="2" charset="2"/>
              <a:buChar char="Ø"/>
            </a:pPr>
            <a:r>
              <a:rPr lang="en-IN" sz="28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A </a:t>
            </a:r>
            <a:r>
              <a:rPr lang="en-US" sz="2800" b="1" dirty="0">
                <a:latin typeface="Times New Roman" panose="02020603050405020304" pitchFamily="18" charset="0"/>
                <a:cs typeface="Times New Roman" panose="02020603050405020304" pitchFamily="18" charset="0"/>
              </a:rPr>
              <a:t>singly linked list</a:t>
            </a:r>
            <a:r>
              <a:rPr lang="en-US" sz="2800" dirty="0">
                <a:latin typeface="Times New Roman" panose="02020603050405020304" pitchFamily="18" charset="0"/>
                <a:cs typeface="Times New Roman" panose="02020603050405020304" pitchFamily="18" charset="0"/>
              </a:rPr>
              <a:t> is a linear data structure in which the elements are not stored in contiguous memory locations.</a:t>
            </a:r>
          </a:p>
          <a:p>
            <a:pPr algn="just">
              <a:buFont typeface="Wingdings" pitchFamily="2" charset="2"/>
              <a:buChar char="Ø"/>
            </a:pPr>
            <a:endParaRPr lang="en-US" sz="2800" dirty="0">
              <a:latin typeface="Times New Roman" panose="02020603050405020304" pitchFamily="18" charset="0"/>
              <a:cs typeface="Times New Roman" panose="02020603050405020304" pitchFamily="18" charset="0"/>
            </a:endParaRPr>
          </a:p>
          <a:p>
            <a:pPr algn="just">
              <a:buFont typeface="Wingdings" pitchFamily="2" charset="2"/>
              <a:buChar char="Ø"/>
            </a:pPr>
            <a:r>
              <a:rPr lang="en-US" sz="2800" dirty="0">
                <a:latin typeface="Times New Roman" panose="02020603050405020304" pitchFamily="18" charset="0"/>
                <a:cs typeface="Times New Roman" panose="02020603050405020304" pitchFamily="18" charset="0"/>
              </a:rPr>
              <a:t>Each element is connected only to its next element using a pointer</a:t>
            </a:r>
            <a:r>
              <a:rPr lang="en-IN" sz="2800" dirty="0">
                <a:latin typeface="Times New Roman" panose="02020603050405020304" pitchFamily="18" charset="0"/>
                <a:cs typeface="Times New Roman" pitchFamily="18" charset="0"/>
              </a:rPr>
              <a:t>.</a:t>
            </a:r>
          </a:p>
          <a:p>
            <a:pPr algn="just"/>
            <a:endParaRPr lang="en-IN" sz="2800" dirty="0">
              <a:latin typeface="Times New Roman" panose="02020603050405020304" pitchFamily="18" charset="0"/>
              <a:cs typeface="Times New Roman" pitchFamily="18" charset="0"/>
            </a:endParaRPr>
          </a:p>
          <a:p>
            <a:pPr algn="just">
              <a:buFont typeface="Wingdings" pitchFamily="2" charset="2"/>
              <a:buChar char="Ø"/>
            </a:pPr>
            <a:r>
              <a:rPr lang="en-IN" sz="2800" dirty="0">
                <a:latin typeface="Times New Roman" panose="02020603050405020304" pitchFamily="18" charset="0"/>
                <a:cs typeface="Times New Roman" pitchFamily="18" charset="0"/>
              </a:rPr>
              <a:t> In single linked list, every node points to its next node in the sequence and the last node points NULL. </a:t>
            </a:r>
          </a:p>
          <a:p>
            <a:pPr algn="just"/>
            <a:r>
              <a:rPr lang="en-IN" sz="2800" dirty="0">
                <a:latin typeface="Times New Roman" panose="02020603050405020304" pitchFamily="18" charset="0"/>
                <a:cs typeface="Times New Roman" pitchFamily="18" charset="0"/>
              </a:rPr>
              <a:t>	</a:t>
            </a:r>
          </a:p>
          <a:p>
            <a:pPr algn="just"/>
            <a:endParaRPr lang="en-IN" sz="2800" dirty="0">
              <a:latin typeface="Times New Roman" panose="02020603050405020304" pitchFamily="18" charset="0"/>
              <a:cs typeface="Times New Roman" pitchFamily="18" charset="0"/>
            </a:endParaRPr>
          </a:p>
          <a:p>
            <a:pPr algn="just"/>
            <a:endParaRPr lang="en-IN" sz="2800" dirty="0">
              <a:latin typeface="Times New Roman" panose="02020603050405020304" pitchFamily="18" charset="0"/>
              <a:cs typeface="Times New Roman" pitchFamily="18" charset="0"/>
            </a:endParaRPr>
          </a:p>
          <a:p>
            <a:pPr algn="just"/>
            <a:endParaRPr lang="en-IN" sz="2800" dirty="0">
              <a:latin typeface="Times New Roman" panose="02020603050405020304" pitchFamily="18" charset="0"/>
              <a:cs typeface="Times New Roman" pitchFamily="18" charset="0"/>
            </a:endParaRPr>
          </a:p>
        </p:txBody>
      </p:sp>
      <p:pic>
        <p:nvPicPr>
          <p:cNvPr id="1026" name="Picture 2" descr="Lightbox">
            <a:extLst>
              <a:ext uri="{FF2B5EF4-FFF2-40B4-BE49-F238E27FC236}">
                <a16:creationId xmlns:a16="http://schemas.microsoft.com/office/drawing/2014/main" id="{7193DFAD-EA98-73AF-D927-D3C59AA7AC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27788" y="4573880"/>
            <a:ext cx="7734300" cy="2105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9052342"/>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1768576" y="216696"/>
            <a:ext cx="9291483" cy="66410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3600" b="1" dirty="0">
                <a:solidFill>
                  <a:schemeClr val="bg1"/>
                </a:solidFill>
                <a:latin typeface="Times New Roman" pitchFamily="18" charset="0"/>
                <a:cs typeface="Times New Roman" pitchFamily="18" charset="0"/>
              </a:rPr>
              <a:t>Example of Singly Linked list with 4 nodes</a:t>
            </a:r>
            <a:endParaRPr lang="en-US" sz="3600" dirty="0">
              <a:solidFill>
                <a:schemeClr val="bg1"/>
              </a:solidFill>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Content Placeholder 2">
            <a:extLst>
              <a:ext uri="{FF2B5EF4-FFF2-40B4-BE49-F238E27FC236}">
                <a16:creationId xmlns:a16="http://schemas.microsoft.com/office/drawing/2014/main" id="{A29BC752-6031-1D55-1FB5-B7E784443214}"/>
              </a:ext>
            </a:extLst>
          </p:cNvPr>
          <p:cNvSpPr>
            <a:spLocks noGrp="1"/>
          </p:cNvSpPr>
          <p:nvPr>
            <p:ph idx="1"/>
          </p:nvPr>
        </p:nvSpPr>
        <p:spPr>
          <a:xfrm>
            <a:off x="838200" y="1825625"/>
            <a:ext cx="10515600" cy="2254762"/>
          </a:xfrm>
        </p:spPr>
        <p:txBody>
          <a:bodyPr/>
          <a:lstStyle/>
          <a:p>
            <a:endParaRPr lang="en-IN" dirty="0"/>
          </a:p>
          <a:p>
            <a:endParaRPr lang="en-IN" dirty="0"/>
          </a:p>
        </p:txBody>
      </p:sp>
      <p:pic>
        <p:nvPicPr>
          <p:cNvPr id="2052" name="Picture 4" descr="Singly linked list">
            <a:extLst>
              <a:ext uri="{FF2B5EF4-FFF2-40B4-BE49-F238E27FC236}">
                <a16:creationId xmlns:a16="http://schemas.microsoft.com/office/drawing/2014/main" id="{8DFD9807-65C9-D0C7-C56E-32090D95C2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4838" y="1353179"/>
            <a:ext cx="9878961" cy="50082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035526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1990725" y="245393"/>
            <a:ext cx="9088953"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400" b="1" dirty="0">
                <a:latin typeface="Times New Roman" panose="02020603050405020304" pitchFamily="18" charset="0"/>
                <a:cs typeface="Times New Roman" panose="02020603050405020304" pitchFamily="18" charset="0"/>
              </a:rPr>
              <a:t>OPERATIONS ON SINGLY LINKED LIST</a:t>
            </a:r>
            <a:endParaRPr lang="en-US" sz="3400" dirty="0">
              <a:latin typeface="Times New Roman" panose="02020603050405020304" pitchFamily="18" charset="0"/>
              <a:cs typeface="Times New Roman" panose="02020603050405020304" pitchFamily="18" charset="0"/>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1990725" y="2028653"/>
            <a:ext cx="9088953" cy="3785652"/>
          </a:xfrm>
          <a:prstGeom prst="rect">
            <a:avLst/>
          </a:prstGeom>
        </p:spPr>
        <p:txBody>
          <a:bodyPr wrap="square">
            <a:spAutoFit/>
          </a:bodyPr>
          <a:lstStyle/>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In a singly linked list, we can perform the following operations...</a:t>
            </a:r>
          </a:p>
          <a:p>
            <a:endParaRPr lang="en-IN" sz="2400" dirty="0">
              <a:latin typeface="Times New Roman" panose="02020603050405020304" pitchFamily="18" charset="0"/>
              <a:cs typeface="Times New Roman" panose="02020603050405020304" pitchFamily="18" charset="0"/>
            </a:endParaRPr>
          </a:p>
          <a:p>
            <a:pPr marL="914400" lvl="1" indent="-457200">
              <a:buFont typeface="+mj-lt"/>
              <a:buAutoNum type="arabicPeriod"/>
            </a:pPr>
            <a:r>
              <a:rPr lang="en-IN" sz="2400" dirty="0">
                <a:latin typeface="Times New Roman" panose="02020603050405020304" pitchFamily="18" charset="0"/>
                <a:cs typeface="Times New Roman" panose="02020603050405020304" pitchFamily="18" charset="0"/>
              </a:rPr>
              <a:t>Search</a:t>
            </a:r>
          </a:p>
          <a:p>
            <a:pPr marL="914400" lvl="1" indent="-457200">
              <a:buFont typeface="+mj-lt"/>
              <a:buAutoNum type="arabicPeriod"/>
            </a:pPr>
            <a:r>
              <a:rPr lang="en-IN" sz="2400" dirty="0">
                <a:latin typeface="Times New Roman" panose="02020603050405020304" pitchFamily="18" charset="0"/>
                <a:cs typeface="Times New Roman" panose="02020603050405020304" pitchFamily="18" charset="0"/>
              </a:rPr>
              <a:t>Counting</a:t>
            </a:r>
          </a:p>
          <a:p>
            <a:pPr marL="914400" lvl="1" indent="-457200">
              <a:buFont typeface="+mj-lt"/>
              <a:buAutoNum type="arabicPeriod"/>
            </a:pPr>
            <a:r>
              <a:rPr lang="en-IN" sz="2400" dirty="0">
                <a:latin typeface="Times New Roman" panose="02020603050405020304" pitchFamily="18" charset="0"/>
                <a:cs typeface="Times New Roman" panose="02020603050405020304" pitchFamily="18" charset="0"/>
              </a:rPr>
              <a:t>Traversing</a:t>
            </a:r>
          </a:p>
          <a:p>
            <a:pPr lvl="1"/>
            <a:r>
              <a:rPr lang="en-IN" sz="2400" dirty="0">
                <a:latin typeface="Times New Roman" panose="02020603050405020304" pitchFamily="18" charset="0"/>
                <a:cs typeface="Times New Roman" panose="02020603050405020304" pitchFamily="18" charset="0"/>
              </a:rPr>
              <a:t>	 a) forward direction</a:t>
            </a:r>
          </a:p>
          <a:p>
            <a:pPr lvl="1"/>
            <a:r>
              <a:rPr lang="en-IN" sz="2400" dirty="0">
                <a:latin typeface="Times New Roman" panose="02020603050405020304" pitchFamily="18" charset="0"/>
                <a:cs typeface="Times New Roman" panose="02020603050405020304" pitchFamily="18" charset="0"/>
              </a:rPr>
              <a:t>       b) reverse direction</a:t>
            </a:r>
          </a:p>
          <a:p>
            <a:pPr lvl="1"/>
            <a:endParaRPr lang="en-IN" sz="2400" dirty="0">
              <a:latin typeface="Times New Roman" panose="02020603050405020304" pitchFamily="18" charset="0"/>
              <a:cs typeface="Times New Roman" panose="02020603050405020304" pitchFamily="18" charset="0"/>
            </a:endParaRPr>
          </a:p>
          <a:p>
            <a:pPr lvl="1"/>
            <a:r>
              <a:rPr lang="en-IN"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1990725" y="272089"/>
            <a:ext cx="8100218"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400" b="1" dirty="0">
                <a:latin typeface="Times New Roman" panose="02020603050405020304" pitchFamily="18" charset="0"/>
                <a:cs typeface="Times New Roman" panose="02020603050405020304" pitchFamily="18" charset="0"/>
              </a:rPr>
              <a:t>Setup the Singly Linked List                               </a:t>
            </a:r>
            <a:endParaRPr lang="en-US" sz="3400" dirty="0">
              <a:latin typeface="Times New Roman" panose="02020603050405020304" pitchFamily="18" charset="0"/>
              <a:cs typeface="Times New Roman" panose="02020603050405020304" pitchFamily="18" charset="0"/>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1003611" y="1298429"/>
            <a:ext cx="10895464" cy="5201424"/>
          </a:xfrm>
          <a:prstGeom prst="rect">
            <a:avLst/>
          </a:prstGeom>
          <a:solidFill>
            <a:schemeClr val="bg1"/>
          </a:solidFill>
        </p:spPr>
        <p:txBody>
          <a:bodyPr wrap="square">
            <a:spAutoFit/>
          </a:bodyPr>
          <a:lstStyle/>
          <a:p>
            <a:pPr algn="just"/>
            <a:r>
              <a:rPr lang="en-IN" sz="2400" dirty="0">
                <a:latin typeface="Times New Roman" panose="02020603050405020304" pitchFamily="18" charset="0"/>
                <a:cs typeface="Times New Roman" panose="02020603050405020304" pitchFamily="18" charset="0"/>
              </a:rPr>
              <a:t>Before we implement those operations, first we need to </a:t>
            </a:r>
            <a:r>
              <a:rPr lang="en-IN" sz="2400" b="1" dirty="0">
                <a:latin typeface="Times New Roman" panose="02020603050405020304" pitchFamily="18" charset="0"/>
                <a:cs typeface="Times New Roman" panose="02020603050405020304" pitchFamily="18" charset="0"/>
              </a:rPr>
              <a:t>setup empty list</a:t>
            </a:r>
            <a:r>
              <a:rPr lang="en-IN" sz="2400" dirty="0">
                <a:latin typeface="Times New Roman" panose="02020603050405020304" pitchFamily="18" charset="0"/>
                <a:cs typeface="Times New Roman" panose="02020603050405020304" pitchFamily="18" charset="0"/>
              </a:rPr>
              <a:t>. </a:t>
            </a:r>
          </a:p>
          <a:p>
            <a:pPr marL="342900" indent="-342900" algn="just">
              <a:buFont typeface="Wingdings" pitchFamily="2" charset="2"/>
              <a:buChar char="Ø"/>
            </a:pPr>
            <a:r>
              <a:rPr lang="en-IN" sz="2400" b="1" dirty="0">
                <a:latin typeface="Times New Roman" panose="02020603050405020304" pitchFamily="18" charset="0"/>
                <a:cs typeface="Times New Roman" panose="02020603050405020304" pitchFamily="18" charset="0"/>
              </a:rPr>
              <a:t>Perform the following steps to setup Empty SLL:</a:t>
            </a:r>
            <a:r>
              <a:rPr lang="en-IN" sz="2400" dirty="0">
                <a:latin typeface="Times New Roman" panose="02020603050405020304" pitchFamily="18" charset="0"/>
                <a:cs typeface="Times New Roman" panose="02020603050405020304" pitchFamily="18" charset="0"/>
              </a:rPr>
              <a:t>.</a:t>
            </a:r>
          </a:p>
          <a:p>
            <a:pPr algn="just"/>
            <a:r>
              <a:rPr lang="en-IN" sz="2400" dirty="0">
                <a:latin typeface="Times New Roman" panose="02020603050405020304" pitchFamily="18" charset="0"/>
                <a:cs typeface="Times New Roman" panose="02020603050405020304" pitchFamily="18" charset="0"/>
              </a:rPr>
              <a:t>   Step 1 - Define a </a:t>
            </a:r>
            <a:r>
              <a:rPr lang="en-IN" sz="2400" b="1" dirty="0">
                <a:latin typeface="Times New Roman" panose="02020603050405020304" pitchFamily="18" charset="0"/>
                <a:cs typeface="Times New Roman" panose="02020603050405020304" pitchFamily="18" charset="0"/>
              </a:rPr>
              <a:t>Node</a:t>
            </a:r>
            <a:r>
              <a:rPr lang="en-IN" sz="2400" dirty="0">
                <a:latin typeface="Times New Roman" panose="02020603050405020304" pitchFamily="18" charset="0"/>
                <a:cs typeface="Times New Roman" panose="02020603050405020304" pitchFamily="18" charset="0"/>
              </a:rPr>
              <a:t> structure with two members/fields </a:t>
            </a:r>
            <a:r>
              <a:rPr lang="en-IN" sz="2400" b="1" dirty="0">
                <a:latin typeface="Times New Roman" panose="02020603050405020304" pitchFamily="18" charset="0"/>
                <a:cs typeface="Times New Roman" panose="02020603050405020304" pitchFamily="18" charset="0"/>
              </a:rPr>
              <a:t>data</a:t>
            </a:r>
            <a:r>
              <a:rPr lang="en-IN" sz="2400" dirty="0">
                <a:latin typeface="Times New Roman" panose="02020603050405020304" pitchFamily="18" charset="0"/>
                <a:cs typeface="Times New Roman" panose="02020603050405020304" pitchFamily="18" charset="0"/>
              </a:rPr>
              <a:t> and </a:t>
            </a:r>
            <a:r>
              <a:rPr lang="en-IN" sz="2400" b="1" dirty="0">
                <a:latin typeface="Times New Roman" panose="02020603050405020304" pitchFamily="18" charset="0"/>
                <a:cs typeface="Times New Roman" panose="02020603050405020304" pitchFamily="18" charset="0"/>
              </a:rPr>
              <a:t>next</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Step 2 - Define a Node pointer '</a:t>
            </a:r>
            <a:r>
              <a:rPr lang="en-IN" sz="2400" b="1" dirty="0">
                <a:latin typeface="Times New Roman" panose="02020603050405020304" pitchFamily="18" charset="0"/>
                <a:cs typeface="Times New Roman" panose="02020603050405020304" pitchFamily="18" charset="0"/>
              </a:rPr>
              <a:t>head</a:t>
            </a:r>
            <a:r>
              <a:rPr lang="en-IN" sz="2400" dirty="0">
                <a:latin typeface="Times New Roman" panose="02020603050405020304" pitchFamily="18" charset="0"/>
                <a:cs typeface="Times New Roman" panose="02020603050405020304" pitchFamily="18" charset="0"/>
              </a:rPr>
              <a:t>' and set it to </a:t>
            </a:r>
            <a:r>
              <a:rPr lang="en-IN" sz="2400" b="1" dirty="0">
                <a:latin typeface="Times New Roman" panose="02020603050405020304" pitchFamily="18" charset="0"/>
                <a:cs typeface="Times New Roman" panose="02020603050405020304" pitchFamily="18" charset="0"/>
              </a:rPr>
              <a:t>NULL</a:t>
            </a:r>
            <a:r>
              <a:rPr lang="en-IN" sz="2400" dirty="0">
                <a:latin typeface="Times New Roman" panose="02020603050405020304" pitchFamily="18" charset="0"/>
                <a:cs typeface="Times New Roman" panose="02020603050405020304" pitchFamily="18" charset="0"/>
              </a:rPr>
              <a:t>.</a:t>
            </a:r>
          </a:p>
          <a:p>
            <a:pPr algn="just"/>
            <a:r>
              <a:rPr lang="en-IN" sz="2400" dirty="0">
                <a:latin typeface="Times New Roman" panose="02020603050405020304" pitchFamily="18" charset="0"/>
                <a:cs typeface="Times New Roman" panose="02020603050405020304" pitchFamily="18" charset="0"/>
              </a:rPr>
              <a:t>   Step 3 – Then perform the Operations one by one.</a:t>
            </a:r>
          </a:p>
          <a:p>
            <a:pPr algn="just">
              <a:buFont typeface="Wingdings" pitchFamily="2" charset="2"/>
              <a:buChar char="v"/>
            </a:pP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The node is defined (represented) as:</a:t>
            </a:r>
          </a:p>
          <a:p>
            <a:pPr algn="just"/>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struct</a:t>
            </a:r>
            <a:r>
              <a:rPr lang="en-IN" sz="2400" dirty="0">
                <a:latin typeface="Times New Roman" panose="02020603050405020304" pitchFamily="18" charset="0"/>
                <a:cs typeface="Times New Roman" panose="02020603050405020304" pitchFamily="18" charset="0"/>
              </a:rPr>
              <a:t> Node </a:t>
            </a:r>
          </a:p>
          <a:p>
            <a:pPr algn="just"/>
            <a:r>
              <a:rPr lang="en-IN" sz="2400" dirty="0">
                <a:latin typeface="Times New Roman" panose="02020603050405020304" pitchFamily="18" charset="0"/>
                <a:cs typeface="Times New Roman" panose="02020603050405020304" pitchFamily="18" charset="0"/>
              </a:rPr>
              <a:t>    	{</a:t>
            </a:r>
          </a:p>
          <a:p>
            <a:pPr algn="just"/>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int</a:t>
            </a:r>
            <a:r>
              <a:rPr lang="en-IN" sz="2400" dirty="0">
                <a:latin typeface="Times New Roman" panose="02020603050405020304" pitchFamily="18" charset="0"/>
                <a:cs typeface="Times New Roman" panose="02020603050405020304" pitchFamily="18" charset="0"/>
              </a:rPr>
              <a:t>  data; </a:t>
            </a:r>
          </a:p>
          <a:p>
            <a:pPr algn="just"/>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struct</a:t>
            </a:r>
            <a:r>
              <a:rPr lang="en-IN" sz="2400" dirty="0">
                <a:latin typeface="Times New Roman" panose="02020603050405020304" pitchFamily="18" charset="0"/>
                <a:cs typeface="Times New Roman" panose="02020603050405020304" pitchFamily="18" charset="0"/>
              </a:rPr>
              <a:t> Node  * next; </a:t>
            </a:r>
          </a:p>
          <a:p>
            <a:pPr algn="just"/>
            <a:r>
              <a:rPr lang="en-IN" sz="2400" dirty="0">
                <a:latin typeface="Times New Roman" panose="02020603050405020304" pitchFamily="18" charset="0"/>
                <a:cs typeface="Times New Roman" panose="02020603050405020304" pitchFamily="18" charset="0"/>
              </a:rPr>
              <a:t>     	};</a:t>
            </a:r>
          </a:p>
          <a:p>
            <a:pPr algn="just"/>
            <a:r>
              <a:rPr lang="en-IN" sz="2400" dirty="0">
                <a:latin typeface="Times New Roman" panose="02020603050405020304" pitchFamily="18" charset="0"/>
                <a:cs typeface="Times New Roman" panose="02020603050405020304" pitchFamily="18" charset="0"/>
              </a:rPr>
              <a:t>       struct Node *head=NULL;</a:t>
            </a:r>
          </a:p>
          <a:p>
            <a:pPr algn="just"/>
            <a:endParaRPr lang="en-IN" sz="2000" dirty="0"/>
          </a:p>
        </p:txBody>
      </p:sp>
    </p:spTree>
    <p:extLst>
      <p:ext uri="{BB962C8B-B14F-4D97-AF65-F5344CB8AC3E}">
        <p14:creationId xmlns:p14="http://schemas.microsoft.com/office/powerpoint/2010/main" val="314284274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43189" y="175223"/>
            <a:ext cx="7785713"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400" dirty="0">
                <a:solidFill>
                  <a:schemeClr val="bg1"/>
                </a:solidFill>
                <a:latin typeface="Times New Roman" panose="02020603050405020304" pitchFamily="18" charset="0"/>
                <a:cs typeface="Times New Roman" panose="02020603050405020304" pitchFamily="18" charset="0"/>
              </a:rPr>
              <a:t>1) Search Operation in Singly Linked List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631679" y="1252895"/>
            <a:ext cx="11008732" cy="2546338"/>
          </a:xfrm>
          <a:prstGeom prst="rect">
            <a:avLst/>
          </a:prstGeom>
          <a:solidFill>
            <a:schemeClr val="bg1"/>
          </a:solidFill>
        </p:spPr>
        <p:txBody>
          <a:bodyPr wrap="square">
            <a:spAutoFit/>
          </a:bodyPr>
          <a:lstStyle/>
          <a:p>
            <a:pPr algn="just">
              <a:lnSpc>
                <a:spcPct val="200000"/>
              </a:lnSpc>
            </a:pPr>
            <a:r>
              <a:rPr lang="en-US" sz="2800" b="0" i="0" dirty="0">
                <a:solidFill>
                  <a:srgbClr val="002060"/>
                </a:solidFill>
                <a:effectLst/>
                <a:latin typeface="Times New Roman" panose="02020603050405020304" pitchFamily="18" charset="0"/>
                <a:cs typeface="Times New Roman" panose="02020603050405020304" pitchFamily="18" charset="0"/>
              </a:rPr>
              <a:t>In searching, we match each element of the list with the given element. </a:t>
            </a:r>
          </a:p>
          <a:p>
            <a:pPr algn="just">
              <a:lnSpc>
                <a:spcPct val="200000"/>
              </a:lnSpc>
            </a:pPr>
            <a:r>
              <a:rPr lang="en-US" sz="2800" b="0" i="0" dirty="0">
                <a:solidFill>
                  <a:srgbClr val="002060"/>
                </a:solidFill>
                <a:effectLst/>
                <a:latin typeface="Times New Roman" panose="02020603050405020304" pitchFamily="18" charset="0"/>
                <a:cs typeface="Times New Roman" panose="02020603050405020304" pitchFamily="18" charset="0"/>
              </a:rPr>
              <a:t>If the element is found on any of the location, then location of that element is returned otherwise null is returned.</a:t>
            </a:r>
            <a:endParaRPr lang="en-IN" sz="28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719220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C9B009-4888-67C2-0120-3BFAEAA9BA6B}"/>
              </a:ext>
            </a:extLst>
          </p:cNvPr>
          <p:cNvSpPr>
            <a:spLocks noGrp="1"/>
          </p:cNvSpPr>
          <p:nvPr>
            <p:ph idx="1"/>
          </p:nvPr>
        </p:nvSpPr>
        <p:spPr>
          <a:xfrm>
            <a:off x="3289610" y="197549"/>
            <a:ext cx="7449014" cy="6504336"/>
          </a:xfrm>
          <a:solidFill>
            <a:schemeClr val="bg1"/>
          </a:solidFill>
        </p:spPr>
        <p:txBody>
          <a:bodyPr/>
          <a:lstStyle/>
          <a:p>
            <a:pPr marL="0" indent="0">
              <a:buNone/>
            </a:pPr>
            <a:r>
              <a:rPr lang="en-IN" sz="2200" b="1" dirty="0">
                <a:latin typeface="Times New Roman" panose="02020603050405020304" pitchFamily="18" charset="0"/>
                <a:cs typeface="Times New Roman" panose="02020603050405020304" pitchFamily="18" charset="0"/>
              </a:rPr>
              <a:t>Algorithm:</a:t>
            </a:r>
          </a:p>
          <a:p>
            <a:pPr marL="0" indent="0" algn="l">
              <a:buNone/>
            </a:pPr>
            <a:r>
              <a:rPr lang="en-US" sz="2200" b="0" i="0" dirty="0">
                <a:effectLst/>
                <a:latin typeface="Times New Roman" panose="02020603050405020304" pitchFamily="18" charset="0"/>
                <a:cs typeface="Times New Roman" panose="02020603050405020304" pitchFamily="18" charset="0"/>
              </a:rPr>
              <a:t>Step 1: SET PTR = HEAD</a:t>
            </a:r>
          </a:p>
          <a:p>
            <a:pPr marL="0" indent="0" algn="l">
              <a:buNone/>
            </a:pPr>
            <a:r>
              <a:rPr lang="en-US" sz="2200" b="0" i="0" dirty="0">
                <a:effectLst/>
                <a:latin typeface="Times New Roman" panose="02020603050405020304" pitchFamily="18" charset="0"/>
                <a:cs typeface="Times New Roman" panose="02020603050405020304" pitchFamily="18" charset="0"/>
              </a:rPr>
              <a:t>Step 2: Set I = 0</a:t>
            </a:r>
          </a:p>
          <a:p>
            <a:pPr marL="0" indent="0" algn="l">
              <a:buNone/>
            </a:pPr>
            <a:r>
              <a:rPr lang="en-US" sz="2200" b="0" i="0" dirty="0">
                <a:effectLst/>
                <a:latin typeface="Times New Roman" panose="02020603050405020304" pitchFamily="18" charset="0"/>
                <a:cs typeface="Times New Roman" panose="02020603050405020304" pitchFamily="18" charset="0"/>
              </a:rPr>
              <a:t>STEP 3: IF PTR = NULL</a:t>
            </a:r>
          </a:p>
          <a:p>
            <a:pPr marL="0" indent="0" algn="l">
              <a:buNone/>
            </a:pPr>
            <a:r>
              <a:rPr lang="en-US" sz="2200" b="0" i="0" dirty="0">
                <a:effectLst/>
                <a:latin typeface="Times New Roman" panose="02020603050405020304" pitchFamily="18" charset="0"/>
                <a:cs typeface="Times New Roman" panose="02020603050405020304" pitchFamily="18" charset="0"/>
              </a:rPr>
              <a:t>  WRITE "EMPTY LIST"</a:t>
            </a:r>
          </a:p>
          <a:p>
            <a:pPr marL="0" indent="0" algn="l">
              <a:buNone/>
            </a:pPr>
            <a:r>
              <a:rPr lang="en-US" sz="2200" b="0" i="0" dirty="0">
                <a:effectLst/>
                <a:latin typeface="Times New Roman" panose="02020603050405020304" pitchFamily="18" charset="0"/>
                <a:cs typeface="Times New Roman" panose="02020603050405020304" pitchFamily="18" charset="0"/>
              </a:rPr>
              <a:t>  GOTO STEP 8</a:t>
            </a:r>
          </a:p>
          <a:p>
            <a:pPr marL="0" indent="0" algn="l">
              <a:buNone/>
            </a:pPr>
            <a:r>
              <a:rPr lang="en-US" sz="2200" b="0" i="0" dirty="0">
                <a:effectLst/>
                <a:latin typeface="Times New Roman" panose="02020603050405020304" pitchFamily="18" charset="0"/>
                <a:cs typeface="Times New Roman" panose="02020603050405020304" pitchFamily="18" charset="0"/>
              </a:rPr>
              <a:t>  END OF IF</a:t>
            </a:r>
          </a:p>
          <a:p>
            <a:pPr marL="0" indent="0" algn="l">
              <a:buNone/>
            </a:pPr>
            <a:r>
              <a:rPr lang="en-US" sz="2200" b="0" i="0" dirty="0">
                <a:effectLst/>
                <a:latin typeface="Times New Roman" panose="02020603050405020304" pitchFamily="18" charset="0"/>
                <a:cs typeface="Times New Roman" panose="02020603050405020304" pitchFamily="18" charset="0"/>
              </a:rPr>
              <a:t>STEP 4: REPEAT STEP 5 TO 7 UNTIL PTR != NULL</a:t>
            </a:r>
          </a:p>
          <a:p>
            <a:pPr marL="0" indent="0" algn="l">
              <a:buNone/>
            </a:pPr>
            <a:r>
              <a:rPr lang="en-US" sz="2200" b="0" i="0" dirty="0">
                <a:effectLst/>
                <a:latin typeface="Times New Roman" panose="02020603050405020304" pitchFamily="18" charset="0"/>
                <a:cs typeface="Times New Roman" panose="02020603050405020304" pitchFamily="18" charset="0"/>
              </a:rPr>
              <a:t>STEP 5: if </a:t>
            </a:r>
            <a:r>
              <a:rPr lang="en-US" sz="2200" b="0" i="0" dirty="0" err="1">
                <a:effectLst/>
                <a:latin typeface="Times New Roman" panose="02020603050405020304" pitchFamily="18" charset="0"/>
                <a:cs typeface="Times New Roman" panose="02020603050405020304" pitchFamily="18" charset="0"/>
              </a:rPr>
              <a:t>ptr</a:t>
            </a:r>
            <a:r>
              <a:rPr lang="en-US" sz="2200" b="0" i="0" dirty="0">
                <a:effectLst/>
                <a:latin typeface="Times New Roman" panose="02020603050405020304" pitchFamily="18" charset="0"/>
                <a:cs typeface="Times New Roman" panose="02020603050405020304" pitchFamily="18" charset="0"/>
              </a:rPr>
              <a:t> → data = item</a:t>
            </a:r>
          </a:p>
          <a:p>
            <a:pPr marL="0" indent="0" algn="l">
              <a:buNone/>
            </a:pPr>
            <a:r>
              <a:rPr lang="en-US" sz="2200" b="0" i="0" dirty="0">
                <a:effectLst/>
                <a:latin typeface="Times New Roman" panose="02020603050405020304" pitchFamily="18" charset="0"/>
                <a:cs typeface="Times New Roman" panose="02020603050405020304" pitchFamily="18" charset="0"/>
              </a:rPr>
              <a:t>  write i+1</a:t>
            </a:r>
          </a:p>
          <a:p>
            <a:pPr marL="0" indent="0" algn="l">
              <a:buNone/>
            </a:pPr>
            <a:r>
              <a:rPr lang="en-US" sz="2200" b="0" i="0" dirty="0">
                <a:effectLst/>
                <a:latin typeface="Times New Roman" panose="02020603050405020304" pitchFamily="18" charset="0"/>
                <a:cs typeface="Times New Roman" panose="02020603050405020304" pitchFamily="18" charset="0"/>
              </a:rPr>
              <a:t> End of IF</a:t>
            </a:r>
          </a:p>
          <a:p>
            <a:pPr marL="0" indent="0" algn="l">
              <a:buNone/>
            </a:pPr>
            <a:r>
              <a:rPr lang="en-US" sz="2200" b="0" i="0" dirty="0">
                <a:effectLst/>
                <a:latin typeface="Times New Roman" panose="02020603050405020304" pitchFamily="18" charset="0"/>
                <a:cs typeface="Times New Roman" panose="02020603050405020304" pitchFamily="18" charset="0"/>
              </a:rPr>
              <a:t>STEP 6: I = I + 1</a:t>
            </a:r>
          </a:p>
          <a:p>
            <a:pPr marL="0" indent="0" algn="l">
              <a:buNone/>
            </a:pPr>
            <a:r>
              <a:rPr lang="en-US" sz="2200" b="0" i="0" dirty="0">
                <a:effectLst/>
                <a:latin typeface="Times New Roman" panose="02020603050405020304" pitchFamily="18" charset="0"/>
                <a:cs typeface="Times New Roman" panose="02020603050405020304" pitchFamily="18" charset="0"/>
              </a:rPr>
              <a:t>STEP 7: PTR = PTR → NEXT</a:t>
            </a:r>
          </a:p>
          <a:p>
            <a:pPr marL="0" indent="0" algn="l">
              <a:buNone/>
            </a:pPr>
            <a:r>
              <a:rPr lang="en-US" sz="2200" b="0" i="0" dirty="0">
                <a:effectLst/>
                <a:latin typeface="Times New Roman" panose="02020603050405020304" pitchFamily="18" charset="0"/>
                <a:cs typeface="Times New Roman" panose="02020603050405020304" pitchFamily="18" charset="0"/>
              </a:rPr>
              <a:t>[END OF LOOP]</a:t>
            </a:r>
          </a:p>
          <a:p>
            <a:pPr marL="0" indent="0" algn="l">
              <a:buNone/>
            </a:pPr>
            <a:r>
              <a:rPr lang="en-US" sz="2200" b="0" i="0" dirty="0">
                <a:effectLst/>
                <a:latin typeface="Times New Roman" panose="02020603050405020304" pitchFamily="18" charset="0"/>
                <a:cs typeface="Times New Roman" panose="02020603050405020304" pitchFamily="18" charset="0"/>
              </a:rPr>
              <a:t>STEP 8: EXIT</a:t>
            </a:r>
          </a:p>
          <a:p>
            <a:pPr marL="0" indent="0">
              <a:buNone/>
            </a:pPr>
            <a:endParaRPr lang="en-IN" sz="2200" dirty="0"/>
          </a:p>
        </p:txBody>
      </p:sp>
      <p:pic>
        <p:nvPicPr>
          <p:cNvPr id="4" name="Picture 2" descr="KL Deemed to be University Logo">
            <a:extLst>
              <a:ext uri="{FF2B5EF4-FFF2-40B4-BE49-F238E27FC236}">
                <a16:creationId xmlns:a16="http://schemas.microsoft.com/office/drawing/2014/main" id="{87455082-B357-0BC2-6F7E-DB74B0C73F46}"/>
              </a:ext>
            </a:extLst>
          </p:cNvPr>
          <p:cNvPicPr>
            <a:picLocks noChangeAspect="1" noChangeArrowheads="1"/>
          </p:cNvPicPr>
          <p:nvPr/>
        </p:nvPicPr>
        <p:blipFill>
          <a:blip r:embed="rId2"/>
          <a:srcRect/>
          <a:stretch>
            <a:fillRect/>
          </a:stretch>
        </p:blipFill>
        <p:spPr bwMode="auto">
          <a:xfrm>
            <a:off x="0" y="89208"/>
            <a:ext cx="1990725" cy="600076"/>
          </a:xfrm>
          <a:prstGeom prst="rect">
            <a:avLst/>
          </a:prstGeom>
          <a:noFill/>
        </p:spPr>
      </p:pic>
    </p:spTree>
    <p:extLst>
      <p:ext uri="{BB962C8B-B14F-4D97-AF65-F5344CB8AC3E}">
        <p14:creationId xmlns:p14="http://schemas.microsoft.com/office/powerpoint/2010/main" val="18197546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43189" y="253280"/>
            <a:ext cx="8434643"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400" dirty="0">
                <a:solidFill>
                  <a:schemeClr val="bg1"/>
                </a:solidFill>
                <a:latin typeface="Times New Roman" panose="02020603050405020304" pitchFamily="18" charset="0"/>
                <a:cs typeface="Times New Roman" panose="02020603050405020304" pitchFamily="18" charset="0"/>
              </a:rPr>
              <a:t>2)Traversing Operation in Singly Linked List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1990725" y="1065093"/>
            <a:ext cx="10088524" cy="5632311"/>
          </a:xfrm>
          <a:prstGeom prst="rect">
            <a:avLst/>
          </a:prstGeom>
        </p:spPr>
        <p:txBody>
          <a:bodyPr wrap="square">
            <a:spAutoFit/>
          </a:bodyPr>
          <a:lstStyle/>
          <a:p>
            <a:r>
              <a:rPr lang="en-US" sz="2400" b="0" i="0" dirty="0">
                <a:solidFill>
                  <a:srgbClr val="333333"/>
                </a:solidFill>
                <a:effectLst/>
                <a:latin typeface="Times New Roman" panose="02020603050405020304" pitchFamily="18" charset="0"/>
                <a:cs typeface="Times New Roman" panose="02020603050405020304" pitchFamily="18" charset="0"/>
              </a:rPr>
              <a:t>In traversing, we simply visit each node of the list at least once in order to perform some specific operation on it, for example, printing data part of each node present in the list. We traverse in the forward direction </a:t>
            </a:r>
            <a:r>
              <a:rPr lang="en-US" sz="2400" b="0" i="0" dirty="0" err="1">
                <a:solidFill>
                  <a:srgbClr val="333333"/>
                </a:solidFill>
                <a:effectLst/>
                <a:latin typeface="Times New Roman" panose="02020603050405020304" pitchFamily="18" charset="0"/>
                <a:cs typeface="Times New Roman" panose="02020603050405020304" pitchFamily="18" charset="0"/>
              </a:rPr>
              <a:t>i.e</a:t>
            </a:r>
            <a:r>
              <a:rPr lang="en-US" sz="2400" b="0" i="0" dirty="0">
                <a:solidFill>
                  <a:srgbClr val="333333"/>
                </a:solidFill>
                <a:effectLst/>
                <a:latin typeface="Times New Roman" panose="02020603050405020304" pitchFamily="18" charset="0"/>
                <a:cs typeface="Times New Roman" panose="02020603050405020304" pitchFamily="18" charset="0"/>
              </a:rPr>
              <a:t> starting from the head.</a:t>
            </a:r>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Algorithm:</a:t>
            </a:r>
          </a:p>
          <a:p>
            <a:pPr algn="l"/>
            <a:r>
              <a:rPr lang="en-US" sz="2400" b="0" i="0" dirty="0">
                <a:effectLst/>
                <a:latin typeface="Times New Roman" panose="02020603050405020304" pitchFamily="18" charset="0"/>
                <a:cs typeface="Times New Roman" panose="02020603050405020304" pitchFamily="18" charset="0"/>
              </a:rPr>
              <a:t>STEP 1: STEP 1: SET PTR = HEAD</a:t>
            </a:r>
          </a:p>
          <a:p>
            <a:pPr algn="l"/>
            <a:r>
              <a:rPr lang="en-US" sz="2400" b="0" i="0" dirty="0">
                <a:effectLst/>
                <a:latin typeface="Times New Roman" panose="02020603050405020304" pitchFamily="18" charset="0"/>
                <a:cs typeface="Times New Roman" panose="02020603050405020304" pitchFamily="18" charset="0"/>
              </a:rPr>
              <a:t>STEP 2: IF PTR = NULL</a:t>
            </a:r>
          </a:p>
          <a:p>
            <a:pPr algn="l"/>
            <a:r>
              <a:rPr lang="en-US" sz="2400" b="0" i="0" dirty="0">
                <a:effectLst/>
                <a:latin typeface="Times New Roman" panose="02020603050405020304" pitchFamily="18" charset="0"/>
                <a:cs typeface="Times New Roman" panose="02020603050405020304" pitchFamily="18" charset="0"/>
              </a:rPr>
              <a:t>   WRITE "EMPTY LIST"</a:t>
            </a:r>
          </a:p>
          <a:p>
            <a:pPr algn="l"/>
            <a:r>
              <a:rPr lang="en-US" sz="2400" b="0" i="0" dirty="0">
                <a:effectLst/>
                <a:latin typeface="Times New Roman" panose="02020603050405020304" pitchFamily="18" charset="0"/>
                <a:cs typeface="Times New Roman" panose="02020603050405020304" pitchFamily="18" charset="0"/>
              </a:rPr>
              <a:t>  GOTO STEP 7</a:t>
            </a:r>
          </a:p>
          <a:p>
            <a:pPr algn="l"/>
            <a:r>
              <a:rPr lang="en-US" sz="2400" b="0" i="0" dirty="0">
                <a:effectLst/>
                <a:latin typeface="Times New Roman" panose="02020603050405020304" pitchFamily="18" charset="0"/>
                <a:cs typeface="Times New Roman" panose="02020603050405020304" pitchFamily="18" charset="0"/>
              </a:rPr>
              <a:t>  END OF IF</a:t>
            </a:r>
          </a:p>
          <a:p>
            <a:pPr algn="l"/>
            <a:r>
              <a:rPr lang="en-US" sz="2400" b="0" i="0" dirty="0">
                <a:effectLst/>
                <a:latin typeface="Times New Roman" panose="02020603050405020304" pitchFamily="18" charset="0"/>
                <a:cs typeface="Times New Roman" panose="02020603050405020304" pitchFamily="18" charset="0"/>
              </a:rPr>
              <a:t>STEP 4: REPEAT STEP 5 AND 6 UNTIL PTR != NULL</a:t>
            </a:r>
          </a:p>
          <a:p>
            <a:pPr algn="l"/>
            <a:r>
              <a:rPr lang="en-US" sz="2400" b="0" i="0" dirty="0">
                <a:effectLst/>
                <a:latin typeface="Times New Roman" panose="02020603050405020304" pitchFamily="18" charset="0"/>
                <a:cs typeface="Times New Roman" panose="02020603050405020304" pitchFamily="18" charset="0"/>
              </a:rPr>
              <a:t>STEP 5: PRINT PTR→ DATA</a:t>
            </a:r>
          </a:p>
          <a:p>
            <a:pPr algn="l"/>
            <a:r>
              <a:rPr lang="en-US" sz="2400" b="0" i="0" dirty="0">
                <a:effectLst/>
                <a:latin typeface="Times New Roman" panose="02020603050405020304" pitchFamily="18" charset="0"/>
                <a:cs typeface="Times New Roman" panose="02020603050405020304" pitchFamily="18" charset="0"/>
              </a:rPr>
              <a:t>STEP 6: PTR = PTR → NEXT</a:t>
            </a:r>
          </a:p>
          <a:p>
            <a:pPr algn="l"/>
            <a:r>
              <a:rPr lang="en-US" sz="2400" b="0" i="0" dirty="0">
                <a:effectLst/>
                <a:latin typeface="Times New Roman" panose="02020603050405020304" pitchFamily="18" charset="0"/>
                <a:cs typeface="Times New Roman" panose="02020603050405020304" pitchFamily="18" charset="0"/>
              </a:rPr>
              <a:t>[END OF LOOP]</a:t>
            </a:r>
          </a:p>
          <a:p>
            <a:pPr algn="l"/>
            <a:r>
              <a:rPr lang="en-US" sz="2400" b="0" i="0" dirty="0">
                <a:effectLst/>
                <a:latin typeface="Times New Roman" panose="02020603050405020304" pitchFamily="18" charset="0"/>
                <a:cs typeface="Times New Roman" panose="02020603050405020304" pitchFamily="18" charset="0"/>
              </a:rPr>
              <a:t>STEP 7: EXIT</a:t>
            </a:r>
          </a:p>
        </p:txBody>
      </p:sp>
    </p:spTree>
    <p:extLst>
      <p:ext uri="{BB962C8B-B14F-4D97-AF65-F5344CB8AC3E}">
        <p14:creationId xmlns:p14="http://schemas.microsoft.com/office/powerpoint/2010/main" val="28953201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0CDDB5-D4EC-8431-5E14-82E47B13B2E5}"/>
              </a:ext>
            </a:extLst>
          </p:cNvPr>
          <p:cNvSpPr>
            <a:spLocks noGrp="1"/>
          </p:cNvSpPr>
          <p:nvPr>
            <p:ph idx="1"/>
          </p:nvPr>
        </p:nvSpPr>
        <p:spPr>
          <a:xfrm>
            <a:off x="838199" y="1164771"/>
            <a:ext cx="10874829" cy="5508172"/>
          </a:xfrm>
        </p:spPr>
        <p:txBody>
          <a:bodyPr/>
          <a:lstStyle/>
          <a:p>
            <a:pPr marL="0" indent="0">
              <a:buNone/>
            </a:pPr>
            <a:r>
              <a:rPr lang="en-US" dirty="0"/>
              <a:t>Step 1:  Create three-pointers, say, </a:t>
            </a:r>
            <a:r>
              <a:rPr lang="en-US" b="1" dirty="0" err="1"/>
              <a:t>prev</a:t>
            </a:r>
            <a:r>
              <a:rPr lang="en-US" dirty="0"/>
              <a:t>, </a:t>
            </a:r>
            <a:r>
              <a:rPr lang="en-US" b="1" dirty="0"/>
              <a:t>current</a:t>
            </a:r>
            <a:r>
              <a:rPr lang="en-US" dirty="0"/>
              <a:t> and </a:t>
            </a:r>
            <a:r>
              <a:rPr lang="en-US" b="1" dirty="0"/>
              <a:t>next</a:t>
            </a:r>
            <a:r>
              <a:rPr lang="en-US" dirty="0"/>
              <a:t>.</a:t>
            </a:r>
          </a:p>
          <a:p>
            <a:pPr marL="0" indent="0">
              <a:buNone/>
            </a:pPr>
            <a:r>
              <a:rPr lang="en-US" dirty="0"/>
              <a:t>Step 2:  2.1 </a:t>
            </a:r>
            <a:r>
              <a:rPr lang="en-US" dirty="0" err="1"/>
              <a:t>Initailly</a:t>
            </a:r>
            <a:r>
              <a:rPr lang="en-US" dirty="0"/>
              <a:t> </a:t>
            </a:r>
            <a:r>
              <a:rPr lang="en-US" b="1" dirty="0" err="1"/>
              <a:t>prev</a:t>
            </a:r>
            <a:r>
              <a:rPr lang="en-US" dirty="0"/>
              <a:t> and </a:t>
            </a:r>
            <a:r>
              <a:rPr lang="en-US" b="1" dirty="0"/>
              <a:t>next</a:t>
            </a:r>
            <a:r>
              <a:rPr lang="en-US" dirty="0"/>
              <a:t> will point to </a:t>
            </a:r>
            <a:r>
              <a:rPr lang="en-US" b="1" dirty="0"/>
              <a:t>NULL</a:t>
            </a:r>
            <a:r>
              <a:rPr lang="en-US" dirty="0"/>
              <a:t> </a:t>
            </a:r>
          </a:p>
          <a:p>
            <a:pPr marL="0" indent="0">
              <a:buNone/>
            </a:pPr>
            <a:r>
              <a:rPr lang="en-US" dirty="0"/>
              <a:t>               2.2 The </a:t>
            </a:r>
            <a:r>
              <a:rPr lang="en-US" b="1" dirty="0"/>
              <a:t>current</a:t>
            </a:r>
            <a:r>
              <a:rPr lang="en-US" dirty="0"/>
              <a:t> will point to the </a:t>
            </a:r>
            <a:r>
              <a:rPr lang="en-US" b="1" dirty="0"/>
              <a:t>head</a:t>
            </a:r>
            <a:r>
              <a:rPr lang="en-US" dirty="0"/>
              <a:t> of the list.</a:t>
            </a:r>
          </a:p>
          <a:p>
            <a:pPr marL="0" indent="0">
              <a:buNone/>
            </a:pPr>
            <a:r>
              <a:rPr lang="en-US" dirty="0"/>
              <a:t>Step 3:   Begin the traversal of the list until the </a:t>
            </a:r>
            <a:r>
              <a:rPr lang="en-US" b="1" dirty="0"/>
              <a:t>current</a:t>
            </a:r>
            <a:r>
              <a:rPr lang="en-US" dirty="0"/>
              <a:t> is not NULL. </a:t>
            </a:r>
          </a:p>
          <a:p>
            <a:pPr marL="457200" lvl="1" indent="0">
              <a:buNone/>
            </a:pPr>
            <a:r>
              <a:rPr lang="en-US" dirty="0"/>
              <a:t>           3.1 For every </a:t>
            </a:r>
            <a:r>
              <a:rPr lang="en-US" b="1" dirty="0"/>
              <a:t>current</a:t>
            </a:r>
            <a:r>
              <a:rPr lang="en-US" dirty="0"/>
              <a:t> node during list traversal</a:t>
            </a:r>
          </a:p>
          <a:p>
            <a:pPr marL="457200" lvl="1" indent="0">
              <a:buNone/>
            </a:pPr>
            <a:r>
              <a:rPr lang="en-US" dirty="0"/>
              <a:t>                     3.1.1 store the </a:t>
            </a:r>
            <a:r>
              <a:rPr lang="en-US" b="1" dirty="0"/>
              <a:t>next of current</a:t>
            </a:r>
            <a:r>
              <a:rPr lang="en-US" dirty="0"/>
              <a:t> in </a:t>
            </a:r>
            <a:r>
              <a:rPr lang="en-US" b="1" dirty="0"/>
              <a:t>next</a:t>
            </a:r>
            <a:r>
              <a:rPr lang="en-US" dirty="0"/>
              <a:t> </a:t>
            </a:r>
          </a:p>
          <a:p>
            <a:pPr marL="457200" lvl="1" indent="0">
              <a:buNone/>
            </a:pPr>
            <a:r>
              <a:rPr lang="en-US" dirty="0"/>
              <a:t>                     3.1.2 then make the </a:t>
            </a:r>
            <a:r>
              <a:rPr lang="en-US" b="1" dirty="0"/>
              <a:t>next of current</a:t>
            </a:r>
            <a:r>
              <a:rPr lang="en-US" dirty="0"/>
              <a:t> point to </a:t>
            </a:r>
            <a:r>
              <a:rPr lang="en-US" b="1" dirty="0"/>
              <a:t>prev</a:t>
            </a:r>
            <a:r>
              <a:rPr lang="en-US" dirty="0"/>
              <a:t>.                      </a:t>
            </a:r>
          </a:p>
          <a:p>
            <a:pPr marL="457200" lvl="1" indent="0">
              <a:buNone/>
            </a:pPr>
            <a:r>
              <a:rPr lang="en-US" dirty="0"/>
              <a:t>                     3.1.3  make </a:t>
            </a:r>
            <a:r>
              <a:rPr lang="en-US" b="1" dirty="0" err="1"/>
              <a:t>prev</a:t>
            </a:r>
            <a:r>
              <a:rPr lang="en-US" dirty="0"/>
              <a:t> equal to </a:t>
            </a:r>
            <a:r>
              <a:rPr lang="en-US" b="1" dirty="0"/>
              <a:t>current</a:t>
            </a:r>
            <a:r>
              <a:rPr lang="en-US" dirty="0"/>
              <a:t> and </a:t>
            </a:r>
            <a:r>
              <a:rPr lang="en-US" b="1" dirty="0"/>
              <a:t>current</a:t>
            </a:r>
            <a:r>
              <a:rPr lang="en-US" dirty="0"/>
              <a:t> equal to </a:t>
            </a:r>
            <a:r>
              <a:rPr lang="en-US" b="1" dirty="0"/>
              <a:t>next</a:t>
            </a:r>
            <a:r>
              <a:rPr lang="en-US" dirty="0"/>
              <a:t>.</a:t>
            </a:r>
          </a:p>
          <a:p>
            <a:pPr marL="0" indent="0">
              <a:buNone/>
            </a:pPr>
            <a:r>
              <a:rPr lang="en-US" dirty="0"/>
              <a:t>Step 4:  after the traversal is over, make the node to which </a:t>
            </a:r>
            <a:r>
              <a:rPr lang="en-US" b="1" dirty="0" err="1"/>
              <a:t>prev</a:t>
            </a:r>
            <a:r>
              <a:rPr lang="en-US" dirty="0"/>
              <a:t> </a:t>
            </a:r>
          </a:p>
          <a:p>
            <a:pPr marL="0" indent="0">
              <a:buNone/>
            </a:pPr>
            <a:r>
              <a:rPr lang="en-US" dirty="0"/>
              <a:t>               is pointing  as  our </a:t>
            </a:r>
            <a:r>
              <a:rPr lang="en-US" b="1" dirty="0"/>
              <a:t>new linked list head</a:t>
            </a:r>
            <a:r>
              <a:rPr lang="en-US" dirty="0"/>
              <a:t>.</a:t>
            </a:r>
          </a:p>
          <a:p>
            <a:pPr marL="0" indent="0">
              <a:buNone/>
            </a:pPr>
            <a:r>
              <a:rPr lang="en-US" dirty="0"/>
              <a:t>By performing the above operations, we are changing the links of every node and ultimately reversing the list.</a:t>
            </a:r>
          </a:p>
          <a:p>
            <a:endParaRPr lang="en-IN" dirty="0"/>
          </a:p>
        </p:txBody>
      </p:sp>
      <p:sp>
        <p:nvSpPr>
          <p:cNvPr id="4" name="Rounded Rectangle 17">
            <a:extLst>
              <a:ext uri="{FF2B5EF4-FFF2-40B4-BE49-F238E27FC236}">
                <a16:creationId xmlns:a16="http://schemas.microsoft.com/office/drawing/2014/main" id="{8C91E503-9B28-9B7F-DC98-E31A4A052637}"/>
              </a:ext>
            </a:extLst>
          </p:cNvPr>
          <p:cNvSpPr>
            <a:spLocks noGrp="1"/>
          </p:cNvSpPr>
          <p:nvPr>
            <p:ph type="title"/>
          </p:nvPr>
        </p:nvSpPr>
        <p:spPr>
          <a:xfrm>
            <a:off x="838200" y="365126"/>
            <a:ext cx="10515600" cy="58193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400" dirty="0">
                <a:solidFill>
                  <a:schemeClr val="bg1"/>
                </a:solidFill>
                <a:latin typeface="Times New Roman" panose="02020603050405020304" pitchFamily="18" charset="0"/>
                <a:cs typeface="Times New Roman" panose="02020603050405020304" pitchFamily="18" charset="0"/>
              </a:rPr>
              <a:t>2)Traversing  in reverse direction in Singly Linked List</a:t>
            </a:r>
          </a:p>
        </p:txBody>
      </p:sp>
    </p:spTree>
    <p:extLst>
      <p:ext uri="{BB962C8B-B14F-4D97-AF65-F5344CB8AC3E}">
        <p14:creationId xmlns:p14="http://schemas.microsoft.com/office/powerpoint/2010/main" val="3584860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5BC1E411-5A9E-078B-DC8E-9222641071D2}"/>
              </a:ext>
            </a:extLst>
          </p:cNvPr>
          <p:cNvPicPr>
            <a:picLocks noGrp="1" noChangeAspect="1"/>
          </p:cNvPicPr>
          <p:nvPr>
            <p:ph idx="1"/>
          </p:nvPr>
        </p:nvPicPr>
        <p:blipFill>
          <a:blip r:embed="rId2"/>
          <a:stretch>
            <a:fillRect/>
          </a:stretch>
        </p:blipFill>
        <p:spPr>
          <a:xfrm>
            <a:off x="406699" y="1434104"/>
            <a:ext cx="9227157" cy="2197213"/>
          </a:xfrm>
        </p:spPr>
      </p:pic>
      <p:sp>
        <p:nvSpPr>
          <p:cNvPr id="4" name="Rounded Rectangle 17">
            <a:extLst>
              <a:ext uri="{FF2B5EF4-FFF2-40B4-BE49-F238E27FC236}">
                <a16:creationId xmlns:a16="http://schemas.microsoft.com/office/drawing/2014/main" id="{6E37D2E1-825A-BF6B-95DD-A109FE9D6F00}"/>
              </a:ext>
            </a:extLst>
          </p:cNvPr>
          <p:cNvSpPr txBox="1">
            <a:spLocks/>
          </p:cNvSpPr>
          <p:nvPr/>
        </p:nvSpPr>
        <p:spPr>
          <a:xfrm>
            <a:off x="838200" y="365126"/>
            <a:ext cx="10515600" cy="581932"/>
          </a:xfrm>
          <a:prstGeom prst="roundRect">
            <a:avLst/>
          </a:prstGeom>
          <a:solidFill>
            <a:srgbClr val="BA2532"/>
          </a:solidFill>
          <a:ln w="19050" cap="flat" cmpd="sng" algn="ctr">
            <a:noFill/>
            <a:prstDash val="solid"/>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3400" dirty="0">
                <a:solidFill>
                  <a:schemeClr val="bg1"/>
                </a:solidFill>
                <a:latin typeface="Times New Roman" panose="02020603050405020304" pitchFamily="18" charset="0"/>
                <a:cs typeface="Times New Roman" panose="02020603050405020304" pitchFamily="18" charset="0"/>
              </a:rPr>
              <a:t>2)Traversing  in reverse direction in Singly Linked List</a:t>
            </a:r>
          </a:p>
        </p:txBody>
      </p:sp>
      <p:pic>
        <p:nvPicPr>
          <p:cNvPr id="8" name="Picture 7">
            <a:extLst>
              <a:ext uri="{FF2B5EF4-FFF2-40B4-BE49-F238E27FC236}">
                <a16:creationId xmlns:a16="http://schemas.microsoft.com/office/drawing/2014/main" id="{45504ACB-6848-4B20-B45E-91CDF811BC39}"/>
              </a:ext>
            </a:extLst>
          </p:cNvPr>
          <p:cNvPicPr>
            <a:picLocks noChangeAspect="1"/>
          </p:cNvPicPr>
          <p:nvPr/>
        </p:nvPicPr>
        <p:blipFill>
          <a:blip r:embed="rId3"/>
          <a:stretch>
            <a:fillRect/>
          </a:stretch>
        </p:blipFill>
        <p:spPr>
          <a:xfrm>
            <a:off x="406698" y="4153830"/>
            <a:ext cx="9227157" cy="2540131"/>
          </a:xfrm>
          <a:prstGeom prst="rect">
            <a:avLst/>
          </a:prstGeom>
        </p:spPr>
      </p:pic>
    </p:spTree>
    <p:extLst>
      <p:ext uri="{BB962C8B-B14F-4D97-AF65-F5344CB8AC3E}">
        <p14:creationId xmlns:p14="http://schemas.microsoft.com/office/powerpoint/2010/main" val="3833933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34000-21D5-22B2-CBC5-D1D2C9558AF1}"/>
              </a:ext>
            </a:extLst>
          </p:cNvPr>
          <p:cNvSpPr>
            <a:spLocks noGrp="1"/>
          </p:cNvSpPr>
          <p:nvPr>
            <p:ph type="title"/>
          </p:nvPr>
        </p:nvSpPr>
        <p:spPr>
          <a:xfrm>
            <a:off x="838200" y="365126"/>
            <a:ext cx="10515600" cy="581932"/>
          </a:xfrm>
        </p:spPr>
        <p:txBody>
          <a:bodyPr/>
          <a:lstStyle/>
          <a:p>
            <a:endParaRPr lang="en-IN" dirty="0"/>
          </a:p>
        </p:txBody>
      </p:sp>
      <p:pic>
        <p:nvPicPr>
          <p:cNvPr id="5" name="Content Placeholder 4">
            <a:extLst>
              <a:ext uri="{FF2B5EF4-FFF2-40B4-BE49-F238E27FC236}">
                <a16:creationId xmlns:a16="http://schemas.microsoft.com/office/drawing/2014/main" id="{0858CF4C-D006-6800-B260-CFC8E35B5283}"/>
              </a:ext>
            </a:extLst>
          </p:cNvPr>
          <p:cNvPicPr>
            <a:picLocks noGrp="1" noChangeAspect="1"/>
          </p:cNvPicPr>
          <p:nvPr>
            <p:ph idx="1"/>
          </p:nvPr>
        </p:nvPicPr>
        <p:blipFill>
          <a:blip r:embed="rId3"/>
          <a:stretch>
            <a:fillRect/>
          </a:stretch>
        </p:blipFill>
        <p:spPr>
          <a:xfrm>
            <a:off x="838200" y="1601835"/>
            <a:ext cx="10395857" cy="2175508"/>
          </a:xfrm>
        </p:spPr>
      </p:pic>
      <p:sp>
        <p:nvSpPr>
          <p:cNvPr id="6" name="Rounded Rectangle 17">
            <a:extLst>
              <a:ext uri="{FF2B5EF4-FFF2-40B4-BE49-F238E27FC236}">
                <a16:creationId xmlns:a16="http://schemas.microsoft.com/office/drawing/2014/main" id="{DDCA0E33-B4D5-5A47-DA4D-A2AD81AFC9EE}"/>
              </a:ext>
            </a:extLst>
          </p:cNvPr>
          <p:cNvSpPr txBox="1">
            <a:spLocks/>
          </p:cNvSpPr>
          <p:nvPr/>
        </p:nvSpPr>
        <p:spPr>
          <a:xfrm>
            <a:off x="778328" y="385220"/>
            <a:ext cx="10515600" cy="581932"/>
          </a:xfrm>
          <a:prstGeom prst="roundRect">
            <a:avLst/>
          </a:prstGeom>
          <a:solidFill>
            <a:srgbClr val="BA2532"/>
          </a:solidFill>
          <a:ln w="19050" cap="flat" cmpd="sng" algn="ctr">
            <a:noFill/>
            <a:prstDash val="solid"/>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3400" dirty="0">
                <a:solidFill>
                  <a:schemeClr val="bg1"/>
                </a:solidFill>
                <a:latin typeface="Times New Roman" panose="02020603050405020304" pitchFamily="18" charset="0"/>
                <a:cs typeface="Times New Roman" panose="02020603050405020304" pitchFamily="18" charset="0"/>
              </a:rPr>
              <a:t>2)Traversing  in reverse direction in Singly Linked List</a:t>
            </a:r>
          </a:p>
        </p:txBody>
      </p:sp>
      <p:pic>
        <p:nvPicPr>
          <p:cNvPr id="8" name="Picture 7">
            <a:extLst>
              <a:ext uri="{FF2B5EF4-FFF2-40B4-BE49-F238E27FC236}">
                <a16:creationId xmlns:a16="http://schemas.microsoft.com/office/drawing/2014/main" id="{FD36DF75-A370-E646-E416-AC91C0888F88}"/>
              </a:ext>
            </a:extLst>
          </p:cNvPr>
          <p:cNvPicPr>
            <a:picLocks noChangeAspect="1"/>
          </p:cNvPicPr>
          <p:nvPr/>
        </p:nvPicPr>
        <p:blipFill>
          <a:blip r:embed="rId4"/>
          <a:stretch>
            <a:fillRect/>
          </a:stretch>
        </p:blipFill>
        <p:spPr>
          <a:xfrm>
            <a:off x="1239920" y="3970224"/>
            <a:ext cx="8742279" cy="2571882"/>
          </a:xfrm>
          <a:prstGeom prst="rect">
            <a:avLst/>
          </a:prstGeom>
        </p:spPr>
      </p:pic>
    </p:spTree>
    <p:extLst>
      <p:ext uri="{BB962C8B-B14F-4D97-AF65-F5344CB8AC3E}">
        <p14:creationId xmlns:p14="http://schemas.microsoft.com/office/powerpoint/2010/main" val="75402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5BD90-4DBA-AA44-CD60-8DE5F1951678}"/>
              </a:ext>
            </a:extLst>
          </p:cNvPr>
          <p:cNvSpPr>
            <a:spLocks noGrp="1"/>
          </p:cNvSpPr>
          <p:nvPr>
            <p:ph type="title"/>
          </p:nvPr>
        </p:nvSpPr>
        <p:spPr>
          <a:xfrm>
            <a:off x="838200" y="365125"/>
            <a:ext cx="10515600" cy="483961"/>
          </a:xfrm>
        </p:spPr>
        <p:txBody>
          <a:bodyPr/>
          <a:lstStyle/>
          <a:p>
            <a:endParaRPr lang="en-IN" dirty="0"/>
          </a:p>
        </p:txBody>
      </p:sp>
      <p:pic>
        <p:nvPicPr>
          <p:cNvPr id="9" name="Content Placeholder 8">
            <a:extLst>
              <a:ext uri="{FF2B5EF4-FFF2-40B4-BE49-F238E27FC236}">
                <a16:creationId xmlns:a16="http://schemas.microsoft.com/office/drawing/2014/main" id="{A918D9CE-9852-FE5B-744A-FDD73B5AC258}"/>
              </a:ext>
            </a:extLst>
          </p:cNvPr>
          <p:cNvPicPr>
            <a:picLocks noGrp="1" noChangeAspect="1"/>
          </p:cNvPicPr>
          <p:nvPr>
            <p:ph idx="1"/>
          </p:nvPr>
        </p:nvPicPr>
        <p:blipFill>
          <a:blip r:embed="rId2"/>
          <a:stretch>
            <a:fillRect/>
          </a:stretch>
        </p:blipFill>
        <p:spPr>
          <a:xfrm>
            <a:off x="729344" y="3629291"/>
            <a:ext cx="7979228" cy="2673487"/>
          </a:xfrm>
        </p:spPr>
      </p:pic>
      <p:pic>
        <p:nvPicPr>
          <p:cNvPr id="5" name="Picture 4">
            <a:extLst>
              <a:ext uri="{FF2B5EF4-FFF2-40B4-BE49-F238E27FC236}">
                <a16:creationId xmlns:a16="http://schemas.microsoft.com/office/drawing/2014/main" id="{7FDA5239-9D6B-B042-8D23-195BD6ABA84D}"/>
              </a:ext>
            </a:extLst>
          </p:cNvPr>
          <p:cNvPicPr>
            <a:picLocks noChangeAspect="1"/>
          </p:cNvPicPr>
          <p:nvPr/>
        </p:nvPicPr>
        <p:blipFill>
          <a:blip r:embed="rId3"/>
          <a:stretch>
            <a:fillRect/>
          </a:stretch>
        </p:blipFill>
        <p:spPr>
          <a:xfrm>
            <a:off x="653142" y="1349317"/>
            <a:ext cx="7818357" cy="2365414"/>
          </a:xfrm>
          <a:prstGeom prst="rect">
            <a:avLst/>
          </a:prstGeom>
        </p:spPr>
      </p:pic>
      <p:sp>
        <p:nvSpPr>
          <p:cNvPr id="10" name="Rounded Rectangle 17">
            <a:extLst>
              <a:ext uri="{FF2B5EF4-FFF2-40B4-BE49-F238E27FC236}">
                <a16:creationId xmlns:a16="http://schemas.microsoft.com/office/drawing/2014/main" id="{563DA764-F878-CA02-2F4E-E02F65870169}"/>
              </a:ext>
            </a:extLst>
          </p:cNvPr>
          <p:cNvSpPr txBox="1">
            <a:spLocks/>
          </p:cNvSpPr>
          <p:nvPr/>
        </p:nvSpPr>
        <p:spPr>
          <a:xfrm>
            <a:off x="778328" y="385220"/>
            <a:ext cx="10515600" cy="581932"/>
          </a:xfrm>
          <a:prstGeom prst="roundRect">
            <a:avLst/>
          </a:prstGeom>
          <a:solidFill>
            <a:srgbClr val="BA2532"/>
          </a:solidFill>
          <a:ln w="19050" cap="flat" cmpd="sng" algn="ctr">
            <a:noFill/>
            <a:prstDash val="solid"/>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3400" dirty="0">
                <a:solidFill>
                  <a:schemeClr val="bg1"/>
                </a:solidFill>
                <a:latin typeface="Times New Roman" panose="02020603050405020304" pitchFamily="18" charset="0"/>
                <a:cs typeface="Times New Roman" panose="02020603050405020304" pitchFamily="18" charset="0"/>
              </a:rPr>
              <a:t>2)Traversing  in reverse direction in Singly Linked List</a:t>
            </a:r>
          </a:p>
        </p:txBody>
      </p:sp>
    </p:spTree>
    <p:extLst>
      <p:ext uri="{BB962C8B-B14F-4D97-AF65-F5344CB8AC3E}">
        <p14:creationId xmlns:p14="http://schemas.microsoft.com/office/powerpoint/2010/main" val="618268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730E558-A873-BC7E-496A-C412E09F64F2}"/>
              </a:ext>
            </a:extLst>
          </p:cNvPr>
          <p:cNvPicPr>
            <a:picLocks noGrp="1" noChangeAspect="1"/>
          </p:cNvPicPr>
          <p:nvPr>
            <p:ph idx="1"/>
          </p:nvPr>
        </p:nvPicPr>
        <p:blipFill>
          <a:blip r:embed="rId2"/>
          <a:stretch>
            <a:fillRect/>
          </a:stretch>
        </p:blipFill>
        <p:spPr>
          <a:xfrm>
            <a:off x="1132115" y="1371600"/>
            <a:ext cx="9938656" cy="3779103"/>
          </a:xfrm>
        </p:spPr>
      </p:pic>
      <p:sp>
        <p:nvSpPr>
          <p:cNvPr id="6" name="Rounded Rectangle 17">
            <a:extLst>
              <a:ext uri="{FF2B5EF4-FFF2-40B4-BE49-F238E27FC236}">
                <a16:creationId xmlns:a16="http://schemas.microsoft.com/office/drawing/2014/main" id="{1446440B-A9BF-60EA-5486-EC8E47ADC7CD}"/>
              </a:ext>
            </a:extLst>
          </p:cNvPr>
          <p:cNvSpPr txBox="1">
            <a:spLocks/>
          </p:cNvSpPr>
          <p:nvPr/>
        </p:nvSpPr>
        <p:spPr>
          <a:xfrm>
            <a:off x="778328" y="385220"/>
            <a:ext cx="10515600" cy="581932"/>
          </a:xfrm>
          <a:prstGeom prst="roundRect">
            <a:avLst/>
          </a:prstGeom>
          <a:solidFill>
            <a:srgbClr val="BA2532"/>
          </a:solidFill>
          <a:ln w="19050" cap="flat" cmpd="sng" algn="ctr">
            <a:noFill/>
            <a:prstDash val="solid"/>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3400" dirty="0">
                <a:solidFill>
                  <a:schemeClr val="bg1"/>
                </a:solidFill>
                <a:latin typeface="Times New Roman" panose="02020603050405020304" pitchFamily="18" charset="0"/>
                <a:cs typeface="Times New Roman" panose="02020603050405020304" pitchFamily="18" charset="0"/>
              </a:rPr>
              <a:t>2)Traversing  in reverse direction in Singly Linked List</a:t>
            </a:r>
          </a:p>
        </p:txBody>
      </p:sp>
    </p:spTree>
    <p:extLst>
      <p:ext uri="{BB962C8B-B14F-4D97-AF65-F5344CB8AC3E}">
        <p14:creationId xmlns:p14="http://schemas.microsoft.com/office/powerpoint/2010/main" val="1241334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43189" y="253280"/>
            <a:ext cx="7795545"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400" dirty="0">
                <a:solidFill>
                  <a:schemeClr val="bg1"/>
                </a:solidFill>
                <a:latin typeface="Times New Roman" panose="02020603050405020304" pitchFamily="18" charset="0"/>
                <a:cs typeface="Times New Roman" panose="02020603050405020304" pitchFamily="18" charset="0"/>
              </a:rPr>
              <a:t>3) Count Operation in Singly Linked List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1990725" y="1065093"/>
            <a:ext cx="10088524" cy="5078313"/>
          </a:xfrm>
          <a:prstGeom prst="rect">
            <a:avLst/>
          </a:prstGeom>
        </p:spPr>
        <p:txBody>
          <a:bodyPr wrap="square">
            <a:spAutoFit/>
          </a:bodyPr>
          <a:lstStyle/>
          <a:p>
            <a:r>
              <a:rPr lang="en-IN" sz="2400" b="1" dirty="0">
                <a:latin typeface="Times New Roman" panose="02020603050405020304" pitchFamily="18" charset="0"/>
                <a:cs typeface="Times New Roman" panose="02020603050405020304" pitchFamily="18" charset="0"/>
              </a:rPr>
              <a:t>Algorithm:</a:t>
            </a:r>
          </a:p>
          <a:p>
            <a:pPr algn="l"/>
            <a:endParaRPr lang="en-US" sz="2000">
              <a:latin typeface="Times New Roman" panose="02020603050405020304" pitchFamily="18" charset="0"/>
              <a:cs typeface="Times New Roman" panose="02020603050405020304" pitchFamily="18" charset="0"/>
            </a:endParaRPr>
          </a:p>
          <a:p>
            <a:pPr algn="l"/>
            <a:r>
              <a:rPr lang="en-US" sz="2000">
                <a:latin typeface="Times New Roman" panose="02020603050405020304" pitchFamily="18" charset="0"/>
                <a:cs typeface="Times New Roman" panose="02020603050405020304" pitchFamily="18" charset="0"/>
              </a:rPr>
              <a:t>Step </a:t>
            </a:r>
            <a:r>
              <a:rPr lang="en-US" sz="2000" dirty="0">
                <a:latin typeface="Times New Roman" panose="02020603050405020304" pitchFamily="18" charset="0"/>
                <a:cs typeface="Times New Roman" panose="02020603050405020304" pitchFamily="18" charset="0"/>
              </a:rPr>
              <a:t>1: </a:t>
            </a:r>
            <a:r>
              <a:rPr lang="en-US" sz="2000" b="0" i="0" dirty="0">
                <a:effectLst/>
                <a:latin typeface="Times New Roman" panose="02020603050405020304" pitchFamily="18" charset="0"/>
                <a:cs typeface="Times New Roman" panose="02020603050405020304" pitchFamily="18" charset="0"/>
              </a:rPr>
              <a:t>Create a class Node which has two attributes: data and next. Next is a pointer to the next node in the list.</a:t>
            </a:r>
          </a:p>
          <a:p>
            <a:pPr algn="l"/>
            <a:r>
              <a:rPr lang="en-US" sz="2000" b="0" i="0" dirty="0">
                <a:effectLst/>
                <a:latin typeface="Times New Roman" panose="02020603050405020304" pitchFamily="18" charset="0"/>
                <a:cs typeface="Times New Roman" panose="02020603050405020304" pitchFamily="18" charset="0"/>
              </a:rPr>
              <a:t>Step 2: Create another class which has two attributes: head and tail.</a:t>
            </a:r>
          </a:p>
          <a:p>
            <a:pPr algn="l"/>
            <a:r>
              <a:rPr lang="en-US" sz="2000" b="0" i="0" dirty="0">
                <a:effectLst/>
                <a:latin typeface="Times New Roman" panose="02020603050405020304" pitchFamily="18" charset="0"/>
                <a:cs typeface="Times New Roman" panose="02020603050405020304" pitchFamily="18" charset="0"/>
              </a:rPr>
              <a:t>Step 3: </a:t>
            </a:r>
            <a:r>
              <a:rPr lang="en-US" sz="2000" b="0" i="0" dirty="0" err="1">
                <a:effectLst/>
                <a:latin typeface="Times New Roman" panose="02020603050405020304" pitchFamily="18" charset="0"/>
                <a:cs typeface="Times New Roman" panose="02020603050405020304" pitchFamily="18" charset="0"/>
              </a:rPr>
              <a:t>addNode</a:t>
            </a:r>
            <a:r>
              <a:rPr lang="en-US" sz="2000" b="0" i="0" dirty="0">
                <a:effectLst/>
                <a:latin typeface="Times New Roman" panose="02020603050405020304" pitchFamily="18" charset="0"/>
                <a:cs typeface="Times New Roman" panose="02020603050405020304" pitchFamily="18" charset="0"/>
              </a:rPr>
              <a:t>() will add a new node to the list:</a:t>
            </a:r>
          </a:p>
          <a:p>
            <a:pPr marL="914400" lvl="1" indent="-457200">
              <a:buFont typeface="+mj-lt"/>
              <a:buAutoNum type="alphaLcParenR"/>
            </a:pPr>
            <a:r>
              <a:rPr lang="en-US" sz="2000" b="0" i="0" dirty="0">
                <a:effectLst/>
                <a:latin typeface="Times New Roman" panose="02020603050405020304" pitchFamily="18" charset="0"/>
                <a:cs typeface="Times New Roman" panose="02020603050405020304" pitchFamily="18" charset="0"/>
              </a:rPr>
              <a:t>Create a new node.</a:t>
            </a:r>
          </a:p>
          <a:p>
            <a:pPr marL="914400" lvl="1" indent="-457200">
              <a:buFont typeface="+mj-lt"/>
              <a:buAutoNum type="alphaLcParenR"/>
            </a:pPr>
            <a:r>
              <a:rPr lang="en-US" sz="2000" b="0" i="0" dirty="0">
                <a:effectLst/>
                <a:latin typeface="Times New Roman" panose="02020603050405020304" pitchFamily="18" charset="0"/>
                <a:cs typeface="Times New Roman" panose="02020603050405020304" pitchFamily="18" charset="0"/>
              </a:rPr>
              <a:t>It first checks, whether the head is equal to null which means the list is empty.</a:t>
            </a:r>
          </a:p>
          <a:p>
            <a:pPr marL="914400" lvl="1" indent="-457200">
              <a:buFont typeface="+mj-lt"/>
              <a:buAutoNum type="alphaLcParenR"/>
            </a:pPr>
            <a:r>
              <a:rPr lang="en-US" sz="2000" b="0" i="0" dirty="0">
                <a:effectLst/>
                <a:latin typeface="Times New Roman" panose="02020603050405020304" pitchFamily="18" charset="0"/>
                <a:cs typeface="Times New Roman" panose="02020603050405020304" pitchFamily="18" charset="0"/>
              </a:rPr>
              <a:t>If the list is empty, both head and tail will point to the newly added node.</a:t>
            </a:r>
          </a:p>
          <a:p>
            <a:pPr marL="914400" lvl="1" indent="-457200">
              <a:buFont typeface="+mj-lt"/>
              <a:buAutoNum type="alphaLcParenR"/>
            </a:pPr>
            <a:r>
              <a:rPr lang="en-US" sz="2000" b="0" i="0" dirty="0">
                <a:effectLst/>
                <a:latin typeface="Times New Roman" panose="02020603050405020304" pitchFamily="18" charset="0"/>
                <a:cs typeface="Times New Roman" panose="02020603050405020304" pitchFamily="18" charset="0"/>
              </a:rPr>
              <a:t>If the list is not empty, the new node will be added to end of the list such that tail's next will point to a newly added node. This new node will become the new tail of the list.</a:t>
            </a:r>
          </a:p>
          <a:p>
            <a:pPr algn="l"/>
            <a:r>
              <a:rPr lang="en-US" sz="2000" b="0" i="0" dirty="0">
                <a:effectLst/>
                <a:latin typeface="Times New Roman" panose="02020603050405020304" pitchFamily="18" charset="0"/>
                <a:cs typeface="Times New Roman" panose="02020603050405020304" pitchFamily="18" charset="0"/>
              </a:rPr>
              <a:t>Step 4: </a:t>
            </a:r>
            <a:r>
              <a:rPr lang="en-US" sz="2000" b="0" i="0" dirty="0" err="1">
                <a:effectLst/>
                <a:latin typeface="Times New Roman" panose="02020603050405020304" pitchFamily="18" charset="0"/>
                <a:cs typeface="Times New Roman" panose="02020603050405020304" pitchFamily="18" charset="0"/>
              </a:rPr>
              <a:t>countNodes</a:t>
            </a:r>
            <a:r>
              <a:rPr lang="en-US" sz="2000" b="0" i="0" dirty="0">
                <a:effectLst/>
                <a:latin typeface="Times New Roman" panose="02020603050405020304" pitchFamily="18" charset="0"/>
                <a:cs typeface="Times New Roman" panose="02020603050405020304" pitchFamily="18" charset="0"/>
              </a:rPr>
              <a:t>() will count the nodes present in the list:</a:t>
            </a:r>
          </a:p>
          <a:p>
            <a:pPr marL="914400" lvl="1" indent="-457200">
              <a:buFont typeface="+mj-lt"/>
              <a:buAutoNum type="alphaLcParenR"/>
            </a:pPr>
            <a:r>
              <a:rPr lang="en-US" sz="2000" b="0" i="0" dirty="0">
                <a:effectLst/>
                <a:latin typeface="Times New Roman" panose="02020603050405020304" pitchFamily="18" charset="0"/>
                <a:cs typeface="Times New Roman" panose="02020603050405020304" pitchFamily="18" charset="0"/>
              </a:rPr>
              <a:t>Define a node current which will initially point to the head of the list.</a:t>
            </a:r>
          </a:p>
          <a:p>
            <a:pPr marL="914400" lvl="1" indent="-457200">
              <a:buFont typeface="+mj-lt"/>
              <a:buAutoNum type="alphaLcParenR"/>
            </a:pPr>
            <a:r>
              <a:rPr lang="en-US" sz="2000" b="0" i="0" dirty="0">
                <a:effectLst/>
                <a:latin typeface="Times New Roman" panose="02020603050405020304" pitchFamily="18" charset="0"/>
                <a:cs typeface="Times New Roman" panose="02020603050405020304" pitchFamily="18" charset="0"/>
              </a:rPr>
              <a:t>Declare and initialize a variable count to 0.</a:t>
            </a:r>
          </a:p>
          <a:p>
            <a:pPr marL="914400" lvl="1" indent="-457200">
              <a:buFont typeface="+mj-lt"/>
              <a:buAutoNum type="alphaLcParenR"/>
            </a:pPr>
            <a:r>
              <a:rPr lang="en-US" sz="2000" b="0" i="0" dirty="0">
                <a:effectLst/>
                <a:latin typeface="Times New Roman" panose="02020603050405020304" pitchFamily="18" charset="0"/>
                <a:cs typeface="Times New Roman" panose="02020603050405020304" pitchFamily="18" charset="0"/>
              </a:rPr>
              <a:t>Traverse through the list till current point to null.</a:t>
            </a:r>
          </a:p>
          <a:p>
            <a:pPr marL="914400" lvl="1" indent="-457200">
              <a:buFont typeface="+mj-lt"/>
              <a:buAutoNum type="alphaLcParenR"/>
            </a:pPr>
            <a:r>
              <a:rPr lang="en-US" sz="2000" b="0" i="0" dirty="0">
                <a:effectLst/>
                <a:latin typeface="Times New Roman" panose="02020603050405020304" pitchFamily="18" charset="0"/>
                <a:cs typeface="Times New Roman" panose="02020603050405020304" pitchFamily="18" charset="0"/>
              </a:rPr>
              <a:t>Increment the value of count by 1 for each node encountered in the list.</a:t>
            </a:r>
          </a:p>
        </p:txBody>
      </p:sp>
    </p:spTree>
    <p:extLst>
      <p:ext uri="{BB962C8B-B14F-4D97-AF65-F5344CB8AC3E}">
        <p14:creationId xmlns:p14="http://schemas.microsoft.com/office/powerpoint/2010/main" val="229032674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32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3600" b="1" dirty="0">
                <a:latin typeface="Poppins" pitchFamily="2" charset="77"/>
                <a:cs typeface="Poppins" pitchFamily="2" charset="77"/>
              </a:rPr>
              <a:t>Team – Data Structures</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2.xml><?xml version="1.0" encoding="utf-8"?>
<ds:datastoreItem xmlns:ds="http://schemas.openxmlformats.org/officeDocument/2006/customXml" ds:itemID="{EBBD0A98-E68B-4DAA-8964-2F739D6D4075}">
  <ds:schemaRefs>
    <ds:schemaRef ds:uri="http://schemas.microsoft.com/office/2006/metadata/properties"/>
    <ds:schemaRef ds:uri="http://www.w3.org/2000/xmlns/"/>
    <ds:schemaRef ds:uri="http://schemas.microsoft.com/office/infopath/2007/PartnerControls"/>
  </ds:schemaRefs>
</ds:datastoreItem>
</file>

<file path=customXml/itemProps3.xml><?xml version="1.0" encoding="utf-8"?>
<ds:datastoreItem xmlns:ds="http://schemas.openxmlformats.org/officeDocument/2006/customXml" ds:itemID="{C89A6ECA-0C1B-4F00-836D-A696F073E5C2}">
  <ds:schemaRefs>
    <ds:schemaRef ds:uri="http://schemas.microsoft.com/office/2006/metadata/contentType"/>
    <ds:schemaRef ds:uri="http://schemas.microsoft.com/office/2006/metadata/properties/metaAttributes"/>
    <ds:schemaRef ds:uri="http://www.w3.org/2000/xmlns/"/>
    <ds:schemaRef ds:uri="http://www.w3.org/2001/XMLSchema"/>
    <ds:schemaRef ds:uri="d43ee83c-3e71-4748-8ebc-8eaadf793425"/>
    <ds:schemaRef ds:uri="0125a647-8023-46ae-ae6e-85cf36d841bd"/>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2199</TotalTime>
  <Words>1028</Words>
  <Application>Microsoft Office PowerPoint</Application>
  <PresentationFormat>Widescreen</PresentationFormat>
  <Paragraphs>131</Paragraphs>
  <Slides>16</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Poppins</vt:lpstr>
      <vt:lpstr>Times New Roman</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2)Traversing  in reverse direction in Singly Linked List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A Kumuda</cp:lastModifiedBy>
  <cp:revision>167</cp:revision>
  <dcterms:created xsi:type="dcterms:W3CDTF">2020-02-08T09:57:44Z</dcterms:created>
  <dcterms:modified xsi:type="dcterms:W3CDTF">2024-12-13T09:14:01Z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