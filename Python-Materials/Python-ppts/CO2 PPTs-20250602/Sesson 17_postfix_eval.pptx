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71" r:id="rId5"/>
    <p:sldId id="300" r:id="rId6"/>
    <p:sldId id="258" r:id="rId7"/>
    <p:sldId id="314" r:id="rId8"/>
    <p:sldId id="315" r:id="rId9"/>
    <p:sldId id="326" r:id="rId10"/>
    <p:sldId id="306" r:id="rId11"/>
    <p:sldId id="316" r:id="rId12"/>
    <p:sldId id="287" r:id="rId13"/>
    <p:sldId id="317" r:id="rId14"/>
    <p:sldId id="318" r:id="rId15"/>
    <p:sldId id="319" r:id="rId16"/>
    <p:sldId id="320" r:id="rId17"/>
    <p:sldId id="321" r:id="rId18"/>
    <p:sldId id="322" r:id="rId19"/>
    <p:sldId id="327" r:id="rId20"/>
    <p:sldId id="325" r:id="rId21"/>
    <p:sldId id="301" r:id="rId22"/>
    <p:sldId id="302" r:id="rId23"/>
    <p:sldId id="303" r:id="rId24"/>
    <p:sldId id="30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4E4ADD7-897F-4F47-A317-DE24AB827DD3}"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4E4ADD7-897F-4F47-A317-DE24AB827DD3}"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10886"/>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354724"/>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3600" b="1" dirty="0">
                <a:solidFill>
                  <a:srgbClr val="00B0F0"/>
                </a:solidFill>
                <a:effectLst/>
                <a:latin typeface="Times New Roman" pitchFamily="18" charset="0"/>
                <a:cs typeface="Times New Roman" pitchFamily="18" charset="0"/>
              </a:rPr>
              <a:t>Evaluation of Postfix </a:t>
            </a:r>
            <a:r>
              <a:rPr lang="en-US" sz="3600" b="1" dirty="0">
                <a:solidFill>
                  <a:srgbClr val="00B0F0"/>
                </a:solidFill>
                <a:latin typeface="Times New Roman" pitchFamily="18" charset="0"/>
                <a:cs typeface="Times New Roman" pitchFamily="18" charset="0"/>
              </a:rPr>
              <a:t>E</a:t>
            </a:r>
            <a:r>
              <a:rPr lang="en-US" sz="3600" b="1" dirty="0">
                <a:solidFill>
                  <a:srgbClr val="00B0F0"/>
                </a:solidFill>
                <a:effectLst/>
                <a:latin typeface="Times New Roman" pitchFamily="18" charset="0"/>
                <a:cs typeface="Times New Roman" pitchFamily="18" charset="0"/>
              </a:rPr>
              <a:t>xpression</a:t>
            </a:r>
            <a:endParaRPr lang="en-US" sz="36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276164" y="557227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17</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a:t>
            </a:r>
            <a:r>
              <a:rPr lang="en-US" sz="1600" dirty="0">
                <a:latin typeface="Poppins"/>
                <a:cs typeface="Poppins"/>
              </a:rPr>
              <a:t>understand </a:t>
            </a:r>
            <a:r>
              <a:rPr lang="en-US" sz="1600" b="0" i="0" dirty="0">
                <a:effectLst/>
                <a:latin typeface="Poppins"/>
                <a:cs typeface="Poppins"/>
              </a:rPr>
              <a:t>students with the basic concept of </a:t>
            </a:r>
            <a:r>
              <a:rPr lang="en-US" sz="1600" spc="-5" dirty="0">
                <a:latin typeface="Times New Roman" panose="02020603050405020304" pitchFamily="18" charset="0"/>
                <a:ea typeface="Tahoma" panose="020B0604030504040204" pitchFamily="34" charset="0"/>
                <a:cs typeface="Times New Roman" panose="02020603050405020304" pitchFamily="18" charset="0"/>
              </a:rPr>
              <a:t>P</a:t>
            </a:r>
            <a:r>
              <a:rPr lang="en-US" sz="1600" b="0" i="0" spc="-5" dirty="0">
                <a:effectLst/>
                <a:latin typeface="Times New Roman" panose="02020603050405020304" pitchFamily="18" charset="0"/>
                <a:ea typeface="Tahoma" panose="020B0604030504040204" pitchFamily="34" charset="0"/>
                <a:cs typeface="Times New Roman" panose="02020603050405020304" pitchFamily="18" charset="0"/>
              </a:rPr>
              <a:t>ostfix expression evaluation</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a:t>
            </a:r>
            <a:r>
              <a:rPr lang="en-US" sz="1600" dirty="0">
                <a:latin typeface="Arial" panose="020B0604020202020204" pitchFamily="34" charset="0"/>
              </a:rPr>
              <a:t>the postfix expression evaluation</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types </a:t>
            </a:r>
            <a:r>
              <a:rPr lang="en-US" sz="1600" dirty="0">
                <a:latin typeface="Arial" panose="020B0604020202020204" pitchFamily="34" charset="0"/>
              </a:rPr>
              <a:t>of arithmetic expressions </a:t>
            </a:r>
            <a:r>
              <a:rPr lang="en-US" sz="1600" b="0" i="0" dirty="0">
                <a:effectLst/>
                <a:latin typeface="Arial" panose="020B0604020202020204" pitchFamily="34" charset="0"/>
              </a:rPr>
              <a:t>..</a:t>
            </a:r>
          </a:p>
          <a:p>
            <a:pPr marL="342900" indent="-342900">
              <a:buAutoNum type="arabicPeriod"/>
            </a:pPr>
            <a:r>
              <a:rPr lang="en-US" sz="1600" b="0" i="0" dirty="0">
                <a:effectLst/>
                <a:latin typeface="Arial"/>
                <a:cs typeface="Arial"/>
              </a:rPr>
              <a:t>Describe the </a:t>
            </a:r>
            <a:r>
              <a:rPr lang="en-US" sz="1600" dirty="0">
                <a:latin typeface="Arial"/>
                <a:cs typeface="Arial"/>
              </a:rPr>
              <a:t>examples for each type of expressions.</a:t>
            </a:r>
            <a:endParaRPr lang="en-US" sz="1600" b="0" i="0" dirty="0">
              <a:effectLst/>
              <a:latin typeface="Arial"/>
              <a:cs typeface="Arial"/>
            </a:endParaRPr>
          </a:p>
          <a:p>
            <a:pPr marL="342900" indent="-342900">
              <a:buAutoNum type="arabicPeriod"/>
            </a:pPr>
            <a:r>
              <a:rPr lang="en-US" sz="1600" dirty="0">
                <a:latin typeface="Arial"/>
                <a:cs typeface="Arial"/>
              </a:rPr>
              <a:t>List out the advantages of postfix expression evaluation</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a:lnSpc>
                <a:spcPct val="200000"/>
              </a:lnSpc>
            </a:pPr>
            <a:r>
              <a:rPr lang="en-US" sz="1600" dirty="0">
                <a:latin typeface="Arial"/>
                <a:cs typeface="Arial"/>
              </a:rPr>
              <a:t> 1.</a:t>
            </a:r>
            <a:r>
              <a:rPr lang="en-US" sz="1600" b="0" i="0" dirty="0">
                <a:effectLst/>
                <a:latin typeface="Arial" panose="020B0604020202020204" pitchFamily="34" charset="0"/>
              </a:rPr>
              <a:t>Define </a:t>
            </a:r>
            <a:r>
              <a:rPr lang="en-US" sz="1600" dirty="0">
                <a:latin typeface="Arial" panose="020B0604020202020204" pitchFamily="34" charset="0"/>
              </a:rPr>
              <a:t>postfix expression</a:t>
            </a:r>
          </a:p>
          <a:p>
            <a:pPr marL="342900" indent="-342900"/>
            <a:r>
              <a:rPr lang="en-US" sz="1600" b="0" i="0" dirty="0">
                <a:effectLst/>
                <a:latin typeface="Arial" panose="020B0604020202020204" pitchFamily="34" charset="0"/>
              </a:rPr>
              <a:t> 2.Describe the procedure to evaluate postfix expression</a:t>
            </a:r>
          </a:p>
          <a:p>
            <a:pPr marL="342900" indent="-342900"/>
            <a:r>
              <a:rPr lang="en-US" sz="1600" dirty="0">
                <a:latin typeface="Arial" panose="020B0604020202020204" pitchFamily="34" charset="0"/>
              </a:rPr>
              <a:t> 3.Summarize definition, types of different postfix expressions evaluation.</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Postfix expression</a:t>
            </a:r>
          </a:p>
          <a:p>
            <a:r>
              <a:rPr lang="en-US" sz="2400" dirty="0"/>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2" y="1465781"/>
            <a:ext cx="10992804" cy="5755422"/>
          </a:xfrm>
          <a:prstGeom prst="rect">
            <a:avLst/>
          </a:prstGeom>
          <a:noFill/>
        </p:spPr>
        <p:txBody>
          <a:bodyPr wrap="square" rtlCol="0">
            <a:spAutoFit/>
          </a:bodyPr>
          <a:lstStyle/>
          <a:p>
            <a:pPr algn="just"/>
            <a:r>
              <a:rPr lang="en-US" sz="2800" dirty="0">
                <a:latin typeface="Times New Roman" pitchFamily="18" charset="0"/>
                <a:cs typeface="Times New Roman" pitchFamily="18" charset="0"/>
              </a:rPr>
              <a:t>Any arithmetic expression consists of operands and operators. The way we arrange our operators and operands to write the arithmetic expression is called Notation. The following are the three different notations for writing the Arithmetic expression.</a:t>
            </a:r>
          </a:p>
          <a:p>
            <a:pPr algn="just"/>
            <a:r>
              <a:rPr lang="en-US" sz="2800" dirty="0">
                <a:solidFill>
                  <a:srgbClr val="FF0000"/>
                </a:solidFill>
                <a:latin typeface="Times New Roman" pitchFamily="18" charset="0"/>
                <a:cs typeface="Times New Roman" pitchFamily="18" charset="0"/>
              </a:rPr>
              <a:t>       Infix expression</a:t>
            </a:r>
          </a:p>
          <a:p>
            <a:pPr algn="just"/>
            <a:r>
              <a:rPr lang="en-US" sz="2800" dirty="0">
                <a:latin typeface="Times New Roman" pitchFamily="18" charset="0"/>
                <a:cs typeface="Times New Roman" pitchFamily="18" charset="0"/>
              </a:rPr>
              <a:t>An expression is said to be in infix notation if the operators in the expression are placed in between the operands on which the operator works.</a:t>
            </a:r>
          </a:p>
          <a:p>
            <a:pPr algn="just"/>
            <a:r>
              <a:rPr lang="en-US" sz="2800" dirty="0">
                <a:latin typeface="Times New Roman" pitchFamily="18" charset="0"/>
                <a:cs typeface="Times New Roman" pitchFamily="18" charset="0"/>
              </a:rPr>
              <a:t>                                                         a + b * c </a:t>
            </a:r>
          </a:p>
          <a:p>
            <a:pPr algn="just"/>
            <a:r>
              <a:rPr lang="en-US" sz="2800" dirty="0">
                <a:latin typeface="Times New Roman" pitchFamily="18" charset="0"/>
                <a:cs typeface="Times New Roman" pitchFamily="18" charset="0"/>
              </a:rPr>
              <a:t>Infix expressions are easy to read, write and understand by humans, but not by computer It’s costly, in terms of time and space, to process Infix expressions.</a:t>
            </a:r>
          </a:p>
          <a:p>
            <a:pPr algn="just"/>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716" y="1569493"/>
            <a:ext cx="11395881" cy="5117909"/>
          </a:xfrm>
        </p:spPr>
        <p:txBody>
          <a:bodyPr/>
          <a:lstStyle/>
          <a:p>
            <a:pPr>
              <a:buNone/>
            </a:pPr>
            <a:r>
              <a:rPr lang="en-US" sz="1800" dirty="0">
                <a:latin typeface="Arial" pitchFamily="34" charset="0"/>
                <a:cs typeface="Arial" pitchFamily="34" charset="0"/>
              </a:rPr>
              <a:t>      </a:t>
            </a:r>
          </a:p>
          <a:p>
            <a:pPr>
              <a:buFont typeface="Wingdings" pitchFamily="2" charset="2"/>
              <a:buChar char="q"/>
            </a:pPr>
            <a:r>
              <a:rPr lang="en-US" sz="1800" dirty="0">
                <a:solidFill>
                  <a:srgbClr val="FF0000"/>
                </a:solidFill>
                <a:latin typeface="Arial" pitchFamily="34" charset="0"/>
                <a:cs typeface="Arial" pitchFamily="34" charset="0"/>
              </a:rPr>
              <a:t>    </a:t>
            </a:r>
            <a:r>
              <a:rPr lang="en-US" dirty="0">
                <a:solidFill>
                  <a:srgbClr val="FF0000"/>
                </a:solidFill>
                <a:latin typeface="Times New Roman" pitchFamily="18" charset="0"/>
                <a:cs typeface="Times New Roman" pitchFamily="18" charset="0"/>
              </a:rPr>
              <a:t>Postfix expression(reverse polish notation)</a:t>
            </a:r>
          </a:p>
          <a:p>
            <a:pPr algn="just">
              <a:buNone/>
            </a:pPr>
            <a:r>
              <a:rPr lang="en-US" dirty="0">
                <a:latin typeface="Times New Roman" pitchFamily="18" charset="0"/>
                <a:cs typeface="Times New Roman" pitchFamily="18" charset="0"/>
              </a:rPr>
              <a:t>   An expression is said to be in postfix notation if the operators in the expression are placed after the operands on which the operator works.                           </a:t>
            </a:r>
          </a:p>
          <a:p>
            <a:pPr algn="just">
              <a:buNone/>
            </a:pPr>
            <a:r>
              <a:rPr lang="en-US" dirty="0">
                <a:latin typeface="Times New Roman" pitchFamily="18" charset="0"/>
                <a:cs typeface="Times New Roman" pitchFamily="18" charset="0"/>
              </a:rPr>
              <a:t>   (abc*+) is a postfix expression for an infix expression a+b*c;</a:t>
            </a:r>
          </a:p>
          <a:p>
            <a:pPr algn="just">
              <a:buNone/>
            </a:pPr>
            <a:r>
              <a:rPr lang="en-US" dirty="0">
                <a:latin typeface="Times New Roman" pitchFamily="18" charset="0"/>
                <a:cs typeface="Times New Roman" pitchFamily="18" charset="0"/>
              </a:rPr>
              <a:t>   It’s the most used notation for evaluating arithmetic expressions.</a:t>
            </a:r>
          </a:p>
          <a:p>
            <a:pPr algn="just">
              <a:buFont typeface="Wingdings" pitchFamily="2" charset="2"/>
              <a:buChar char="q"/>
            </a:pPr>
            <a:r>
              <a:rPr lang="en-US" dirty="0">
                <a:solidFill>
                  <a:srgbClr val="FF0000"/>
                </a:solidFill>
                <a:latin typeface="Times New Roman" pitchFamily="18" charset="0"/>
                <a:cs typeface="Times New Roman" pitchFamily="18" charset="0"/>
              </a:rPr>
              <a:t>   Prefix expression(polish notation)</a:t>
            </a:r>
          </a:p>
          <a:p>
            <a:pPr algn="just">
              <a:buNone/>
            </a:pPr>
            <a:r>
              <a:rPr lang="en-US" dirty="0">
                <a:latin typeface="Times New Roman" pitchFamily="18" charset="0"/>
                <a:cs typeface="Times New Roman" pitchFamily="18" charset="0"/>
              </a:rPr>
              <a:t>  An expression is said to be in prefix notation if the operators in the expression are placed before the operands on which the operator works.</a:t>
            </a:r>
          </a:p>
          <a:p>
            <a:pPr algn="just">
              <a:buNone/>
            </a:pPr>
            <a:r>
              <a:rPr lang="en-US" dirty="0">
                <a:latin typeface="Times New Roman" pitchFamily="18" charset="0"/>
                <a:cs typeface="Times New Roman" pitchFamily="18" charset="0"/>
              </a:rPr>
              <a:t> +a*</a:t>
            </a:r>
            <a:r>
              <a:rPr lang="en-US" dirty="0" err="1">
                <a:latin typeface="Times New Roman" pitchFamily="18" charset="0"/>
                <a:cs typeface="Times New Roman" pitchFamily="18" charset="0"/>
              </a:rPr>
              <a:t>bc</a:t>
            </a:r>
            <a:r>
              <a:rPr lang="en-US" dirty="0">
                <a:latin typeface="Times New Roman" pitchFamily="18" charset="0"/>
                <a:cs typeface="Times New Roman" pitchFamily="18" charset="0"/>
              </a:rPr>
              <a:t> is the prefix expression for the infix expression a+b*c.</a:t>
            </a:r>
          </a:p>
        </p:txBody>
      </p:sp>
      <p:sp>
        <p:nvSpPr>
          <p:cNvPr id="4" name="Rounded Rectangle 17">
            <a:extLst>
              <a:ext uri="{FF2B5EF4-FFF2-40B4-BE49-F238E27FC236}">
                <a16:creationId xmlns:a16="http://schemas.microsoft.com/office/drawing/2014/main" id="{9EB8A4A0-26E8-41C7-BE65-3B55B361B40D}"/>
              </a:ext>
            </a:extLst>
          </p:cNvPr>
          <p:cNvSpPr>
            <a:spLocks noGrp="1"/>
          </p:cNvSpPr>
          <p:nvPr>
            <p:ph type="title"/>
          </p:nvPr>
        </p:nvSpPr>
        <p:spPr>
          <a:xfrm>
            <a:off x="1760560" y="436728"/>
            <a:ext cx="9664491" cy="105087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Postfix expression    (cont..)</a:t>
            </a:r>
          </a:p>
          <a:p>
            <a:r>
              <a:rPr lang="en-US" sz="2400" dirty="0"/>
              <a:t>			                INTRODUCTION </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1"/>
            <a:ext cx="2490171" cy="750627"/>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825624"/>
            <a:ext cx="10530385" cy="4820835"/>
          </a:xfrm>
        </p:spPr>
        <p:txBody>
          <a:bodyPr/>
          <a:lstStyle/>
          <a:p>
            <a:endParaRPr lang="en-US" dirty="0"/>
          </a:p>
          <a:p>
            <a:pPr>
              <a:buNone/>
            </a:pPr>
            <a:r>
              <a:rPr lang="en-US" b="1" dirty="0">
                <a:latin typeface="Times New Roman" pitchFamily="18" charset="0"/>
                <a:cs typeface="Times New Roman" pitchFamily="18" charset="0"/>
              </a:rPr>
              <a:t>Examples of Infix, Prefix, and Postfix</a:t>
            </a:r>
            <a:endParaRPr lang="en-US" dirty="0">
              <a:latin typeface="Times New Roman" pitchFamily="18" charset="0"/>
              <a:cs typeface="Times New Roman" pitchFamily="18" charset="0"/>
            </a:endParaRPr>
          </a:p>
          <a:p>
            <a:pPr>
              <a:buNone/>
            </a:pPr>
            <a:endParaRPr lang="en-US" dirty="0"/>
          </a:p>
          <a:p>
            <a:pPr>
              <a:buNone/>
            </a:pPr>
            <a:r>
              <a:rPr lang="en-US" dirty="0">
                <a:latin typeface="Times New Roman" pitchFamily="18" charset="0"/>
                <a:cs typeface="Times New Roman" pitchFamily="18" charset="0"/>
              </a:rPr>
              <a:t>Infix expression              prefix expression              postfix expression</a:t>
            </a: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p>
        </p:txBody>
      </p:sp>
      <p:sp>
        <p:nvSpPr>
          <p:cNvPr id="4" name="Rounded Rectangle 17">
            <a:extLst>
              <a:ext uri="{FF2B5EF4-FFF2-40B4-BE49-F238E27FC236}">
                <a16:creationId xmlns:a16="http://schemas.microsoft.com/office/drawing/2014/main" id="{0F2E30D4-6F86-49D1-9276-85CE0E9B3E3E}"/>
              </a:ext>
            </a:extLst>
          </p:cNvPr>
          <p:cNvSpPr>
            <a:spLocks noGrp="1"/>
          </p:cNvSpPr>
          <p:nvPr>
            <p:ph type="title"/>
          </p:nvPr>
        </p:nvSpPr>
        <p:spPr>
          <a:xfrm>
            <a:off x="2129050" y="365125"/>
            <a:ext cx="9224749" cy="102694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itchFamily="18" charset="0"/>
                <a:cs typeface="Times New Roman" pitchFamily="18" charset="0"/>
              </a:rPr>
              <a:t>Example of  infix, prefix and postfix expressions</a:t>
            </a:r>
            <a:endParaRPr lang="en-US" sz="2400" dirty="0">
              <a:latin typeface="Times New Roman" pitchFamily="18" charset="0"/>
              <a:cs typeface="Times New Roman" pitchFamily="18" charset="0"/>
            </a:endParaRPr>
          </a:p>
        </p:txBody>
      </p:sp>
      <p:graphicFrame>
        <p:nvGraphicFramePr>
          <p:cNvPr id="5" name="Table 4"/>
          <p:cNvGraphicFramePr>
            <a:graphicFrameLocks noGrp="1"/>
          </p:cNvGraphicFramePr>
          <p:nvPr/>
        </p:nvGraphicFramePr>
        <p:xfrm>
          <a:off x="1555670" y="3875964"/>
          <a:ext cx="8039593" cy="2370456"/>
        </p:xfrm>
        <a:graphic>
          <a:graphicData uri="http://schemas.openxmlformats.org/drawingml/2006/table">
            <a:tbl>
              <a:tblPr firstRow="1" bandRow="1">
                <a:tableStyleId>{5C22544A-7EE6-4342-B048-85BDC9FD1C3A}</a:tableStyleId>
              </a:tblPr>
              <a:tblGrid>
                <a:gridCol w="2679865">
                  <a:extLst>
                    <a:ext uri="{9D8B030D-6E8A-4147-A177-3AD203B41FA5}">
                      <a16:colId xmlns:a16="http://schemas.microsoft.com/office/drawing/2014/main" val="20000"/>
                    </a:ext>
                  </a:extLst>
                </a:gridCol>
                <a:gridCol w="2679865">
                  <a:extLst>
                    <a:ext uri="{9D8B030D-6E8A-4147-A177-3AD203B41FA5}">
                      <a16:colId xmlns:a16="http://schemas.microsoft.com/office/drawing/2014/main" val="20001"/>
                    </a:ext>
                  </a:extLst>
                </a:gridCol>
                <a:gridCol w="2679863">
                  <a:extLst>
                    <a:ext uri="{9D8B030D-6E8A-4147-A177-3AD203B41FA5}">
                      <a16:colId xmlns:a16="http://schemas.microsoft.com/office/drawing/2014/main" val="20002"/>
                    </a:ext>
                  </a:extLst>
                </a:gridCol>
              </a:tblGrid>
              <a:tr h="592614">
                <a:tc>
                  <a:txBody>
                    <a:bodyPr/>
                    <a:lstStyle/>
                    <a:p>
                      <a:r>
                        <a:rPr lang="en-US" dirty="0"/>
                        <a:t>A+B*C+D</a:t>
                      </a:r>
                    </a:p>
                  </a:txBody>
                  <a:tcPr/>
                </a:tc>
                <a:tc>
                  <a:txBody>
                    <a:bodyPr/>
                    <a:lstStyle/>
                    <a:p>
                      <a:r>
                        <a:rPr lang="en-US" sz="1800" b="0" i="0" kern="1200" dirty="0">
                          <a:solidFill>
                            <a:schemeClr val="lt1"/>
                          </a:solidFill>
                          <a:latin typeface="+mn-lt"/>
                          <a:ea typeface="+mn-ea"/>
                          <a:cs typeface="+mn-cs"/>
                        </a:rPr>
                        <a:t>+ + A * B C D</a:t>
                      </a:r>
                      <a:endParaRPr lang="en-US" dirty="0"/>
                    </a:p>
                  </a:txBody>
                  <a:tcPr/>
                </a:tc>
                <a:tc>
                  <a:txBody>
                    <a:bodyPr/>
                    <a:lstStyle/>
                    <a:p>
                      <a:r>
                        <a:rPr lang="en-US" sz="1800" b="0" i="0" kern="1200" dirty="0">
                          <a:solidFill>
                            <a:schemeClr val="lt1"/>
                          </a:solidFill>
                          <a:latin typeface="+mn-lt"/>
                          <a:ea typeface="+mn-ea"/>
                          <a:cs typeface="+mn-cs"/>
                        </a:rPr>
                        <a:t>A B C * + D +</a:t>
                      </a:r>
                      <a:endParaRPr lang="en-US" dirty="0"/>
                    </a:p>
                  </a:txBody>
                  <a:tcPr/>
                </a:tc>
                <a:extLst>
                  <a:ext uri="{0D108BD9-81ED-4DB2-BD59-A6C34878D82A}">
                    <a16:rowId xmlns:a16="http://schemas.microsoft.com/office/drawing/2014/main" val="10000"/>
                  </a:ext>
                </a:extLst>
              </a:tr>
              <a:tr h="592614">
                <a:tc>
                  <a:txBody>
                    <a:bodyPr/>
                    <a:lstStyle/>
                    <a:p>
                      <a:r>
                        <a:rPr lang="en-US" sz="1800" b="0" i="0" kern="1200" dirty="0">
                          <a:solidFill>
                            <a:schemeClr val="dk1"/>
                          </a:solidFill>
                          <a:latin typeface="+mn-lt"/>
                          <a:ea typeface="+mn-ea"/>
                          <a:cs typeface="+mn-cs"/>
                        </a:rPr>
                        <a:t>(A + B) * (C + D)</a:t>
                      </a:r>
                      <a:endParaRPr lang="en-US" dirty="0"/>
                    </a:p>
                  </a:txBody>
                  <a:tcPr/>
                </a:tc>
                <a:tc>
                  <a:txBody>
                    <a:bodyPr/>
                    <a:lstStyle/>
                    <a:p>
                      <a:r>
                        <a:rPr lang="en-US" sz="1800" b="0" i="0" kern="1200" dirty="0">
                          <a:solidFill>
                            <a:schemeClr val="dk1"/>
                          </a:solidFill>
                          <a:latin typeface="+mn-lt"/>
                          <a:ea typeface="+mn-ea"/>
                          <a:cs typeface="+mn-cs"/>
                        </a:rPr>
                        <a:t>* + A B + C D</a:t>
                      </a:r>
                      <a:endParaRPr lang="en-US" dirty="0"/>
                    </a:p>
                  </a:txBody>
                  <a:tcPr/>
                </a:tc>
                <a:tc>
                  <a:txBody>
                    <a:bodyPr/>
                    <a:lstStyle/>
                    <a:p>
                      <a:r>
                        <a:rPr lang="en-US" sz="1800" b="0" i="0" kern="1200" dirty="0">
                          <a:solidFill>
                            <a:schemeClr val="dk1"/>
                          </a:solidFill>
                          <a:latin typeface="+mn-lt"/>
                          <a:ea typeface="+mn-ea"/>
                          <a:cs typeface="+mn-cs"/>
                        </a:rPr>
                        <a:t>A B + C D + *</a:t>
                      </a:r>
                      <a:endParaRPr lang="en-US" dirty="0"/>
                    </a:p>
                  </a:txBody>
                  <a:tcPr/>
                </a:tc>
                <a:extLst>
                  <a:ext uri="{0D108BD9-81ED-4DB2-BD59-A6C34878D82A}">
                    <a16:rowId xmlns:a16="http://schemas.microsoft.com/office/drawing/2014/main" val="10001"/>
                  </a:ext>
                </a:extLst>
              </a:tr>
              <a:tr h="592614">
                <a:tc>
                  <a:txBody>
                    <a:bodyPr/>
                    <a:lstStyle/>
                    <a:p>
                      <a:r>
                        <a:rPr lang="en-US" sz="1800" b="0" i="0" kern="1200" dirty="0">
                          <a:solidFill>
                            <a:schemeClr val="dk1"/>
                          </a:solidFill>
                          <a:latin typeface="+mn-lt"/>
                          <a:ea typeface="+mn-ea"/>
                          <a:cs typeface="+mn-cs"/>
                        </a:rPr>
                        <a:t>A * B + C * D</a:t>
                      </a:r>
                      <a:endParaRPr lang="en-US" dirty="0"/>
                    </a:p>
                  </a:txBody>
                  <a:tcPr/>
                </a:tc>
                <a:tc>
                  <a:txBody>
                    <a:bodyPr/>
                    <a:lstStyle/>
                    <a:p>
                      <a:r>
                        <a:rPr lang="en-US" sz="1800" b="0" i="0" kern="1200" dirty="0">
                          <a:solidFill>
                            <a:schemeClr val="dk1"/>
                          </a:solidFill>
                          <a:latin typeface="+mn-lt"/>
                          <a:ea typeface="+mn-ea"/>
                          <a:cs typeface="+mn-cs"/>
                        </a:rPr>
                        <a:t>+ * A B * C D</a:t>
                      </a:r>
                      <a:endParaRPr lang="en-US" dirty="0"/>
                    </a:p>
                  </a:txBody>
                  <a:tcPr/>
                </a:tc>
                <a:tc>
                  <a:txBody>
                    <a:bodyPr/>
                    <a:lstStyle/>
                    <a:p>
                      <a:r>
                        <a:rPr lang="en-US" sz="1800" b="0" i="0" kern="1200" dirty="0">
                          <a:solidFill>
                            <a:schemeClr val="dk1"/>
                          </a:solidFill>
                          <a:latin typeface="+mn-lt"/>
                          <a:ea typeface="+mn-ea"/>
                          <a:cs typeface="+mn-cs"/>
                        </a:rPr>
                        <a:t>A B * C D * +</a:t>
                      </a:r>
                      <a:endParaRPr lang="en-US" dirty="0"/>
                    </a:p>
                  </a:txBody>
                  <a:tcPr/>
                </a:tc>
                <a:extLst>
                  <a:ext uri="{0D108BD9-81ED-4DB2-BD59-A6C34878D82A}">
                    <a16:rowId xmlns:a16="http://schemas.microsoft.com/office/drawing/2014/main" val="10002"/>
                  </a:ext>
                </a:extLst>
              </a:tr>
              <a:tr h="592614">
                <a:tc>
                  <a:txBody>
                    <a:bodyPr/>
                    <a:lstStyle/>
                    <a:p>
                      <a:r>
                        <a:rPr lang="en-US" sz="1800" b="0" i="0" kern="1200" dirty="0">
                          <a:solidFill>
                            <a:schemeClr val="dk1"/>
                          </a:solidFill>
                          <a:latin typeface="+mn-lt"/>
                          <a:ea typeface="+mn-ea"/>
                          <a:cs typeface="+mn-cs"/>
                        </a:rPr>
                        <a:t>A + B + C + D</a:t>
                      </a:r>
                      <a:endParaRPr lang="en-US" dirty="0"/>
                    </a:p>
                  </a:txBody>
                  <a:tcPr/>
                </a:tc>
                <a:tc>
                  <a:txBody>
                    <a:bodyPr/>
                    <a:lstStyle/>
                    <a:p>
                      <a:r>
                        <a:rPr lang="en-US" sz="1800" b="0" i="0" kern="1200" dirty="0">
                          <a:solidFill>
                            <a:schemeClr val="dk1"/>
                          </a:solidFill>
                          <a:latin typeface="+mn-lt"/>
                          <a:ea typeface="+mn-ea"/>
                          <a:cs typeface="+mn-cs"/>
                        </a:rPr>
                        <a:t>+ + + A B C D</a:t>
                      </a:r>
                      <a:endParaRPr lang="en-US" dirty="0"/>
                    </a:p>
                  </a:txBody>
                  <a:tcPr/>
                </a:tc>
                <a:tc>
                  <a:txBody>
                    <a:bodyPr/>
                    <a:lstStyle/>
                    <a:p>
                      <a:r>
                        <a:rPr lang="en-US" sz="1800" b="0" i="0" kern="1200" dirty="0">
                          <a:solidFill>
                            <a:schemeClr val="dk1"/>
                          </a:solidFill>
                          <a:latin typeface="+mn-lt"/>
                          <a:ea typeface="+mn-ea"/>
                          <a:cs typeface="+mn-cs"/>
                        </a:rPr>
                        <a:t>A B + C + D +</a:t>
                      </a:r>
                      <a:endParaRPr lang="en-US" dirty="0"/>
                    </a:p>
                  </a:txBody>
                  <a:tcPr/>
                </a:tc>
                <a:extLst>
                  <a:ext uri="{0D108BD9-81ED-4DB2-BD59-A6C34878D82A}">
                    <a16:rowId xmlns:a16="http://schemas.microsoft.com/office/drawing/2014/main" val="10003"/>
                  </a:ext>
                </a:extLst>
              </a:tr>
            </a:tbl>
          </a:graphicData>
        </a:graphic>
      </p:graphicFrame>
      <p:pic>
        <p:nvPicPr>
          <p:cNvPr id="6" name="Picture 2" descr="KL Deemed to be University Logo"/>
          <p:cNvPicPr>
            <a:picLocks noChangeAspect="1" noChangeArrowheads="1"/>
          </p:cNvPicPr>
          <p:nvPr/>
        </p:nvPicPr>
        <p:blipFill>
          <a:blip r:embed="rId3"/>
          <a:srcRect/>
          <a:stretch>
            <a:fillRect/>
          </a:stretch>
        </p:blipFill>
        <p:spPr bwMode="auto">
          <a:xfrm>
            <a:off x="222703" y="81945"/>
            <a:ext cx="1947291" cy="106159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785" y="1323833"/>
            <a:ext cx="11313993" cy="5349922"/>
          </a:xfrm>
        </p:spPr>
        <p:txBody>
          <a:bodyPr/>
          <a:lstStyle/>
          <a:p>
            <a:pPr marL="342900" lvl="0" indent="-342900" eaLnBrk="0" fontAlgn="base" hangingPunct="0">
              <a:spcBef>
                <a:spcPct val="20000"/>
              </a:spcBef>
              <a:spcAft>
                <a:spcPct val="0"/>
              </a:spcAft>
              <a:buClr>
                <a:schemeClr val="accent1"/>
              </a:buClr>
              <a:buSzPct val="65000"/>
              <a:buFont typeface="Wingdings" pitchFamily="2" charset="2"/>
              <a:buChar char="n"/>
              <a:defRPr/>
            </a:pPr>
            <a:endParaRPr kumimoji="1" lang="en-US" kern="0" dirty="0">
              <a:latin typeface="Times New Roman" pitchFamily="18" charset="0"/>
              <a:cs typeface="Times New Roman" pitchFamily="18" charset="0"/>
            </a:endParaRPr>
          </a:p>
          <a:p>
            <a:pPr marL="342900" lvl="0" indent="-342900" eaLnBrk="0" fontAlgn="base" hangingPunct="0">
              <a:spcBef>
                <a:spcPct val="20000"/>
              </a:spcBef>
              <a:spcAft>
                <a:spcPct val="0"/>
              </a:spcAft>
              <a:buClr>
                <a:schemeClr val="accent1"/>
              </a:buClr>
              <a:buSzPct val="65000"/>
              <a:buFont typeface="Wingdings" pitchFamily="2" charset="2"/>
              <a:buChar char="n"/>
              <a:defRPr/>
            </a:pPr>
            <a:r>
              <a:rPr kumimoji="1" lang="en-US" kern="0" dirty="0">
                <a:latin typeface="Times New Roman" pitchFamily="18" charset="0"/>
                <a:cs typeface="Times New Roman" pitchFamily="18" charset="0"/>
              </a:rPr>
              <a:t>To evaluate a postfix expression which is entered as a string of characters</a:t>
            </a:r>
          </a:p>
          <a:p>
            <a:pPr marL="669925" lvl="1" indent="-325438" eaLnBrk="0" fontAlgn="base" hangingPunct="0">
              <a:spcBef>
                <a:spcPct val="20000"/>
              </a:spcBef>
              <a:spcAft>
                <a:spcPct val="0"/>
              </a:spcAft>
              <a:buClr>
                <a:schemeClr val="accent2"/>
              </a:buClr>
              <a:buSzPct val="60000"/>
              <a:buFont typeface="Wingdings" pitchFamily="2" charset="2"/>
              <a:buChar char="q"/>
              <a:defRPr/>
            </a:pPr>
            <a:r>
              <a:rPr kumimoji="1" lang="en-US" sz="2800" kern="0" dirty="0">
                <a:latin typeface="Times New Roman" pitchFamily="18" charset="0"/>
                <a:cs typeface="Times New Roman" pitchFamily="18" charset="0"/>
              </a:rPr>
              <a:t>Simplifying assumptions</a:t>
            </a:r>
          </a:p>
          <a:p>
            <a:pPr marL="669925" lvl="1" indent="-325438" eaLnBrk="0" fontAlgn="base" hangingPunct="0">
              <a:spcBef>
                <a:spcPct val="20000"/>
              </a:spcBef>
              <a:spcAft>
                <a:spcPct val="0"/>
              </a:spcAft>
              <a:buClr>
                <a:schemeClr val="accent2"/>
              </a:buClr>
              <a:buSzPct val="60000"/>
              <a:buFont typeface="Wingdings" pitchFamily="2" charset="2"/>
              <a:buChar char="q"/>
              <a:defRPr/>
            </a:pPr>
            <a:endParaRPr kumimoji="1" lang="en-US" sz="2800" kern="0" dirty="0">
              <a:latin typeface="Times New Roman" pitchFamily="18" charset="0"/>
              <a:cs typeface="Times New Roman" pitchFamily="18" charset="0"/>
            </a:endParaRPr>
          </a:p>
          <a:p>
            <a:pPr marL="1022350" lvl="2" indent="-350838" eaLnBrk="0" fontAlgn="base" hangingPunct="0">
              <a:spcBef>
                <a:spcPct val="20000"/>
              </a:spcBef>
              <a:spcAft>
                <a:spcPct val="0"/>
              </a:spcAft>
              <a:buClr>
                <a:schemeClr val="accent1"/>
              </a:buClr>
              <a:buSzPct val="65000"/>
              <a:buFont typeface="Wingdings" pitchFamily="2" charset="2"/>
              <a:buChar char="n"/>
              <a:defRPr/>
            </a:pPr>
            <a:r>
              <a:rPr kumimoji="1" lang="en-US" sz="2800" kern="0" dirty="0">
                <a:latin typeface="Times New Roman" pitchFamily="18" charset="0"/>
                <a:cs typeface="Times New Roman" pitchFamily="18" charset="0"/>
              </a:rPr>
              <a:t>The string is a syntactically correct postfix expression.</a:t>
            </a:r>
          </a:p>
          <a:p>
            <a:pPr marL="1022350" lvl="2" indent="-350838" eaLnBrk="0" fontAlgn="base" hangingPunct="0">
              <a:spcBef>
                <a:spcPct val="20000"/>
              </a:spcBef>
              <a:spcAft>
                <a:spcPct val="0"/>
              </a:spcAft>
              <a:buClr>
                <a:schemeClr val="accent1"/>
              </a:buClr>
              <a:buSzPct val="65000"/>
              <a:buFont typeface="Wingdings" pitchFamily="2" charset="2"/>
              <a:buChar char="n"/>
              <a:defRPr/>
            </a:pPr>
            <a:endParaRPr kumimoji="1" lang="en-US" sz="2800" kern="0" dirty="0">
              <a:latin typeface="Times New Roman" pitchFamily="18" charset="0"/>
              <a:cs typeface="Times New Roman" pitchFamily="18" charset="0"/>
            </a:endParaRPr>
          </a:p>
          <a:p>
            <a:pPr marL="1022350" lvl="2" indent="-350838" eaLnBrk="0" fontAlgn="base" hangingPunct="0">
              <a:spcBef>
                <a:spcPct val="20000"/>
              </a:spcBef>
              <a:spcAft>
                <a:spcPct val="0"/>
              </a:spcAft>
              <a:buClr>
                <a:schemeClr val="accent1"/>
              </a:buClr>
              <a:buSzPct val="65000"/>
              <a:buFont typeface="Wingdings" pitchFamily="2" charset="2"/>
              <a:buChar char="n"/>
              <a:defRPr/>
            </a:pPr>
            <a:r>
              <a:rPr kumimoji="1" lang="en-US" sz="2800" kern="0" dirty="0">
                <a:latin typeface="Times New Roman" pitchFamily="18" charset="0"/>
                <a:cs typeface="Times New Roman" pitchFamily="18" charset="0"/>
              </a:rPr>
              <a:t>No unary operators are present</a:t>
            </a:r>
          </a:p>
          <a:p>
            <a:pPr marL="1022350" lvl="2" indent="-350838" eaLnBrk="0" fontAlgn="base" hangingPunct="0">
              <a:spcBef>
                <a:spcPct val="20000"/>
              </a:spcBef>
              <a:spcAft>
                <a:spcPct val="0"/>
              </a:spcAft>
              <a:buClr>
                <a:schemeClr val="accent1"/>
              </a:buClr>
              <a:buSzPct val="65000"/>
              <a:buFont typeface="Wingdings" pitchFamily="2" charset="2"/>
              <a:buChar char="n"/>
              <a:defRPr/>
            </a:pPr>
            <a:endParaRPr kumimoji="1" lang="en-US" sz="2800" kern="0" dirty="0">
              <a:latin typeface="Times New Roman" pitchFamily="18" charset="0"/>
              <a:cs typeface="Times New Roman" pitchFamily="18" charset="0"/>
            </a:endParaRPr>
          </a:p>
          <a:p>
            <a:pPr marL="1022350" lvl="2" indent="-350838" eaLnBrk="0" fontAlgn="base" hangingPunct="0">
              <a:spcBef>
                <a:spcPct val="20000"/>
              </a:spcBef>
              <a:spcAft>
                <a:spcPct val="0"/>
              </a:spcAft>
              <a:buClr>
                <a:schemeClr val="accent1"/>
              </a:buClr>
              <a:buSzPct val="65000"/>
              <a:buFont typeface="Wingdings" pitchFamily="2" charset="2"/>
              <a:buChar char="n"/>
              <a:defRPr/>
            </a:pPr>
            <a:r>
              <a:rPr kumimoji="1" lang="en-US" sz="2800" kern="0" dirty="0">
                <a:latin typeface="Times New Roman" pitchFamily="18" charset="0"/>
                <a:cs typeface="Times New Roman" pitchFamily="18" charset="0"/>
              </a:rPr>
              <a:t>No exponentiation operators are present</a:t>
            </a:r>
          </a:p>
          <a:p>
            <a:pPr marL="1022350" lvl="2" indent="-350838" eaLnBrk="0" fontAlgn="base" hangingPunct="0">
              <a:spcBef>
                <a:spcPct val="20000"/>
              </a:spcBef>
              <a:spcAft>
                <a:spcPct val="0"/>
              </a:spcAft>
              <a:buClr>
                <a:schemeClr val="accent1"/>
              </a:buClr>
              <a:buSzPct val="65000"/>
              <a:buFont typeface="Wingdings" pitchFamily="2" charset="2"/>
              <a:buChar char="n"/>
              <a:defRPr/>
            </a:pPr>
            <a:endParaRPr kumimoji="1" lang="en-US" sz="2800" kern="0" dirty="0">
              <a:latin typeface="Times New Roman" pitchFamily="18" charset="0"/>
              <a:cs typeface="Times New Roman" pitchFamily="18" charset="0"/>
            </a:endParaRPr>
          </a:p>
          <a:p>
            <a:pPr marL="1022350" lvl="2" indent="-350838" eaLnBrk="0" fontAlgn="base" hangingPunct="0">
              <a:spcBef>
                <a:spcPct val="20000"/>
              </a:spcBef>
              <a:spcAft>
                <a:spcPct val="0"/>
              </a:spcAft>
              <a:buClr>
                <a:schemeClr val="accent1"/>
              </a:buClr>
              <a:buSzPct val="65000"/>
              <a:buFont typeface="Wingdings" pitchFamily="2" charset="2"/>
              <a:buChar char="n"/>
              <a:defRPr/>
            </a:pPr>
            <a:r>
              <a:rPr kumimoji="1" lang="en-US" sz="2800" kern="0" dirty="0">
                <a:latin typeface="Times New Roman" pitchFamily="18" charset="0"/>
                <a:cs typeface="Times New Roman" pitchFamily="18" charset="0"/>
              </a:rPr>
              <a:t>Operands are letters that represent integer values</a:t>
            </a:r>
          </a:p>
          <a:p>
            <a:endParaRPr lang="en-US" dirty="0">
              <a:latin typeface="Times New Roman" pitchFamily="18" charset="0"/>
              <a:cs typeface="Times New Roman" pitchFamily="18" charset="0"/>
            </a:endParaRPr>
          </a:p>
        </p:txBody>
      </p:sp>
      <p:sp>
        <p:nvSpPr>
          <p:cNvPr id="4" name="Rounded Rectangle 17">
            <a:extLst>
              <a:ext uri="{FF2B5EF4-FFF2-40B4-BE49-F238E27FC236}">
                <a16:creationId xmlns:a16="http://schemas.microsoft.com/office/drawing/2014/main" id="{9EB8A4A0-26E8-41C7-BE65-3B55B361B40D}"/>
              </a:ext>
            </a:extLst>
          </p:cNvPr>
          <p:cNvSpPr>
            <a:spLocks noGrp="1"/>
          </p:cNvSpPr>
          <p:nvPr>
            <p:ph type="title"/>
          </p:nvPr>
        </p:nvSpPr>
        <p:spPr>
          <a:xfrm>
            <a:off x="2142699" y="365125"/>
            <a:ext cx="9211101" cy="89046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Postfix expression evaluation </a:t>
            </a:r>
          </a:p>
          <a:p>
            <a:r>
              <a:rPr lang="en-US" sz="2400" dirty="0"/>
              <a:t>			                </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222703" y="81945"/>
            <a:ext cx="1947291" cy="1061599"/>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55065" y="0"/>
            <a:ext cx="8100218" cy="81886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itchFamily="18" charset="0"/>
                <a:cs typeface="Times New Roman" pitchFamily="18" charset="0"/>
              </a:rPr>
              <a:t>ALGORITHM</a:t>
            </a:r>
            <a:endParaRPr lang="en-US" sz="2400" dirty="0"/>
          </a:p>
        </p:txBody>
      </p:sp>
      <p:pic>
        <p:nvPicPr>
          <p:cNvPr id="1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0" y="709685"/>
            <a:ext cx="12192000" cy="6986528"/>
          </a:xfrm>
          <a:prstGeom prst="rect">
            <a:avLst/>
          </a:prstGeom>
        </p:spPr>
        <p:txBody>
          <a:bodyPr wrap="square">
            <a:spAutoFit/>
          </a:bodyPr>
          <a:lstStyle/>
          <a:p>
            <a:r>
              <a:rPr lang="en-IN" sz="2800" dirty="0">
                <a:latin typeface="Times New Roman" pitchFamily="18" charset="0"/>
                <a:cs typeface="Times New Roman" pitchFamily="18" charset="0"/>
              </a:rPr>
              <a:t>      The following is the algorithm for evaluation.</a:t>
            </a:r>
          </a:p>
          <a:p>
            <a:pPr algn="just">
              <a:lnSpc>
                <a:spcPct val="150000"/>
              </a:lnSpc>
              <a:buFont typeface="Wingdings" pitchFamily="2" charset="2"/>
              <a:buChar char="§"/>
            </a:pPr>
            <a:r>
              <a:rPr lang="en-US" sz="2800" dirty="0">
                <a:latin typeface="Times New Roman" pitchFamily="18" charset="0"/>
                <a:cs typeface="Times New Roman" pitchFamily="18" charset="0"/>
              </a:rPr>
              <a:t>First of all, we will </a:t>
            </a:r>
            <a:r>
              <a:rPr lang="en-US" sz="2800" b="1" i="1" dirty="0">
                <a:latin typeface="Times New Roman" pitchFamily="18" charset="0"/>
                <a:cs typeface="Times New Roman" pitchFamily="18" charset="0"/>
              </a:rPr>
              <a:t>Create</a:t>
            </a:r>
            <a:r>
              <a:rPr lang="en-US" sz="2800" dirty="0">
                <a:latin typeface="Times New Roman" pitchFamily="18" charset="0"/>
                <a:cs typeface="Times New Roman" pitchFamily="18" charset="0"/>
              </a:rPr>
              <a:t> an </a:t>
            </a:r>
            <a:r>
              <a:rPr lang="en-US" sz="2800" b="1" i="1" dirty="0">
                <a:latin typeface="Times New Roman" pitchFamily="18" charset="0"/>
                <a:cs typeface="Times New Roman" pitchFamily="18" charset="0"/>
              </a:rPr>
              <a:t>empty stack</a:t>
            </a:r>
            <a:r>
              <a:rPr lang="en-US" sz="2800" dirty="0">
                <a:latin typeface="Times New Roman" pitchFamily="18" charset="0"/>
                <a:cs typeface="Times New Roman" pitchFamily="18" charset="0"/>
              </a:rPr>
              <a:t>.</a:t>
            </a:r>
          </a:p>
          <a:p>
            <a:pPr algn="just">
              <a:lnSpc>
                <a:spcPct val="150000"/>
              </a:lnSpc>
              <a:buFont typeface="Wingdings" pitchFamily="2" charset="2"/>
              <a:buChar char="§"/>
            </a:pPr>
            <a:r>
              <a:rPr lang="en-US" sz="2800" dirty="0">
                <a:latin typeface="Times New Roman" pitchFamily="18" charset="0"/>
                <a:cs typeface="Times New Roman" pitchFamily="18" charset="0"/>
              </a:rPr>
              <a:t>After that, we </a:t>
            </a:r>
            <a:r>
              <a:rPr lang="en-US" sz="2800" b="1" i="1" dirty="0">
                <a:latin typeface="Times New Roman" pitchFamily="18" charset="0"/>
                <a:cs typeface="Times New Roman" pitchFamily="18" charset="0"/>
              </a:rPr>
              <a:t>Scan</a:t>
            </a:r>
            <a:r>
              <a:rPr lang="en-US" sz="2800" dirty="0">
                <a:latin typeface="Times New Roman" pitchFamily="18" charset="0"/>
                <a:cs typeface="Times New Roman" pitchFamily="18" charset="0"/>
              </a:rPr>
              <a:t> the expression from </a:t>
            </a:r>
            <a:r>
              <a:rPr lang="en-US" sz="2800" b="1" i="1" dirty="0">
                <a:latin typeface="Times New Roman" pitchFamily="18" charset="0"/>
                <a:cs typeface="Times New Roman" pitchFamily="18" charset="0"/>
              </a:rPr>
              <a:t>left to right</a:t>
            </a:r>
            <a:r>
              <a:rPr lang="en-US" sz="2800" dirty="0">
                <a:latin typeface="Times New Roman" pitchFamily="18" charset="0"/>
                <a:cs typeface="Times New Roman" pitchFamily="18" charset="0"/>
              </a:rPr>
              <a:t>.</a:t>
            </a:r>
          </a:p>
          <a:p>
            <a:pPr algn="just">
              <a:lnSpc>
                <a:spcPct val="150000"/>
              </a:lnSpc>
              <a:buFont typeface="Wingdings" pitchFamily="2" charset="2"/>
              <a:buChar char="§"/>
            </a:pPr>
            <a:r>
              <a:rPr lang="en-US" sz="2800" dirty="0">
                <a:latin typeface="Times New Roman" pitchFamily="18" charset="0"/>
                <a:cs typeface="Times New Roman" pitchFamily="18" charset="0"/>
              </a:rPr>
              <a:t>If an operand is encountered, we </a:t>
            </a:r>
            <a:r>
              <a:rPr lang="en-US" sz="2800" b="1" i="1" dirty="0">
                <a:latin typeface="Times New Roman" pitchFamily="18" charset="0"/>
                <a:cs typeface="Times New Roman" pitchFamily="18" charset="0"/>
              </a:rPr>
              <a:t>push</a:t>
            </a:r>
            <a:r>
              <a:rPr lang="en-US" sz="2800" dirty="0">
                <a:latin typeface="Times New Roman" pitchFamily="18" charset="0"/>
                <a:cs typeface="Times New Roman" pitchFamily="18" charset="0"/>
              </a:rPr>
              <a:t> it onto the stack.</a:t>
            </a:r>
          </a:p>
          <a:p>
            <a:pPr algn="just">
              <a:lnSpc>
                <a:spcPct val="150000"/>
              </a:lnSpc>
              <a:buFont typeface="Wingdings" pitchFamily="2" charset="2"/>
              <a:buChar char="§"/>
            </a:pPr>
            <a:r>
              <a:rPr lang="en-US" sz="2800" dirty="0">
                <a:latin typeface="Times New Roman" pitchFamily="18" charset="0"/>
                <a:cs typeface="Times New Roman" pitchFamily="18" charset="0"/>
              </a:rPr>
              <a:t>If an operator is encountered, </a:t>
            </a:r>
            <a:r>
              <a:rPr lang="en-US" sz="2800" b="1" i="1" dirty="0">
                <a:latin typeface="Times New Roman" pitchFamily="18" charset="0"/>
                <a:cs typeface="Times New Roman" pitchFamily="18" charset="0"/>
              </a:rPr>
              <a:t>pop</a:t>
            </a:r>
            <a:r>
              <a:rPr lang="en-US" sz="2800" dirty="0">
                <a:latin typeface="Times New Roman" pitchFamily="18" charset="0"/>
                <a:cs typeface="Times New Roman" pitchFamily="18" charset="0"/>
              </a:rPr>
              <a:t> the top two operands from the stack, perform the operation, and </a:t>
            </a:r>
            <a:r>
              <a:rPr lang="en-US" sz="2800" b="1" i="1" dirty="0">
                <a:latin typeface="Times New Roman" pitchFamily="18" charset="0"/>
                <a:cs typeface="Times New Roman" pitchFamily="18" charset="0"/>
              </a:rPr>
              <a:t>push</a:t>
            </a:r>
            <a:r>
              <a:rPr lang="en-US" sz="2800" dirty="0">
                <a:latin typeface="Times New Roman" pitchFamily="18" charset="0"/>
                <a:cs typeface="Times New Roman" pitchFamily="18" charset="0"/>
              </a:rPr>
              <a:t> the result back onto the stack.</a:t>
            </a:r>
          </a:p>
          <a:p>
            <a:pPr algn="just">
              <a:lnSpc>
                <a:spcPct val="150000"/>
              </a:lnSpc>
              <a:buFont typeface="Wingdings" pitchFamily="2" charset="2"/>
              <a:buChar char="§"/>
            </a:pPr>
            <a:r>
              <a:rPr lang="en-US" sz="2800" dirty="0">
                <a:latin typeface="Times New Roman" pitchFamily="18" charset="0"/>
                <a:cs typeface="Times New Roman" pitchFamily="18" charset="0"/>
              </a:rPr>
              <a:t>After that, we </a:t>
            </a:r>
            <a:r>
              <a:rPr lang="en-US" sz="2800" b="1" i="1" dirty="0">
                <a:latin typeface="Times New Roman" pitchFamily="18" charset="0"/>
                <a:cs typeface="Times New Roman" pitchFamily="18" charset="0"/>
              </a:rPr>
              <a:t>Continue</a:t>
            </a:r>
            <a:r>
              <a:rPr lang="en-US" sz="2800" b="1" dirty="0">
                <a:latin typeface="Times New Roman" pitchFamily="18" charset="0"/>
                <a:cs typeface="Times New Roman" pitchFamily="18" charset="0"/>
              </a:rPr>
              <a:t> </a:t>
            </a:r>
            <a:r>
              <a:rPr lang="en-US" sz="2800" b="1" i="1" dirty="0">
                <a:latin typeface="Times New Roman" pitchFamily="18" charset="0"/>
                <a:cs typeface="Times New Roman" pitchFamily="18" charset="0"/>
              </a:rPr>
              <a:t>scanning</a:t>
            </a:r>
            <a:r>
              <a:rPr lang="en-US" sz="2800" dirty="0">
                <a:latin typeface="Times New Roman" pitchFamily="18" charset="0"/>
                <a:cs typeface="Times New Roman" pitchFamily="18" charset="0"/>
              </a:rPr>
              <a:t> the expression until all tokens have been processed.</a:t>
            </a:r>
          </a:p>
          <a:p>
            <a:pPr algn="just">
              <a:lnSpc>
                <a:spcPct val="150000"/>
              </a:lnSpc>
              <a:buFont typeface="Wingdings" pitchFamily="2" charset="2"/>
              <a:buChar char="§"/>
            </a:pPr>
            <a:r>
              <a:rPr lang="en-US" sz="2800" dirty="0">
                <a:latin typeface="Times New Roman" pitchFamily="18" charset="0"/>
                <a:cs typeface="Times New Roman" pitchFamily="18" charset="0"/>
              </a:rPr>
              <a:t>When the expression has been fully scanned, the result will be the top element of the stack.</a:t>
            </a:r>
          </a:p>
          <a:p>
            <a:pPr>
              <a:lnSpc>
                <a:spcPct val="150000"/>
              </a:lnSpc>
              <a:buFont typeface="Wingdings" pitchFamily="2" charset="2"/>
              <a:buChar char="§"/>
            </a:pPr>
            <a:endParaRPr lang="en-IN"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421" y="1270660"/>
            <a:ext cx="11176379" cy="5157436"/>
          </a:xfrm>
        </p:spPr>
        <p:txBody>
          <a:bodyPr/>
          <a:lstStyle/>
          <a:p>
            <a:r>
              <a:rPr lang="en-US" dirty="0"/>
              <a:t>Infix expression</a:t>
            </a:r>
            <a:r>
              <a:rPr lang="en-US" dirty="0">
                <a:solidFill>
                  <a:srgbClr val="FF0000"/>
                </a:solidFill>
              </a:rPr>
              <a:t>:(5+3)*(8-2</a:t>
            </a:r>
            <a:r>
              <a:rPr lang="en-US" dirty="0"/>
              <a:t>)</a:t>
            </a:r>
          </a:p>
          <a:p>
            <a:r>
              <a:rPr lang="en-US" dirty="0"/>
              <a:t>Postfix expression:</a:t>
            </a:r>
            <a:r>
              <a:rPr lang="en-US" dirty="0">
                <a:solidFill>
                  <a:srgbClr val="FF0000"/>
                </a:solidFill>
              </a:rPr>
              <a:t>53+82-*</a:t>
            </a:r>
          </a:p>
          <a:p>
            <a:pPr>
              <a:buNone/>
            </a:pPr>
            <a:r>
              <a:rPr lang="en-US" dirty="0"/>
              <a:t>The above postfix expression is evaluated s follows.</a:t>
            </a:r>
          </a:p>
          <a:p>
            <a:pPr>
              <a:buNone/>
            </a:pPr>
            <a:r>
              <a:rPr lang="en-US" dirty="0"/>
              <a:t>Step 1:</a:t>
            </a:r>
          </a:p>
          <a:p>
            <a:pPr>
              <a:buNone/>
            </a:pPr>
            <a:endParaRPr lang="en-US" dirty="0"/>
          </a:p>
          <a:p>
            <a:pPr>
              <a:buNone/>
            </a:pPr>
            <a:r>
              <a:rPr lang="en-US" dirty="0">
                <a:solidFill>
                  <a:srgbClr val="FF0000"/>
                </a:solidFill>
              </a:rPr>
              <a:t>Stack			postfix expression	             evaluation of expression</a:t>
            </a:r>
          </a:p>
          <a:p>
            <a:pPr>
              <a:buNone/>
            </a:pPr>
            <a:r>
              <a:rPr lang="en-US" dirty="0"/>
              <a:t>									 												Push(5) to the top of the stack									stack</a:t>
            </a:r>
          </a:p>
          <a:p>
            <a:pPr>
              <a:buNone/>
            </a:pPr>
            <a:r>
              <a:rPr lang="en-US" dirty="0"/>
              <a:t>	</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sp>
        <p:nvSpPr>
          <p:cNvPr id="4" name="Rounded Rectangle 17">
            <a:extLst>
              <a:ext uri="{FF2B5EF4-FFF2-40B4-BE49-F238E27FC236}">
                <a16:creationId xmlns:a16="http://schemas.microsoft.com/office/drawing/2014/main" id="{01FA19A5-9588-483E-843E-C76873B71790}"/>
              </a:ext>
            </a:extLst>
          </p:cNvPr>
          <p:cNvSpPr>
            <a:spLocks noGrp="1"/>
          </p:cNvSpPr>
          <p:nvPr>
            <p:ph type="title"/>
          </p:nvPr>
        </p:nvSpPr>
        <p:spPr>
          <a:xfrm>
            <a:off x="1828800" y="365126"/>
            <a:ext cx="9298379" cy="75115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itchFamily="18" charset="0"/>
                <a:cs typeface="Times New Roman" pitchFamily="18" charset="0"/>
              </a:rPr>
              <a:t>IMPLEMENTATION WITH EXAMPLE</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1036805"/>
          </a:xfrm>
          <a:prstGeom prst="rect">
            <a:avLst/>
          </a:prstGeom>
          <a:noFill/>
        </p:spPr>
      </p:pic>
      <p:sp>
        <p:nvSpPr>
          <p:cNvPr id="6" name="Rectangle 5"/>
          <p:cNvSpPr/>
          <p:nvPr/>
        </p:nvSpPr>
        <p:spPr>
          <a:xfrm>
            <a:off x="532263" y="4572000"/>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a:t>
            </a:r>
          </a:p>
        </p:txBody>
      </p:sp>
      <p:graphicFrame>
        <p:nvGraphicFramePr>
          <p:cNvPr id="9" name="Table 8"/>
          <p:cNvGraphicFramePr>
            <a:graphicFrameLocks noGrp="1"/>
          </p:cNvGraphicFramePr>
          <p:nvPr/>
        </p:nvGraphicFramePr>
        <p:xfrm>
          <a:off x="2893323" y="4776717"/>
          <a:ext cx="3370997" cy="655092"/>
        </p:xfrm>
        <a:graphic>
          <a:graphicData uri="http://schemas.openxmlformats.org/drawingml/2006/table">
            <a:tbl>
              <a:tblPr firstRow="1" bandRow="1">
                <a:tableStyleId>{5C22544A-7EE6-4342-B048-85BDC9FD1C3A}</a:tableStyleId>
              </a:tblPr>
              <a:tblGrid>
                <a:gridCol w="481571">
                  <a:extLst>
                    <a:ext uri="{9D8B030D-6E8A-4147-A177-3AD203B41FA5}">
                      <a16:colId xmlns:a16="http://schemas.microsoft.com/office/drawing/2014/main" val="20000"/>
                    </a:ext>
                  </a:extLst>
                </a:gridCol>
                <a:gridCol w="481571">
                  <a:extLst>
                    <a:ext uri="{9D8B030D-6E8A-4147-A177-3AD203B41FA5}">
                      <a16:colId xmlns:a16="http://schemas.microsoft.com/office/drawing/2014/main" val="20001"/>
                    </a:ext>
                  </a:extLst>
                </a:gridCol>
                <a:gridCol w="660944">
                  <a:extLst>
                    <a:ext uri="{9D8B030D-6E8A-4147-A177-3AD203B41FA5}">
                      <a16:colId xmlns:a16="http://schemas.microsoft.com/office/drawing/2014/main" val="20002"/>
                    </a:ext>
                  </a:extLst>
                </a:gridCol>
                <a:gridCol w="302198">
                  <a:extLst>
                    <a:ext uri="{9D8B030D-6E8A-4147-A177-3AD203B41FA5}">
                      <a16:colId xmlns:a16="http://schemas.microsoft.com/office/drawing/2014/main" val="20003"/>
                    </a:ext>
                  </a:extLst>
                </a:gridCol>
                <a:gridCol w="481571">
                  <a:extLst>
                    <a:ext uri="{9D8B030D-6E8A-4147-A177-3AD203B41FA5}">
                      <a16:colId xmlns:a16="http://schemas.microsoft.com/office/drawing/2014/main" val="20004"/>
                    </a:ext>
                  </a:extLst>
                </a:gridCol>
                <a:gridCol w="481571">
                  <a:extLst>
                    <a:ext uri="{9D8B030D-6E8A-4147-A177-3AD203B41FA5}">
                      <a16:colId xmlns:a16="http://schemas.microsoft.com/office/drawing/2014/main" val="20005"/>
                    </a:ext>
                  </a:extLst>
                </a:gridCol>
                <a:gridCol w="481571">
                  <a:extLst>
                    <a:ext uri="{9D8B030D-6E8A-4147-A177-3AD203B41FA5}">
                      <a16:colId xmlns:a16="http://schemas.microsoft.com/office/drawing/2014/main" val="20006"/>
                    </a:ext>
                  </a:extLst>
                </a:gridCol>
              </a:tblGrid>
              <a:tr h="655092">
                <a:tc>
                  <a:txBody>
                    <a:bodyPr/>
                    <a:lstStyle/>
                    <a:p>
                      <a:r>
                        <a:rPr lang="en-US" dirty="0"/>
                        <a:t>5</a:t>
                      </a:r>
                    </a:p>
                  </a:txBody>
                  <a:tcPr/>
                </a:tc>
                <a:tc>
                  <a:txBody>
                    <a:bodyPr/>
                    <a:lstStyle/>
                    <a:p>
                      <a:r>
                        <a:rPr lang="en-US" dirty="0"/>
                        <a:t>3</a:t>
                      </a:r>
                    </a:p>
                  </a:txBody>
                  <a:tcPr/>
                </a:tc>
                <a:tc>
                  <a:txBody>
                    <a:bodyPr/>
                    <a:lstStyle/>
                    <a:p>
                      <a:r>
                        <a:rPr lang="en-US" dirty="0"/>
                        <a:t>+</a:t>
                      </a:r>
                    </a:p>
                  </a:txBody>
                  <a:tcPr/>
                </a:tc>
                <a:tc>
                  <a:txBody>
                    <a:bodyPr/>
                    <a:lstStyle/>
                    <a:p>
                      <a:r>
                        <a:rPr lang="en-US" dirty="0"/>
                        <a:t>8</a:t>
                      </a:r>
                    </a:p>
                  </a:txBody>
                  <a:tcPr/>
                </a:tc>
                <a:tc>
                  <a:txBody>
                    <a:bodyPr/>
                    <a:lstStyle/>
                    <a:p>
                      <a:r>
                        <a:rPr lang="en-US" dirty="0"/>
                        <a:t>2</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0000"/>
                  </a:ext>
                </a:extLst>
              </a:tr>
            </a:tbl>
          </a:graphicData>
        </a:graphic>
      </p:graphicFrame>
      <p:cxnSp>
        <p:nvCxnSpPr>
          <p:cNvPr id="11" name="Straight Arrow Connector 10"/>
          <p:cNvCxnSpPr/>
          <p:nvPr/>
        </p:nvCxnSpPr>
        <p:spPr>
          <a:xfrm rot="16200000" flipV="1">
            <a:off x="2681788" y="5902659"/>
            <a:ext cx="955343" cy="136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1705971" y="84408"/>
            <a:ext cx="9184942" cy="85728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IMPEMENTATION WITH EXAMPLE(Conti..)</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928048"/>
            <a:ext cx="12192000" cy="6740307"/>
          </a:xfrm>
          <a:prstGeom prst="rect">
            <a:avLst/>
          </a:prstGeom>
          <a:noFill/>
        </p:spPr>
        <p:txBody>
          <a:bodyPr wrap="square" rtlCol="0">
            <a:spAutoFit/>
          </a:bodyPr>
          <a:lstStyle/>
          <a:p>
            <a:pPr marL="285750" indent="-285750">
              <a:buFont typeface="Wingdings" pitchFamily="2" charset="2"/>
              <a:buChar char="Ø"/>
            </a:pPr>
            <a:endParaRPr lang="en-IN" sz="2400" dirty="0"/>
          </a:p>
          <a:p>
            <a:pPr marL="285750" indent="-285750">
              <a:buFont typeface="Wingdings" pitchFamily="2" charset="2"/>
              <a:buChar char="Ø"/>
            </a:pPr>
            <a:r>
              <a:rPr lang="en-IN" sz="2400" dirty="0" err="1"/>
              <a:t>onti</a:t>
            </a:r>
            <a:endParaRPr lang="en-IN" sz="2400" dirty="0"/>
          </a:p>
          <a:p>
            <a:pPr marL="285750" indent="-285750"/>
            <a:r>
              <a:rPr lang="en-IN" sz="2400" dirty="0"/>
              <a:t>Step 2:</a:t>
            </a:r>
          </a:p>
          <a:p>
            <a:pPr>
              <a:buNone/>
            </a:pPr>
            <a:endParaRPr lang="en-US" sz="2400" dirty="0"/>
          </a:p>
          <a:p>
            <a:pPr>
              <a:buNone/>
            </a:pPr>
            <a:r>
              <a:rPr lang="en-US" sz="2400" dirty="0">
                <a:solidFill>
                  <a:srgbClr val="FF0000"/>
                </a:solidFill>
              </a:rPr>
              <a:t>Stack			              Postfix expression	                        Evaluation of expression</a:t>
            </a:r>
          </a:p>
          <a:p>
            <a:pPr>
              <a:buNone/>
            </a:pPr>
            <a:r>
              <a:rPr lang="en-US" sz="2400" dirty="0"/>
              <a:t>									 												</a:t>
            </a:r>
          </a:p>
          <a:p>
            <a:pPr>
              <a:buNone/>
            </a:pPr>
            <a:r>
              <a:rPr lang="en-US" sz="2400" dirty="0"/>
              <a:t>									</a:t>
            </a:r>
          </a:p>
          <a:p>
            <a:pPr>
              <a:buNone/>
            </a:pPr>
            <a:r>
              <a:rPr lang="en-US" sz="2400" dirty="0"/>
              <a:t>										Push(3) to the top of 												the stack									</a:t>
            </a:r>
          </a:p>
          <a:p>
            <a:pPr>
              <a:buNone/>
            </a:pPr>
            <a:r>
              <a:rPr lang="en-US" sz="2400" dirty="0"/>
              <a:t>			</a:t>
            </a:r>
          </a:p>
          <a:p>
            <a:pPr marL="285750" indent="-285750"/>
            <a:r>
              <a:rPr lang="en-IN" sz="2400" dirty="0"/>
              <a:t>				</a:t>
            </a:r>
          </a:p>
          <a:p>
            <a:pPr marL="285750" indent="-285750"/>
            <a:r>
              <a:rPr lang="en-IN" sz="2400" dirty="0"/>
              <a:t>    </a:t>
            </a:r>
          </a:p>
          <a:p>
            <a:pPr marL="285750" indent="-285750">
              <a:buFont typeface="Wingdings" pitchFamily="2" charset="2"/>
              <a:buChar char="Ø"/>
            </a:pPr>
            <a:endParaRPr lang="en-IN" sz="2400" dirty="0"/>
          </a:p>
          <a:p>
            <a:pPr marL="285750" indent="-285750">
              <a:buFont typeface="Wingdings" pitchFamily="2" charset="2"/>
              <a:buChar char="Ø"/>
            </a:pPr>
            <a:endParaRPr lang="en-IN" sz="2400" dirty="0"/>
          </a:p>
          <a:p>
            <a:pPr marL="285750" indent="-285750">
              <a:buFont typeface="Wingdings" pitchFamily="2" charset="2"/>
              <a:buChar char="Ø"/>
            </a:pPr>
            <a:endParaRPr lang="en-IN" sz="2400" dirty="0"/>
          </a:p>
          <a:p>
            <a:pPr marL="285750" indent="-285750">
              <a:buFont typeface="Wingdings" pitchFamily="2" charset="2"/>
              <a:buChar char="Ø"/>
            </a:pPr>
            <a:endParaRPr lang="en-IN" sz="2400" dirty="0"/>
          </a:p>
        </p:txBody>
      </p:sp>
      <p:sp>
        <p:nvSpPr>
          <p:cNvPr id="6" name="Rectangle 5"/>
          <p:cNvSpPr/>
          <p:nvPr/>
        </p:nvSpPr>
        <p:spPr>
          <a:xfrm>
            <a:off x="204717" y="4217159"/>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a:t>
            </a:r>
          </a:p>
        </p:txBody>
      </p:sp>
      <p:sp>
        <p:nvSpPr>
          <p:cNvPr id="7" name="Rectangle 6"/>
          <p:cNvSpPr/>
          <p:nvPr/>
        </p:nvSpPr>
        <p:spPr>
          <a:xfrm>
            <a:off x="204715" y="3275462"/>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a:t>
            </a:r>
          </a:p>
        </p:txBody>
      </p:sp>
      <p:graphicFrame>
        <p:nvGraphicFramePr>
          <p:cNvPr id="8" name="Table 7"/>
          <p:cNvGraphicFramePr>
            <a:graphicFrameLocks noGrp="1"/>
          </p:cNvGraphicFramePr>
          <p:nvPr/>
        </p:nvGraphicFramePr>
        <p:xfrm>
          <a:off x="3179928" y="3425588"/>
          <a:ext cx="3821377" cy="1008619"/>
        </p:xfrm>
        <a:graphic>
          <a:graphicData uri="http://schemas.openxmlformats.org/drawingml/2006/table">
            <a:tbl>
              <a:tblPr firstRow="1" bandRow="1">
                <a:tableStyleId>{5C22544A-7EE6-4342-B048-85BDC9FD1C3A}</a:tableStyleId>
              </a:tblPr>
              <a:tblGrid>
                <a:gridCol w="545911">
                  <a:extLst>
                    <a:ext uri="{9D8B030D-6E8A-4147-A177-3AD203B41FA5}">
                      <a16:colId xmlns:a16="http://schemas.microsoft.com/office/drawing/2014/main" val="20000"/>
                    </a:ext>
                  </a:extLst>
                </a:gridCol>
                <a:gridCol w="545911">
                  <a:extLst>
                    <a:ext uri="{9D8B030D-6E8A-4147-A177-3AD203B41FA5}">
                      <a16:colId xmlns:a16="http://schemas.microsoft.com/office/drawing/2014/main" val="20001"/>
                    </a:ext>
                  </a:extLst>
                </a:gridCol>
                <a:gridCol w="545911">
                  <a:extLst>
                    <a:ext uri="{9D8B030D-6E8A-4147-A177-3AD203B41FA5}">
                      <a16:colId xmlns:a16="http://schemas.microsoft.com/office/drawing/2014/main" val="20002"/>
                    </a:ext>
                  </a:extLst>
                </a:gridCol>
                <a:gridCol w="545911">
                  <a:extLst>
                    <a:ext uri="{9D8B030D-6E8A-4147-A177-3AD203B41FA5}">
                      <a16:colId xmlns:a16="http://schemas.microsoft.com/office/drawing/2014/main" val="20003"/>
                    </a:ext>
                  </a:extLst>
                </a:gridCol>
                <a:gridCol w="545911">
                  <a:extLst>
                    <a:ext uri="{9D8B030D-6E8A-4147-A177-3AD203B41FA5}">
                      <a16:colId xmlns:a16="http://schemas.microsoft.com/office/drawing/2014/main" val="20004"/>
                    </a:ext>
                  </a:extLst>
                </a:gridCol>
                <a:gridCol w="545911">
                  <a:extLst>
                    <a:ext uri="{9D8B030D-6E8A-4147-A177-3AD203B41FA5}">
                      <a16:colId xmlns:a16="http://schemas.microsoft.com/office/drawing/2014/main" val="20005"/>
                    </a:ext>
                  </a:extLst>
                </a:gridCol>
                <a:gridCol w="545911">
                  <a:extLst>
                    <a:ext uri="{9D8B030D-6E8A-4147-A177-3AD203B41FA5}">
                      <a16:colId xmlns:a16="http://schemas.microsoft.com/office/drawing/2014/main" val="20006"/>
                    </a:ext>
                  </a:extLst>
                </a:gridCol>
              </a:tblGrid>
              <a:tr h="1008619">
                <a:tc>
                  <a:txBody>
                    <a:bodyPr/>
                    <a:lstStyle/>
                    <a:p>
                      <a:r>
                        <a:rPr lang="en-US" dirty="0"/>
                        <a:t>5</a:t>
                      </a:r>
                    </a:p>
                  </a:txBody>
                  <a:tcPr anchor="ctr"/>
                </a:tc>
                <a:tc>
                  <a:txBody>
                    <a:bodyPr/>
                    <a:lstStyle/>
                    <a:p>
                      <a:r>
                        <a:rPr lang="en-US" dirty="0"/>
                        <a:t>3</a:t>
                      </a:r>
                    </a:p>
                  </a:txBody>
                  <a:tcPr anchor="ctr"/>
                </a:tc>
                <a:tc>
                  <a:txBody>
                    <a:bodyPr/>
                    <a:lstStyle/>
                    <a:p>
                      <a:r>
                        <a:rPr lang="en-US" dirty="0"/>
                        <a:t>+</a:t>
                      </a:r>
                    </a:p>
                  </a:txBody>
                  <a:tcPr anchor="ctr"/>
                </a:tc>
                <a:tc>
                  <a:txBody>
                    <a:bodyPr/>
                    <a:lstStyle/>
                    <a:p>
                      <a:r>
                        <a:rPr lang="en-US" dirty="0"/>
                        <a:t>8</a:t>
                      </a:r>
                    </a:p>
                  </a:txBody>
                  <a:tcPr anchor="ctr"/>
                </a:tc>
                <a:tc>
                  <a:txBody>
                    <a:bodyPr/>
                    <a:lstStyle/>
                    <a:p>
                      <a:r>
                        <a:rPr lang="en-US" dirty="0"/>
                        <a:t>2</a:t>
                      </a:r>
                    </a:p>
                  </a:txBody>
                  <a:tcPr anchor="ctr"/>
                </a:tc>
                <a:tc>
                  <a:txBody>
                    <a:bodyPr/>
                    <a:lstStyle/>
                    <a:p>
                      <a:r>
                        <a:rPr lang="en-US" dirty="0"/>
                        <a:t>-</a:t>
                      </a:r>
                    </a:p>
                  </a:txBody>
                  <a:tcPr anchor="ctr"/>
                </a:tc>
                <a:tc>
                  <a:txBody>
                    <a:bodyPr/>
                    <a:lstStyle/>
                    <a:p>
                      <a:r>
                        <a:rPr lang="en-US" dirty="0"/>
                        <a:t>*</a:t>
                      </a:r>
                    </a:p>
                  </a:txBody>
                  <a:tcPr anchor="ctr"/>
                </a:tc>
                <a:extLst>
                  <a:ext uri="{0D108BD9-81ED-4DB2-BD59-A6C34878D82A}">
                    <a16:rowId xmlns:a16="http://schemas.microsoft.com/office/drawing/2014/main" val="10000"/>
                  </a:ext>
                </a:extLst>
              </a:tr>
            </a:tbl>
          </a:graphicData>
        </a:graphic>
      </p:graphicFrame>
      <p:cxnSp>
        <p:nvCxnSpPr>
          <p:cNvPr id="12" name="Straight Arrow Connector 11"/>
          <p:cNvCxnSpPr/>
          <p:nvPr/>
        </p:nvCxnSpPr>
        <p:spPr>
          <a:xfrm rot="5400000" flipH="1" flipV="1">
            <a:off x="3309586" y="5083795"/>
            <a:ext cx="1296530"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421" y="1173706"/>
            <a:ext cx="11176379" cy="5254389"/>
          </a:xfrm>
        </p:spPr>
        <p:txBody>
          <a:bodyPr/>
          <a:lstStyle/>
          <a:p>
            <a:pPr marL="285750" indent="-285750"/>
            <a:r>
              <a:rPr lang="en-IN" dirty="0"/>
              <a:t>Step 3:</a:t>
            </a:r>
          </a:p>
          <a:p>
            <a:pPr>
              <a:buNone/>
            </a:pPr>
            <a:endParaRPr lang="en-US" dirty="0"/>
          </a:p>
          <a:p>
            <a:pPr>
              <a:buNone/>
            </a:pPr>
            <a:r>
              <a:rPr lang="en-US" dirty="0">
                <a:solidFill>
                  <a:srgbClr val="FF0000"/>
                </a:solidFill>
              </a:rPr>
              <a:t>Stack		 Postfix expression	                        Evaluation of expression</a:t>
            </a:r>
          </a:p>
          <a:p>
            <a:pPr>
              <a:buNone/>
            </a:pPr>
            <a:r>
              <a:rPr lang="en-US" dirty="0"/>
              <a:t>									 												</a:t>
            </a:r>
          </a:p>
          <a:p>
            <a:pPr>
              <a:buNone/>
            </a:pPr>
            <a:r>
              <a:rPr lang="en-US" dirty="0"/>
              <a:t>									Operand2=Pop()</a:t>
            </a:r>
          </a:p>
          <a:p>
            <a:pPr>
              <a:buNone/>
            </a:pPr>
            <a:r>
              <a:rPr lang="en-US" dirty="0"/>
              <a:t>									Operand1=Pop()</a:t>
            </a:r>
          </a:p>
          <a:p>
            <a:pPr>
              <a:buNone/>
            </a:pPr>
            <a:r>
              <a:rPr lang="en-US" dirty="0"/>
              <a:t>							                result=operand1+operand2</a:t>
            </a:r>
          </a:p>
          <a:p>
            <a:pPr>
              <a:buNone/>
            </a:pPr>
            <a:r>
              <a:rPr lang="en-US" dirty="0"/>
              <a:t>									result=5+3=8</a:t>
            </a:r>
          </a:p>
          <a:p>
            <a:pPr>
              <a:buNone/>
            </a:pPr>
            <a:r>
              <a:rPr lang="en-US" dirty="0"/>
              <a:t>									Push(8) to the top of 									     the stack</a:t>
            </a:r>
          </a:p>
          <a:p>
            <a:pPr>
              <a:buNone/>
            </a:pPr>
            <a:r>
              <a:rPr lang="en-US" dirty="0"/>
              <a:t>											</a:t>
            </a:r>
          </a:p>
          <a:p>
            <a:pPr>
              <a:buNone/>
            </a:pPr>
            <a:r>
              <a:rPr lang="en-US" dirty="0"/>
              <a:t>			</a:t>
            </a:r>
          </a:p>
          <a:p>
            <a:pPr marL="285750" indent="-285750"/>
            <a:r>
              <a:rPr lang="en-IN" dirty="0"/>
              <a:t>				</a:t>
            </a:r>
          </a:p>
          <a:p>
            <a:endParaRPr lang="en-US" dirty="0"/>
          </a:p>
        </p:txBody>
      </p:sp>
      <p:pic>
        <p:nvPicPr>
          <p:cNvPr id="4" name="Picture 2" descr="KL Deemed to be University Logo"/>
          <p:cNvPicPr>
            <a:picLocks noChangeAspect="1" noChangeArrowheads="1"/>
          </p:cNvPicPr>
          <p:nvPr/>
        </p:nvPicPr>
        <p:blipFill>
          <a:blip r:embed="rId2"/>
          <a:srcRect/>
          <a:stretch>
            <a:fillRect/>
          </a:stretch>
        </p:blipFill>
        <p:spPr bwMode="auto">
          <a:xfrm>
            <a:off x="0" y="0"/>
            <a:ext cx="3033481" cy="914400"/>
          </a:xfrm>
          <a:prstGeom prst="rect">
            <a:avLst/>
          </a:prstGeom>
          <a:noFill/>
        </p:spPr>
      </p:pic>
      <p:sp>
        <p:nvSpPr>
          <p:cNvPr id="5" name="Rounded Rectangle 17">
            <a:extLst>
              <a:ext uri="{FF2B5EF4-FFF2-40B4-BE49-F238E27FC236}">
                <a16:creationId xmlns:a16="http://schemas.microsoft.com/office/drawing/2014/main" id="{01FA19A5-9588-483E-843E-C76873B71790}"/>
              </a:ext>
            </a:extLst>
          </p:cNvPr>
          <p:cNvSpPr>
            <a:spLocks noGrp="1"/>
          </p:cNvSpPr>
          <p:nvPr>
            <p:ph type="title"/>
          </p:nvPr>
        </p:nvSpPr>
        <p:spPr>
          <a:xfrm>
            <a:off x="2115403" y="204717"/>
            <a:ext cx="9238396" cy="66874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itchFamily="18" charset="0"/>
                <a:cs typeface="Times New Roman" pitchFamily="18" charset="0"/>
              </a:rPr>
              <a:t>IMPLEMENTATION WITH EXAMPLE(cont..)</a:t>
            </a:r>
          </a:p>
        </p:txBody>
      </p:sp>
      <p:sp>
        <p:nvSpPr>
          <p:cNvPr id="6" name="Rectangle 5"/>
          <p:cNvSpPr/>
          <p:nvPr/>
        </p:nvSpPr>
        <p:spPr>
          <a:xfrm>
            <a:off x="218365" y="3179928"/>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ectangle 6"/>
          <p:cNvSpPr/>
          <p:nvPr/>
        </p:nvSpPr>
        <p:spPr>
          <a:xfrm>
            <a:off x="218364" y="4203513"/>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a:t>
            </a:r>
          </a:p>
        </p:txBody>
      </p:sp>
      <p:sp>
        <p:nvSpPr>
          <p:cNvPr id="8" name="Rectangle 7"/>
          <p:cNvSpPr/>
          <p:nvPr/>
        </p:nvSpPr>
        <p:spPr>
          <a:xfrm>
            <a:off x="245661" y="5199796"/>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 </a:t>
            </a:r>
          </a:p>
        </p:txBody>
      </p:sp>
      <p:graphicFrame>
        <p:nvGraphicFramePr>
          <p:cNvPr id="9" name="Table 8"/>
          <p:cNvGraphicFramePr>
            <a:graphicFrameLocks noGrp="1"/>
          </p:cNvGraphicFramePr>
          <p:nvPr/>
        </p:nvGraphicFramePr>
        <p:xfrm>
          <a:off x="2442947" y="4012442"/>
          <a:ext cx="3234525" cy="913085"/>
        </p:xfrm>
        <a:graphic>
          <a:graphicData uri="http://schemas.openxmlformats.org/drawingml/2006/table">
            <a:tbl>
              <a:tblPr firstRow="1" bandRow="1">
                <a:tableStyleId>{5C22544A-7EE6-4342-B048-85BDC9FD1C3A}</a:tableStyleId>
              </a:tblPr>
              <a:tblGrid>
                <a:gridCol w="462075">
                  <a:extLst>
                    <a:ext uri="{9D8B030D-6E8A-4147-A177-3AD203B41FA5}">
                      <a16:colId xmlns:a16="http://schemas.microsoft.com/office/drawing/2014/main" val="20000"/>
                    </a:ext>
                  </a:extLst>
                </a:gridCol>
                <a:gridCol w="462075">
                  <a:extLst>
                    <a:ext uri="{9D8B030D-6E8A-4147-A177-3AD203B41FA5}">
                      <a16:colId xmlns:a16="http://schemas.microsoft.com/office/drawing/2014/main" val="20001"/>
                    </a:ext>
                  </a:extLst>
                </a:gridCol>
                <a:gridCol w="462075">
                  <a:extLst>
                    <a:ext uri="{9D8B030D-6E8A-4147-A177-3AD203B41FA5}">
                      <a16:colId xmlns:a16="http://schemas.microsoft.com/office/drawing/2014/main" val="20002"/>
                    </a:ext>
                  </a:extLst>
                </a:gridCol>
                <a:gridCol w="462075">
                  <a:extLst>
                    <a:ext uri="{9D8B030D-6E8A-4147-A177-3AD203B41FA5}">
                      <a16:colId xmlns:a16="http://schemas.microsoft.com/office/drawing/2014/main" val="20003"/>
                    </a:ext>
                  </a:extLst>
                </a:gridCol>
                <a:gridCol w="462075">
                  <a:extLst>
                    <a:ext uri="{9D8B030D-6E8A-4147-A177-3AD203B41FA5}">
                      <a16:colId xmlns:a16="http://schemas.microsoft.com/office/drawing/2014/main" val="20004"/>
                    </a:ext>
                  </a:extLst>
                </a:gridCol>
                <a:gridCol w="462075">
                  <a:extLst>
                    <a:ext uri="{9D8B030D-6E8A-4147-A177-3AD203B41FA5}">
                      <a16:colId xmlns:a16="http://schemas.microsoft.com/office/drawing/2014/main" val="20005"/>
                    </a:ext>
                  </a:extLst>
                </a:gridCol>
                <a:gridCol w="462075">
                  <a:extLst>
                    <a:ext uri="{9D8B030D-6E8A-4147-A177-3AD203B41FA5}">
                      <a16:colId xmlns:a16="http://schemas.microsoft.com/office/drawing/2014/main" val="20006"/>
                    </a:ext>
                  </a:extLst>
                </a:gridCol>
              </a:tblGrid>
              <a:tr h="913085">
                <a:tc>
                  <a:txBody>
                    <a:bodyPr/>
                    <a:lstStyle/>
                    <a:p>
                      <a:pPr algn="ctr"/>
                      <a:r>
                        <a:rPr lang="en-US" dirty="0"/>
                        <a:t>5</a:t>
                      </a:r>
                    </a:p>
                  </a:txBody>
                  <a:tcPr anchor="ctr"/>
                </a:tc>
                <a:tc>
                  <a:txBody>
                    <a:bodyPr/>
                    <a:lstStyle/>
                    <a:p>
                      <a:pPr algn="ctr"/>
                      <a:r>
                        <a:rPr lang="en-US" dirty="0"/>
                        <a:t>3</a:t>
                      </a:r>
                    </a:p>
                  </a:txBody>
                  <a:tcPr anchor="ctr"/>
                </a:tc>
                <a:tc>
                  <a:txBody>
                    <a:bodyPr/>
                    <a:lstStyle/>
                    <a:p>
                      <a:pPr algn="ctr"/>
                      <a:r>
                        <a:rPr lang="en-US" dirty="0"/>
                        <a:t>+</a:t>
                      </a:r>
                    </a:p>
                  </a:txBody>
                  <a:tcPr anchor="ctr"/>
                </a:tc>
                <a:tc>
                  <a:txBody>
                    <a:bodyPr/>
                    <a:lstStyle/>
                    <a:p>
                      <a:pPr algn="ctr"/>
                      <a:r>
                        <a:rPr lang="en-US" dirty="0"/>
                        <a:t>8</a:t>
                      </a:r>
                    </a:p>
                  </a:txBody>
                  <a:tcPr anchor="ctr"/>
                </a:tc>
                <a:tc>
                  <a:txBody>
                    <a:bodyPr/>
                    <a:lstStyle/>
                    <a:p>
                      <a:pPr algn="ctr"/>
                      <a:r>
                        <a:rPr lang="en-US" dirty="0"/>
                        <a:t>2</a:t>
                      </a:r>
                    </a:p>
                  </a:txBody>
                  <a:tcPr anchor="ctr"/>
                </a:tc>
                <a:tc>
                  <a:txBody>
                    <a:bodyPr/>
                    <a:lstStyle/>
                    <a:p>
                      <a:pPr algn="ctr"/>
                      <a:r>
                        <a:rPr lang="en-US" dirty="0"/>
                        <a:t>-</a:t>
                      </a:r>
                    </a:p>
                  </a:txBody>
                  <a:tcPr anchor="ctr"/>
                </a:tc>
                <a:tc>
                  <a:txBody>
                    <a:bodyPr/>
                    <a:lstStyle/>
                    <a:p>
                      <a:pPr algn="ctr"/>
                      <a:r>
                        <a:rPr lang="en-US" dirty="0"/>
                        <a:t>*</a:t>
                      </a:r>
                    </a:p>
                  </a:txBody>
                  <a:tcPr anchor="ctr"/>
                </a:tc>
                <a:extLst>
                  <a:ext uri="{0D108BD9-81ED-4DB2-BD59-A6C34878D82A}">
                    <a16:rowId xmlns:a16="http://schemas.microsoft.com/office/drawing/2014/main" val="10000"/>
                  </a:ext>
                </a:extLst>
              </a:tr>
            </a:tbl>
          </a:graphicData>
        </a:graphic>
      </p:graphicFrame>
      <p:cxnSp>
        <p:nvCxnSpPr>
          <p:cNvPr id="11" name="Straight Arrow Connector 10"/>
          <p:cNvCxnSpPr/>
          <p:nvPr/>
        </p:nvCxnSpPr>
        <p:spPr>
          <a:xfrm rot="16200000" flipV="1">
            <a:off x="3261814" y="5281683"/>
            <a:ext cx="764273" cy="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310184"/>
            <a:ext cx="11969086" cy="5336275"/>
          </a:xfrm>
        </p:spPr>
        <p:txBody>
          <a:bodyPr/>
          <a:lstStyle/>
          <a:p>
            <a:pPr marL="285750" indent="-285750"/>
            <a:r>
              <a:rPr lang="en-IN" dirty="0"/>
              <a:t>Step 3:</a:t>
            </a:r>
          </a:p>
          <a:p>
            <a:pPr>
              <a:buNone/>
            </a:pPr>
            <a:r>
              <a:rPr lang="en-US" dirty="0">
                <a:solidFill>
                  <a:srgbClr val="FF0000"/>
                </a:solidFill>
              </a:rPr>
              <a:t>Stack		             Postfix expression	                        Evaluation of expression</a:t>
            </a:r>
          </a:p>
          <a:p>
            <a:pPr>
              <a:buNone/>
            </a:pPr>
            <a:r>
              <a:rPr lang="en-US" dirty="0"/>
              <a:t>							</a:t>
            </a:r>
          </a:p>
          <a:p>
            <a:pPr>
              <a:buNone/>
            </a:pPr>
            <a:r>
              <a:rPr lang="en-US" dirty="0"/>
              <a:t>										</a:t>
            </a:r>
          </a:p>
          <a:p>
            <a:pPr>
              <a:buNone/>
            </a:pPr>
            <a:endParaRPr lang="en-US" dirty="0"/>
          </a:p>
          <a:p>
            <a:pPr>
              <a:buNone/>
            </a:pPr>
            <a:r>
              <a:rPr lang="en-US" dirty="0"/>
              <a:t>									Push(8) to the top of the 									    stack				</a:t>
            </a:r>
          </a:p>
        </p:txBody>
      </p:sp>
      <p:sp>
        <p:nvSpPr>
          <p:cNvPr id="4" name="Rounded Rectangle 17">
            <a:extLst>
              <a:ext uri="{FF2B5EF4-FFF2-40B4-BE49-F238E27FC236}">
                <a16:creationId xmlns:a16="http://schemas.microsoft.com/office/drawing/2014/main" id="{01FA19A5-9588-483E-843E-C76873B71790}"/>
              </a:ext>
            </a:extLst>
          </p:cNvPr>
          <p:cNvSpPr>
            <a:spLocks noGrp="1"/>
          </p:cNvSpPr>
          <p:nvPr>
            <p:ph type="title"/>
          </p:nvPr>
        </p:nvSpPr>
        <p:spPr>
          <a:xfrm>
            <a:off x="2306472" y="232012"/>
            <a:ext cx="9020032" cy="88710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itchFamily="18" charset="0"/>
                <a:cs typeface="Times New Roman" pitchFamily="18" charset="0"/>
              </a:rPr>
              <a:t>IMPLEMENTATION WITH EXAMPLE(cont…)</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2238233" cy="1037230"/>
          </a:xfrm>
          <a:prstGeom prst="rect">
            <a:avLst/>
          </a:prstGeom>
          <a:noFill/>
        </p:spPr>
      </p:pic>
      <p:sp>
        <p:nvSpPr>
          <p:cNvPr id="7" name="Rectangle 6"/>
          <p:cNvSpPr/>
          <p:nvPr/>
        </p:nvSpPr>
        <p:spPr>
          <a:xfrm>
            <a:off x="218365" y="2920620"/>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ectangle 7"/>
          <p:cNvSpPr/>
          <p:nvPr/>
        </p:nvSpPr>
        <p:spPr>
          <a:xfrm>
            <a:off x="218366" y="3821375"/>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 8"/>
          <p:cNvSpPr/>
          <p:nvPr/>
        </p:nvSpPr>
        <p:spPr>
          <a:xfrm>
            <a:off x="218362" y="4722126"/>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graphicFrame>
        <p:nvGraphicFramePr>
          <p:cNvPr id="10" name="Table 9"/>
          <p:cNvGraphicFramePr>
            <a:graphicFrameLocks noGrp="1"/>
          </p:cNvGraphicFramePr>
          <p:nvPr/>
        </p:nvGraphicFramePr>
        <p:xfrm>
          <a:off x="2415650" y="3727252"/>
          <a:ext cx="3875970" cy="1008521"/>
        </p:xfrm>
        <a:graphic>
          <a:graphicData uri="http://schemas.openxmlformats.org/drawingml/2006/table">
            <a:tbl>
              <a:tblPr firstRow="1" bandRow="1">
                <a:tableStyleId>{5C22544A-7EE6-4342-B048-85BDC9FD1C3A}</a:tableStyleId>
              </a:tblPr>
              <a:tblGrid>
                <a:gridCol w="553710">
                  <a:extLst>
                    <a:ext uri="{9D8B030D-6E8A-4147-A177-3AD203B41FA5}">
                      <a16:colId xmlns:a16="http://schemas.microsoft.com/office/drawing/2014/main" val="20000"/>
                    </a:ext>
                  </a:extLst>
                </a:gridCol>
                <a:gridCol w="553710">
                  <a:extLst>
                    <a:ext uri="{9D8B030D-6E8A-4147-A177-3AD203B41FA5}">
                      <a16:colId xmlns:a16="http://schemas.microsoft.com/office/drawing/2014/main" val="20001"/>
                    </a:ext>
                  </a:extLst>
                </a:gridCol>
                <a:gridCol w="553710">
                  <a:extLst>
                    <a:ext uri="{9D8B030D-6E8A-4147-A177-3AD203B41FA5}">
                      <a16:colId xmlns:a16="http://schemas.microsoft.com/office/drawing/2014/main" val="20002"/>
                    </a:ext>
                  </a:extLst>
                </a:gridCol>
                <a:gridCol w="553710">
                  <a:extLst>
                    <a:ext uri="{9D8B030D-6E8A-4147-A177-3AD203B41FA5}">
                      <a16:colId xmlns:a16="http://schemas.microsoft.com/office/drawing/2014/main" val="20003"/>
                    </a:ext>
                  </a:extLst>
                </a:gridCol>
                <a:gridCol w="553710">
                  <a:extLst>
                    <a:ext uri="{9D8B030D-6E8A-4147-A177-3AD203B41FA5}">
                      <a16:colId xmlns:a16="http://schemas.microsoft.com/office/drawing/2014/main" val="20004"/>
                    </a:ext>
                  </a:extLst>
                </a:gridCol>
                <a:gridCol w="553710">
                  <a:extLst>
                    <a:ext uri="{9D8B030D-6E8A-4147-A177-3AD203B41FA5}">
                      <a16:colId xmlns:a16="http://schemas.microsoft.com/office/drawing/2014/main" val="20005"/>
                    </a:ext>
                  </a:extLst>
                </a:gridCol>
                <a:gridCol w="553710">
                  <a:extLst>
                    <a:ext uri="{9D8B030D-6E8A-4147-A177-3AD203B41FA5}">
                      <a16:colId xmlns:a16="http://schemas.microsoft.com/office/drawing/2014/main" val="20006"/>
                    </a:ext>
                  </a:extLst>
                </a:gridCol>
              </a:tblGrid>
              <a:tr h="1008521">
                <a:tc>
                  <a:txBody>
                    <a:bodyPr/>
                    <a:lstStyle/>
                    <a:p>
                      <a:r>
                        <a:rPr lang="en-US" dirty="0"/>
                        <a:t>5</a:t>
                      </a:r>
                    </a:p>
                  </a:txBody>
                  <a:tcPr anchor="ctr"/>
                </a:tc>
                <a:tc>
                  <a:txBody>
                    <a:bodyPr/>
                    <a:lstStyle/>
                    <a:p>
                      <a:r>
                        <a:rPr lang="en-US" dirty="0"/>
                        <a:t>3</a:t>
                      </a:r>
                    </a:p>
                  </a:txBody>
                  <a:tcPr anchor="ctr"/>
                </a:tc>
                <a:tc>
                  <a:txBody>
                    <a:bodyPr/>
                    <a:lstStyle/>
                    <a:p>
                      <a:r>
                        <a:rPr lang="en-US" dirty="0"/>
                        <a:t>+</a:t>
                      </a:r>
                    </a:p>
                  </a:txBody>
                  <a:tcPr anchor="ctr"/>
                </a:tc>
                <a:tc>
                  <a:txBody>
                    <a:bodyPr/>
                    <a:lstStyle/>
                    <a:p>
                      <a:r>
                        <a:rPr lang="en-US" dirty="0"/>
                        <a:t>8</a:t>
                      </a:r>
                    </a:p>
                  </a:txBody>
                  <a:tcPr anchor="ctr"/>
                </a:tc>
                <a:tc>
                  <a:txBody>
                    <a:bodyPr/>
                    <a:lstStyle/>
                    <a:p>
                      <a:r>
                        <a:rPr lang="en-US" dirty="0"/>
                        <a:t>2</a:t>
                      </a:r>
                    </a:p>
                  </a:txBody>
                  <a:tcPr anchor="ctr"/>
                </a:tc>
                <a:tc>
                  <a:txBody>
                    <a:bodyPr/>
                    <a:lstStyle/>
                    <a:p>
                      <a:r>
                        <a:rPr lang="en-US" dirty="0"/>
                        <a:t>-</a:t>
                      </a:r>
                    </a:p>
                  </a:txBody>
                  <a:tcPr anchor="ctr"/>
                </a:tc>
                <a:tc>
                  <a:txBody>
                    <a:bodyPr/>
                    <a:lstStyle/>
                    <a:p>
                      <a:r>
                        <a:rPr lang="en-US" dirty="0"/>
                        <a:t>*</a:t>
                      </a:r>
                    </a:p>
                  </a:txBody>
                  <a:tcPr anchor="ctr"/>
                </a:tc>
                <a:extLst>
                  <a:ext uri="{0D108BD9-81ED-4DB2-BD59-A6C34878D82A}">
                    <a16:rowId xmlns:a16="http://schemas.microsoft.com/office/drawing/2014/main" val="10000"/>
                  </a:ext>
                </a:extLst>
              </a:tr>
            </a:tbl>
          </a:graphicData>
        </a:graphic>
      </p:graphicFrame>
      <p:cxnSp>
        <p:nvCxnSpPr>
          <p:cNvPr id="12" name="Straight Arrow Connector 11"/>
          <p:cNvCxnSpPr/>
          <p:nvPr/>
        </p:nvCxnSpPr>
        <p:spPr>
          <a:xfrm rot="16200000" flipV="1">
            <a:off x="3971502" y="4926843"/>
            <a:ext cx="832511" cy="136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5026" y="365126"/>
            <a:ext cx="9688773" cy="617514"/>
          </a:xfrm>
        </p:spPr>
        <p:txBody>
          <a:bodyPr/>
          <a:lstStyle/>
          <a:p>
            <a:endParaRPr lang="en-US" dirty="0"/>
          </a:p>
        </p:txBody>
      </p:sp>
      <p:sp>
        <p:nvSpPr>
          <p:cNvPr id="3" name="Content Placeholder 2"/>
          <p:cNvSpPr>
            <a:spLocks noGrp="1"/>
          </p:cNvSpPr>
          <p:nvPr>
            <p:ph idx="1"/>
          </p:nvPr>
        </p:nvSpPr>
        <p:spPr>
          <a:xfrm>
            <a:off x="354842" y="1105468"/>
            <a:ext cx="10998958" cy="5418161"/>
          </a:xfrm>
        </p:spPr>
        <p:txBody>
          <a:bodyPr/>
          <a:lstStyle/>
          <a:p>
            <a:pPr>
              <a:buNone/>
            </a:pPr>
            <a:endParaRPr lang="en-US" dirty="0">
              <a:solidFill>
                <a:srgbClr val="FF0000"/>
              </a:solidFill>
            </a:endParaRPr>
          </a:p>
          <a:p>
            <a:pPr>
              <a:buNone/>
            </a:pPr>
            <a:r>
              <a:rPr lang="en-IN" dirty="0"/>
              <a:t>Step 4:</a:t>
            </a:r>
          </a:p>
          <a:p>
            <a:pPr>
              <a:buNone/>
            </a:pPr>
            <a:r>
              <a:rPr lang="en-US" dirty="0">
                <a:solidFill>
                  <a:srgbClr val="FF0000"/>
                </a:solidFill>
              </a:rPr>
              <a:t>Stack		            Postfix expression	                    Evaluation of expression</a:t>
            </a:r>
          </a:p>
          <a:p>
            <a:pPr>
              <a:buNone/>
            </a:pPr>
            <a:r>
              <a:rPr lang="en-US" dirty="0"/>
              <a:t>										Push(2) to the </a:t>
            </a:r>
          </a:p>
          <a:p>
            <a:pPr>
              <a:buNone/>
            </a:pPr>
            <a:r>
              <a:rPr lang="en-US" dirty="0"/>
              <a:t>										top of the stack</a:t>
            </a:r>
          </a:p>
          <a:p>
            <a:endParaRPr lang="en-US" dirty="0"/>
          </a:p>
        </p:txBody>
      </p:sp>
      <p:sp>
        <p:nvSpPr>
          <p:cNvPr id="4" name="Rounded Rectangle 17">
            <a:extLst>
              <a:ext uri="{FF2B5EF4-FFF2-40B4-BE49-F238E27FC236}">
                <a16:creationId xmlns:a16="http://schemas.microsoft.com/office/drawing/2014/main" id="{01FA19A5-9588-483E-843E-C76873B71790}"/>
              </a:ext>
            </a:extLst>
          </p:cNvPr>
          <p:cNvSpPr txBox="1">
            <a:spLocks/>
          </p:cNvSpPr>
          <p:nvPr/>
        </p:nvSpPr>
        <p:spPr>
          <a:xfrm>
            <a:off x="1637731" y="218365"/>
            <a:ext cx="10017457" cy="723332"/>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400" dirty="0"/>
              <a:t>IMPLEMENTATION WITH EXAMPLE</a:t>
            </a:r>
            <a:r>
              <a:rPr kumimoji="0" lang="en-US" sz="2400" b="0" i="0" u="none" strike="noStrike" kern="1200" cap="none" spc="0" normalizeH="0" baseline="0" noProof="0" dirty="0">
                <a:ln>
                  <a:noFill/>
                </a:ln>
                <a:solidFill>
                  <a:schemeClr val="lt1"/>
                </a:solidFill>
                <a:effectLst/>
                <a:uLnTx/>
                <a:uFillTx/>
                <a:latin typeface="+mn-lt"/>
                <a:ea typeface="+mn-ea"/>
                <a:cs typeface="+mn-cs"/>
              </a:rPr>
              <a:t> (cont…)</a:t>
            </a:r>
          </a:p>
        </p:txBody>
      </p:sp>
      <p:pic>
        <p:nvPicPr>
          <p:cNvPr id="6" name="Picture 2" descr="KL Deemed to be University Logo"/>
          <p:cNvPicPr>
            <a:picLocks noChangeAspect="1" noChangeArrowheads="1"/>
          </p:cNvPicPr>
          <p:nvPr/>
        </p:nvPicPr>
        <p:blipFill>
          <a:blip r:embed="rId2"/>
          <a:srcRect/>
          <a:stretch>
            <a:fillRect/>
          </a:stretch>
        </p:blipFill>
        <p:spPr bwMode="auto">
          <a:xfrm>
            <a:off x="1" y="0"/>
            <a:ext cx="1692322" cy="914400"/>
          </a:xfrm>
          <a:prstGeom prst="rect">
            <a:avLst/>
          </a:prstGeom>
          <a:noFill/>
        </p:spPr>
      </p:pic>
      <p:graphicFrame>
        <p:nvGraphicFramePr>
          <p:cNvPr id="7" name="Table 6"/>
          <p:cNvGraphicFramePr>
            <a:graphicFrameLocks noGrp="1"/>
          </p:cNvGraphicFramePr>
          <p:nvPr/>
        </p:nvGraphicFramePr>
        <p:xfrm>
          <a:off x="3098044" y="3357349"/>
          <a:ext cx="3916906" cy="1146412"/>
        </p:xfrm>
        <a:graphic>
          <a:graphicData uri="http://schemas.openxmlformats.org/drawingml/2006/table">
            <a:tbl>
              <a:tblPr firstRow="1" bandRow="1">
                <a:tableStyleId>{5C22544A-7EE6-4342-B048-85BDC9FD1C3A}</a:tableStyleId>
              </a:tblPr>
              <a:tblGrid>
                <a:gridCol w="559558">
                  <a:extLst>
                    <a:ext uri="{9D8B030D-6E8A-4147-A177-3AD203B41FA5}">
                      <a16:colId xmlns:a16="http://schemas.microsoft.com/office/drawing/2014/main" val="20000"/>
                    </a:ext>
                  </a:extLst>
                </a:gridCol>
                <a:gridCol w="559558">
                  <a:extLst>
                    <a:ext uri="{9D8B030D-6E8A-4147-A177-3AD203B41FA5}">
                      <a16:colId xmlns:a16="http://schemas.microsoft.com/office/drawing/2014/main" val="20001"/>
                    </a:ext>
                  </a:extLst>
                </a:gridCol>
                <a:gridCol w="559558">
                  <a:extLst>
                    <a:ext uri="{9D8B030D-6E8A-4147-A177-3AD203B41FA5}">
                      <a16:colId xmlns:a16="http://schemas.microsoft.com/office/drawing/2014/main" val="20002"/>
                    </a:ext>
                  </a:extLst>
                </a:gridCol>
                <a:gridCol w="559558">
                  <a:extLst>
                    <a:ext uri="{9D8B030D-6E8A-4147-A177-3AD203B41FA5}">
                      <a16:colId xmlns:a16="http://schemas.microsoft.com/office/drawing/2014/main" val="20003"/>
                    </a:ext>
                  </a:extLst>
                </a:gridCol>
                <a:gridCol w="559558">
                  <a:extLst>
                    <a:ext uri="{9D8B030D-6E8A-4147-A177-3AD203B41FA5}">
                      <a16:colId xmlns:a16="http://schemas.microsoft.com/office/drawing/2014/main" val="20004"/>
                    </a:ext>
                  </a:extLst>
                </a:gridCol>
                <a:gridCol w="559558">
                  <a:extLst>
                    <a:ext uri="{9D8B030D-6E8A-4147-A177-3AD203B41FA5}">
                      <a16:colId xmlns:a16="http://schemas.microsoft.com/office/drawing/2014/main" val="20005"/>
                    </a:ext>
                  </a:extLst>
                </a:gridCol>
                <a:gridCol w="559558">
                  <a:extLst>
                    <a:ext uri="{9D8B030D-6E8A-4147-A177-3AD203B41FA5}">
                      <a16:colId xmlns:a16="http://schemas.microsoft.com/office/drawing/2014/main" val="20006"/>
                    </a:ext>
                  </a:extLst>
                </a:gridCol>
              </a:tblGrid>
              <a:tr h="1146412">
                <a:tc>
                  <a:txBody>
                    <a:bodyPr/>
                    <a:lstStyle/>
                    <a:p>
                      <a:r>
                        <a:rPr lang="en-US" dirty="0"/>
                        <a:t>5</a:t>
                      </a:r>
                    </a:p>
                  </a:txBody>
                  <a:tcPr anchor="ctr"/>
                </a:tc>
                <a:tc>
                  <a:txBody>
                    <a:bodyPr/>
                    <a:lstStyle/>
                    <a:p>
                      <a:r>
                        <a:rPr lang="en-US" dirty="0"/>
                        <a:t>3</a:t>
                      </a:r>
                    </a:p>
                  </a:txBody>
                  <a:tcPr anchor="ctr"/>
                </a:tc>
                <a:tc>
                  <a:txBody>
                    <a:bodyPr/>
                    <a:lstStyle/>
                    <a:p>
                      <a:r>
                        <a:rPr lang="en-US" dirty="0"/>
                        <a:t>+</a:t>
                      </a:r>
                    </a:p>
                  </a:txBody>
                  <a:tcPr anchor="ctr"/>
                </a:tc>
                <a:tc>
                  <a:txBody>
                    <a:bodyPr/>
                    <a:lstStyle/>
                    <a:p>
                      <a:r>
                        <a:rPr lang="en-US" dirty="0"/>
                        <a:t>8</a:t>
                      </a:r>
                    </a:p>
                  </a:txBody>
                  <a:tcPr anchor="ctr"/>
                </a:tc>
                <a:tc>
                  <a:txBody>
                    <a:bodyPr/>
                    <a:lstStyle/>
                    <a:p>
                      <a:r>
                        <a:rPr lang="en-US" dirty="0"/>
                        <a:t>2</a:t>
                      </a:r>
                    </a:p>
                  </a:txBody>
                  <a:tcPr anchor="ctr"/>
                </a:tc>
                <a:tc>
                  <a:txBody>
                    <a:bodyPr/>
                    <a:lstStyle/>
                    <a:p>
                      <a:r>
                        <a:rPr lang="en-US" dirty="0"/>
                        <a:t>_</a:t>
                      </a:r>
                    </a:p>
                  </a:txBody>
                  <a:tcPr anchor="ctr"/>
                </a:tc>
                <a:tc>
                  <a:txBody>
                    <a:bodyPr/>
                    <a:lstStyle/>
                    <a:p>
                      <a:r>
                        <a:rPr lang="en-US" dirty="0"/>
                        <a:t>*</a:t>
                      </a:r>
                    </a:p>
                  </a:txBody>
                  <a:tcPr anchor="ctr"/>
                </a:tc>
                <a:extLst>
                  <a:ext uri="{0D108BD9-81ED-4DB2-BD59-A6C34878D82A}">
                    <a16:rowId xmlns:a16="http://schemas.microsoft.com/office/drawing/2014/main" val="10000"/>
                  </a:ext>
                </a:extLst>
              </a:tr>
            </a:tbl>
          </a:graphicData>
        </a:graphic>
      </p:graphicFrame>
      <p:sp>
        <p:nvSpPr>
          <p:cNvPr id="8" name="Rectangle 7"/>
          <p:cNvSpPr/>
          <p:nvPr/>
        </p:nvSpPr>
        <p:spPr>
          <a:xfrm>
            <a:off x="436728" y="298886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36729" y="3930555"/>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sp>
        <p:nvSpPr>
          <p:cNvPr id="10" name="Rectangle 9"/>
          <p:cNvSpPr/>
          <p:nvPr/>
        </p:nvSpPr>
        <p:spPr>
          <a:xfrm>
            <a:off x="436728" y="4872250"/>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cxnSp>
        <p:nvCxnSpPr>
          <p:cNvPr id="12" name="Straight Arrow Connector 11"/>
          <p:cNvCxnSpPr/>
          <p:nvPr/>
        </p:nvCxnSpPr>
        <p:spPr>
          <a:xfrm rot="5400000" flipH="1" flipV="1">
            <a:off x="4974610" y="5001905"/>
            <a:ext cx="1078172"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lt1"/>
                </a:solidFill>
              </a:rPr>
              <a:t>ti</a:t>
            </a:r>
            <a:endParaRPr lang="en-US" dirty="0"/>
          </a:p>
        </p:txBody>
      </p:sp>
      <p:sp>
        <p:nvSpPr>
          <p:cNvPr id="3" name="Content Placeholder 2"/>
          <p:cNvSpPr>
            <a:spLocks noGrp="1"/>
          </p:cNvSpPr>
          <p:nvPr>
            <p:ph idx="1"/>
          </p:nvPr>
        </p:nvSpPr>
        <p:spPr>
          <a:xfrm>
            <a:off x="327546" y="1392072"/>
            <a:ext cx="11559654" cy="5172501"/>
          </a:xfrm>
        </p:spPr>
        <p:txBody>
          <a:bodyPr/>
          <a:lstStyle/>
          <a:p>
            <a:pPr>
              <a:buNone/>
            </a:pPr>
            <a:r>
              <a:rPr lang="en-IN" dirty="0"/>
              <a:t>Step 5:</a:t>
            </a:r>
          </a:p>
          <a:p>
            <a:pPr>
              <a:buNone/>
            </a:pPr>
            <a:r>
              <a:rPr lang="en-US" dirty="0">
                <a:solidFill>
                  <a:srgbClr val="FF0000"/>
                </a:solidFill>
              </a:rPr>
              <a:t>Stack		            Postfix expression	                    Evaluation of expression</a:t>
            </a:r>
          </a:p>
          <a:p>
            <a:pPr>
              <a:buNone/>
            </a:pPr>
            <a:r>
              <a:rPr lang="en-US" dirty="0"/>
              <a:t>									</a:t>
            </a:r>
          </a:p>
          <a:p>
            <a:pPr>
              <a:buNone/>
            </a:pPr>
            <a:r>
              <a:rPr lang="en-US" dirty="0"/>
              <a:t>									Operand2=Pop()</a:t>
            </a:r>
          </a:p>
          <a:p>
            <a:pPr>
              <a:buNone/>
            </a:pPr>
            <a:r>
              <a:rPr lang="en-US" dirty="0"/>
              <a:t>									Operand1=Pop()</a:t>
            </a:r>
          </a:p>
          <a:p>
            <a:pPr>
              <a:buNone/>
            </a:pPr>
            <a:r>
              <a:rPr lang="en-US" dirty="0"/>
              <a:t>							                result=operand1-operand2</a:t>
            </a:r>
          </a:p>
          <a:p>
            <a:pPr>
              <a:buNone/>
            </a:pPr>
            <a:r>
              <a:rPr lang="en-US" dirty="0"/>
              <a:t>									result=8-2=6</a:t>
            </a:r>
          </a:p>
          <a:p>
            <a:pPr>
              <a:buNone/>
            </a:pPr>
            <a:r>
              <a:rPr lang="en-US" dirty="0"/>
              <a:t>									Push(6) to the top of 									     the stack</a:t>
            </a:r>
          </a:p>
          <a:p>
            <a:pPr>
              <a:buNone/>
            </a:pPr>
            <a:r>
              <a:rPr lang="en-US" dirty="0"/>
              <a:t>											</a:t>
            </a:r>
          </a:p>
          <a:p>
            <a:pPr>
              <a:buNone/>
            </a:pPr>
            <a:endParaRPr lang="en-US" dirty="0"/>
          </a:p>
        </p:txBody>
      </p:sp>
      <p:sp>
        <p:nvSpPr>
          <p:cNvPr id="4" name="Rounded Rectangle 17">
            <a:extLst>
              <a:ext uri="{FF2B5EF4-FFF2-40B4-BE49-F238E27FC236}">
                <a16:creationId xmlns:a16="http://schemas.microsoft.com/office/drawing/2014/main" id="{01FA19A5-9588-483E-843E-C76873B71790}"/>
              </a:ext>
            </a:extLst>
          </p:cNvPr>
          <p:cNvSpPr txBox="1">
            <a:spLocks/>
          </p:cNvSpPr>
          <p:nvPr/>
        </p:nvSpPr>
        <p:spPr>
          <a:xfrm>
            <a:off x="2033516" y="218364"/>
            <a:ext cx="9621672" cy="764275"/>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400" dirty="0"/>
              <a:t>IMPLEMENTATION WITH EXAMPLE</a:t>
            </a:r>
            <a:r>
              <a:rPr kumimoji="0" lang="en-US" sz="2400" b="0" i="0" u="none" strike="noStrike" kern="1200" cap="none" spc="0" normalizeH="0" baseline="0" noProof="0" dirty="0">
                <a:ln>
                  <a:noFill/>
                </a:ln>
                <a:solidFill>
                  <a:schemeClr val="lt1"/>
                </a:solidFill>
                <a:effectLst/>
                <a:uLnTx/>
                <a:uFillTx/>
                <a:latin typeface="+mn-lt"/>
                <a:ea typeface="+mn-ea"/>
                <a:cs typeface="+mn-cs"/>
              </a:rPr>
              <a:t> (cont…)</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1" y="-1"/>
            <a:ext cx="2347414" cy="1268361"/>
          </a:xfrm>
          <a:prstGeom prst="rect">
            <a:avLst/>
          </a:prstGeom>
          <a:noFill/>
        </p:spPr>
      </p:pic>
      <p:graphicFrame>
        <p:nvGraphicFramePr>
          <p:cNvPr id="6" name="Table 5"/>
          <p:cNvGraphicFramePr>
            <a:graphicFrameLocks noGrp="1"/>
          </p:cNvGraphicFramePr>
          <p:nvPr/>
        </p:nvGraphicFramePr>
        <p:xfrm>
          <a:off x="2947915" y="3343699"/>
          <a:ext cx="3903263" cy="1173709"/>
        </p:xfrm>
        <a:graphic>
          <a:graphicData uri="http://schemas.openxmlformats.org/drawingml/2006/table">
            <a:tbl>
              <a:tblPr firstRow="1" bandRow="1">
                <a:tableStyleId>{5C22544A-7EE6-4342-B048-85BDC9FD1C3A}</a:tableStyleId>
              </a:tblPr>
              <a:tblGrid>
                <a:gridCol w="557609">
                  <a:extLst>
                    <a:ext uri="{9D8B030D-6E8A-4147-A177-3AD203B41FA5}">
                      <a16:colId xmlns:a16="http://schemas.microsoft.com/office/drawing/2014/main" val="20000"/>
                    </a:ext>
                  </a:extLst>
                </a:gridCol>
                <a:gridCol w="557609">
                  <a:extLst>
                    <a:ext uri="{9D8B030D-6E8A-4147-A177-3AD203B41FA5}">
                      <a16:colId xmlns:a16="http://schemas.microsoft.com/office/drawing/2014/main" val="20001"/>
                    </a:ext>
                  </a:extLst>
                </a:gridCol>
                <a:gridCol w="557609">
                  <a:extLst>
                    <a:ext uri="{9D8B030D-6E8A-4147-A177-3AD203B41FA5}">
                      <a16:colId xmlns:a16="http://schemas.microsoft.com/office/drawing/2014/main" val="20002"/>
                    </a:ext>
                  </a:extLst>
                </a:gridCol>
                <a:gridCol w="557609">
                  <a:extLst>
                    <a:ext uri="{9D8B030D-6E8A-4147-A177-3AD203B41FA5}">
                      <a16:colId xmlns:a16="http://schemas.microsoft.com/office/drawing/2014/main" val="20003"/>
                    </a:ext>
                  </a:extLst>
                </a:gridCol>
                <a:gridCol w="557609">
                  <a:extLst>
                    <a:ext uri="{9D8B030D-6E8A-4147-A177-3AD203B41FA5}">
                      <a16:colId xmlns:a16="http://schemas.microsoft.com/office/drawing/2014/main" val="20004"/>
                    </a:ext>
                  </a:extLst>
                </a:gridCol>
                <a:gridCol w="557609">
                  <a:extLst>
                    <a:ext uri="{9D8B030D-6E8A-4147-A177-3AD203B41FA5}">
                      <a16:colId xmlns:a16="http://schemas.microsoft.com/office/drawing/2014/main" val="20005"/>
                    </a:ext>
                  </a:extLst>
                </a:gridCol>
                <a:gridCol w="557609">
                  <a:extLst>
                    <a:ext uri="{9D8B030D-6E8A-4147-A177-3AD203B41FA5}">
                      <a16:colId xmlns:a16="http://schemas.microsoft.com/office/drawing/2014/main" val="20006"/>
                    </a:ext>
                  </a:extLst>
                </a:gridCol>
              </a:tblGrid>
              <a:tr h="1173709">
                <a:tc>
                  <a:txBody>
                    <a:bodyPr/>
                    <a:lstStyle/>
                    <a:p>
                      <a:r>
                        <a:rPr lang="en-US" dirty="0"/>
                        <a:t>5</a:t>
                      </a:r>
                    </a:p>
                  </a:txBody>
                  <a:tcPr anchor="ctr"/>
                </a:tc>
                <a:tc>
                  <a:txBody>
                    <a:bodyPr/>
                    <a:lstStyle/>
                    <a:p>
                      <a:r>
                        <a:rPr lang="en-US" dirty="0"/>
                        <a:t>3</a:t>
                      </a:r>
                    </a:p>
                  </a:txBody>
                  <a:tcPr anchor="ctr"/>
                </a:tc>
                <a:tc>
                  <a:txBody>
                    <a:bodyPr/>
                    <a:lstStyle/>
                    <a:p>
                      <a:r>
                        <a:rPr lang="en-US" dirty="0"/>
                        <a:t>+</a:t>
                      </a:r>
                    </a:p>
                  </a:txBody>
                  <a:tcPr anchor="ctr"/>
                </a:tc>
                <a:tc>
                  <a:txBody>
                    <a:bodyPr/>
                    <a:lstStyle/>
                    <a:p>
                      <a:r>
                        <a:rPr lang="en-US" dirty="0"/>
                        <a:t>8</a:t>
                      </a:r>
                    </a:p>
                  </a:txBody>
                  <a:tcPr anchor="ctr"/>
                </a:tc>
                <a:tc>
                  <a:txBody>
                    <a:bodyPr/>
                    <a:lstStyle/>
                    <a:p>
                      <a:r>
                        <a:rPr lang="en-US" dirty="0"/>
                        <a:t>2</a:t>
                      </a:r>
                    </a:p>
                  </a:txBody>
                  <a:tcPr anchor="ctr"/>
                </a:tc>
                <a:tc>
                  <a:txBody>
                    <a:bodyPr/>
                    <a:lstStyle/>
                    <a:p>
                      <a:r>
                        <a:rPr lang="en-US" dirty="0"/>
                        <a:t>-</a:t>
                      </a:r>
                    </a:p>
                  </a:txBody>
                  <a:tcPr anchor="ctr"/>
                </a:tc>
                <a:tc>
                  <a:txBody>
                    <a:bodyPr/>
                    <a:lstStyle/>
                    <a:p>
                      <a:r>
                        <a:rPr lang="en-US" dirty="0"/>
                        <a:t>*</a:t>
                      </a:r>
                    </a:p>
                  </a:txBody>
                  <a:tcPr anchor="ctr"/>
                </a:tc>
                <a:extLst>
                  <a:ext uri="{0D108BD9-81ED-4DB2-BD59-A6C34878D82A}">
                    <a16:rowId xmlns:a16="http://schemas.microsoft.com/office/drawing/2014/main" val="10000"/>
                  </a:ext>
                </a:extLst>
              </a:tr>
            </a:tbl>
          </a:graphicData>
        </a:graphic>
      </p:graphicFrame>
      <p:sp>
        <p:nvSpPr>
          <p:cNvPr id="7" name="Rectangle 6"/>
          <p:cNvSpPr/>
          <p:nvPr/>
        </p:nvSpPr>
        <p:spPr>
          <a:xfrm>
            <a:off x="395785" y="2770495"/>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8" name="Rectangle 7"/>
          <p:cNvSpPr/>
          <p:nvPr/>
        </p:nvSpPr>
        <p:spPr>
          <a:xfrm>
            <a:off x="395785" y="3712191"/>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sp>
        <p:nvSpPr>
          <p:cNvPr id="9" name="Rectangle 8"/>
          <p:cNvSpPr/>
          <p:nvPr/>
        </p:nvSpPr>
        <p:spPr>
          <a:xfrm>
            <a:off x="409432" y="4653886"/>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cxnSp>
        <p:nvCxnSpPr>
          <p:cNvPr id="11" name="Straight Arrow Connector 10"/>
          <p:cNvCxnSpPr/>
          <p:nvPr/>
        </p:nvCxnSpPr>
        <p:spPr>
          <a:xfrm rot="16200000" flipV="1">
            <a:off x="5465930" y="5083793"/>
            <a:ext cx="1160059" cy="272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5659" y="1446662"/>
            <a:ext cx="11477767" cy="5090615"/>
          </a:xfrm>
        </p:spPr>
        <p:txBody>
          <a:bodyPr/>
          <a:lstStyle/>
          <a:p>
            <a:pPr>
              <a:buNone/>
            </a:pPr>
            <a:r>
              <a:rPr lang="en-IN" dirty="0"/>
              <a:t>Step 6:</a:t>
            </a:r>
          </a:p>
          <a:p>
            <a:pPr>
              <a:buNone/>
            </a:pPr>
            <a:r>
              <a:rPr lang="en-US" dirty="0">
                <a:solidFill>
                  <a:srgbClr val="FF0000"/>
                </a:solidFill>
              </a:rPr>
              <a:t>Stack		            Postfix expression	                    Evaluation of expression</a:t>
            </a:r>
          </a:p>
          <a:p>
            <a:pPr>
              <a:buNone/>
            </a:pPr>
            <a:r>
              <a:rPr lang="en-US" dirty="0"/>
              <a:t>									Operand2=Pop()</a:t>
            </a:r>
          </a:p>
          <a:p>
            <a:pPr>
              <a:buNone/>
            </a:pPr>
            <a:r>
              <a:rPr lang="en-US" dirty="0"/>
              <a:t>									Operand1=Pop()</a:t>
            </a:r>
          </a:p>
          <a:p>
            <a:pPr>
              <a:buNone/>
            </a:pPr>
            <a:r>
              <a:rPr lang="en-US" dirty="0"/>
              <a:t>							                result=operand1*operand2</a:t>
            </a:r>
          </a:p>
          <a:p>
            <a:pPr>
              <a:buNone/>
            </a:pPr>
            <a:r>
              <a:rPr lang="en-US" dirty="0"/>
              <a:t>									result=8*6=48</a:t>
            </a:r>
          </a:p>
          <a:p>
            <a:pPr>
              <a:buNone/>
            </a:pPr>
            <a:r>
              <a:rPr lang="en-US" dirty="0"/>
              <a:t>									Push(48) to the top of 									     the stack</a:t>
            </a:r>
          </a:p>
          <a:p>
            <a:pPr>
              <a:buNone/>
            </a:pPr>
            <a:endParaRPr lang="en-US" dirty="0"/>
          </a:p>
          <a:p>
            <a:endParaRPr lang="en-US" dirty="0"/>
          </a:p>
        </p:txBody>
      </p:sp>
      <p:sp>
        <p:nvSpPr>
          <p:cNvPr id="4" name="Rounded Rectangle 17">
            <a:extLst>
              <a:ext uri="{FF2B5EF4-FFF2-40B4-BE49-F238E27FC236}">
                <a16:creationId xmlns:a16="http://schemas.microsoft.com/office/drawing/2014/main" id="{01FA19A5-9588-483E-843E-C76873B71790}"/>
              </a:ext>
            </a:extLst>
          </p:cNvPr>
          <p:cNvSpPr txBox="1">
            <a:spLocks noGrp="1"/>
          </p:cNvSpPr>
          <p:nvPr>
            <p:ph type="title"/>
          </p:nvPr>
        </p:nvSpPr>
        <p:spPr>
          <a:xfrm>
            <a:off x="1733266" y="532262"/>
            <a:ext cx="9620534" cy="777923"/>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dirty="0">
                <a:latin typeface="Times New Roman" pitchFamily="18" charset="0"/>
                <a:cs typeface="Times New Roman" pitchFamily="18" charset="0"/>
              </a:rPr>
              <a:t>IMPLEMENTATION WITH EXAMPLE</a:t>
            </a:r>
            <a:r>
              <a:rPr kumimoji="0" lang="en-US" sz="2800" b="0" i="0" u="none" strike="noStrike" kern="1200" cap="none" spc="0" normalizeH="0" baseline="0" noProof="0" dirty="0">
                <a:ln>
                  <a:noFill/>
                </a:ln>
                <a:solidFill>
                  <a:schemeClr val="lt1"/>
                </a:solidFill>
                <a:effectLst/>
                <a:uLnTx/>
                <a:uFillTx/>
                <a:latin typeface="Times New Roman" pitchFamily="18" charset="0"/>
                <a:cs typeface="Times New Roman" pitchFamily="18" charset="0"/>
              </a:rPr>
              <a:t> (cont…)</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1"/>
            <a:ext cx="2222751" cy="1201003"/>
          </a:xfrm>
          <a:prstGeom prst="rect">
            <a:avLst/>
          </a:prstGeom>
          <a:noFill/>
        </p:spPr>
      </p:pic>
      <p:graphicFrame>
        <p:nvGraphicFramePr>
          <p:cNvPr id="6" name="Table 5"/>
          <p:cNvGraphicFramePr>
            <a:graphicFrameLocks noGrp="1"/>
          </p:cNvGraphicFramePr>
          <p:nvPr/>
        </p:nvGraphicFramePr>
        <p:xfrm>
          <a:off x="3384645" y="3332781"/>
          <a:ext cx="3461561" cy="979911"/>
        </p:xfrm>
        <a:graphic>
          <a:graphicData uri="http://schemas.openxmlformats.org/drawingml/2006/table">
            <a:tbl>
              <a:tblPr firstRow="1" bandRow="1">
                <a:tableStyleId>{5C22544A-7EE6-4342-B048-85BDC9FD1C3A}</a:tableStyleId>
              </a:tblPr>
              <a:tblGrid>
                <a:gridCol w="493269">
                  <a:extLst>
                    <a:ext uri="{9D8B030D-6E8A-4147-A177-3AD203B41FA5}">
                      <a16:colId xmlns:a16="http://schemas.microsoft.com/office/drawing/2014/main" val="20000"/>
                    </a:ext>
                  </a:extLst>
                </a:gridCol>
                <a:gridCol w="493269">
                  <a:extLst>
                    <a:ext uri="{9D8B030D-6E8A-4147-A177-3AD203B41FA5}">
                      <a16:colId xmlns:a16="http://schemas.microsoft.com/office/drawing/2014/main" val="20001"/>
                    </a:ext>
                  </a:extLst>
                </a:gridCol>
                <a:gridCol w="391886">
                  <a:extLst>
                    <a:ext uri="{9D8B030D-6E8A-4147-A177-3AD203B41FA5}">
                      <a16:colId xmlns:a16="http://schemas.microsoft.com/office/drawing/2014/main" val="20002"/>
                    </a:ext>
                  </a:extLst>
                </a:gridCol>
                <a:gridCol w="603330">
                  <a:extLst>
                    <a:ext uri="{9D8B030D-6E8A-4147-A177-3AD203B41FA5}">
                      <a16:colId xmlns:a16="http://schemas.microsoft.com/office/drawing/2014/main" val="20003"/>
                    </a:ext>
                  </a:extLst>
                </a:gridCol>
                <a:gridCol w="493269">
                  <a:extLst>
                    <a:ext uri="{9D8B030D-6E8A-4147-A177-3AD203B41FA5}">
                      <a16:colId xmlns:a16="http://schemas.microsoft.com/office/drawing/2014/main" val="20004"/>
                    </a:ext>
                  </a:extLst>
                </a:gridCol>
                <a:gridCol w="493269">
                  <a:extLst>
                    <a:ext uri="{9D8B030D-6E8A-4147-A177-3AD203B41FA5}">
                      <a16:colId xmlns:a16="http://schemas.microsoft.com/office/drawing/2014/main" val="20005"/>
                    </a:ext>
                  </a:extLst>
                </a:gridCol>
                <a:gridCol w="493269">
                  <a:extLst>
                    <a:ext uri="{9D8B030D-6E8A-4147-A177-3AD203B41FA5}">
                      <a16:colId xmlns:a16="http://schemas.microsoft.com/office/drawing/2014/main" val="20006"/>
                    </a:ext>
                  </a:extLst>
                </a:gridCol>
              </a:tblGrid>
              <a:tr h="979911">
                <a:tc>
                  <a:txBody>
                    <a:bodyPr/>
                    <a:lstStyle/>
                    <a:p>
                      <a:r>
                        <a:rPr lang="en-US" dirty="0"/>
                        <a:t>5</a:t>
                      </a:r>
                    </a:p>
                  </a:txBody>
                  <a:tcPr anchor="ctr"/>
                </a:tc>
                <a:tc>
                  <a:txBody>
                    <a:bodyPr/>
                    <a:lstStyle/>
                    <a:p>
                      <a:r>
                        <a:rPr lang="en-US" dirty="0"/>
                        <a:t>3</a:t>
                      </a:r>
                    </a:p>
                  </a:txBody>
                  <a:tcPr anchor="ctr"/>
                </a:tc>
                <a:tc>
                  <a:txBody>
                    <a:bodyPr/>
                    <a:lstStyle/>
                    <a:p>
                      <a:r>
                        <a:rPr lang="en-US" dirty="0"/>
                        <a:t>+</a:t>
                      </a:r>
                    </a:p>
                  </a:txBody>
                  <a:tcPr anchor="ctr"/>
                </a:tc>
                <a:tc>
                  <a:txBody>
                    <a:bodyPr/>
                    <a:lstStyle/>
                    <a:p>
                      <a:r>
                        <a:rPr lang="en-US" dirty="0"/>
                        <a:t>8</a:t>
                      </a:r>
                    </a:p>
                  </a:txBody>
                  <a:tcPr anchor="ctr"/>
                </a:tc>
                <a:tc>
                  <a:txBody>
                    <a:bodyPr/>
                    <a:lstStyle/>
                    <a:p>
                      <a:r>
                        <a:rPr lang="en-US" dirty="0"/>
                        <a:t>2</a:t>
                      </a:r>
                    </a:p>
                  </a:txBody>
                  <a:tcPr anchor="ctr"/>
                </a:tc>
                <a:tc>
                  <a:txBody>
                    <a:bodyPr/>
                    <a:lstStyle/>
                    <a:p>
                      <a:r>
                        <a:rPr lang="en-US" dirty="0"/>
                        <a:t>-</a:t>
                      </a:r>
                    </a:p>
                  </a:txBody>
                  <a:tcPr anchor="ctr"/>
                </a:tc>
                <a:tc>
                  <a:txBody>
                    <a:bodyPr/>
                    <a:lstStyle/>
                    <a:p>
                      <a:r>
                        <a:rPr lang="en-US" dirty="0"/>
                        <a:t>*</a:t>
                      </a:r>
                    </a:p>
                  </a:txBody>
                  <a:tcPr anchor="ctr"/>
                </a:tc>
                <a:extLst>
                  <a:ext uri="{0D108BD9-81ED-4DB2-BD59-A6C34878D82A}">
                    <a16:rowId xmlns:a16="http://schemas.microsoft.com/office/drawing/2014/main" val="10000"/>
                  </a:ext>
                </a:extLst>
              </a:tr>
            </a:tbl>
          </a:graphicData>
        </a:graphic>
      </p:graphicFrame>
      <p:sp>
        <p:nvSpPr>
          <p:cNvPr id="7" name="Rectangle 6"/>
          <p:cNvSpPr/>
          <p:nvPr/>
        </p:nvSpPr>
        <p:spPr>
          <a:xfrm>
            <a:off x="286603" y="286602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86603" y="3766782"/>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a:t>
            </a:r>
          </a:p>
        </p:txBody>
      </p:sp>
      <p:sp>
        <p:nvSpPr>
          <p:cNvPr id="11" name="Rectangle 10"/>
          <p:cNvSpPr/>
          <p:nvPr/>
        </p:nvSpPr>
        <p:spPr>
          <a:xfrm>
            <a:off x="286604" y="4667534"/>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cxnSp>
        <p:nvCxnSpPr>
          <p:cNvPr id="12" name="Straight Arrow Connector 11"/>
          <p:cNvCxnSpPr/>
          <p:nvPr/>
        </p:nvCxnSpPr>
        <p:spPr>
          <a:xfrm rot="16200000" flipV="1">
            <a:off x="6148317" y="4769893"/>
            <a:ext cx="887105" cy="272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013" y="1337482"/>
            <a:ext cx="11614244" cy="5349921"/>
          </a:xfrm>
        </p:spPr>
        <p:txBody>
          <a:bodyPr/>
          <a:lstStyle/>
          <a:p>
            <a:pPr>
              <a:buNone/>
            </a:pPr>
            <a:r>
              <a:rPr lang="en-IN" dirty="0"/>
              <a:t>Step 6:</a:t>
            </a:r>
          </a:p>
          <a:p>
            <a:pPr>
              <a:buNone/>
            </a:pPr>
            <a:r>
              <a:rPr lang="en-US" dirty="0">
                <a:solidFill>
                  <a:srgbClr val="FF0000"/>
                </a:solidFill>
              </a:rPr>
              <a:t>Stack		            Postfix expression	                    Evaluation of expression</a:t>
            </a:r>
          </a:p>
          <a:p>
            <a:pPr lvl="6">
              <a:buNone/>
            </a:pPr>
            <a:endParaRPr lang="en-US" dirty="0"/>
          </a:p>
          <a:p>
            <a:pPr lvl="6">
              <a:buNone/>
            </a:pPr>
            <a:endParaRPr lang="en-US" dirty="0"/>
          </a:p>
          <a:p>
            <a:pPr lvl="6">
              <a:buNone/>
            </a:pPr>
            <a:r>
              <a:rPr lang="en-US" sz="2800" dirty="0">
                <a:latin typeface="Times New Roman" pitchFamily="18" charset="0"/>
                <a:cs typeface="Times New Roman" pitchFamily="18" charset="0"/>
              </a:rPr>
              <a:t>							                         </a:t>
            </a:r>
          </a:p>
          <a:p>
            <a:pPr lvl="6">
              <a:buNone/>
            </a:pPr>
            <a:endParaRPr lang="en-US" sz="2800" dirty="0">
              <a:latin typeface="Times New Roman" pitchFamily="18" charset="0"/>
              <a:cs typeface="Times New Roman" pitchFamily="18" charset="0"/>
            </a:endParaRPr>
          </a:p>
          <a:p>
            <a:pPr lvl="6">
              <a:buNone/>
            </a:pPr>
            <a:r>
              <a:rPr lang="en-US" sz="2800" dirty="0">
                <a:latin typeface="Times New Roman" pitchFamily="18" charset="0"/>
                <a:cs typeface="Times New Roman" pitchFamily="18" charset="0"/>
              </a:rPr>
              <a:t>there is nothing present 			result=Pop()</a:t>
            </a:r>
          </a:p>
          <a:p>
            <a:pPr lvl="6">
              <a:buNone/>
            </a:pPr>
            <a:r>
              <a:rPr lang="en-US" sz="2800" dirty="0">
                <a:latin typeface="Times New Roman" pitchFamily="18" charset="0"/>
                <a:cs typeface="Times New Roman" pitchFamily="18" charset="0"/>
              </a:rPr>
              <a:t>  in the expression to scan			=48																i.e. the present top value is   					the  resultant of the given 						postfix expression </a:t>
            </a:r>
          </a:p>
          <a:p>
            <a:pPr lvl="6">
              <a:buNone/>
            </a:pPr>
            <a:r>
              <a:rPr lang="en-US" sz="2800" dirty="0">
                <a:latin typeface="Times New Roman" pitchFamily="18" charset="0"/>
                <a:cs typeface="Times New Roman" pitchFamily="18" charset="0"/>
              </a:rPr>
              <a:t>	</a:t>
            </a:r>
          </a:p>
        </p:txBody>
      </p:sp>
      <p:sp>
        <p:nvSpPr>
          <p:cNvPr id="4" name="Rounded Rectangle 17">
            <a:extLst>
              <a:ext uri="{FF2B5EF4-FFF2-40B4-BE49-F238E27FC236}">
                <a16:creationId xmlns:a16="http://schemas.microsoft.com/office/drawing/2014/main" id="{01FA19A5-9588-483E-843E-C76873B71790}"/>
              </a:ext>
            </a:extLst>
          </p:cNvPr>
          <p:cNvSpPr txBox="1">
            <a:spLocks noGrp="1"/>
          </p:cNvSpPr>
          <p:nvPr>
            <p:ph type="title"/>
          </p:nvPr>
        </p:nvSpPr>
        <p:spPr>
          <a:xfrm>
            <a:off x="1705970" y="365126"/>
            <a:ext cx="9758149" cy="904116"/>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schemeClr val="lt1"/>
                </a:solidFill>
                <a:effectLst/>
                <a:uLnTx/>
                <a:uFillTx/>
                <a:latin typeface="Times New Roman" pitchFamily="18" charset="0"/>
                <a:cs typeface="Times New Roman" pitchFamily="18" charset="0"/>
              </a:rPr>
              <a:t>EXPLANATION WITH EXAMPLE (cont…)</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1" y="-1"/>
            <a:ext cx="1733265" cy="1268361"/>
          </a:xfrm>
          <a:prstGeom prst="rect">
            <a:avLst/>
          </a:prstGeom>
          <a:noFill/>
        </p:spPr>
      </p:pic>
      <p:sp>
        <p:nvSpPr>
          <p:cNvPr id="6" name="Rectangle 5"/>
          <p:cNvSpPr/>
          <p:nvPr/>
        </p:nvSpPr>
        <p:spPr>
          <a:xfrm>
            <a:off x="504967" y="3138985"/>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04968" y="408068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04967" y="5036024"/>
            <a:ext cx="914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48</a:t>
            </a:r>
          </a:p>
        </p:txBody>
      </p:sp>
      <p:graphicFrame>
        <p:nvGraphicFramePr>
          <p:cNvPr id="9" name="Table 8"/>
          <p:cNvGraphicFramePr>
            <a:graphicFrameLocks noGrp="1"/>
          </p:cNvGraphicFramePr>
          <p:nvPr/>
        </p:nvGraphicFramePr>
        <p:xfrm>
          <a:off x="3234519" y="3125338"/>
          <a:ext cx="3411940" cy="750626"/>
        </p:xfrm>
        <a:graphic>
          <a:graphicData uri="http://schemas.openxmlformats.org/drawingml/2006/table">
            <a:tbl>
              <a:tblPr firstRow="1" bandRow="1">
                <a:tableStyleId>{5C22544A-7EE6-4342-B048-85BDC9FD1C3A}</a:tableStyleId>
              </a:tblPr>
              <a:tblGrid>
                <a:gridCol w="487420">
                  <a:extLst>
                    <a:ext uri="{9D8B030D-6E8A-4147-A177-3AD203B41FA5}">
                      <a16:colId xmlns:a16="http://schemas.microsoft.com/office/drawing/2014/main" val="20000"/>
                    </a:ext>
                  </a:extLst>
                </a:gridCol>
                <a:gridCol w="487420">
                  <a:extLst>
                    <a:ext uri="{9D8B030D-6E8A-4147-A177-3AD203B41FA5}">
                      <a16:colId xmlns:a16="http://schemas.microsoft.com/office/drawing/2014/main" val="20001"/>
                    </a:ext>
                  </a:extLst>
                </a:gridCol>
                <a:gridCol w="487420">
                  <a:extLst>
                    <a:ext uri="{9D8B030D-6E8A-4147-A177-3AD203B41FA5}">
                      <a16:colId xmlns:a16="http://schemas.microsoft.com/office/drawing/2014/main" val="20002"/>
                    </a:ext>
                  </a:extLst>
                </a:gridCol>
                <a:gridCol w="487420">
                  <a:extLst>
                    <a:ext uri="{9D8B030D-6E8A-4147-A177-3AD203B41FA5}">
                      <a16:colId xmlns:a16="http://schemas.microsoft.com/office/drawing/2014/main" val="20003"/>
                    </a:ext>
                  </a:extLst>
                </a:gridCol>
                <a:gridCol w="487420">
                  <a:extLst>
                    <a:ext uri="{9D8B030D-6E8A-4147-A177-3AD203B41FA5}">
                      <a16:colId xmlns:a16="http://schemas.microsoft.com/office/drawing/2014/main" val="20004"/>
                    </a:ext>
                  </a:extLst>
                </a:gridCol>
                <a:gridCol w="487420">
                  <a:extLst>
                    <a:ext uri="{9D8B030D-6E8A-4147-A177-3AD203B41FA5}">
                      <a16:colId xmlns:a16="http://schemas.microsoft.com/office/drawing/2014/main" val="20005"/>
                    </a:ext>
                  </a:extLst>
                </a:gridCol>
                <a:gridCol w="487420">
                  <a:extLst>
                    <a:ext uri="{9D8B030D-6E8A-4147-A177-3AD203B41FA5}">
                      <a16:colId xmlns:a16="http://schemas.microsoft.com/office/drawing/2014/main" val="20006"/>
                    </a:ext>
                  </a:extLst>
                </a:gridCol>
              </a:tblGrid>
              <a:tr h="750626">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7546" y="873457"/>
            <a:ext cx="6250235" cy="5984543"/>
          </a:xfrm>
        </p:spPr>
        <p:txBody>
          <a:bodyPr/>
          <a:lstStyle/>
          <a:p>
            <a:pPr marL="0" indent="0">
              <a:buNone/>
            </a:pPr>
            <a:r>
              <a:rPr lang="en-US" sz="1600" dirty="0"/>
              <a:t># Helper function to check if a character is an operator</a:t>
            </a:r>
          </a:p>
          <a:p>
            <a:r>
              <a:rPr lang="en-US" sz="1600" dirty="0"/>
              <a:t>def </a:t>
            </a:r>
            <a:r>
              <a:rPr lang="en-US" sz="1600" dirty="0" err="1"/>
              <a:t>is_operator</a:t>
            </a:r>
            <a:r>
              <a:rPr lang="en-US" sz="1600" dirty="0"/>
              <a:t>(symbol):</a:t>
            </a:r>
          </a:p>
          <a:p>
            <a:r>
              <a:rPr lang="en-US" sz="1600" dirty="0"/>
              <a:t>    return symbol in ['+', '-', '*', '/']</a:t>
            </a:r>
          </a:p>
          <a:p>
            <a:endParaRPr lang="en-US" sz="1600" dirty="0"/>
          </a:p>
          <a:p>
            <a:endParaRPr lang="en-US" sz="1600" dirty="0"/>
          </a:p>
          <a:p>
            <a:r>
              <a:rPr lang="en-US" sz="1600" dirty="0"/>
              <a:t># Evaluate postfix expression</a:t>
            </a:r>
          </a:p>
          <a:p>
            <a:r>
              <a:rPr lang="en-US" sz="1600" dirty="0"/>
              <a:t>def evaluate(expression):</a:t>
            </a:r>
          </a:p>
          <a:p>
            <a:r>
              <a:rPr lang="en-US" sz="1600" dirty="0"/>
              <a:t>    stack = Stack()</a:t>
            </a:r>
          </a:p>
          <a:p>
            <a:r>
              <a:rPr lang="en-US" sz="1600" dirty="0"/>
              <a:t>    for symbol in expression:</a:t>
            </a:r>
          </a:p>
          <a:p>
            <a:r>
              <a:rPr lang="en-US" sz="1600" dirty="0"/>
              <a:t>        if </a:t>
            </a:r>
            <a:r>
              <a:rPr lang="en-US" sz="1600" dirty="0" err="1"/>
              <a:t>symbol.isdigit</a:t>
            </a:r>
            <a:r>
              <a:rPr lang="en-US" sz="1600" dirty="0"/>
              <a:t>():  # Check if the symbol is a digit</a:t>
            </a:r>
          </a:p>
          <a:p>
            <a:r>
              <a:rPr lang="en-US" sz="1600" dirty="0"/>
              <a:t>            num = int(symbol)  # Convert the character to an integer</a:t>
            </a:r>
          </a:p>
          <a:p>
            <a:r>
              <a:rPr lang="en-US" sz="1600" dirty="0"/>
              <a:t>            </a:t>
            </a:r>
            <a:r>
              <a:rPr lang="en-US" sz="1600" dirty="0" err="1"/>
              <a:t>stack.push</a:t>
            </a:r>
            <a:r>
              <a:rPr lang="en-US" sz="1600" dirty="0"/>
              <a:t>(num)</a:t>
            </a:r>
          </a:p>
          <a:p>
            <a:r>
              <a:rPr lang="en-US" sz="1600" dirty="0"/>
              <a:t>        </a:t>
            </a:r>
            <a:r>
              <a:rPr lang="en-US" sz="1600" dirty="0" err="1"/>
              <a:t>elif</a:t>
            </a:r>
            <a:r>
              <a:rPr lang="en-US" sz="1600" dirty="0"/>
              <a:t> </a:t>
            </a:r>
            <a:r>
              <a:rPr lang="en-US" sz="1600" dirty="0" err="1"/>
              <a:t>is_operator</a:t>
            </a:r>
            <a:r>
              <a:rPr lang="en-US" sz="1600" dirty="0"/>
              <a:t>(symbol):  # Check if it's an operator</a:t>
            </a:r>
          </a:p>
          <a:p>
            <a:r>
              <a:rPr lang="en-US" sz="1600" dirty="0"/>
              <a:t>            operand2 = </a:t>
            </a:r>
            <a:r>
              <a:rPr lang="en-US" sz="1600" dirty="0" err="1"/>
              <a:t>stack.pop</a:t>
            </a:r>
            <a:r>
              <a:rPr lang="en-US" sz="1600" dirty="0"/>
              <a:t>()  # Pop the top two operands</a:t>
            </a:r>
          </a:p>
          <a:p>
            <a:r>
              <a:rPr lang="en-US" sz="1600" dirty="0"/>
              <a:t>            operand1 = </a:t>
            </a:r>
            <a:r>
              <a:rPr lang="en-US" sz="1600" dirty="0" err="1"/>
              <a:t>stack.pop</a:t>
            </a:r>
            <a:r>
              <a:rPr lang="en-US" sz="1600" dirty="0"/>
              <a:t>()</a:t>
            </a:r>
          </a:p>
          <a:p>
            <a:r>
              <a:rPr lang="en-US" sz="1600" dirty="0"/>
              <a:t>            if symbol == '+':</a:t>
            </a:r>
          </a:p>
          <a:p>
            <a:r>
              <a:rPr lang="en-US" sz="1600" dirty="0"/>
              <a:t>                result = operand1 + operand2</a:t>
            </a:r>
          </a:p>
        </p:txBody>
      </p:sp>
      <p:sp>
        <p:nvSpPr>
          <p:cNvPr id="4" name="Rounded Rectangle 17">
            <a:extLst>
              <a:ext uri="{FF2B5EF4-FFF2-40B4-BE49-F238E27FC236}">
                <a16:creationId xmlns:a16="http://schemas.microsoft.com/office/drawing/2014/main" id="{01FA19A5-9588-483E-843E-C76873B71790}"/>
              </a:ext>
            </a:extLst>
          </p:cNvPr>
          <p:cNvSpPr txBox="1">
            <a:spLocks noGrp="1"/>
          </p:cNvSpPr>
          <p:nvPr>
            <p:ph type="title"/>
          </p:nvPr>
        </p:nvSpPr>
        <p:spPr>
          <a:xfrm>
            <a:off x="2006221" y="218364"/>
            <a:ext cx="8270543" cy="559558"/>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dirty="0">
                <a:latin typeface="Times New Roman" pitchFamily="18" charset="0"/>
                <a:cs typeface="Times New Roman" pitchFamily="18" charset="0"/>
              </a:rPr>
              <a:t>SAMPLE IMPLEMENTATION IN Python</a:t>
            </a:r>
            <a:r>
              <a:rPr kumimoji="0" lang="en-US" sz="2800" b="0" i="0" u="none" strike="noStrike" kern="1200" cap="none" spc="0" normalizeH="0" baseline="0" noProof="0" dirty="0">
                <a:ln>
                  <a:noFill/>
                </a:ln>
                <a:solidFill>
                  <a:schemeClr val="lt1"/>
                </a:solidFill>
                <a:effectLst/>
                <a:uLnTx/>
                <a:uFillTx/>
                <a:latin typeface="Times New Roman" pitchFamily="18" charset="0"/>
                <a:cs typeface="Times New Roman" pitchFamily="18" charset="0"/>
              </a:rPr>
              <a:t> </a:t>
            </a:r>
          </a:p>
        </p:txBody>
      </p:sp>
      <p:sp>
        <p:nvSpPr>
          <p:cNvPr id="2" name="TextBox 1">
            <a:extLst>
              <a:ext uri="{FF2B5EF4-FFF2-40B4-BE49-F238E27FC236}">
                <a16:creationId xmlns:a16="http://schemas.microsoft.com/office/drawing/2014/main" id="{5BF5FB28-E040-CBC0-FB0F-BD4C4859BB85}"/>
              </a:ext>
            </a:extLst>
          </p:cNvPr>
          <p:cNvSpPr txBox="1"/>
          <p:nvPr/>
        </p:nvSpPr>
        <p:spPr>
          <a:xfrm>
            <a:off x="6853084" y="894735"/>
            <a:ext cx="5152103" cy="5909310"/>
          </a:xfrm>
          <a:prstGeom prst="rect">
            <a:avLst/>
          </a:prstGeom>
          <a:noFill/>
        </p:spPr>
        <p:txBody>
          <a:bodyPr wrap="square" rtlCol="0">
            <a:spAutoFit/>
          </a:bodyPr>
          <a:lstStyle/>
          <a:p>
            <a:r>
              <a:rPr lang="en-US" sz="1800" dirty="0"/>
              <a:t> </a:t>
            </a:r>
            <a:r>
              <a:rPr lang="en-US" sz="1800" dirty="0" err="1"/>
              <a:t>elif</a:t>
            </a:r>
            <a:r>
              <a:rPr lang="en-US" sz="1800" dirty="0"/>
              <a:t> symbol == '-':</a:t>
            </a:r>
          </a:p>
          <a:p>
            <a:r>
              <a:rPr lang="en-US" sz="1800" dirty="0"/>
              <a:t>                result = operand1 - operand2</a:t>
            </a:r>
          </a:p>
          <a:p>
            <a:r>
              <a:rPr lang="en-US" sz="1800" dirty="0"/>
              <a:t>            </a:t>
            </a:r>
            <a:r>
              <a:rPr lang="en-US" sz="1800" dirty="0" err="1"/>
              <a:t>elif</a:t>
            </a:r>
            <a:r>
              <a:rPr lang="en-US" sz="1800" dirty="0"/>
              <a:t> symbol == '*':</a:t>
            </a:r>
          </a:p>
          <a:p>
            <a:r>
              <a:rPr lang="en-US" sz="1800" dirty="0"/>
              <a:t>                result = operand1 * operand2</a:t>
            </a:r>
          </a:p>
          <a:p>
            <a:r>
              <a:rPr lang="en-US" sz="1800" dirty="0"/>
              <a:t>            </a:t>
            </a:r>
            <a:r>
              <a:rPr lang="en-US" sz="1800" dirty="0" err="1"/>
              <a:t>elif</a:t>
            </a:r>
            <a:r>
              <a:rPr lang="en-US" sz="1800" dirty="0"/>
              <a:t> symbol == '/':</a:t>
            </a:r>
          </a:p>
          <a:p>
            <a:r>
              <a:rPr lang="en-US" sz="1800" dirty="0"/>
              <a:t>                result = operand1 // operand2  # Integer division</a:t>
            </a:r>
          </a:p>
          <a:p>
            <a:r>
              <a:rPr lang="en-US" sz="1800" dirty="0"/>
              <a:t>            </a:t>
            </a:r>
            <a:r>
              <a:rPr lang="en-US" sz="1800" dirty="0" err="1"/>
              <a:t>stack.push</a:t>
            </a:r>
            <a:r>
              <a:rPr lang="en-US" sz="1800" dirty="0"/>
              <a:t>(result)  # Push the result back onto the stack</a:t>
            </a:r>
          </a:p>
          <a:p>
            <a:endParaRPr lang="en-US" sz="1800" dirty="0"/>
          </a:p>
          <a:p>
            <a:r>
              <a:rPr lang="en-US" sz="1800" dirty="0"/>
              <a:t>    # The final result should be the only element left in the stack</a:t>
            </a:r>
          </a:p>
          <a:p>
            <a:r>
              <a:rPr lang="en-US" sz="1800" dirty="0"/>
              <a:t>    return </a:t>
            </a:r>
            <a:r>
              <a:rPr lang="en-US" sz="1800" dirty="0" err="1"/>
              <a:t>stack.pop</a:t>
            </a:r>
            <a:r>
              <a:rPr lang="en-US" sz="1800" dirty="0"/>
              <a:t>()</a:t>
            </a:r>
          </a:p>
          <a:p>
            <a:endParaRPr lang="en-US" sz="1800" dirty="0"/>
          </a:p>
          <a:p>
            <a:endParaRPr lang="en-US" sz="1800" dirty="0"/>
          </a:p>
          <a:p>
            <a:r>
              <a:rPr lang="en-US" sz="1800" dirty="0"/>
              <a:t># Example Usage</a:t>
            </a:r>
          </a:p>
          <a:p>
            <a:r>
              <a:rPr lang="en-US" sz="1800" dirty="0"/>
              <a:t>if __name__ == "__main__":</a:t>
            </a:r>
          </a:p>
          <a:p>
            <a:r>
              <a:rPr lang="en-US" sz="1800" dirty="0"/>
              <a:t>    expression = "231*+9-"  # Example postfix expression</a:t>
            </a:r>
          </a:p>
          <a:p>
            <a:r>
              <a:rPr lang="en-US" sz="1800" dirty="0"/>
              <a:t>    print(</a:t>
            </a:r>
            <a:r>
              <a:rPr lang="en-US" sz="1800" dirty="0" err="1"/>
              <a:t>f"Result</a:t>
            </a:r>
            <a:r>
              <a:rPr lang="en-US" sz="1800" dirty="0"/>
              <a:t> of evaluating the expression '{expression}': {evaluate(expression</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0627" y="1310184"/>
            <a:ext cx="10003809" cy="5295331"/>
          </a:xfrm>
        </p:spPr>
        <p:txBody>
          <a:bodyPr/>
          <a:lstStyle/>
          <a:p>
            <a:pPr marL="0" algn="just">
              <a:lnSpc>
                <a:spcPct val="100000"/>
              </a:lnSpc>
              <a:spcBef>
                <a:spcPts val="0"/>
              </a:spcBef>
            </a:pPr>
            <a:r>
              <a:rPr lang="en-US" dirty="0"/>
              <a:t>Postfix notation (also known as Reverse Polish Notation) is a way to represent an expression, where operators follow their corresponding  operands. </a:t>
            </a:r>
          </a:p>
          <a:p>
            <a:pPr marL="0" algn="just">
              <a:lnSpc>
                <a:spcPct val="100000"/>
              </a:lnSpc>
              <a:spcBef>
                <a:spcPts val="0"/>
              </a:spcBef>
            </a:pPr>
            <a:endParaRPr lang="en-US" dirty="0"/>
          </a:p>
          <a:p>
            <a:pPr marL="0" algn="just">
              <a:lnSpc>
                <a:spcPct val="100000"/>
              </a:lnSpc>
              <a:spcBef>
                <a:spcPts val="0"/>
              </a:spcBef>
            </a:pPr>
            <a:r>
              <a:rPr lang="en-US" dirty="0"/>
              <a:t>Evaluating an expression represented as postfix notation can easily be done using the stack data structure.</a:t>
            </a:r>
          </a:p>
          <a:p>
            <a:pPr marL="0" algn="just">
              <a:lnSpc>
                <a:spcPct val="100000"/>
              </a:lnSpc>
              <a:spcBef>
                <a:spcPts val="0"/>
              </a:spcBef>
            </a:pPr>
            <a:endParaRPr lang="en-US" dirty="0"/>
          </a:p>
          <a:p>
            <a:pPr marL="0" algn="just">
              <a:lnSpc>
                <a:spcPct val="100000"/>
              </a:lnSpc>
              <a:spcBef>
                <a:spcPts val="0"/>
              </a:spcBef>
            </a:pPr>
            <a:r>
              <a:rPr lang="en-US" dirty="0"/>
              <a:t>To implement postfix evaluation in python, we need to use a </a:t>
            </a:r>
            <a:r>
              <a:rPr lang="en-US" b="1" i="1" dirty="0"/>
              <a:t>stack</a:t>
            </a:r>
            <a:r>
              <a:rPr lang="en-US" dirty="0"/>
              <a:t>. We can use an array to implement the stack. We also need a top variable to keep track of the top element of the stack.</a:t>
            </a:r>
          </a:p>
          <a:p>
            <a:pPr marL="0" algn="just">
              <a:lnSpc>
                <a:spcPct val="100000"/>
              </a:lnSpc>
              <a:spcBef>
                <a:spcPts val="0"/>
              </a:spcBef>
              <a:buNone/>
            </a:pPr>
            <a:endParaRPr lang="en-US" dirty="0"/>
          </a:p>
          <a:p>
            <a:pPr marL="0" algn="just">
              <a:lnSpc>
                <a:spcPct val="100000"/>
              </a:lnSpc>
              <a:spcBef>
                <a:spcPts val="0"/>
              </a:spcBef>
              <a:buNone/>
            </a:pPr>
            <a:endParaRPr lang="en-US" dirty="0"/>
          </a:p>
        </p:txBody>
      </p:sp>
      <p:sp>
        <p:nvSpPr>
          <p:cNvPr id="4" name="Rounded Rectangle 17">
            <a:extLst>
              <a:ext uri="{FF2B5EF4-FFF2-40B4-BE49-F238E27FC236}">
                <a16:creationId xmlns:a16="http://schemas.microsoft.com/office/drawing/2014/main" id="{045E056E-10BD-0B9E-4ACE-A3F54C31FD9F}"/>
              </a:ext>
            </a:extLst>
          </p:cNvPr>
          <p:cNvSpPr>
            <a:spLocks noGrp="1"/>
          </p:cNvSpPr>
          <p:nvPr>
            <p:ph type="title"/>
          </p:nvPr>
        </p:nvSpPr>
        <p:spPr>
          <a:xfrm>
            <a:off x="2210937" y="365126"/>
            <a:ext cx="7178723" cy="84952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1" y="-1"/>
            <a:ext cx="2183643" cy="100993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2400" dirty="0"/>
              <a:t>Which of the following is not an application of stack? </a:t>
            </a:r>
            <a:br>
              <a:rPr lang="en-IN" sz="2400" dirty="0"/>
            </a:b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a) evaluation of postfix expression</a:t>
            </a:r>
            <a:br>
              <a:rPr lang="en-US" dirty="0"/>
            </a:br>
            <a:r>
              <a:rPr lang="en-US" dirty="0"/>
              <a:t>b) conversion of infix to postfix expression</a:t>
            </a:r>
            <a:br>
              <a:rPr lang="en-US" dirty="0"/>
            </a:br>
            <a:r>
              <a:rPr lang="en-US" dirty="0"/>
              <a:t>c) balancing symbols</a:t>
            </a:r>
            <a:br>
              <a:rPr lang="en-US" dirty="0"/>
            </a:br>
            <a:r>
              <a:rPr lang="en-US" dirty="0"/>
              <a:t>d) line at ticket counter </a:t>
            </a:r>
            <a:br>
              <a:rPr lang="en-IN" dirty="0"/>
            </a:br>
            <a:endParaRPr lang="en-US"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91820" y="3671248"/>
            <a:ext cx="10358651" cy="859809"/>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endParaRPr lang="en-IN" sz="2400" dirty="0"/>
          </a:p>
          <a:p>
            <a:r>
              <a:rPr lang="en-IN" sz="2400" dirty="0"/>
              <a:t>2. </a:t>
            </a:r>
            <a:r>
              <a:rPr lang="en-US" sz="2400" dirty="0"/>
              <a:t>While evaluating a postfix expression, when an operator is encountered, what is the correct operation to be performed? </a:t>
            </a:r>
            <a:br>
              <a:rPr lang="en-IN" sz="2400" dirty="0"/>
            </a:br>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push it directly on to the stack</a:t>
            </a:r>
            <a:br>
              <a:rPr lang="en-US" dirty="0"/>
            </a:br>
            <a:r>
              <a:rPr lang="en-US" dirty="0"/>
              <a:t>b) pop 2 operands, evaluate them and push the result on to the stack</a:t>
            </a:r>
            <a:br>
              <a:rPr lang="en-US" dirty="0"/>
            </a:br>
            <a:r>
              <a:rPr lang="en-US" dirty="0"/>
              <a:t>c) pop the entire stack</a:t>
            </a:r>
            <a:br>
              <a:rPr lang="en-US" dirty="0"/>
            </a:br>
            <a:r>
              <a:rPr lang="en-US" dirty="0"/>
              <a:t>d) ignore the operator</a:t>
            </a:r>
            <a:endParaRPr lang="en-IN"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3693319"/>
          </a:xfrm>
          <a:prstGeom prst="rect">
            <a:avLst/>
          </a:prstGeom>
          <a:noFill/>
        </p:spPr>
        <p:txBody>
          <a:bodyPr wrap="square" rtlCol="0">
            <a:spAutoFit/>
          </a:bodyPr>
          <a:lstStyle/>
          <a:p>
            <a:pPr>
              <a:lnSpc>
                <a:spcPct val="200000"/>
              </a:lnSpc>
            </a:pPr>
            <a:r>
              <a:rPr lang="en-US" b="1" dirty="0"/>
              <a:t>1. Define postfix expression?</a:t>
            </a:r>
          </a:p>
          <a:p>
            <a:pPr>
              <a:lnSpc>
                <a:spcPct val="200000"/>
              </a:lnSpc>
            </a:pPr>
            <a:r>
              <a:rPr lang="en-US" b="1" dirty="0"/>
              <a:t>2. Explain an algorithm for evaluating postfix expression with example ?</a:t>
            </a:r>
          </a:p>
          <a:p>
            <a:endParaRPr lang="en-US" b="1" dirty="0"/>
          </a:p>
          <a:p>
            <a:r>
              <a:rPr lang="en-US" b="1" dirty="0"/>
              <a:t>3. </a:t>
            </a:r>
            <a:r>
              <a:rPr lang="en-US" b="1" dirty="0">
                <a:latin typeface="Arial" pitchFamily="34" charset="0"/>
                <a:cs typeface="Arial" pitchFamily="34" charset="0"/>
              </a:rPr>
              <a:t>Evaluate and write the result for the following postfix expression?</a:t>
            </a:r>
          </a:p>
          <a:p>
            <a:r>
              <a:rPr lang="en-US" b="1" dirty="0">
                <a:latin typeface="Arial" pitchFamily="34" charset="0"/>
                <a:cs typeface="Arial" pitchFamily="34" charset="0"/>
              </a:rPr>
              <a:t>         abc*+de*</a:t>
            </a:r>
            <a:r>
              <a:rPr lang="en-US" b="1" dirty="0" err="1">
                <a:latin typeface="Arial" pitchFamily="34" charset="0"/>
                <a:cs typeface="Arial" pitchFamily="34" charset="0"/>
              </a:rPr>
              <a:t>f+g</a:t>
            </a:r>
            <a:r>
              <a:rPr lang="en-US" b="1" dirty="0">
                <a:latin typeface="Arial" pitchFamily="34" charset="0"/>
                <a:cs typeface="Arial" pitchFamily="34" charset="0"/>
              </a:rPr>
              <a:t>*+ where a=1, b=2, c=3, d=4, e=5, f=6, g=2.</a:t>
            </a:r>
          </a:p>
          <a:p>
            <a:endParaRPr lang="en-US" b="1" dirty="0">
              <a:latin typeface="Arial" pitchFamily="34" charset="0"/>
              <a:cs typeface="Arial" pitchFamily="34" charset="0"/>
            </a:endParaRPr>
          </a:p>
          <a:p>
            <a:r>
              <a:rPr lang="en-US" b="1" dirty="0">
                <a:latin typeface="Arial" pitchFamily="34" charset="0"/>
                <a:cs typeface="Arial" pitchFamily="34" charset="0"/>
              </a:rPr>
              <a:t>4.Analyse the postfix expression using stack data structure?</a:t>
            </a:r>
          </a:p>
          <a:p>
            <a:pPr>
              <a:lnSpc>
                <a:spcPct val="200000"/>
              </a:lnSpc>
            </a:pPr>
            <a:endParaRPr lang="en-US" b="1" dirty="0"/>
          </a:p>
          <a:p>
            <a:pPr marL="342900" indent="-342900">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5028556"/>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Reference Books:</a:t>
            </a:r>
          </a:p>
          <a:p>
            <a:pPr>
              <a:lnSpc>
                <a:spcPct val="150000"/>
              </a:lnSpc>
            </a:pPr>
            <a:r>
              <a:rPr lang="en-US" dirty="0">
                <a:latin typeface="Times New Roman" panose="02020603050405020304" pitchFamily="18" charset="0"/>
                <a:cs typeface="Times New Roman" panose="02020603050405020304" pitchFamily="18" charset="0"/>
              </a:rPr>
              <a:t>1. Data Structures and Algorithm Analysis in PYTHON, 2010, Mark Allen Weiss, Second Edition, Pearson Education.</a:t>
            </a:r>
          </a:p>
          <a:p>
            <a:pPr>
              <a:lnSpc>
                <a:spcPct val="150000"/>
              </a:lnSpc>
            </a:pPr>
            <a:r>
              <a:rPr lang="en-US" dirty="0">
                <a:latin typeface="Times New Roman" panose="02020603050405020304" pitchFamily="18" charset="0"/>
                <a:cs typeface="Times New Roman" panose="02020603050405020304" pitchFamily="18" charset="0"/>
              </a:rPr>
              <a:t>2. Data Structures and Algorithms, </a:t>
            </a:r>
            <a:r>
              <a:rPr lang="en-US" dirty="0" err="1">
                <a:latin typeface="Times New Roman" panose="02020603050405020304" pitchFamily="18" charset="0"/>
                <a:cs typeface="Times New Roman" panose="02020603050405020304" pitchFamily="18" charset="0"/>
              </a:rPr>
              <a:t>A.V.Aho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J.E.Hopcroft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J.D.Ullman</a:t>
            </a:r>
            <a:r>
              <a:rPr lang="en-US" dirty="0">
                <a:latin typeface="Times New Roman" panose="02020603050405020304" pitchFamily="18" charset="0"/>
                <a:cs typeface="Times New Roman" panose="02020603050405020304" pitchFamily="18" charset="0"/>
              </a:rPr>
              <a:t>, Pearson Education, First Edition Reprint2003.</a:t>
            </a:r>
          </a:p>
          <a:p>
            <a:pPr>
              <a:lnSpc>
                <a:spcPct val="150000"/>
              </a:lnSpc>
            </a:pPr>
            <a:r>
              <a:rPr lang="en-US" dirty="0">
                <a:latin typeface="Times New Roman" panose="02020603050405020304" pitchFamily="18" charset="0"/>
                <a:cs typeface="Times New Roman" panose="02020603050405020304" pitchFamily="18" charset="0"/>
              </a:rPr>
              <a:t>3.  Advanced Guide to Python 3 Programming, John Hunt, 4th Edition, Springer Nature Switzerland AG 2019.</a:t>
            </a:r>
          </a:p>
          <a:p>
            <a:pPr>
              <a:lnSpc>
                <a:spcPct val="150000"/>
              </a:lnSpc>
            </a:pPr>
            <a:r>
              <a:rPr lang="en-US" dirty="0">
                <a:latin typeface="Times New Roman" panose="02020603050405020304" pitchFamily="18" charset="0"/>
                <a:cs typeface="Times New Roman" panose="02020603050405020304" pitchFamily="18" charset="0"/>
              </a:rPr>
              <a:t>4. Python Basics: A Practice Introduction to Python 3, David Amos, Dan Bader, Joanna Jablonski, Fletcher Heisler, 4th edition, Real Python.</a:t>
            </a:r>
          </a:p>
          <a:p>
            <a:pPr>
              <a:lnSpc>
                <a:spcPct val="150000"/>
              </a:lnSpc>
            </a:pPr>
            <a:r>
              <a:rPr lang="en-US" b="1" dirty="0">
                <a:latin typeface="Times New Roman" panose="02020603050405020304" pitchFamily="18" charset="0"/>
                <a:cs typeface="Times New Roman" panose="02020603050405020304" pitchFamily="18" charset="0"/>
              </a:rPr>
              <a:t>Web Links: </a:t>
            </a:r>
          </a:p>
          <a:p>
            <a:pPr>
              <a:lnSpc>
                <a:spcPct val="150000"/>
              </a:lnSpc>
            </a:pPr>
            <a:r>
              <a:rPr lang="en-US" dirty="0">
                <a:latin typeface="Times New Roman" panose="02020603050405020304" pitchFamily="18" charset="0"/>
                <a:cs typeface="Times New Roman" panose="02020603050405020304" pitchFamily="18" charset="0"/>
              </a:rPr>
              <a:t>1. https://docs.python.org/3/tutorial/datastructures.html</a:t>
            </a:r>
          </a:p>
          <a:p>
            <a:pPr>
              <a:lnSpc>
                <a:spcPct val="150000"/>
              </a:lnSpc>
            </a:pPr>
            <a:r>
              <a:rPr lang="en-US" dirty="0">
                <a:latin typeface="Times New Roman" panose="02020603050405020304" pitchFamily="18" charset="0"/>
                <a:cs typeface="Times New Roman" panose="02020603050405020304" pitchFamily="18" charset="0"/>
              </a:rPr>
              <a:t>2. https://www.w3schools.com/dsa/dsa_intro.php</a:t>
            </a:r>
          </a:p>
          <a:p>
            <a:pPr>
              <a:lnSpc>
                <a:spcPct val="150000"/>
              </a:lnSpc>
            </a:pPr>
            <a:r>
              <a:rPr lang="en-US" dirty="0">
                <a:latin typeface="Times New Roman" panose="02020603050405020304" pitchFamily="18" charset="0"/>
                <a:cs typeface="Times New Roman" panose="02020603050405020304" pitchFamily="18" charset="0"/>
              </a:rPr>
              <a:t>3. https://www.geeksforgeeks.org/python-data-structures/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2167</TotalTime>
  <Words>2133</Words>
  <Application>Microsoft Office PowerPoint</Application>
  <PresentationFormat>Widescreen</PresentationFormat>
  <Paragraphs>302</Paragraphs>
  <Slides>21</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BioRhyme ExtraBold</vt:lpstr>
      <vt:lpstr>Calibri</vt:lpstr>
      <vt:lpstr>Poppins</vt:lpstr>
      <vt:lpstr>Times New Roman</vt:lpstr>
      <vt:lpstr>Wingdings</vt:lpstr>
      <vt:lpstr>1_Office Theme</vt:lpstr>
      <vt:lpstr>PowerPoint Presentation</vt:lpstr>
      <vt:lpstr>PowerPoint Presentation</vt:lpstr>
      <vt:lpstr>PowerPoint Presentation</vt:lpstr>
      <vt:lpstr>Postfix expression    (cont..)                    INTRODUCTION </vt:lpstr>
      <vt:lpstr>Example of  infix, prefix and postfix expressions</vt:lpstr>
      <vt:lpstr>Postfix expression evaluation                     </vt:lpstr>
      <vt:lpstr>PowerPoint Presentation</vt:lpstr>
      <vt:lpstr>IMPLEMENTATION WITH EXAMPLE</vt:lpstr>
      <vt:lpstr>PowerPoint Presentation</vt:lpstr>
      <vt:lpstr>IMPLEMENTATION WITH EXAMPLE(cont..)</vt:lpstr>
      <vt:lpstr>IMPLEMENTATION WITH EXAMPLE(cont…)</vt:lpstr>
      <vt:lpstr>PowerPoint Presentation</vt:lpstr>
      <vt:lpstr>ti</vt:lpstr>
      <vt:lpstr>IMPLEMENTATION WITH EXAMPLE (cont…)</vt:lpstr>
      <vt:lpstr>EXPLANATION WITH EXAMPLE (cont…)</vt:lpstr>
      <vt:lpstr>SAMPLE IMPLEMENTATION IN Python </vt:lpstr>
      <vt:lpstr>SUMMARY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 Kumuda</cp:lastModifiedBy>
  <cp:revision>95</cp:revision>
  <dcterms:created xsi:type="dcterms:W3CDTF">2020-02-08T09:57:44Z</dcterms:created>
  <dcterms:modified xsi:type="dcterms:W3CDTF">2024-12-13T11:19:43Z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